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A2: Iron Deficiency Anaemia in Pregnancy</a:t>
            </a:r>
          </a:p>
          <a:p>
            <a:r>
              <a:t>Module: Day 1 – Maternal Health</a:t>
            </a:r>
          </a:p>
          <a:p/>
          <a:p>
            <a:r>
              <a:t>Key content covered in source deck:</a:t>
            </a:r>
          </a:p>
          <a:p>
            <a:r>
              <a:t>- Iron deficiency Anemia in Pregnancy</a:t>
            </a:r>
          </a:p>
          <a:p>
            <a:r>
              <a:t>- Topic 2</a:t>
            </a:r>
          </a:p>
          <a:p>
            <a:r>
              <a:t>- What is Anaemia ?</a:t>
            </a:r>
          </a:p>
          <a:p>
            <a:r>
              <a:t>- Grades of anaemia in pregnancy</a:t>
            </a:r>
          </a:p>
          <a:p>
            <a:r>
              <a:t>- Effect on mother</a:t>
            </a:r>
          </a:p>
          <a:p>
            <a:r>
              <a:t>- Effect on foetus and Newborn</a:t>
            </a:r>
          </a:p>
          <a:p>
            <a:r>
              <a:t>- Risk associated with Anemia in Pregnancy</a:t>
            </a:r>
          </a:p>
          <a:p>
            <a:r>
              <a:t>- Symptoms of Severe Anaemia</a:t>
            </a:r>
          </a:p>
          <a:p>
            <a:r>
              <a:t>- Signs of severe Anaemia</a:t>
            </a:r>
          </a:p>
          <a:p>
            <a:r>
              <a:t>- Diagnostic equipment for Anemia</a:t>
            </a:r>
          </a:p>
          <a:p>
            <a:r>
              <a:t>- Methods of diagnosis</a:t>
            </a:r>
          </a:p>
          <a:p>
            <a:r>
              <a:t>- HemoCue</a:t>
            </a:r>
          </a:p>
          <a:p>
            <a:r>
              <a:t>- The blood drop filled micro cuvette is placed in the cuvette holder and pushed to its measuring position</a:t>
            </a:r>
          </a:p>
          <a:p>
            <a:r>
              <a:t>- After 15-60 seconds the hemoglobin value of the sample is displayed on the screen and should be recorded.</a:t>
            </a:r>
          </a:p>
          <a:p>
            <a:r>
              <a:t>- What is FCM</a:t>
            </a:r>
          </a:p>
          <a:p>
            <a:r>
              <a:t>- Ferric Carboxy Maltose (FCM) is an intravenous iron formulation used to treat iron deficiency anemia (IDA), particularly in cases where</a:t>
            </a:r>
          </a:p>
          <a:p>
            <a:r>
              <a:t>- oral iron therapy has failed, is not tolerated,</a:t>
            </a:r>
          </a:p>
          <a:p>
            <a:r>
              <a:t>- or is unsuitable due to the severity of the anemia.</a:t>
            </a:r>
          </a:p>
          <a:p>
            <a:r>
              <a:t>- FCM ensures effective iron delivery to bone marrow and other sites for hemoglobin synthesis.</a:t>
            </a:r>
          </a:p>
          <a:p>
            <a:r>
              <a:t>- It replenishes iron stores quickly and raises hemoglobin levels</a:t>
            </a:r>
          </a:p>
          <a:p>
            <a:r>
              <a:t>- Injectable FCM</a:t>
            </a:r>
          </a:p>
          <a:p>
            <a:r>
              <a:t>- Indications for FCM</a:t>
            </a:r>
          </a:p>
          <a:p>
            <a:r>
              <a:t>- To be administered after 1st trimester for anaemia due to iron deficiency in the following conditions:</a:t>
            </a:r>
          </a:p>
          <a:p>
            <a:r>
              <a:t>- Severe anaemia (Hb 5-6.9 g/dL) at 13-34 weeks of pregnancy</a:t>
            </a:r>
          </a:p>
          <a:p>
            <a:r>
              <a:t>- Moderate anaemia (7 to 9.9 gm/dl) due to iron deficiency</a:t>
            </a:r>
          </a:p>
          <a:p/>
          <a:p>
            <a:r>
              <a:t>Facilitator reminder: cross-check this section against the training checklist (module_A / grp_A2) in the KoboToolBox facilitation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2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325880"/>
            <a:ext cx="420624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40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DAY 1 – MATERNAL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E0E0E0"/>
                </a:solidFill>
                <a:latin typeface="Arial"/>
              </a:defRPr>
            </a:pPr>
            <a:r>
              <a:t>Section A2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mbria"/>
              </a:defRPr>
            </a:pPr>
            <a:r>
              <a:t>Iron Deficiency Anaemia in Pregnancy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CCCCC"/>
                </a:solidFill>
                <a:latin typeface="Arial"/>
              </a:defRPr>
            </a:pPr>
            <a:r>
              <a:t>Maternal &amp; Child Health Presentation – Facilitator 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