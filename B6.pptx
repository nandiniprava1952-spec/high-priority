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2147470818" r:id="rId211"/>
    <p:sldId id="338" r:id="rId212"/>
    <p:sldId id="2147470819" r:id="rId213"/>
    <p:sldId id="2147470820" r:id="rId214"/>
    <p:sldId id="2147470821" r:id="rId215"/>
    <p:sldId id="2147470822" r:id="rId216"/>
    <p:sldId id="2147470823" r:id="rId217"/>
    <p:sldId id="2147470824" r:id="rId218"/>
    <p:sldId id="2147470825" r:id="rId219"/>
    <p:sldId id="2147470826" r:id="rId220"/>
    <p:sldId id="2147470827" r:id="rId221"/>
    <p:sldId id="2147470828" r:id="rId222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211" Type="http://schemas.openxmlformats.org/officeDocument/2006/relationships/slide" Target="slides/slide201.xml"/><Relationship Id="rId212" Type="http://schemas.openxmlformats.org/officeDocument/2006/relationships/slide" Target="slides/slide202.xml"/><Relationship Id="rId213" Type="http://schemas.openxmlformats.org/officeDocument/2006/relationships/slide" Target="slides/slide203.xml"/><Relationship Id="rId214" Type="http://schemas.openxmlformats.org/officeDocument/2006/relationships/slide" Target="slides/slide204.xml"/><Relationship Id="rId215" Type="http://schemas.openxmlformats.org/officeDocument/2006/relationships/slide" Target="slides/slide205.xml"/><Relationship Id="rId216" Type="http://schemas.openxmlformats.org/officeDocument/2006/relationships/slide" Target="slides/slide206.xml"/><Relationship Id="rId217" Type="http://schemas.openxmlformats.org/officeDocument/2006/relationships/slide" Target="slides/slide207.xml"/><Relationship Id="rId218" Type="http://schemas.openxmlformats.org/officeDocument/2006/relationships/slide" Target="slides/slide208.xml"/><Relationship Id="rId219" Type="http://schemas.openxmlformats.org/officeDocument/2006/relationships/slide" Target="slides/slide209.xml"/><Relationship Id="rId220" Type="http://schemas.openxmlformats.org/officeDocument/2006/relationships/slide" Target="slides/slide210.xml"/><Relationship Id="rId221" Type="http://schemas.openxmlformats.org/officeDocument/2006/relationships/slide" Target="slides/slide211.xml"/><Relationship Id="rId222" Type="http://schemas.openxmlformats.org/officeDocument/2006/relationships/slide" Target="slides/slide212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76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79.png"/><Relationship Id="rId4" Type="http://schemas.openxmlformats.org/officeDocument/2006/relationships/image" Target="../media/image180.png"/><Relationship Id="rId5" Type="http://schemas.openxmlformats.org/officeDocument/2006/relationships/image" Target="../media/image18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82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8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5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84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85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8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9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86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1.xml"/></Relationships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40080" y="594360"/>
            <a:ext cx="777240" cy="777240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0" descr="/home/claude/pptx_build/icons/chi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" y="796442"/>
            <a:ext cx="373075" cy="3730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0" cap="none" spc="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TOPIC 6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640080" y="265176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Identification &amp; Management of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Childhood Pneumonia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58368" y="4846320"/>
            <a:ext cx="2011680" cy="0"/>
          </a:xfrm>
          <a:prstGeom prst="line">
            <a:avLst/>
          </a:prstGeom>
          <a:noFill/>
          <a:ln w="25400">
            <a:solidFill>
              <a:srgbClr val="14919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640080" y="5029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CFE3E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Presenter: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Dr. Lingaraj Pradhan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729D9-48BE-6D0B-A7D3-77A22267D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62856"/>
            <a:ext cx="3419856" cy="1600200"/>
          </a:xfrm>
        </p:spPr>
        <p:txBody>
          <a:bodyPr vert="horz" lIns="109728" tIns="54864" rIns="109728" bIns="54864" rtlCol="0" anchor="ctr">
            <a:normAutofit/>
          </a:bodyPr>
          <a:lstStyle/>
          <a:p>
            <a:pPr defTabSz="1097280"/>
            <a:r>
              <a:rPr lang="en-US" sz="4800"/>
              <a:t>Childhood Pneumonia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DED604B-0CF2-2C42-AFA9-4542672F4B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t="955"/>
          <a:stretch>
            <a:fillRect/>
          </a:stretch>
        </p:blipFill>
        <p:spPr>
          <a:xfrm>
            <a:off x="5" y="12"/>
            <a:ext cx="6095995" cy="4196268"/>
          </a:xfrm>
          <a:custGeom>
            <a:avLst/>
            <a:gdLst/>
            <a:ahLst/>
            <a:cxnLst/>
            <a:rect l="l" t="t" r="r" b="b"/>
            <a:pathLst>
              <a:path w="6005375" h="4196281">
                <a:moveTo>
                  <a:pt x="0" y="0"/>
                </a:moveTo>
                <a:lnTo>
                  <a:pt x="6000672" y="0"/>
                </a:lnTo>
                <a:lnTo>
                  <a:pt x="5998730" y="19709"/>
                </a:lnTo>
                <a:cubicBezTo>
                  <a:pt x="6001245" y="280059"/>
                  <a:pt x="5986415" y="540409"/>
                  <a:pt x="5999656" y="800631"/>
                </a:cubicBezTo>
                <a:cubicBezTo>
                  <a:pt x="6009855" y="1001996"/>
                  <a:pt x="6003364" y="1203233"/>
                  <a:pt x="5999656" y="1404471"/>
                </a:cubicBezTo>
                <a:cubicBezTo>
                  <a:pt x="5992506" y="1790420"/>
                  <a:pt x="6003364" y="2175860"/>
                  <a:pt x="5998730" y="2561300"/>
                </a:cubicBezTo>
                <a:cubicBezTo>
                  <a:pt x="5996744" y="2732154"/>
                  <a:pt x="5998994" y="2902754"/>
                  <a:pt x="6003364" y="3073609"/>
                </a:cubicBezTo>
                <a:cubicBezTo>
                  <a:pt x="6009720" y="3317560"/>
                  <a:pt x="5999923" y="3561638"/>
                  <a:pt x="5989197" y="3805463"/>
                </a:cubicBezTo>
                <a:cubicBezTo>
                  <a:pt x="5985594" y="3872508"/>
                  <a:pt x="5984647" y="3939633"/>
                  <a:pt x="5986348" y="4006695"/>
                </a:cubicBezTo>
                <a:lnTo>
                  <a:pt x="5997254" y="4174633"/>
                </a:lnTo>
                <a:lnTo>
                  <a:pt x="5951601" y="4176620"/>
                </a:lnTo>
                <a:cubicBezTo>
                  <a:pt x="5886702" y="4176651"/>
                  <a:pt x="5821788" y="4174749"/>
                  <a:pt x="5756905" y="4173480"/>
                </a:cubicBezTo>
                <a:cubicBezTo>
                  <a:pt x="5518559" y="4169040"/>
                  <a:pt x="5280086" y="4173480"/>
                  <a:pt x="5042247" y="4150774"/>
                </a:cubicBezTo>
                <a:cubicBezTo>
                  <a:pt x="4977618" y="4144622"/>
                  <a:pt x="4912546" y="4140690"/>
                  <a:pt x="4847600" y="4141467"/>
                </a:cubicBezTo>
                <a:cubicBezTo>
                  <a:pt x="4782655" y="4142244"/>
                  <a:pt x="4717835" y="4147730"/>
                  <a:pt x="4653713" y="4160414"/>
                </a:cubicBezTo>
                <a:cubicBezTo>
                  <a:pt x="4446571" y="4200625"/>
                  <a:pt x="4238796" y="4203162"/>
                  <a:pt x="4029497" y="4186925"/>
                </a:cubicBezTo>
                <a:cubicBezTo>
                  <a:pt x="3943621" y="4180203"/>
                  <a:pt x="3857746" y="4169040"/>
                  <a:pt x="3771489" y="4171196"/>
                </a:cubicBezTo>
                <a:cubicBezTo>
                  <a:pt x="3623585" y="4175129"/>
                  <a:pt x="3475554" y="4167137"/>
                  <a:pt x="3327523" y="4169167"/>
                </a:cubicBezTo>
                <a:cubicBezTo>
                  <a:pt x="3323528" y="4169738"/>
                  <a:pt x="3319443" y="4169205"/>
                  <a:pt x="3315727" y="4167645"/>
                </a:cubicBezTo>
                <a:cubicBezTo>
                  <a:pt x="3278941" y="4142402"/>
                  <a:pt x="3238603" y="4152169"/>
                  <a:pt x="3200549" y="4158765"/>
                </a:cubicBezTo>
                <a:cubicBezTo>
                  <a:pt x="3074082" y="4180710"/>
                  <a:pt x="2947742" y="4191492"/>
                  <a:pt x="2819246" y="4174494"/>
                </a:cubicBezTo>
                <a:cubicBezTo>
                  <a:pt x="2696546" y="4156698"/>
                  <a:pt x="2572096" y="4154478"/>
                  <a:pt x="2448851" y="4167898"/>
                </a:cubicBezTo>
                <a:cubicBezTo>
                  <a:pt x="2279383" y="4187687"/>
                  <a:pt x="2110549" y="4183501"/>
                  <a:pt x="1941462" y="4167898"/>
                </a:cubicBezTo>
                <a:cubicBezTo>
                  <a:pt x="1872837" y="4161556"/>
                  <a:pt x="1803198" y="4150774"/>
                  <a:pt x="1735208" y="4166630"/>
                </a:cubicBezTo>
                <a:cubicBezTo>
                  <a:pt x="1651489" y="4186038"/>
                  <a:pt x="1568023" y="4179695"/>
                  <a:pt x="1484050" y="4175382"/>
                </a:cubicBezTo>
                <a:cubicBezTo>
                  <a:pt x="1377752" y="4169801"/>
                  <a:pt x="1271708" y="4153692"/>
                  <a:pt x="1165029" y="4166376"/>
                </a:cubicBezTo>
                <a:cubicBezTo>
                  <a:pt x="1115685" y="4172211"/>
                  <a:pt x="1066722" y="4181471"/>
                  <a:pt x="1016744" y="4179061"/>
                </a:cubicBezTo>
                <a:cubicBezTo>
                  <a:pt x="878481" y="4172719"/>
                  <a:pt x="740344" y="4165235"/>
                  <a:pt x="601826" y="4166376"/>
                </a:cubicBezTo>
                <a:cubicBezTo>
                  <a:pt x="543857" y="4166757"/>
                  <a:pt x="486268" y="4168659"/>
                  <a:pt x="428553" y="4172845"/>
                </a:cubicBezTo>
                <a:cubicBezTo>
                  <a:pt x="320859" y="4180710"/>
                  <a:pt x="213546" y="4170055"/>
                  <a:pt x="106234" y="4166249"/>
                </a:cubicBezTo>
                <a:lnTo>
                  <a:pt x="0" y="4171008"/>
                </a:lnTo>
                <a:close/>
              </a:path>
            </a:pathLst>
          </a:custGeom>
        </p:spPr>
      </p:pic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7DB84774-FB7C-3569-E742-72A747DAD5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54294" y="4562856"/>
            <a:ext cx="6903721" cy="1600200"/>
          </a:xfrm>
        </p:spPr>
        <p:txBody>
          <a:bodyPr vert="horz" lIns="109728" tIns="54864" rIns="109728" bIns="54864" rtlCol="0" anchor="ctr">
            <a:normAutofit/>
          </a:bodyPr>
          <a:lstStyle/>
          <a:p>
            <a:pPr marL="0" indent="0" algn="ctr" defTabSz="1097280">
              <a:buNone/>
            </a:pPr>
            <a:r>
              <a:rPr lang="en-US" sz="2880" dirty="0"/>
              <a:t>Pneumonia is a </a:t>
            </a:r>
            <a:r>
              <a:rPr lang="en-US" sz="2880" dirty="0">
                <a:solidFill>
                  <a:srgbClr val="FF0000"/>
                </a:solidFill>
              </a:rPr>
              <a:t>leading cause of U5 deaths </a:t>
            </a:r>
            <a:r>
              <a:rPr lang="en-US" sz="2880" dirty="0"/>
              <a:t>in the State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5537EE-ECA4-9B75-9BFC-2F4D099488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90" t="2718" r="3105"/>
          <a:stretch>
            <a:fillRect/>
          </a:stretch>
        </p:blipFill>
        <p:spPr>
          <a:xfrm>
            <a:off x="6048677" y="-27384"/>
            <a:ext cx="6095995" cy="4223664"/>
          </a:xfrm>
          <a:custGeom>
            <a:avLst/>
            <a:gdLst/>
            <a:ahLst/>
            <a:cxnLst/>
            <a:rect l="l" t="t" r="r" b="b"/>
            <a:pathLst>
              <a:path w="6006950" h="4187672">
                <a:moveTo>
                  <a:pt x="9223" y="0"/>
                </a:moveTo>
                <a:lnTo>
                  <a:pt x="6006950" y="0"/>
                </a:lnTo>
                <a:lnTo>
                  <a:pt x="6006950" y="4169490"/>
                </a:lnTo>
                <a:lnTo>
                  <a:pt x="5787907" y="4174448"/>
                </a:lnTo>
                <a:cubicBezTo>
                  <a:pt x="5713866" y="4173475"/>
                  <a:pt x="5639861" y="4169853"/>
                  <a:pt x="5566029" y="4163587"/>
                </a:cubicBezTo>
                <a:cubicBezTo>
                  <a:pt x="5458843" y="4155595"/>
                  <a:pt x="5350768" y="4144559"/>
                  <a:pt x="5244343" y="4164855"/>
                </a:cubicBezTo>
                <a:cubicBezTo>
                  <a:pt x="5127517" y="4187307"/>
                  <a:pt x="5010817" y="4187434"/>
                  <a:pt x="4892977" y="4181726"/>
                </a:cubicBezTo>
                <a:cubicBezTo>
                  <a:pt x="4792260" y="4176906"/>
                  <a:pt x="4691923" y="4151536"/>
                  <a:pt x="4590445" y="4178301"/>
                </a:cubicBezTo>
                <a:cubicBezTo>
                  <a:pt x="4580348" y="4179772"/>
                  <a:pt x="4570061" y="4179341"/>
                  <a:pt x="4560128" y="4177032"/>
                </a:cubicBezTo>
                <a:cubicBezTo>
                  <a:pt x="4449137" y="4161684"/>
                  <a:pt x="4337384" y="4174242"/>
                  <a:pt x="4226013" y="4169929"/>
                </a:cubicBezTo>
                <a:cubicBezTo>
                  <a:pt x="4174640" y="4167899"/>
                  <a:pt x="4122252" y="4169041"/>
                  <a:pt x="4071513" y="4163587"/>
                </a:cubicBezTo>
                <a:cubicBezTo>
                  <a:pt x="3955067" y="4151156"/>
                  <a:pt x="3838874" y="4144559"/>
                  <a:pt x="3723697" y="4173861"/>
                </a:cubicBezTo>
                <a:cubicBezTo>
                  <a:pt x="3690082" y="4181764"/>
                  <a:pt x="3655732" y="4186013"/>
                  <a:pt x="3621204" y="4186546"/>
                </a:cubicBezTo>
                <a:cubicBezTo>
                  <a:pt x="3508437" y="4190605"/>
                  <a:pt x="3396050" y="4182867"/>
                  <a:pt x="3283664" y="4176525"/>
                </a:cubicBezTo>
                <a:cubicBezTo>
                  <a:pt x="3205652" y="4172085"/>
                  <a:pt x="3127768" y="4162445"/>
                  <a:pt x="3049630" y="4170563"/>
                </a:cubicBezTo>
                <a:cubicBezTo>
                  <a:pt x="3004218" y="4175257"/>
                  <a:pt x="2958427" y="4175257"/>
                  <a:pt x="2913015" y="4170563"/>
                </a:cubicBezTo>
                <a:cubicBezTo>
                  <a:pt x="2829321" y="4160758"/>
                  <a:pt x="2744879" y="4158931"/>
                  <a:pt x="2660842" y="4165109"/>
                </a:cubicBezTo>
                <a:cubicBezTo>
                  <a:pt x="2535390" y="4175891"/>
                  <a:pt x="2410065" y="4184897"/>
                  <a:pt x="2284232" y="4167773"/>
                </a:cubicBezTo>
                <a:cubicBezTo>
                  <a:pt x="2212868" y="4156559"/>
                  <a:pt x="2140312" y="4155240"/>
                  <a:pt x="2068592" y="4163840"/>
                </a:cubicBezTo>
                <a:cubicBezTo>
                  <a:pt x="1897729" y="4187814"/>
                  <a:pt x="1726485" y="4180077"/>
                  <a:pt x="1555241" y="4170183"/>
                </a:cubicBezTo>
                <a:cubicBezTo>
                  <a:pt x="1440824" y="4163460"/>
                  <a:pt x="1325901" y="4151156"/>
                  <a:pt x="1211738" y="4167392"/>
                </a:cubicBezTo>
                <a:cubicBezTo>
                  <a:pt x="1066118" y="4187688"/>
                  <a:pt x="920370" y="4180965"/>
                  <a:pt x="774368" y="4175003"/>
                </a:cubicBezTo>
                <a:cubicBezTo>
                  <a:pt x="667182" y="4170563"/>
                  <a:pt x="559869" y="4157117"/>
                  <a:pt x="452430" y="4173734"/>
                </a:cubicBezTo>
                <a:cubicBezTo>
                  <a:pt x="441369" y="4175244"/>
                  <a:pt x="430117" y="4174115"/>
                  <a:pt x="419576" y="4170436"/>
                </a:cubicBezTo>
                <a:cubicBezTo>
                  <a:pt x="378807" y="4157016"/>
                  <a:pt x="335096" y="4155215"/>
                  <a:pt x="293363" y="4165236"/>
                </a:cubicBezTo>
                <a:cubicBezTo>
                  <a:pt x="216367" y="4182106"/>
                  <a:pt x="139497" y="4189463"/>
                  <a:pt x="61105" y="4174115"/>
                </a:cubicBezTo>
                <a:lnTo>
                  <a:pt x="13323" y="4171265"/>
                </a:lnTo>
                <a:lnTo>
                  <a:pt x="28554" y="3843045"/>
                </a:lnTo>
                <a:cubicBezTo>
                  <a:pt x="30457" y="3722610"/>
                  <a:pt x="27412" y="3602256"/>
                  <a:pt x="15626" y="3482187"/>
                </a:cubicBezTo>
                <a:cubicBezTo>
                  <a:pt x="-847" y="3335690"/>
                  <a:pt x="-4304" y="3188124"/>
                  <a:pt x="5296" y="3041068"/>
                </a:cubicBezTo>
                <a:cubicBezTo>
                  <a:pt x="11786" y="2956911"/>
                  <a:pt x="18539" y="2872754"/>
                  <a:pt x="22776" y="2788472"/>
                </a:cubicBezTo>
                <a:cubicBezTo>
                  <a:pt x="28180" y="2668580"/>
                  <a:pt x="25173" y="2548474"/>
                  <a:pt x="13771" y="2428964"/>
                </a:cubicBezTo>
                <a:cubicBezTo>
                  <a:pt x="4237" y="2337829"/>
                  <a:pt x="3177" y="2246070"/>
                  <a:pt x="10593" y="2154757"/>
                </a:cubicBezTo>
                <a:cubicBezTo>
                  <a:pt x="25690" y="1999286"/>
                  <a:pt x="9931" y="1843813"/>
                  <a:pt x="5032" y="1688466"/>
                </a:cubicBezTo>
                <a:cubicBezTo>
                  <a:pt x="-3577" y="1402691"/>
                  <a:pt x="20393" y="1117045"/>
                  <a:pt x="9666" y="831270"/>
                </a:cubicBezTo>
                <a:cubicBezTo>
                  <a:pt x="3841" y="689908"/>
                  <a:pt x="16420" y="548673"/>
                  <a:pt x="9666" y="407311"/>
                </a:cubicBezTo>
                <a:cubicBezTo>
                  <a:pt x="4105" y="306755"/>
                  <a:pt x="397" y="206200"/>
                  <a:pt x="4105" y="105518"/>
                </a:cubicBezTo>
                <a:cubicBezTo>
                  <a:pt x="5164" y="78059"/>
                  <a:pt x="5826" y="50473"/>
                  <a:pt x="9534" y="23396"/>
                </a:cubicBezTo>
                <a:close/>
              </a:path>
            </a:pathLst>
          </a:cu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615F02E-4CAE-0632-A0E3-5011A8A7F9E0}"/>
              </a:ext>
            </a:extLst>
          </p:cNvPr>
          <p:cNvSpPr/>
          <p:nvPr/>
        </p:nvSpPr>
        <p:spPr>
          <a:xfrm>
            <a:off x="9811613" y="1873627"/>
            <a:ext cx="1468963" cy="69127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16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2190849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306324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Childhood 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Pneumonia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: Why It Matters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ECA99A2-555A-3292-1851-3BF179E160A6}"/>
              </a:ext>
            </a:extLst>
          </p:cNvPr>
          <p:cNvGrpSpPr/>
          <p:nvPr/>
        </p:nvGrpSpPr>
        <p:grpSpPr>
          <a:xfrm>
            <a:off x="527413" y="1344168"/>
            <a:ext cx="5120640" cy="4160520"/>
            <a:chOff x="527413" y="1344168"/>
            <a:chExt cx="5120640" cy="4160520"/>
          </a:xfrm>
          <a:solidFill>
            <a:srgbClr val="EC848E"/>
          </a:solidFill>
        </p:grpSpPr>
        <p:sp>
          <p:nvSpPr>
            <p:cNvPr id="4" name="Shape 2"/>
            <p:cNvSpPr/>
            <p:nvPr/>
          </p:nvSpPr>
          <p:spPr>
            <a:xfrm>
              <a:off x="527413" y="1344168"/>
              <a:ext cx="5120640" cy="4160520"/>
            </a:xfrm>
            <a:prstGeom prst="roundRect">
              <a:avLst>
                <a:gd name="adj" fmla="val 1758"/>
              </a:avLst>
            </a:prstGeom>
            <a:grpFill/>
            <a:ln/>
            <a:effectLst>
              <a:outerShdw blurRad="88900" dist="25400" dir="5400000" algn="bl" rotWithShape="0">
                <a:srgbClr val="0B4F4A">
                  <a:alpha val="1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5" name="Shape 3"/>
            <p:cNvSpPr/>
            <p:nvPr/>
          </p:nvSpPr>
          <p:spPr>
            <a:xfrm>
              <a:off x="693115" y="1439985"/>
              <a:ext cx="731520" cy="731520"/>
            </a:xfrm>
            <a:prstGeom prst="ellipse">
              <a:avLst/>
            </a:prstGeom>
            <a:grpFill/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pic>
          <p:nvPicPr>
            <p:cNvPr id="6" name="Image 0" descr="/home/claude/pptx_build/icons/lungs_whit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590752"/>
              <a:ext cx="351130" cy="351130"/>
            </a:xfrm>
            <a:prstGeom prst="rect">
              <a:avLst/>
            </a:prstGeom>
            <a:grpFill/>
          </p:spPr>
        </p:pic>
        <p:sp>
          <p:nvSpPr>
            <p:cNvPr id="7" name="Text 4"/>
            <p:cNvSpPr/>
            <p:nvPr/>
          </p:nvSpPr>
          <p:spPr>
            <a:xfrm>
              <a:off x="1167493" y="1514857"/>
              <a:ext cx="4480560" cy="50292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B4F4A"/>
                  </a:solidFill>
                  <a:effectLst/>
                  <a:uLnTx/>
                  <a:uFillTx/>
                  <a:latin typeface="Aptos Display" panose="020B0004020202020204" pitchFamily="34" charset="0"/>
                  <a:ea typeface="Cambria" pitchFamily="34" charset="-122"/>
                  <a:cs typeface="Cambria" pitchFamily="34" charset="-120"/>
                </a:rPr>
                <a:t>Leading Cause of Under-5 Deaths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766942" y="2029968"/>
              <a:ext cx="4480560" cy="2706624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Pneumonia remains a leading cause of death in children under 5 years of age in the State, making early identification and correct classification a frontline priority for every health worker.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</p:grpSp>
      <p:sp>
        <p:nvSpPr>
          <p:cNvPr id="9" name="Text 6"/>
          <p:cNvSpPr/>
          <p:nvPr/>
        </p:nvSpPr>
        <p:spPr>
          <a:xfrm>
            <a:off x="5989320" y="1348545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is divided into two age groups: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DFE72F3-9E6B-5CDC-8483-2C629D00AC34}"/>
              </a:ext>
            </a:extLst>
          </p:cNvPr>
          <p:cNvGrpSpPr/>
          <p:nvPr/>
        </p:nvGrpSpPr>
        <p:grpSpPr>
          <a:xfrm>
            <a:off x="5989320" y="2029968"/>
            <a:ext cx="5669280" cy="1600200"/>
            <a:chOff x="5989320" y="2029968"/>
            <a:chExt cx="5669280" cy="1600200"/>
          </a:xfrm>
        </p:grpSpPr>
        <p:sp>
          <p:nvSpPr>
            <p:cNvPr id="10" name="Shape 7"/>
            <p:cNvSpPr/>
            <p:nvPr/>
          </p:nvSpPr>
          <p:spPr>
            <a:xfrm>
              <a:off x="5989320" y="2029968"/>
              <a:ext cx="5669280" cy="160020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12700">
              <a:solidFill>
                <a:srgbClr val="CFE3E1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1" name="Shape 8"/>
            <p:cNvSpPr/>
            <p:nvPr/>
          </p:nvSpPr>
          <p:spPr>
            <a:xfrm>
              <a:off x="6129745" y="2059360"/>
              <a:ext cx="724989" cy="901337"/>
            </a:xfrm>
            <a:prstGeom prst="ellipse">
              <a:avLst/>
            </a:prstGeom>
            <a:solidFill>
              <a:srgbClr val="14919B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pic>
          <p:nvPicPr>
            <p:cNvPr id="12" name="Image 1" descr="/home/claude/pptx_build/icons/baby_whit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26347" y="2205556"/>
              <a:ext cx="540845" cy="540845"/>
            </a:xfrm>
            <a:prstGeom prst="rect">
              <a:avLst/>
            </a:prstGeom>
          </p:spPr>
        </p:pic>
        <p:sp>
          <p:nvSpPr>
            <p:cNvPr id="13" name="Text 9"/>
            <p:cNvSpPr/>
            <p:nvPr/>
          </p:nvSpPr>
          <p:spPr>
            <a:xfrm>
              <a:off x="6995160" y="2212848"/>
              <a:ext cx="4480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B4F4A"/>
                  </a:solidFill>
                  <a:effectLst/>
                  <a:uLnTx/>
                  <a:uFillTx/>
                  <a:latin typeface="Aptos Display" panose="020B0004020202020204" pitchFamily="34" charset="0"/>
                  <a:ea typeface="Cambria" pitchFamily="34" charset="-122"/>
                  <a:cs typeface="Cambria" pitchFamily="34" charset="-120"/>
                </a:rPr>
                <a:t>0–2 Months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4" name="Text 10"/>
            <p:cNvSpPr/>
            <p:nvPr/>
          </p:nvSpPr>
          <p:spPr>
            <a:xfrm>
              <a:off x="6812280" y="2601468"/>
              <a:ext cx="448056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5B7370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Classified as Possible Serious Bacterial Infection (PSBI)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38B2288-88C1-D5FC-AA72-86792EC075B9}"/>
              </a:ext>
            </a:extLst>
          </p:cNvPr>
          <p:cNvGrpSpPr/>
          <p:nvPr/>
        </p:nvGrpSpPr>
        <p:grpSpPr>
          <a:xfrm>
            <a:off x="5989320" y="3813048"/>
            <a:ext cx="5669280" cy="1691640"/>
            <a:chOff x="5989320" y="3813048"/>
            <a:chExt cx="5669280" cy="1691640"/>
          </a:xfrm>
        </p:grpSpPr>
        <p:sp>
          <p:nvSpPr>
            <p:cNvPr id="15" name="Shape 11"/>
            <p:cNvSpPr/>
            <p:nvPr/>
          </p:nvSpPr>
          <p:spPr>
            <a:xfrm>
              <a:off x="5989320" y="3813048"/>
              <a:ext cx="5669280" cy="169164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CFE3E1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6" name="Shape 12"/>
            <p:cNvSpPr/>
            <p:nvPr/>
          </p:nvSpPr>
          <p:spPr>
            <a:xfrm>
              <a:off x="6080760" y="3902573"/>
              <a:ext cx="731520" cy="822960"/>
            </a:xfrm>
            <a:prstGeom prst="ellipse">
              <a:avLst/>
            </a:prstGeom>
            <a:solidFill>
              <a:srgbClr val="0D7377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8" name="Text 13"/>
            <p:cNvSpPr/>
            <p:nvPr/>
          </p:nvSpPr>
          <p:spPr>
            <a:xfrm>
              <a:off x="6995160" y="3922776"/>
              <a:ext cx="4480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B4F4A"/>
                  </a:solidFill>
                  <a:effectLst/>
                  <a:uLnTx/>
                  <a:uFillTx/>
                  <a:latin typeface="Aptos Display" panose="020B0004020202020204" pitchFamily="34" charset="0"/>
                  <a:ea typeface="Cambria" pitchFamily="34" charset="-122"/>
                  <a:cs typeface="Cambria" pitchFamily="34" charset="-120"/>
                </a:rPr>
                <a:t>2 Months – 5 Years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9" name="Text 14"/>
            <p:cNvSpPr/>
            <p:nvPr/>
          </p:nvSpPr>
          <p:spPr>
            <a:xfrm>
              <a:off x="6995160" y="4325112"/>
              <a:ext cx="448056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5B7370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Classified as No Pneumonia, Pneumonia, or Severe Pneumonia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0367F3DA-6858-1C0B-28DA-C89FAA939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6129745" y="3987655"/>
              <a:ext cx="580797" cy="58079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43">
            <a:extLst>
              <a:ext uri="{FF2B5EF4-FFF2-40B4-BE49-F238E27FC236}">
                <a16:creationId xmlns:a16="http://schemas.microsoft.com/office/drawing/2014/main" id="{6F9214D4-21DB-1B17-BF99-A286341CD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843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PNEUMONIA · 0–2 MONTHS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8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400"/>
            <a:r>
              <a:rPr lang="en-US" sz="4000" b="1" dirty="0">
                <a:latin typeface="Cambria" pitchFamily="34" charset="0"/>
                <a:ea typeface="Cambria" pitchFamily="34" charset="-122"/>
              </a:rPr>
              <a:t>Pre-Referral Care &amp; Antibiotic Therapy for PSBI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PRE-REFERRAL STEPS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212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Warm the infant by skin-to-skin contact with mother/caregiver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Treat to prevent low blood sugar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If able to breastfeed, ask mother to breastfeed the child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If not able to breastfeed, give 20–50 ml (10 ml/kg) expressed breast milk by OG tube, or 2 ml/kg of 10% dextrose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Give first pre-referral dose of Inj. Gentamicin + Syp. Amoxicillin, maintain warmth, and refer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841E290-11CB-A7AF-787B-35E7DF3F5AA7}"/>
              </a:ext>
            </a:extLst>
          </p:cNvPr>
          <p:cNvGrpSpPr/>
          <p:nvPr/>
        </p:nvGrpSpPr>
        <p:grpSpPr>
          <a:xfrm>
            <a:off x="315686" y="5669280"/>
            <a:ext cx="5212080" cy="868680"/>
            <a:chOff x="533400" y="5765292"/>
            <a:chExt cx="5212080" cy="868680"/>
          </a:xfrm>
        </p:grpSpPr>
        <p:sp>
          <p:nvSpPr>
            <p:cNvPr id="6" name="Shape 4"/>
            <p:cNvSpPr/>
            <p:nvPr/>
          </p:nvSpPr>
          <p:spPr>
            <a:xfrm>
              <a:off x="533400" y="5765292"/>
              <a:ext cx="5212080" cy="868680"/>
            </a:xfrm>
            <a:prstGeom prst="roundRect">
              <a:avLst>
                <a:gd name="adj" fmla="val 8421"/>
              </a:avLst>
            </a:prstGeom>
            <a:solidFill>
              <a:srgbClr val="FBE9E2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B739C1D-6953-F6EF-6498-B50E40E4E9F6}"/>
                </a:ext>
              </a:extLst>
            </p:cNvPr>
            <p:cNvGrpSpPr/>
            <p:nvPr/>
          </p:nvGrpSpPr>
          <p:grpSpPr>
            <a:xfrm>
              <a:off x="798576" y="5916168"/>
              <a:ext cx="566928" cy="566928"/>
              <a:chOff x="749808" y="5221224"/>
              <a:chExt cx="566928" cy="566928"/>
            </a:xfrm>
          </p:grpSpPr>
          <p:sp>
            <p:nvSpPr>
              <p:cNvPr id="7" name="Shape 5"/>
              <p:cNvSpPr/>
              <p:nvPr/>
            </p:nvSpPr>
            <p:spPr>
              <a:xfrm>
                <a:off x="749808" y="5221224"/>
                <a:ext cx="566928" cy="566928"/>
              </a:xfrm>
              <a:prstGeom prst="ellipse">
                <a:avLst/>
              </a:prstGeom>
              <a:solidFill>
                <a:srgbClr val="C1440E"/>
              </a:solidFill>
              <a:ln/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8" name="Image 0" descr="/home/claude/pptx_build/icons/hospital_white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7209" y="5368625"/>
                <a:ext cx="272125" cy="272125"/>
              </a:xfrm>
              <a:prstGeom prst="rect">
                <a:avLst/>
              </a:prstGeom>
            </p:spPr>
          </p:pic>
        </p:grpSp>
        <p:sp>
          <p:nvSpPr>
            <p:cNvPr id="9" name="Text 6"/>
            <p:cNvSpPr/>
            <p:nvPr/>
          </p:nvSpPr>
          <p:spPr>
            <a:xfrm>
              <a:off x="1630680" y="5907024"/>
              <a:ext cx="411480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C1440E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If weight is below 1.5 kg, refer to a higher facility directly — do not delay.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Text 7"/>
          <p:cNvSpPr/>
          <p:nvPr/>
        </p:nvSpPr>
        <p:spPr>
          <a:xfrm>
            <a:off x="5989320" y="148132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ANTIBIOTIC DOSING BY WEIGHT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494836"/>
              </p:ext>
            </p:extLst>
          </p:nvPr>
        </p:nvGraphicFramePr>
        <p:xfrm>
          <a:off x="5989320" y="1828800"/>
          <a:ext cx="5669280" cy="31089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Weight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Gentamicin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(80mg/2ml vial)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Amoxicillin Syrup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(125mg/5ml)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Amoxicillin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Tablet (250mg)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&lt; 1.5 kg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1" dirty="0">
                          <a:solidFill>
                            <a:srgbClr val="C1440E"/>
                          </a:solidFill>
                          <a:latin typeface="Aptos Display" panose="020B0004020202020204" pitchFamily="34" charset="0"/>
                        </a:rPr>
                        <a:t>Refer to higher facility directly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1.5 – 2.0 kg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0.2 ml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2 ml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¼ tab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2.0 – 3.0 kg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0.3 ml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2.5 ml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½ tab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3.0 – 4.0 kg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0.4 ml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3 ml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½ tab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4.0 – 5.0 kg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0.5 ml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4 ml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½ tab</a:t>
                      </a:r>
                      <a:endParaRPr lang="en-US" sz="16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989320" y="5074920"/>
            <a:ext cx="5669280" cy="868680"/>
          </a:xfrm>
          <a:prstGeom prst="roundRect">
            <a:avLst>
              <a:gd name="adj" fmla="val 8421"/>
            </a:avLst>
          </a:prstGeom>
          <a:solidFill>
            <a:srgbClr val="E0F2F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6263640" y="5212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Gentamicin: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5 mg/kg/dose, once a day.  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Amoxicillin: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25 mg/kg/dose, twice a day.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PNEUMONIA · 2 MONTHS – 5 YEARS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Classifying Pneumonia in Children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Any child presenting with fever, cough, or cold must be assessed for the following classification: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F8A5805-9A35-C48B-5E55-83E4BCD9B704}"/>
              </a:ext>
            </a:extLst>
          </p:cNvPr>
          <p:cNvGrpSpPr/>
          <p:nvPr/>
        </p:nvGrpSpPr>
        <p:grpSpPr>
          <a:xfrm>
            <a:off x="548640" y="1828799"/>
            <a:ext cx="10890504" cy="4960621"/>
            <a:chOff x="548640" y="1828799"/>
            <a:chExt cx="10890504" cy="4960621"/>
          </a:xfrm>
        </p:grpSpPr>
        <p:sp>
          <p:nvSpPr>
            <p:cNvPr id="5" name="Shape 3"/>
            <p:cNvSpPr/>
            <p:nvPr/>
          </p:nvSpPr>
          <p:spPr>
            <a:xfrm>
              <a:off x="548640" y="1828799"/>
              <a:ext cx="3483864" cy="4093029"/>
            </a:xfrm>
            <a:prstGeom prst="roundRect">
              <a:avLst>
                <a:gd name="adj" fmla="val 2192"/>
              </a:avLst>
            </a:prstGeom>
            <a:solidFill>
              <a:srgbClr val="FBE9E2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749808" y="2029968"/>
              <a:ext cx="3118104" cy="329184"/>
            </a:xfrm>
            <a:prstGeom prst="roundRect">
              <a:avLst>
                <a:gd name="adj" fmla="val 50000"/>
              </a:avLst>
            </a:prstGeom>
            <a:solidFill>
              <a:srgbClr val="C1440E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749808" y="2029968"/>
              <a:ext cx="31181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SEVERE PNEUMONIA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749808" y="2606040"/>
              <a:ext cx="3118104" cy="31834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7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General danger signs: can't feed/drink, vomits everything, lethargy, reduced consciousness, convulsions</a:t>
              </a:r>
              <a:endPara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7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Central cyanosis or SpO₂ &lt; 90%</a:t>
              </a:r>
              <a:endPara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7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Severe respiratory distress (RR &gt; 70/min)</a:t>
              </a:r>
              <a:endPara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7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chest indrawing</a:t>
              </a:r>
              <a:endPara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7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Head nodding, stridor, grunting, or wheezing</a:t>
              </a:r>
              <a:endPara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4233672" y="1828800"/>
              <a:ext cx="3520440" cy="3337560"/>
            </a:xfrm>
            <a:prstGeom prst="roundRect">
              <a:avLst>
                <a:gd name="adj" fmla="val 2192"/>
              </a:avLst>
            </a:prstGeom>
            <a:solidFill>
              <a:srgbClr val="FBF0DF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4434840" y="2029968"/>
              <a:ext cx="3118104" cy="329184"/>
            </a:xfrm>
            <a:prstGeom prst="roundRect">
              <a:avLst>
                <a:gd name="adj" fmla="val 50000"/>
              </a:avLst>
            </a:prstGeom>
            <a:solidFill>
              <a:srgbClr val="E0A458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4434840" y="2029968"/>
              <a:ext cx="31181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PNEUMONIA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4434840" y="2697480"/>
              <a:ext cx="3118104" cy="2331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Fast breathing: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  2–11 months: RR ≥ 50/min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lvl="0" indent="-203200" defTabSz="914400">
                <a:lnSpc>
                  <a:spcPct val="108000"/>
                </a:lnSpc>
                <a:spcAft>
                  <a:spcPts val="1000"/>
                </a:spcAft>
                <a:buSzPct val="100000"/>
                <a:buFontTx/>
                <a:buChar char="●"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  12–59 months: RR </a:t>
              </a:r>
              <a:r>
                <a:rPr lang="en-US" dirty="0">
                  <a:solidFill>
                    <a:srgbClr val="1A2E2C"/>
                  </a:solidFill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≥ </a:t>
              </a: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40/min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7918704" y="1828800"/>
              <a:ext cx="3520440" cy="3337560"/>
            </a:xfrm>
            <a:prstGeom prst="roundRect">
              <a:avLst>
                <a:gd name="adj" fmla="val 2192"/>
              </a:avLst>
            </a:prstGeom>
            <a:solidFill>
              <a:srgbClr val="E3F1EA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8119872" y="2029968"/>
              <a:ext cx="3118104" cy="329184"/>
            </a:xfrm>
            <a:prstGeom prst="roundRect">
              <a:avLst>
                <a:gd name="adj" fmla="val 50000"/>
              </a:avLst>
            </a:prstGeom>
            <a:solidFill>
              <a:srgbClr val="2E7D5B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119872" y="2029968"/>
              <a:ext cx="31181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NO PNEUMONIA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8119872" y="2697480"/>
              <a:ext cx="3118104" cy="137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No signs of Pneumonia or Severe Pneumonia are present.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548640" y="6012180"/>
              <a:ext cx="10890504" cy="777240"/>
            </a:xfrm>
            <a:prstGeom prst="roundRect">
              <a:avLst>
                <a:gd name="adj" fmla="val 9412"/>
              </a:avLst>
            </a:prstGeom>
            <a:solidFill>
              <a:srgbClr val="EAF6F6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879348" y="6062907"/>
              <a:ext cx="10433304" cy="5037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0B4F4A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Remember: </a:t>
              </a: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classify using the highest level of severity for which the child has even one sign present.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PNEUMONIA · NO PNEUMONIA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Home Care for Cough and Cold (No Pneumonia)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ADVICE TO THE MOTHER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309360" cy="3520440"/>
          </a:xfrm>
          <a:prstGeom prst="roundRect">
            <a:avLst>
              <a:gd name="adj" fmla="val 2078"/>
            </a:avLst>
          </a:prstGeom>
          <a:solidFill>
            <a:srgbClr val="E3F1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Keep the child properly clothed and warm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Continue feeding during illness; breastfeeding should be continued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home-available fluids as much as the child will take — helps relieve cough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For children above 1 year, give a home-made soothing remedy (honey, ginger, herbal concoctions). No remedy for an exclusively breastfed child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Avoid cough syrups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Keep the nose clean using nasal drops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6309360" cy="658368"/>
          </a:xfrm>
          <a:prstGeom prst="roundRect">
            <a:avLst>
              <a:gd name="adj" fmla="val 11111"/>
            </a:avLst>
          </a:prstGeom>
          <a:solidFill>
            <a:srgbClr val="EAF6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Encourage the mother to keep feeding and offering fluids throughout the illness.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452360" y="5440680"/>
            <a:ext cx="3931920" cy="0"/>
          </a:xfrm>
          <a:prstGeom prst="line">
            <a:avLst/>
          </a:prstGeom>
          <a:noFill/>
          <a:ln w="9525">
            <a:solidFill>
              <a:srgbClr val="E5B8A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094D8B9-30B0-530A-1383-9AF11B882860}"/>
              </a:ext>
            </a:extLst>
          </p:cNvPr>
          <p:cNvGrpSpPr/>
          <p:nvPr/>
        </p:nvGrpSpPr>
        <p:grpSpPr>
          <a:xfrm>
            <a:off x="7162800" y="1481328"/>
            <a:ext cx="4495800" cy="4764024"/>
            <a:chOff x="7162800" y="1481328"/>
            <a:chExt cx="4495800" cy="4764024"/>
          </a:xfrm>
        </p:grpSpPr>
        <p:sp>
          <p:nvSpPr>
            <p:cNvPr id="9" name="Text 7"/>
            <p:cNvSpPr/>
            <p:nvPr/>
          </p:nvSpPr>
          <p:spPr>
            <a:xfrm>
              <a:off x="7178040" y="1481328"/>
              <a:ext cx="448056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100" normalizeH="0" baseline="0" noProof="0" dirty="0">
                  <a:ln>
                    <a:noFill/>
                  </a:ln>
                  <a:solidFill>
                    <a:srgbClr val="C1440E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DANGER SIGNS </a:t>
              </a:r>
              <a:r>
                <a:rPr lang="en-US" sz="2000" b="1" kern="0" spc="100" dirty="0">
                  <a:solidFill>
                    <a:srgbClr val="C1440E"/>
                  </a:solidFill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-</a:t>
              </a:r>
              <a:r>
                <a:rPr kumimoji="0" lang="en-US" sz="2000" b="1" i="0" u="none" strike="noStrike" kern="0" cap="none" spc="100" normalizeH="0" baseline="0" noProof="0" dirty="0">
                  <a:ln>
                    <a:noFill/>
                  </a:ln>
                  <a:solidFill>
                    <a:srgbClr val="C1440E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REPORT TO ASHA / ANM IMMEDIATELY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7162800" y="1929384"/>
              <a:ext cx="4480560" cy="4315968"/>
            </a:xfrm>
            <a:prstGeom prst="roundRect">
              <a:avLst>
                <a:gd name="adj" fmla="val 1695"/>
              </a:avLst>
            </a:prstGeom>
            <a:solidFill>
              <a:srgbClr val="FBE9E2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7452360" y="2103120"/>
              <a:ext cx="548640" cy="548640"/>
            </a:xfrm>
            <a:prstGeom prst="ellipse">
              <a:avLst/>
            </a:prstGeom>
            <a:solidFill>
              <a:srgbClr val="C1440E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pic>
          <p:nvPicPr>
            <p:cNvPr id="12" name="Image 0" descr="/home/claude/pptx_build/icons/warning_whit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95006" y="2245766"/>
              <a:ext cx="263347" cy="263347"/>
            </a:xfrm>
            <a:prstGeom prst="rect">
              <a:avLst/>
            </a:prstGeom>
          </p:spPr>
        </p:pic>
        <p:sp>
          <p:nvSpPr>
            <p:cNvPr id="13" name="Text 10"/>
            <p:cNvSpPr/>
            <p:nvPr/>
          </p:nvSpPr>
          <p:spPr>
            <a:xfrm>
              <a:off x="7452360" y="2926080"/>
              <a:ext cx="3931920" cy="2560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28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Child becomes sicker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28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Not able to drink or breastfeed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28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Fast or difficult breathing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28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Develops fever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7452360" y="5577840"/>
              <a:ext cx="39319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C1440E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Acting early on these signs can prevent the illness from worsening.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PNEUMONIA · TREATMENT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Treatment of Pneumonia with Oral Amoxicillin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TREATMENT PROTOCOL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oral Amoxicillin 25 mg/kg/dose, twice a day, for 5 days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first dose at clinic; teach mother to give remaining doses at home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Advise to continue feeding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Advise to return after 2 days, or earlier if child becomes sicker or is unable to drink/breastfeed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Avoid unnecessary medication: cough syrups, medicated nose drops, steam inhalation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1223" y="5376672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68862" y="5593515"/>
            <a:ext cx="548640" cy="548640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8" name="Image 0" descr="/home/claude/pptx_build/icons/clo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08" y="5736161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475" y="55595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Complete the full 5-day course even if the child improves earlier.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096000" y="1427335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AMOXICILLIN DOSING — TWICE DAILY FOR 5 DAYS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9225"/>
              </p:ext>
            </p:extLst>
          </p:nvPr>
        </p:nvGraphicFramePr>
        <p:xfrm>
          <a:off x="6126480" y="1828800"/>
          <a:ext cx="5532120" cy="289560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Age / Weight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Syrup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(125mg/5ml)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Dispersible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Tablet (250mg)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2–4 months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(4 to &lt;6 kg)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5 ml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½ tab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4–12 months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(6 to &lt;10 kg)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10 ml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1 tab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12 mo – 3 yrs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(10 to &lt;14 kg)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15 ml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1½ tab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3 – 5 years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(14 to &lt;20 kg)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2 tab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126480" y="4800600"/>
            <a:ext cx="5532120" cy="1280160"/>
          </a:xfrm>
          <a:prstGeom prst="roundRect">
            <a:avLst>
              <a:gd name="adj" fmla="val 5714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6355080" y="491947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B8772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Use weight to select the dose whenever the child's weight is known — it is more accurate than age alone, especially for children with malnutrition.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SEVERE PNEUMONIA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Severe Pneumonia: Pre-Referral &amp; Wheeze Management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PRE-REFERRAL TREATMENT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2139696"/>
          </a:xfrm>
          <a:prstGeom prst="roundRect">
            <a:avLst>
              <a:gd name="adj" fmla="val 3721"/>
            </a:avLst>
          </a:prstGeom>
          <a:solidFill>
            <a:srgbClr val="FBE9E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2029968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Hospitalize the child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oxygen if saturation is below 90% or Respiratory Rate ≥ 70/ Minute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Manage the airway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recommended pre-referral antibiotics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IF REFERRAL REFUSED OR NOT FEASIBLE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370832"/>
            <a:ext cx="5303520" cy="1755648"/>
          </a:xfrm>
          <a:prstGeom prst="roundRect">
            <a:avLst>
              <a:gd name="adj" fmla="val 4167"/>
            </a:avLst>
          </a:prstGeom>
          <a:solidFill>
            <a:srgbClr val="E0F2F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45720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Manage illness using Oral Amoxicillin twice a day AND Injection Gentamicin once a day for 7 days, by CHO/ANM.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126480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IF THE CHILD HAS WHEEZING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5532120" cy="4663440"/>
          </a:xfrm>
          <a:prstGeom prst="roundRect">
            <a:avLst>
              <a:gd name="adj" fmla="val 1569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55080" y="2057400"/>
            <a:ext cx="5074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3 doses of nebulized Salbutamol for 20 minutes; or 4 puffs of Salbutamol MDI with spacer (gap of 5 min between puffs), repeated every 20 minutes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Reassess the child and reclassify the problem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 antibiotics needed if significant improvement with bronchodilator and no clinical signs of consolidation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If tachypnoea, distress, toxic look, or consolidation persists — continue antibiotics along with bronchodilators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SEVERE PNEUMONIA · TREATMENT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Management of Severe Pneumonia: Injectable Antibiotics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39" y="1444752"/>
            <a:ext cx="5427617" cy="331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FIRST-LINE INJECTABLE ANTIBIOTICS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39" y="1783080"/>
            <a:ext cx="5427617" cy="1606296"/>
          </a:xfrm>
          <a:prstGeom prst="roundRect">
            <a:avLst>
              <a:gd name="adj" fmla="val 5161"/>
            </a:avLst>
          </a:prstGeom>
          <a:solidFill>
            <a:srgbClr val="E0F2F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39" y="1965960"/>
            <a:ext cx="4967649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Ampicillin 50 mg/kg IM or IV every 6 hours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Gentamicin 7.5 mg/kg IM or IV once a day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39" y="3337560"/>
            <a:ext cx="5427617" cy="331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39" y="3675888"/>
            <a:ext cx="5427617" cy="2798064"/>
          </a:xfrm>
          <a:prstGeom prst="roundRect">
            <a:avLst>
              <a:gd name="adj" fmla="val 2963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39" y="3858768"/>
            <a:ext cx="4967649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Staphylococcal infection suspected (skin pustules/boils): give Cloxacillin OR Amoxicillin + Clavulanic acid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Septic shock: give Ceftriaxone with Vancomycin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 improvement within 48 hours: switch to Gentamicin 7.5 mg/kg IV once daily + Ceftriaxone 100 mg/kg IV in two divided doses, OR Cloxacillin 50 mg/kg IV every 8 hours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217920" y="1444752"/>
            <a:ext cx="5473614" cy="331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SHIFTING TO ORAL &amp; TOTAL DURATION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17920" y="1783080"/>
            <a:ext cx="5473614" cy="4562856"/>
          </a:xfrm>
          <a:prstGeom prst="roundRect">
            <a:avLst>
              <a:gd name="adj" fmla="val 1674"/>
            </a:avLst>
          </a:prstGeom>
          <a:solidFill>
            <a:srgbClr val="E3F1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46519" y="1993392"/>
            <a:ext cx="5059643" cy="1191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Shift to oral drugs as soon as the child can take orally: Inj. Ampicillin → oral Amoxicillin; Inj. Gentamicin IV → IM, to complete the antibiotic course.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785457"/>
              </p:ext>
            </p:extLst>
          </p:nvPr>
        </p:nvGraphicFramePr>
        <p:xfrm>
          <a:off x="6217920" y="3444588"/>
          <a:ext cx="5473614" cy="2195781"/>
        </p:xfrm>
        <a:graphic>
          <a:graphicData uri="http://schemas.openxmlformats.org/drawingml/2006/table">
            <a:tbl>
              <a:tblPr/>
              <a:tblGrid>
                <a:gridCol w="3265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78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Clinical Scenario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Total Antibiotic Duration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Clinical response within 48 hours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7 days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Clinical response after 48 hours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10 days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E2C"/>
                          </a:solidFill>
                        </a:rPr>
                        <a:t>Empyema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4–6 weeks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SEVERE PNEUMONIA · SUPPORTIVE TREATMENT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8122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Oxygen Therapy &amp; Nebulization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OXYGEN THERAPY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01368"/>
            <a:ext cx="5394960" cy="4873752"/>
          </a:xfrm>
          <a:prstGeom prst="roundRect">
            <a:avLst>
              <a:gd name="adj" fmla="val 1684"/>
            </a:avLst>
          </a:prstGeom>
          <a:solidFill>
            <a:srgbClr val="E0F2F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77240" y="1993392"/>
            <a:ext cx="502920" cy="502920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7" name="Image 0" descr="/home/claude/pptx_build/icons/win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2124151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260604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oxygen if saturation &lt; 90% (or &lt; 94% if other danger signs like shock are present)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Use nasal prongs at 0.5–1 litre/min — preferred for young infants. If unavailable, use nasal or nasopharyngeal catheter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Use pulse oximetry to guide therapy; keep saturation above 90%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If pulse oximeter unavailable, continue oxygen until clinical signs of hypoxia resolve (e.g. unable to breastfeed, breathing rate ≥ 70/min)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217920" y="1463040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14919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NEBULIZATION WITH SALBUTAMOL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17920" y="1801368"/>
            <a:ext cx="5440680" cy="2724914"/>
          </a:xfrm>
          <a:prstGeom prst="roundRect">
            <a:avLst>
              <a:gd name="adj" fmla="val 3137"/>
            </a:avLst>
          </a:prstGeom>
          <a:solidFill>
            <a:srgbClr val="EAF6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446520" y="1993392"/>
            <a:ext cx="4983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Add salbutamol to nebulizer cup with saline to make volume 3 ml — dose 2.5 mg (0.5 ml of the 5mg/ml solution)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every 1–4 hours initially, reducing to 6–8 hourly as the child improves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Can be given more frequently if necessary in severe cases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248402" y="4622293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477002" y="4759453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Oral/Syrup Salbutamol: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&lt; 1 yr — 1 mg/dose;  1–4 yrs — 2 mg/dose, both every 6–8 hourly.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248402" y="5678424"/>
            <a:ext cx="5440680" cy="795528"/>
          </a:xfrm>
          <a:prstGeom prst="roundRect">
            <a:avLst>
              <a:gd name="adj" fmla="val 9195"/>
            </a:avLst>
          </a:prstGeom>
          <a:solidFill>
            <a:srgbClr val="FBE9E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477002" y="5769864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In severe pneumonia, do NOT delay antibiotic administration — even while giving bronchodilators.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PNEUMONIA · RECOVERY PATHWAY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Supportive Care, Monitoring, Discharge &amp; Follow-up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SUPPORTIVE CARE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394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Clear thick nasal/throat secretions by gentle suction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paracetamol for fever ≥ 38.5°C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Provide maintenance IV fluids only if unable to feed orally; stop gradually once tolerating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rapid-acting bronchodilator if wheeze is present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Encourage feeding as soon as possible — no role for cough syrup (may be harmful)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Ensure vaccination and nutrition advice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217920" y="1444751"/>
            <a:ext cx="5425440" cy="44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14919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MONITORING FREQUENCY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425440" cy="2009503"/>
          </a:xfrm>
          <a:prstGeom prst="roundRect">
            <a:avLst>
              <a:gd name="adj" fmla="val 5161"/>
            </a:avLst>
          </a:prstGeom>
          <a:solidFill>
            <a:srgbClr val="EAF6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46520" y="193852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Nurse: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at least every 3 hours   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Doctor: 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at least twice a day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45879" y="2570089"/>
            <a:ext cx="4969521" cy="1048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Improvement signs within 48 hrs: slower breathing, less chest indrawing, less fever, better feeding, improved SpO₂.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217920" y="3792583"/>
            <a:ext cx="5440680" cy="384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DISCHARGE CRITERIA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17920" y="4112624"/>
            <a:ext cx="5440680" cy="2224168"/>
          </a:xfrm>
          <a:prstGeom prst="roundRect">
            <a:avLst>
              <a:gd name="adj" fmla="val 4324"/>
            </a:avLst>
          </a:prstGeom>
          <a:solidFill>
            <a:srgbClr val="E3F1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46520" y="4249783"/>
            <a:ext cx="4983480" cy="1923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Respiratory distress resolved; SpO₂ ≥ 90% on room air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Feeding well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Able to take oral medication, OR has completed a course of parenteral antibiotics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Family counseled on when to return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8640" y="5010912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10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FOLLOW-UP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" y="557784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Arrange follow-up 2 weeks after discharge — check nutrition, vaccination, and address risk factors (malnutrition, indoor air pollution, parental smoking).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