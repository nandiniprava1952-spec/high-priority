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B6: Identification &amp; Management of Childhood Pneumonia</a:t>
            </a:r>
          </a:p>
          <a:p>
            <a:r>
              <a:t>Module: Day 1 – Newborn &amp; Child Health</a:t>
            </a:r>
          </a:p>
          <a:p/>
          <a:p>
            <a:r>
              <a:t>Key content covered in source deck:</a:t>
            </a:r>
          </a:p>
          <a:p>
            <a:r>
              <a:t>- TOPIC 6</a:t>
            </a:r>
          </a:p>
          <a:p>
            <a:r>
              <a:t>- Identification &amp; Management of</a:t>
            </a:r>
          </a:p>
          <a:p>
            <a:r>
              <a:t>- Childhood Pneumonia</a:t>
            </a:r>
          </a:p>
          <a:p>
            <a:r>
              <a:t>- Presenter: Dr. Lingaraj Pradhan</a:t>
            </a:r>
          </a:p>
          <a:p>
            <a:r>
              <a:t>- Pneumonia is a leading cause of U5 deaths in the State</a:t>
            </a:r>
          </a:p>
          <a:p>
            <a:r>
              <a:t>- Childhood Pneumonia: Why It Matters</a:t>
            </a:r>
          </a:p>
          <a:p>
            <a:r>
              <a:t>- Identification is divided into two age groups:</a:t>
            </a:r>
          </a:p>
          <a:p>
            <a:r>
              <a:t>- PNEUMONIA · 0–2 MONTHS</a:t>
            </a:r>
          </a:p>
          <a:p>
            <a:r>
              <a:t>- Pre-Referral Care &amp; Antibiotic Therapy for PSBI</a:t>
            </a:r>
          </a:p>
          <a:p>
            <a:r>
              <a:t>- PRE-REFERRAL STEPS</a:t>
            </a:r>
          </a:p>
          <a:p>
            <a:r>
              <a:t>- Warm the infant by skin-to-skin contact with mother/caregiver</a:t>
            </a:r>
          </a:p>
          <a:p>
            <a:r>
              <a:t>- Treat to prevent low blood sugar</a:t>
            </a:r>
          </a:p>
          <a:p>
            <a:r>
              <a:t>- If able to breastfeed, ask mother to breastfeed the child</a:t>
            </a:r>
          </a:p>
          <a:p>
            <a:r>
              <a:t>- If not able to breastfeed, give 20–50 ml (10 ml/kg) expressed breast milk by OG tube, or 2 ml/kg of 10% dextrose</a:t>
            </a:r>
          </a:p>
          <a:p>
            <a:r>
              <a:t>- Give first pre-referral dose of Inj. Gentamicin + Syp. Amoxicillin, maintain warmth, and refer</a:t>
            </a:r>
          </a:p>
          <a:p>
            <a:r>
              <a:t>- ANTIBIOTIC DOSING BY WEIGHT</a:t>
            </a:r>
          </a:p>
          <a:p>
            <a:r>
              <a:t>- Gentamicin: 5 mg/kg/dose, once a day.   Amoxicillin:</a:t>
            </a:r>
          </a:p>
          <a:p>
            <a:r>
              <a:t>- 25 mg/kg/dose, twice a day.</a:t>
            </a:r>
          </a:p>
          <a:p>
            <a:r>
              <a:t>- PNEUMONIA · 2 MONTHS – 5 YEARS</a:t>
            </a:r>
          </a:p>
          <a:p>
            <a:r>
              <a:t>- Classifying Pneumonia in Children</a:t>
            </a:r>
          </a:p>
          <a:p>
            <a:r>
              <a:t>- Any child presenting with fever, cough, or cold must be assessed for the following classification:</a:t>
            </a:r>
          </a:p>
          <a:p>
            <a:r>
              <a:t>- PNEUMONIA · NO PNEUMONIA</a:t>
            </a:r>
          </a:p>
          <a:p>
            <a:r>
              <a:t>- Home Care for Cough and Cold (No Pneumonia)</a:t>
            </a:r>
          </a:p>
          <a:p>
            <a:r>
              <a:t>- ADVICE TO THE MOTHER</a:t>
            </a:r>
          </a:p>
          <a:p>
            <a:r>
              <a:t>- Keep the child properly clothed and warm</a:t>
            </a:r>
          </a:p>
          <a:p/>
          <a:p>
            <a:r>
              <a:t>Facilitator reminder: cross-check this section against the training checklist (module_B / grp_B6) in the KoboToolBox facilitation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6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32588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DAY 1 – NEWBORN &amp; CHILD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0E0E0"/>
                </a:solidFill>
                <a:latin typeface="Arial"/>
              </a:defRPr>
            </a:pPr>
            <a:r>
              <a:t>Section B6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675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t>Identification &amp; Management of Childhood Pneumonia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Arial"/>
              </a:defRPr>
            </a:pPr>
            <a:r>
              <a:t>Maternal &amp; Child Health Presentation – Facilitator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