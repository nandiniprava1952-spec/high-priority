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4.xml" ContentType="application/vnd.openxmlformats-officedocument.drawingml.chart+xml"/>
  <Override PartName="/ppt/diagrams/colors13.xml" ContentType="application/vnd.openxmlformats-officedocument.drawingml.diagramColors+xml"/>
  <Override PartName="/ppt/diagrams/colors14.xml" ContentType="application/vnd.openxmlformats-officedocument.drawingml.diagramColors+xml"/>
  <Override PartName="/ppt/diagrams/colors15.xml" ContentType="application/vnd.openxmlformats-officedocument.drawingml.diagramColors+xml"/>
  <Override PartName="/ppt/diagrams/data13.xml" ContentType="application/vnd.openxmlformats-officedocument.drawingml.diagramData+xml"/>
  <Override PartName="/ppt/diagrams/data14.xml" ContentType="application/vnd.openxmlformats-officedocument.drawingml.diagramData+xml"/>
  <Override PartName="/ppt/diagrams/data15.xml" ContentType="application/vnd.openxmlformats-officedocument.drawingml.diagramData+xml"/>
  <Override PartName="/ppt/diagrams/drawing13.xml" ContentType="application/vnd.ms-office.drawingml.diagramDrawing+xml"/>
  <Override PartName="/ppt/diagrams/drawing14.xml" ContentType="application/vnd.ms-office.drawingml.diagramDrawing+xml"/>
  <Override PartName="/ppt/diagrams/drawing15.xml" ContentType="application/vnd.ms-office.drawingml.diagramDrawing+xml"/>
  <Override PartName="/ppt/diagrams/layout13.xml" ContentType="application/vnd.openxmlformats-officedocument.drawingml.diagramLayout+xml"/>
  <Override PartName="/ppt/diagrams/layout14.xml" ContentType="application/vnd.openxmlformats-officedocument.drawingml.diagramLayout+xml"/>
  <Override PartName="/ppt/diagrams/layout15.xml" ContentType="application/vnd.openxmlformats-officedocument.drawingml.diagramLayout+xml"/>
  <Override PartName="/ppt/diagrams/quickStyle13.xml" ContentType="application/vnd.openxmlformats-officedocument.drawingml.diagramStyle+xml"/>
  <Override PartName="/ppt/diagrams/quickStyle14.xml" ContentType="application/vnd.openxmlformats-officedocument.drawingml.diagramStyle+xml"/>
  <Override PartName="/ppt/diagrams/quickStyle15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06.svg" ContentType="image/svg+xml"/>
  <Override PartName="/ppt/notesMasters/notesMaster1.xml" ContentType="application/vnd.openxmlformats-officedocument.presentationml.notesMaster+xml"/>
  <Override PartName="/ppt/notesSlides/notesSlide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811" r:id="rId234"/>
    <p:sldId id="2147470812" r:id="rId235"/>
    <p:sldId id="2147470813" r:id="rId236"/>
    <p:sldId id="3324" r:id="rId237"/>
    <p:sldId id="801" r:id="rId238"/>
    <p:sldId id="3325" r:id="rId239"/>
    <p:sldId id="3326" r:id="rId240"/>
    <p:sldId id="3343" r:id="rId241"/>
    <p:sldId id="2147470814" r:id="rId242"/>
    <p:sldId id="3346" r:id="rId243"/>
    <p:sldId id="459" r:id="rId244"/>
    <p:sldId id="845" r:id="rId245"/>
    <p:sldId id="839" r:id="rId246"/>
    <p:sldId id="840" r:id="rId247"/>
    <p:sldId id="841" r:id="rId248"/>
    <p:sldId id="842" r:id="rId249"/>
    <p:sldId id="843" r:id="rId250"/>
    <p:sldId id="846" r:id="rId251"/>
    <p:sldId id="3379" r:id="rId252"/>
    <p:sldId id="531" r:id="rId253"/>
    <p:sldId id="3347" r:id="rId254"/>
    <p:sldId id="3348" r:id="rId255"/>
    <p:sldId id="535" r:id="rId256"/>
    <p:sldId id="2147470815" r:id="rId257"/>
    <p:sldId id="3349" r:id="rId258"/>
    <p:sldId id="802" r:id="rId259"/>
    <p:sldId id="504" r:id="rId260"/>
    <p:sldId id="3380" r:id="rId261"/>
    <p:sldId id="508" r:id="rId262"/>
    <p:sldId id="417" r:id="rId263"/>
    <p:sldId id="2147470816" r:id="rId264"/>
    <p:sldId id="2147470817" r:id="rId265"/>
    <p:sldId id="3350" r:id="rId266"/>
    <p:sldId id="3351" r:id="rId267"/>
    <p:sldId id="3352" r:id="rId268"/>
    <p:sldId id="3353" r:id="rId269"/>
    <p:sldId id="3354" r:id="rId270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234" Type="http://schemas.openxmlformats.org/officeDocument/2006/relationships/slide" Target="slides/slide224.xml"/><Relationship Id="rId235" Type="http://schemas.openxmlformats.org/officeDocument/2006/relationships/slide" Target="slides/slide225.xml"/><Relationship Id="rId236" Type="http://schemas.openxmlformats.org/officeDocument/2006/relationships/slide" Target="slides/slide226.xml"/><Relationship Id="rId237" Type="http://schemas.openxmlformats.org/officeDocument/2006/relationships/slide" Target="slides/slide227.xml"/><Relationship Id="rId238" Type="http://schemas.openxmlformats.org/officeDocument/2006/relationships/slide" Target="slides/slide228.xml"/><Relationship Id="rId239" Type="http://schemas.openxmlformats.org/officeDocument/2006/relationships/slide" Target="slides/slide229.xml"/><Relationship Id="rId240" Type="http://schemas.openxmlformats.org/officeDocument/2006/relationships/slide" Target="slides/slide230.xml"/><Relationship Id="rId241" Type="http://schemas.openxmlformats.org/officeDocument/2006/relationships/slide" Target="slides/slide231.xml"/><Relationship Id="rId242" Type="http://schemas.openxmlformats.org/officeDocument/2006/relationships/slide" Target="slides/slide232.xml"/><Relationship Id="rId243" Type="http://schemas.openxmlformats.org/officeDocument/2006/relationships/slide" Target="slides/slide233.xml"/><Relationship Id="rId244" Type="http://schemas.openxmlformats.org/officeDocument/2006/relationships/slide" Target="slides/slide234.xml"/><Relationship Id="rId245" Type="http://schemas.openxmlformats.org/officeDocument/2006/relationships/slide" Target="slides/slide235.xml"/><Relationship Id="rId246" Type="http://schemas.openxmlformats.org/officeDocument/2006/relationships/slide" Target="slides/slide236.xml"/><Relationship Id="rId247" Type="http://schemas.openxmlformats.org/officeDocument/2006/relationships/slide" Target="slides/slide237.xml"/><Relationship Id="rId248" Type="http://schemas.openxmlformats.org/officeDocument/2006/relationships/slide" Target="slides/slide238.xml"/><Relationship Id="rId249" Type="http://schemas.openxmlformats.org/officeDocument/2006/relationships/slide" Target="slides/slide239.xml"/><Relationship Id="rId250" Type="http://schemas.openxmlformats.org/officeDocument/2006/relationships/slide" Target="slides/slide240.xml"/><Relationship Id="rId251" Type="http://schemas.openxmlformats.org/officeDocument/2006/relationships/slide" Target="slides/slide241.xml"/><Relationship Id="rId252" Type="http://schemas.openxmlformats.org/officeDocument/2006/relationships/slide" Target="slides/slide242.xml"/><Relationship Id="rId253" Type="http://schemas.openxmlformats.org/officeDocument/2006/relationships/slide" Target="slides/slide243.xml"/><Relationship Id="rId254" Type="http://schemas.openxmlformats.org/officeDocument/2006/relationships/slide" Target="slides/slide244.xml"/><Relationship Id="rId255" Type="http://schemas.openxmlformats.org/officeDocument/2006/relationships/slide" Target="slides/slide245.xml"/><Relationship Id="rId256" Type="http://schemas.openxmlformats.org/officeDocument/2006/relationships/slide" Target="slides/slide246.xml"/><Relationship Id="rId257" Type="http://schemas.openxmlformats.org/officeDocument/2006/relationships/slide" Target="slides/slide247.xml"/><Relationship Id="rId258" Type="http://schemas.openxmlformats.org/officeDocument/2006/relationships/slide" Target="slides/slide248.xml"/><Relationship Id="rId259" Type="http://schemas.openxmlformats.org/officeDocument/2006/relationships/slide" Target="slides/slide249.xml"/><Relationship Id="rId260" Type="http://schemas.openxmlformats.org/officeDocument/2006/relationships/slide" Target="slides/slide250.xml"/><Relationship Id="rId261" Type="http://schemas.openxmlformats.org/officeDocument/2006/relationships/slide" Target="slides/slide251.xml"/><Relationship Id="rId262" Type="http://schemas.openxmlformats.org/officeDocument/2006/relationships/slide" Target="slides/slide252.xml"/><Relationship Id="rId263" Type="http://schemas.openxmlformats.org/officeDocument/2006/relationships/slide" Target="slides/slide253.xml"/><Relationship Id="rId264" Type="http://schemas.openxmlformats.org/officeDocument/2006/relationships/slide" Target="slides/slide254.xml"/><Relationship Id="rId265" Type="http://schemas.openxmlformats.org/officeDocument/2006/relationships/slide" Target="slides/slide255.xml"/><Relationship Id="rId266" Type="http://schemas.openxmlformats.org/officeDocument/2006/relationships/slide" Target="slides/slide256.xml"/><Relationship Id="rId267" Type="http://schemas.openxmlformats.org/officeDocument/2006/relationships/slide" Target="slides/slide257.xml"/><Relationship Id="rId268" Type="http://schemas.openxmlformats.org/officeDocument/2006/relationships/slide" Target="slides/slide258.xml"/><Relationship Id="rId269" Type="http://schemas.openxmlformats.org/officeDocument/2006/relationships/slide" Target="slides/slide259.xml"/><Relationship Id="rId270" Type="http://schemas.openxmlformats.org/officeDocument/2006/relationships/slide" Target="slides/slide260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file:///E:\CCVLM%2029.8.2019-1\General%20information\DATA\NFHS\NFHS-%20trend%20data%20Analysis.xlsx" TargetMode="External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'all nfhs '!$E$6</c:f>
              <c:strCache>
                <c:ptCount val="1"/>
                <c:pt idx="0">
                  <c:v>FIC (%)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'all nfhs '!$D$7:$D$12</c:f>
              <c:strCache>
                <c:ptCount val="6"/>
                <c:pt idx="0">
                  <c:v>NFHS 1</c:v>
                </c:pt>
                <c:pt idx="1">
                  <c:v>NFHS 2</c:v>
                </c:pt>
                <c:pt idx="2">
                  <c:v>NFHS 3</c:v>
                </c:pt>
                <c:pt idx="3">
                  <c:v>NFHS 4</c:v>
                </c:pt>
                <c:pt idx="4">
                  <c:v>NFHS 5</c:v>
                </c:pt>
                <c:pt idx="5">
                  <c:v>NFHS 6</c:v>
                </c:pt>
              </c:strCache>
            </c:strRef>
          </c:cat>
          <c:val>
            <c:numRef>
              <c:f>'all nfhs '!$E$7:$E$12</c:f>
              <c:numCache>
                <c:formatCode>0.0%</c:formatCode>
                <c:ptCount val="6"/>
                <c:pt idx="0">
                  <c:v>0.36099999999999999</c:v>
                </c:pt>
                <c:pt idx="1">
                  <c:v>0.437</c:v>
                </c:pt>
                <c:pt idx="2">
                  <c:v>0.51800000000000002</c:v>
                </c:pt>
                <c:pt idx="3">
                  <c:v>0.78600000000000003</c:v>
                </c:pt>
                <c:pt idx="4">
                  <c:v>0.90500000000000003</c:v>
                </c:pt>
                <c:pt idx="5">
                  <c:v>0.90800000000000003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2F-432F-82B3-DC668DD50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6172800"/>
        <c:axId val="66174336"/>
      </c:barChart>
      <c:catAx>
        <c:axId val="661728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66174336"/>
        <c:crosses val="autoZero"/>
        <c:auto val="1"/>
        <c:lblAlgn val="ctr"/>
        <c:lblOffset val="100"/>
        <c:noMultiLvlLbl val="0"/>
      </c:catAx>
      <c:valAx>
        <c:axId val="66174336"/>
        <c:scaling>
          <c:orientation val="minMax"/>
        </c:scaling>
        <c:delete val="0"/>
        <c:axPos val="l"/>
        <c:numFmt formatCode="0.0%" sourceLinked="1"/>
        <c:majorTickMark val="out"/>
        <c:minorTickMark val="none"/>
        <c:tickLblPos val="nextTo"/>
        <c:crossAx val="66172800"/>
        <c:crosses val="autoZero"/>
        <c:crossBetween val="between"/>
      </c:valAx>
    </c:plotArea>
    <c:plotVisOnly val="1"/>
    <c:dispBlanksAs val="gap"/>
    <c:showDLblsOverMax val="0"/>
  </c:chart>
  <c:spPr>
    <a:ln>
      <a:solidFill>
        <a:srgbClr val="FFC000"/>
      </a:solidFill>
    </a:ln>
  </c:spPr>
  <c:externalData r:id="rId1">
    <c:autoUpdate val="0"/>
  </c:externalData>
</c:chartSpace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3.xml><?xml version="1.0" encoding="utf-8"?>
<dgm:dataModel xmlns:dgm="http://schemas.openxmlformats.org/drawingml/2006/diagram" xmlns:a="http://schemas.openxmlformats.org/drawingml/2006/main">
  <dgm:ptLst>
    <dgm:pt modelId="{A9619071-DC3C-41C7-8F06-F16A654AA0D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568D10-07F5-4E6D-A820-DF1A9FD13A82}">
      <dgm:prSet custT="1"/>
      <dgm:spPr>
        <a:solidFill>
          <a:srgbClr val="92D050">
            <a:alpha val="50196"/>
          </a:srgb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Immunization is one of the most cost-effective health investments</a:t>
          </a:r>
        </a:p>
      </dgm:t>
    </dgm:pt>
    <dgm:pt modelId="{5AB21C3E-B3BF-4769-A7A4-807BA00587FD}" type="parTrans" cxnId="{5ED5C192-B10C-40A6-B447-DBE29967D738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148EA80-CBC6-43B9-9FA8-C62618FB909D}" type="sibTrans" cxnId="{5ED5C192-B10C-40A6-B447-DBE29967D738}">
      <dgm:prSet phldrT="1"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B3A6402-3846-40BA-B174-540C518519F3}">
      <dgm:prSet custT="1"/>
      <dgm:spPr>
        <a:solidFill>
          <a:schemeClr val="accent2">
            <a:lumMod val="40000"/>
            <a:lumOff val="60000"/>
            <a:alpha val="50196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Vaccination played a major role in the battle on infectious diseases since 496 B.C</a:t>
          </a:r>
        </a:p>
      </dgm:t>
    </dgm:pt>
    <dgm:pt modelId="{22424CE5-D4E6-4D34-989D-4AFD08073854}" type="parTrans" cxnId="{E89C8C6F-8805-4E3B-8DDB-AFFFC7484023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504C83B-6350-46E9-8D53-035CEA9ECE97}" type="sibTrans" cxnId="{E89C8C6F-8805-4E3B-8DDB-AFFFC7484023}">
      <dgm:prSet phldrT="2"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A8CB68B-C4D3-40B7-82B5-5ADE0693E15E}">
      <dgm:prSet custT="1"/>
      <dgm:spPr>
        <a:solidFill>
          <a:srgbClr val="92D050">
            <a:alpha val="50196"/>
          </a:srgb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Edward Jenner, pioneered the concept of vaccines and developed world’s first vaccine for smallpox</a:t>
          </a:r>
        </a:p>
      </dgm:t>
    </dgm:pt>
    <dgm:pt modelId="{31DE29B1-1441-46B0-B169-D7C6E1C35C2A}" type="parTrans" cxnId="{A221E4F3-A782-4DDE-8569-3EFA12F106B9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A0D18AF-EA88-4372-AE2C-10B570B7D625}" type="sibTrans" cxnId="{A221E4F3-A782-4DDE-8569-3EFA12F106B9}">
      <dgm:prSet phldrT="3"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5AA97EC-300F-4BE8-91A2-F70C3F6127B7}">
      <dgm:prSet custT="1"/>
      <dgm:spPr>
        <a:solidFill>
          <a:schemeClr val="accent2">
            <a:lumMod val="40000"/>
            <a:lumOff val="60000"/>
            <a:alpha val="50196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Last case of smallpox in Somalia in 1977 and eradicated globally in 1980</a:t>
          </a:r>
        </a:p>
      </dgm:t>
    </dgm:pt>
    <dgm:pt modelId="{B6C95803-4680-4C37-BB1E-1928F59314C5}" type="parTrans" cxnId="{1DC9E4E4-52CA-48D5-B007-76C4FDA8E75D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ECA59E8-C562-40B2-8E68-D8C6C1DAC224}" type="sibTrans" cxnId="{1DC9E4E4-52CA-48D5-B007-76C4FDA8E75D}">
      <dgm:prSet phldrT="4"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92DD01E-E288-4113-89CC-4119CAAA9953}">
      <dgm:prSet custT="1"/>
      <dgm:spPr>
        <a:solidFill>
          <a:srgbClr val="92D050">
            <a:alpha val="50196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In 1974, 27</a:t>
          </a:r>
          <a:r>
            <a:rPr lang="en-US" sz="1800" b="1" baseline="300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th</a:t>
          </a:r>
          <a:r>
            <a: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 World Health Assembly recommended vaccination against six diseases: Tuberculosis, Diphtheria, Tetanus, Pertussis, Measles and Poliomyelitis under Expanded Programme on Immunization (EPI). </a:t>
          </a:r>
        </a:p>
      </dgm:t>
    </dgm:pt>
    <dgm:pt modelId="{568AA111-FC07-442D-8101-0BE89AA82531}" type="parTrans" cxnId="{140A5A72-D407-43D2-9EA7-D0E008E735C7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4BE41A5-1C72-4896-9B76-C8358859D352}" type="sibTrans" cxnId="{140A5A72-D407-43D2-9EA7-D0E008E735C7}">
      <dgm:prSet phldrT="6"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E066F90-805D-4491-B96A-ED0C50A0CB12}">
      <dgm:prSet custT="1"/>
      <dgm:spPr>
        <a:solidFill>
          <a:schemeClr val="accent2">
            <a:lumMod val="40000"/>
            <a:lumOff val="60000"/>
            <a:alpha val="50196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EPI was launched in India in 1978 ( for 6 VPDs :BCG, OPV, Diphtheria, </a:t>
          </a:r>
          <a:r>
            <a:rPr lang="en-US" sz="1800" b="1" dirty="0" err="1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Pertusis</a:t>
          </a:r>
          <a:r>
            <a:rPr lang="en-US" sz="1800" b="1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, Tetanus , Typhoid-Urban area)</a:t>
          </a:r>
        </a:p>
      </dgm:t>
    </dgm:pt>
    <dgm:pt modelId="{D55DCA7A-1DD0-47F4-ABEC-64B5741D0978}" type="parTrans" cxnId="{614C6E9C-E544-4558-8608-C6EA7B036AB2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0E95347-8B30-408F-B20B-58CA1354C44D}" type="sibTrans" cxnId="{614C6E9C-E544-4558-8608-C6EA7B036AB2}">
      <dgm:prSet phldrT="7"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B052DD0-DB5B-4C93-ACDD-41A39F42C0C6}" type="pres">
      <dgm:prSet presAssocID="{A9619071-DC3C-41C7-8F06-F16A654AA0DF}" presName="linear" presStyleCnt="0">
        <dgm:presLayoutVars>
          <dgm:animLvl val="lvl"/>
          <dgm:resizeHandles val="exact"/>
        </dgm:presLayoutVars>
      </dgm:prSet>
      <dgm:spPr/>
    </dgm:pt>
    <dgm:pt modelId="{3C45AA8E-DFA2-4EC5-8D76-CDF326510080}" type="pres">
      <dgm:prSet presAssocID="{93568D10-07F5-4E6D-A820-DF1A9FD13A82}" presName="parentText" presStyleLbl="node1" presStyleIdx="0" presStyleCnt="6" custLinFactNeighborX="-113">
        <dgm:presLayoutVars>
          <dgm:chMax val="0"/>
          <dgm:bulletEnabled val="1"/>
        </dgm:presLayoutVars>
      </dgm:prSet>
      <dgm:spPr/>
    </dgm:pt>
    <dgm:pt modelId="{FCACD1FF-21F4-4BD7-9341-328EF3C87791}" type="pres">
      <dgm:prSet presAssocID="{7148EA80-CBC6-43B9-9FA8-C62618FB909D}" presName="spacer" presStyleCnt="0"/>
      <dgm:spPr/>
    </dgm:pt>
    <dgm:pt modelId="{29F9BBB6-FCF3-41CA-870E-1CEE6F3C242F}" type="pres">
      <dgm:prSet presAssocID="{7B3A6402-3846-40BA-B174-540C518519F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1D732A3-BE14-46E1-91BB-71AB1798334F}" type="pres">
      <dgm:prSet presAssocID="{9504C83B-6350-46E9-8D53-035CEA9ECE97}" presName="spacer" presStyleCnt="0"/>
      <dgm:spPr/>
    </dgm:pt>
    <dgm:pt modelId="{C0CF52B6-3511-4927-AEA5-905F237F16DD}" type="pres">
      <dgm:prSet presAssocID="{4A8CB68B-C4D3-40B7-82B5-5ADE0693E15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2D1F6B9-77D9-46C0-9B3A-7E79465006C7}" type="pres">
      <dgm:prSet presAssocID="{FA0D18AF-EA88-4372-AE2C-10B570B7D625}" presName="spacer" presStyleCnt="0"/>
      <dgm:spPr/>
    </dgm:pt>
    <dgm:pt modelId="{00A1D171-4C9F-42DB-9398-2391D8D0318A}" type="pres">
      <dgm:prSet presAssocID="{45AA97EC-300F-4BE8-91A2-F70C3F6127B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6458673-BB2D-4D79-BF86-AFC4D684DE8E}" type="pres">
      <dgm:prSet presAssocID="{EECA59E8-C562-40B2-8E68-D8C6C1DAC224}" presName="spacer" presStyleCnt="0"/>
      <dgm:spPr/>
    </dgm:pt>
    <dgm:pt modelId="{50A0533F-0C70-40E7-AEF1-B13ACBA7FBCD}" type="pres">
      <dgm:prSet presAssocID="{092DD01E-E288-4113-89CC-4119CAAA995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0155DE5-0348-423F-80BF-D10CB60E78D4}" type="pres">
      <dgm:prSet presAssocID="{B4BE41A5-1C72-4896-9B76-C8358859D352}" presName="spacer" presStyleCnt="0"/>
      <dgm:spPr/>
    </dgm:pt>
    <dgm:pt modelId="{0EEDDD43-9BEE-4F21-A2D7-EA77B50CBCCD}" type="pres">
      <dgm:prSet presAssocID="{0E066F90-805D-4491-B96A-ED0C50A0CB1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BCF4F0E-B522-43AB-B74A-CDCC2E50380F}" type="presOf" srcId="{0E066F90-805D-4491-B96A-ED0C50A0CB12}" destId="{0EEDDD43-9BEE-4F21-A2D7-EA77B50CBCCD}" srcOrd="0" destOrd="0" presId="urn:microsoft.com/office/officeart/2005/8/layout/vList2"/>
    <dgm:cxn modelId="{E89C8C6F-8805-4E3B-8DDB-AFFFC7484023}" srcId="{A9619071-DC3C-41C7-8F06-F16A654AA0DF}" destId="{7B3A6402-3846-40BA-B174-540C518519F3}" srcOrd="1" destOrd="0" parTransId="{22424CE5-D4E6-4D34-989D-4AFD08073854}" sibTransId="{9504C83B-6350-46E9-8D53-035CEA9ECE97}"/>
    <dgm:cxn modelId="{140A5A72-D407-43D2-9EA7-D0E008E735C7}" srcId="{A9619071-DC3C-41C7-8F06-F16A654AA0DF}" destId="{092DD01E-E288-4113-89CC-4119CAAA9953}" srcOrd="4" destOrd="0" parTransId="{568AA111-FC07-442D-8101-0BE89AA82531}" sibTransId="{B4BE41A5-1C72-4896-9B76-C8358859D352}"/>
    <dgm:cxn modelId="{973B4F7B-839C-4415-86C3-4CC4426FC025}" type="presOf" srcId="{7B3A6402-3846-40BA-B174-540C518519F3}" destId="{29F9BBB6-FCF3-41CA-870E-1CEE6F3C242F}" srcOrd="0" destOrd="0" presId="urn:microsoft.com/office/officeart/2005/8/layout/vList2"/>
    <dgm:cxn modelId="{5ED5C192-B10C-40A6-B447-DBE29967D738}" srcId="{A9619071-DC3C-41C7-8F06-F16A654AA0DF}" destId="{93568D10-07F5-4E6D-A820-DF1A9FD13A82}" srcOrd="0" destOrd="0" parTransId="{5AB21C3E-B3BF-4769-A7A4-807BA00587FD}" sibTransId="{7148EA80-CBC6-43B9-9FA8-C62618FB909D}"/>
    <dgm:cxn modelId="{614C6E9C-E544-4558-8608-C6EA7B036AB2}" srcId="{A9619071-DC3C-41C7-8F06-F16A654AA0DF}" destId="{0E066F90-805D-4491-B96A-ED0C50A0CB12}" srcOrd="5" destOrd="0" parTransId="{D55DCA7A-1DD0-47F4-ABEC-64B5741D0978}" sibTransId="{90E95347-8B30-408F-B20B-58CA1354C44D}"/>
    <dgm:cxn modelId="{70AF0EA0-4886-4F96-9740-A95056DC5B14}" type="presOf" srcId="{A9619071-DC3C-41C7-8F06-F16A654AA0DF}" destId="{8B052DD0-DB5B-4C93-ACDD-41A39F42C0C6}" srcOrd="0" destOrd="0" presId="urn:microsoft.com/office/officeart/2005/8/layout/vList2"/>
    <dgm:cxn modelId="{D58F8DA1-21C2-4F06-B190-4A2A4625D4BF}" type="presOf" srcId="{092DD01E-E288-4113-89CC-4119CAAA9953}" destId="{50A0533F-0C70-40E7-AEF1-B13ACBA7FBCD}" srcOrd="0" destOrd="0" presId="urn:microsoft.com/office/officeart/2005/8/layout/vList2"/>
    <dgm:cxn modelId="{304F05BD-4848-4FDE-A3D2-DFCEB0DC7022}" type="presOf" srcId="{45AA97EC-300F-4BE8-91A2-F70C3F6127B7}" destId="{00A1D171-4C9F-42DB-9398-2391D8D0318A}" srcOrd="0" destOrd="0" presId="urn:microsoft.com/office/officeart/2005/8/layout/vList2"/>
    <dgm:cxn modelId="{01AF2ED0-6274-47C2-AE3A-CF2684B8751C}" type="presOf" srcId="{93568D10-07F5-4E6D-A820-DF1A9FD13A82}" destId="{3C45AA8E-DFA2-4EC5-8D76-CDF326510080}" srcOrd="0" destOrd="0" presId="urn:microsoft.com/office/officeart/2005/8/layout/vList2"/>
    <dgm:cxn modelId="{1DC9E4E4-52CA-48D5-B007-76C4FDA8E75D}" srcId="{A9619071-DC3C-41C7-8F06-F16A654AA0DF}" destId="{45AA97EC-300F-4BE8-91A2-F70C3F6127B7}" srcOrd="3" destOrd="0" parTransId="{B6C95803-4680-4C37-BB1E-1928F59314C5}" sibTransId="{EECA59E8-C562-40B2-8E68-D8C6C1DAC224}"/>
    <dgm:cxn modelId="{1AD426EA-28F2-4684-A4B6-7348F96F4323}" type="presOf" srcId="{4A8CB68B-C4D3-40B7-82B5-5ADE0693E15E}" destId="{C0CF52B6-3511-4927-AEA5-905F237F16DD}" srcOrd="0" destOrd="0" presId="urn:microsoft.com/office/officeart/2005/8/layout/vList2"/>
    <dgm:cxn modelId="{A221E4F3-A782-4DDE-8569-3EFA12F106B9}" srcId="{A9619071-DC3C-41C7-8F06-F16A654AA0DF}" destId="{4A8CB68B-C4D3-40B7-82B5-5ADE0693E15E}" srcOrd="2" destOrd="0" parTransId="{31DE29B1-1441-46B0-B169-D7C6E1C35C2A}" sibTransId="{FA0D18AF-EA88-4372-AE2C-10B570B7D625}"/>
    <dgm:cxn modelId="{EC3FBCF5-38BD-4C77-BD68-69B7204C884F}" type="presParOf" srcId="{8B052DD0-DB5B-4C93-ACDD-41A39F42C0C6}" destId="{3C45AA8E-DFA2-4EC5-8D76-CDF326510080}" srcOrd="0" destOrd="0" presId="urn:microsoft.com/office/officeart/2005/8/layout/vList2"/>
    <dgm:cxn modelId="{24C6BE2B-10F5-4C9C-9FE9-3AC008CA0BEC}" type="presParOf" srcId="{8B052DD0-DB5B-4C93-ACDD-41A39F42C0C6}" destId="{FCACD1FF-21F4-4BD7-9341-328EF3C87791}" srcOrd="1" destOrd="0" presId="urn:microsoft.com/office/officeart/2005/8/layout/vList2"/>
    <dgm:cxn modelId="{0ACD41A6-E32D-4363-B651-F79073EC45D7}" type="presParOf" srcId="{8B052DD0-DB5B-4C93-ACDD-41A39F42C0C6}" destId="{29F9BBB6-FCF3-41CA-870E-1CEE6F3C242F}" srcOrd="2" destOrd="0" presId="urn:microsoft.com/office/officeart/2005/8/layout/vList2"/>
    <dgm:cxn modelId="{C266F344-57D9-43D3-9EB4-796398B5D668}" type="presParOf" srcId="{8B052DD0-DB5B-4C93-ACDD-41A39F42C0C6}" destId="{B1D732A3-BE14-46E1-91BB-71AB1798334F}" srcOrd="3" destOrd="0" presId="urn:microsoft.com/office/officeart/2005/8/layout/vList2"/>
    <dgm:cxn modelId="{6EBD1662-26BC-48B0-8F11-88050B2433CD}" type="presParOf" srcId="{8B052DD0-DB5B-4C93-ACDD-41A39F42C0C6}" destId="{C0CF52B6-3511-4927-AEA5-905F237F16DD}" srcOrd="4" destOrd="0" presId="urn:microsoft.com/office/officeart/2005/8/layout/vList2"/>
    <dgm:cxn modelId="{FB24D519-B1A0-4A1F-867E-4FA002AF7EE3}" type="presParOf" srcId="{8B052DD0-DB5B-4C93-ACDD-41A39F42C0C6}" destId="{E2D1F6B9-77D9-46C0-9B3A-7E79465006C7}" srcOrd="5" destOrd="0" presId="urn:microsoft.com/office/officeart/2005/8/layout/vList2"/>
    <dgm:cxn modelId="{4C8445EE-4D0E-4F13-A35F-0EB77C947C49}" type="presParOf" srcId="{8B052DD0-DB5B-4C93-ACDD-41A39F42C0C6}" destId="{00A1D171-4C9F-42DB-9398-2391D8D0318A}" srcOrd="6" destOrd="0" presId="urn:microsoft.com/office/officeart/2005/8/layout/vList2"/>
    <dgm:cxn modelId="{0A6D5FF5-EC2D-4881-8886-818DB73206EE}" type="presParOf" srcId="{8B052DD0-DB5B-4C93-ACDD-41A39F42C0C6}" destId="{16458673-BB2D-4D79-BF86-AFC4D684DE8E}" srcOrd="7" destOrd="0" presId="urn:microsoft.com/office/officeart/2005/8/layout/vList2"/>
    <dgm:cxn modelId="{E175B0C0-4C9B-4EDF-8B99-E8564F6C3C55}" type="presParOf" srcId="{8B052DD0-DB5B-4C93-ACDD-41A39F42C0C6}" destId="{50A0533F-0C70-40E7-AEF1-B13ACBA7FBCD}" srcOrd="8" destOrd="0" presId="urn:microsoft.com/office/officeart/2005/8/layout/vList2"/>
    <dgm:cxn modelId="{5CB6C209-EEB7-40C3-8626-782590054F28}" type="presParOf" srcId="{8B052DD0-DB5B-4C93-ACDD-41A39F42C0C6}" destId="{B0155DE5-0348-423F-80BF-D10CB60E78D4}" srcOrd="9" destOrd="0" presId="urn:microsoft.com/office/officeart/2005/8/layout/vList2"/>
    <dgm:cxn modelId="{58911D83-D3AC-451A-A9F9-18F578FF3C35}" type="presParOf" srcId="{8B052DD0-DB5B-4C93-ACDD-41A39F42C0C6}" destId="{0EEDDD43-9BEE-4F21-A2D7-EA77B50CBCCD}" srcOrd="10" destOrd="0" presId="urn:microsoft.com/office/officeart/2005/8/layout/vList2"/>
  </dgm:cxnLst>
  <dgm:bg>
    <a:noFill/>
  </dgm:bg>
  <dgm:whole>
    <a:ln w="6350">
      <a:noFill/>
      <a:prstDash val="sysDash"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660E6B0-1646-405E-92F5-4109996A5B7B}" type="doc">
      <dgm:prSet loTypeId="urn:microsoft.com/office/officeart/2005/8/layout/matrix1" loCatId="matrix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5A26B80-A77B-4CC2-961E-4CAB9823E916}">
      <dgm:prSet phldrT="[Text]" custT="1"/>
      <dgm:spPr/>
      <dgm:t>
        <a:bodyPr/>
        <a:lstStyle/>
        <a:p>
          <a:r>
            <a:rPr lang="en-IN" sz="2800" b="1" dirty="0"/>
            <a:t>One of the largest Public Health Programmes</a:t>
          </a:r>
        </a:p>
      </dgm:t>
    </dgm:pt>
    <dgm:pt modelId="{A0903A84-5613-487C-A60E-F2F3F9458C96}" type="parTrans" cxnId="{B3763673-7D11-49AA-AB77-4C92DDB72826}">
      <dgm:prSet/>
      <dgm:spPr/>
      <dgm:t>
        <a:bodyPr/>
        <a:lstStyle/>
        <a:p>
          <a:endParaRPr lang="en-IN"/>
        </a:p>
      </dgm:t>
    </dgm:pt>
    <dgm:pt modelId="{8DCA5EB1-9560-4949-A0AA-822114C3DBD6}" type="sibTrans" cxnId="{B3763673-7D11-49AA-AB77-4C92DDB72826}">
      <dgm:prSet/>
      <dgm:spPr/>
      <dgm:t>
        <a:bodyPr/>
        <a:lstStyle/>
        <a:p>
          <a:endParaRPr lang="en-IN"/>
        </a:p>
      </dgm:t>
    </dgm:pt>
    <dgm:pt modelId="{32D531CB-A795-43D7-943C-9C35CC4A2BCC}">
      <dgm:prSet phldrT="[Text]" custT="1"/>
      <dgm:spPr>
        <a:solidFill>
          <a:schemeClr val="accent2"/>
        </a:solidFill>
      </dgm:spPr>
      <dgm:t>
        <a:bodyPr/>
        <a:lstStyle/>
        <a:p>
          <a:pPr algn="ctr"/>
          <a:r>
            <a:rPr lang="en-US" sz="2800" b="1" u="sng" dirty="0"/>
            <a:t>Annual target 2025-26</a:t>
          </a:r>
        </a:p>
        <a:p>
          <a:pPr algn="ctr"/>
          <a:r>
            <a:rPr lang="en-US" sz="2800" b="1" dirty="0"/>
            <a:t>Newborns  : 611249</a:t>
          </a:r>
        </a:p>
        <a:p>
          <a:pPr algn="ctr"/>
          <a:r>
            <a:rPr lang="en-US" sz="2800" b="1" dirty="0"/>
            <a:t>Pregnant women : 726522</a:t>
          </a:r>
          <a:endParaRPr lang="en-IN" sz="2800" b="1" dirty="0"/>
        </a:p>
      </dgm:t>
    </dgm:pt>
    <dgm:pt modelId="{EBA38057-812A-43ED-ADE6-B972A6790166}" type="parTrans" cxnId="{FADD9ABC-AE2E-43DF-A337-B71A9A57BCA8}">
      <dgm:prSet/>
      <dgm:spPr/>
      <dgm:t>
        <a:bodyPr/>
        <a:lstStyle/>
        <a:p>
          <a:endParaRPr lang="en-IN"/>
        </a:p>
      </dgm:t>
    </dgm:pt>
    <dgm:pt modelId="{D7FA4A9E-AB71-40DF-8E18-6BF90F0E2BEA}" type="sibTrans" cxnId="{FADD9ABC-AE2E-43DF-A337-B71A9A57BCA8}">
      <dgm:prSet/>
      <dgm:spPr/>
      <dgm:t>
        <a:bodyPr/>
        <a:lstStyle/>
        <a:p>
          <a:endParaRPr lang="en-IN"/>
        </a:p>
      </dgm:t>
    </dgm:pt>
    <dgm:pt modelId="{AEB8CC5B-7C12-48BD-B2AE-5540620B50BB}">
      <dgm:prSet custT="1"/>
      <dgm:spPr/>
      <dgm:t>
        <a:bodyPr/>
        <a:lstStyle/>
        <a:p>
          <a:pPr algn="r"/>
          <a:endParaRPr lang="en-IN" sz="1400" dirty="0"/>
        </a:p>
        <a:p>
          <a:pPr algn="ctr"/>
          <a:r>
            <a:rPr lang="en-IN" sz="2800" b="1" u="sng" dirty="0"/>
            <a:t>Vaccine against VPDs</a:t>
          </a:r>
        </a:p>
        <a:p>
          <a:pPr algn="ctr"/>
          <a:endParaRPr lang="en-IN" sz="2000" b="1" u="sng" dirty="0"/>
        </a:p>
        <a:p>
          <a:pPr algn="ctr"/>
          <a:r>
            <a:rPr lang="en-IN" sz="2800" b="1" dirty="0"/>
            <a:t>12 Nos. of Vaccine with 13 Nos. of Vaccine Preventable </a:t>
          </a:r>
          <a:r>
            <a:rPr lang="en-IN" sz="2800" b="1"/>
            <a:t>Diseases including HPV</a:t>
          </a:r>
          <a:endParaRPr lang="en-IN" sz="2800" b="1" dirty="0"/>
        </a:p>
      </dgm:t>
    </dgm:pt>
    <dgm:pt modelId="{B5E429AC-F613-41DA-8BBE-04977C810B47}" type="parTrans" cxnId="{28212DA9-937F-4CB7-A59D-2D07FE831C0A}">
      <dgm:prSet/>
      <dgm:spPr/>
      <dgm:t>
        <a:bodyPr/>
        <a:lstStyle/>
        <a:p>
          <a:endParaRPr lang="en-IN"/>
        </a:p>
      </dgm:t>
    </dgm:pt>
    <dgm:pt modelId="{904474BE-4BED-4CE6-A8C2-FCDCD17F18F4}" type="sibTrans" cxnId="{28212DA9-937F-4CB7-A59D-2D07FE831C0A}">
      <dgm:prSet/>
      <dgm:spPr/>
      <dgm:t>
        <a:bodyPr/>
        <a:lstStyle/>
        <a:p>
          <a:endParaRPr lang="en-IN"/>
        </a:p>
      </dgm:t>
    </dgm:pt>
    <dgm:pt modelId="{C8B17A0D-DE90-47AA-B1CB-1DACD20B83FD}">
      <dgm:prSet custT="1"/>
      <dgm:spPr/>
      <dgm:t>
        <a:bodyPr anchor="t"/>
        <a:lstStyle/>
        <a:p>
          <a:pPr algn="ctr"/>
          <a:r>
            <a:rPr lang="en-US" sz="2800" b="1" dirty="0"/>
            <a:t>&gt; 30000 sessions planned per year </a:t>
          </a:r>
          <a:endParaRPr lang="en-IN" sz="2800" b="1" dirty="0"/>
        </a:p>
      </dgm:t>
    </dgm:pt>
    <dgm:pt modelId="{3F6D0DDB-745F-44C9-85A6-10DC8757B700}" type="parTrans" cxnId="{6149A49A-B4E8-4CAC-860E-650206CA4CDA}">
      <dgm:prSet/>
      <dgm:spPr/>
      <dgm:t>
        <a:bodyPr/>
        <a:lstStyle/>
        <a:p>
          <a:endParaRPr lang="en-IN"/>
        </a:p>
      </dgm:t>
    </dgm:pt>
    <dgm:pt modelId="{0A851BED-6FB4-4975-B62A-8584D24A2A9C}" type="sibTrans" cxnId="{6149A49A-B4E8-4CAC-860E-650206CA4CDA}">
      <dgm:prSet/>
      <dgm:spPr/>
      <dgm:t>
        <a:bodyPr/>
        <a:lstStyle/>
        <a:p>
          <a:endParaRPr lang="en-IN"/>
        </a:p>
      </dgm:t>
    </dgm:pt>
    <dgm:pt modelId="{2B4E969D-2122-4325-9302-43087474A9EB}">
      <dgm:prSet custT="1"/>
      <dgm:spPr/>
      <dgm:t>
        <a:bodyPr/>
        <a:lstStyle/>
        <a:p>
          <a:endParaRPr lang="en-US"/>
        </a:p>
      </dgm:t>
    </dgm:pt>
    <dgm:pt modelId="{B56E426C-3F1D-4885-A75D-84D685E99B21}" type="parTrans" cxnId="{225E41BF-BE8C-49F3-B28E-B07E9E308738}">
      <dgm:prSet/>
      <dgm:spPr/>
      <dgm:t>
        <a:bodyPr/>
        <a:lstStyle/>
        <a:p>
          <a:endParaRPr lang="en-IN"/>
        </a:p>
      </dgm:t>
    </dgm:pt>
    <dgm:pt modelId="{8663C85E-3B53-4772-B788-3F4FE0A14879}" type="sibTrans" cxnId="{225E41BF-BE8C-49F3-B28E-B07E9E308738}">
      <dgm:prSet/>
      <dgm:spPr/>
      <dgm:t>
        <a:bodyPr/>
        <a:lstStyle/>
        <a:p>
          <a:endParaRPr lang="en-IN"/>
        </a:p>
      </dgm:t>
    </dgm:pt>
    <dgm:pt modelId="{E3514ADA-5E26-4C45-9586-75BF41F8EB10}">
      <dgm:prSet custT="1"/>
      <dgm:spPr>
        <a:solidFill>
          <a:schemeClr val="accent2"/>
        </a:solidFill>
      </dgm:spPr>
      <dgm:t>
        <a:bodyPr anchor="t"/>
        <a:lstStyle/>
        <a:p>
          <a:pPr algn="ctr"/>
          <a:r>
            <a:rPr lang="en-IN" sz="2800" b="1" dirty="0"/>
            <a:t>~1293 cold chain points for storage and distribution of vaccines </a:t>
          </a:r>
        </a:p>
        <a:p>
          <a:pPr algn="ctr"/>
          <a:r>
            <a:rPr lang="en-IN" sz="2800" b="1" dirty="0"/>
            <a:t>(NCCMIS)</a:t>
          </a:r>
        </a:p>
      </dgm:t>
    </dgm:pt>
    <dgm:pt modelId="{C93C6337-60C5-4FE9-A7CF-3D2B91E3CCDD}" type="parTrans" cxnId="{37679AE3-BFF6-49D3-BA38-81BCB833CA0E}">
      <dgm:prSet/>
      <dgm:spPr/>
      <dgm:t>
        <a:bodyPr/>
        <a:lstStyle/>
        <a:p>
          <a:endParaRPr lang="en-IN"/>
        </a:p>
      </dgm:t>
    </dgm:pt>
    <dgm:pt modelId="{A9C1CE3B-AC6A-4CA1-98EB-089A3D6E1C88}" type="sibTrans" cxnId="{37679AE3-BFF6-49D3-BA38-81BCB833CA0E}">
      <dgm:prSet/>
      <dgm:spPr/>
      <dgm:t>
        <a:bodyPr/>
        <a:lstStyle/>
        <a:p>
          <a:endParaRPr lang="en-IN"/>
        </a:p>
      </dgm:t>
    </dgm:pt>
    <dgm:pt modelId="{E6FEDA0C-C9DC-46E1-A255-749535E5CCE6}">
      <dgm:prSet custT="1"/>
      <dgm:spPr/>
      <dgm:t>
        <a:bodyPr/>
        <a:lstStyle/>
        <a:p>
          <a:pPr algn="ctr"/>
          <a:endParaRPr lang="en-IN" sz="2800" dirty="0"/>
        </a:p>
      </dgm:t>
    </dgm:pt>
    <dgm:pt modelId="{4B085F6A-B517-44BA-B9EB-73EED8ED76C0}" type="parTrans" cxnId="{FEF469EE-BCDB-46D7-8243-22E93B9E037E}">
      <dgm:prSet/>
      <dgm:spPr/>
      <dgm:t>
        <a:bodyPr/>
        <a:lstStyle/>
        <a:p>
          <a:endParaRPr lang="en-IN"/>
        </a:p>
      </dgm:t>
    </dgm:pt>
    <dgm:pt modelId="{B1F3B3DD-7924-4FA9-8FA5-79A4AC1DEA1B}" type="sibTrans" cxnId="{FEF469EE-BCDB-46D7-8243-22E93B9E037E}">
      <dgm:prSet/>
      <dgm:spPr/>
      <dgm:t>
        <a:bodyPr/>
        <a:lstStyle/>
        <a:p>
          <a:endParaRPr lang="en-IN"/>
        </a:p>
      </dgm:t>
    </dgm:pt>
    <dgm:pt modelId="{CD0DEB34-24BA-466F-9FD5-6AB78E65CA43}" type="pres">
      <dgm:prSet presAssocID="{0660E6B0-1646-405E-92F5-4109996A5B7B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4C4EA26-8362-490C-94FB-FCC94D49326F}" type="pres">
      <dgm:prSet presAssocID="{0660E6B0-1646-405E-92F5-4109996A5B7B}" presName="matrix" presStyleCnt="0"/>
      <dgm:spPr/>
    </dgm:pt>
    <dgm:pt modelId="{6AF13E00-7059-42DB-9C3C-2F08C748E20D}" type="pres">
      <dgm:prSet presAssocID="{0660E6B0-1646-405E-92F5-4109996A5B7B}" presName="tile1" presStyleLbl="node1" presStyleIdx="0" presStyleCnt="4"/>
      <dgm:spPr/>
    </dgm:pt>
    <dgm:pt modelId="{E6C35B5F-23F9-41F8-9535-5F26C625AD66}" type="pres">
      <dgm:prSet presAssocID="{0660E6B0-1646-405E-92F5-4109996A5B7B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6966B32-49B0-42AC-8340-440546E8B8DB}" type="pres">
      <dgm:prSet presAssocID="{0660E6B0-1646-405E-92F5-4109996A5B7B}" presName="tile2" presStyleLbl="node1" presStyleIdx="1" presStyleCnt="4"/>
      <dgm:spPr/>
    </dgm:pt>
    <dgm:pt modelId="{6EEBCD55-429E-4C39-A02B-2AC7CF9C5156}" type="pres">
      <dgm:prSet presAssocID="{0660E6B0-1646-405E-92F5-4109996A5B7B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E045E31-C705-4391-B2AE-1EDF42E86B42}" type="pres">
      <dgm:prSet presAssocID="{0660E6B0-1646-405E-92F5-4109996A5B7B}" presName="tile3" presStyleLbl="node1" presStyleIdx="2" presStyleCnt="4"/>
      <dgm:spPr>
        <a:xfrm rot="10800000">
          <a:off x="0" y="2262981"/>
          <a:ext cx="4114800" cy="2262981"/>
        </a:xfrm>
        <a:prstGeom prst="round1Rect">
          <a:avLst/>
        </a:prstGeom>
      </dgm:spPr>
    </dgm:pt>
    <dgm:pt modelId="{DC67AFAC-1607-4C4E-9715-FCF906A48DAB}" type="pres">
      <dgm:prSet presAssocID="{0660E6B0-1646-405E-92F5-4109996A5B7B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EB7E996-3EF5-4D96-9A1A-A982BCA7EE6F}" type="pres">
      <dgm:prSet presAssocID="{0660E6B0-1646-405E-92F5-4109996A5B7B}" presName="tile4" presStyleLbl="node1" presStyleIdx="3" presStyleCnt="4" custScaleY="102816" custLinFactNeighborX="11864" custLinFactNeighborY="-1362"/>
      <dgm:spPr/>
    </dgm:pt>
    <dgm:pt modelId="{05476410-16D9-43E2-843F-EE7E3A6ADEDF}" type="pres">
      <dgm:prSet presAssocID="{0660E6B0-1646-405E-92F5-4109996A5B7B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F638FE78-5728-481D-A7B3-D11638EFBCAA}" type="pres">
      <dgm:prSet presAssocID="{0660E6B0-1646-405E-92F5-4109996A5B7B}" presName="centerTile" presStyleLbl="fgShp" presStyleIdx="0" presStyleCnt="1" custScaleX="282486" custScaleY="46593">
        <dgm:presLayoutVars>
          <dgm:chMax val="0"/>
          <dgm:chPref val="0"/>
        </dgm:presLayoutVars>
      </dgm:prSet>
      <dgm:spPr/>
    </dgm:pt>
  </dgm:ptLst>
  <dgm:cxnLst>
    <dgm:cxn modelId="{D9ACDA0E-1746-48F9-BD74-CCF511CB1295}" type="presOf" srcId="{75A26B80-A77B-4CC2-961E-4CAB9823E916}" destId="{F638FE78-5728-481D-A7B3-D11638EFBCAA}" srcOrd="0" destOrd="0" presId="urn:microsoft.com/office/officeart/2005/8/layout/matrix1"/>
    <dgm:cxn modelId="{47EE692F-3858-4B24-AE3F-3B399682F6E2}" type="presOf" srcId="{AEB8CC5B-7C12-48BD-B2AE-5540620B50BB}" destId="{6EEBCD55-429E-4C39-A02B-2AC7CF9C5156}" srcOrd="1" destOrd="0" presId="urn:microsoft.com/office/officeart/2005/8/layout/matrix1"/>
    <dgm:cxn modelId="{FB0FC63B-3D5B-4348-BDDF-7AAA0BCCA826}" type="presOf" srcId="{32D531CB-A795-43D7-943C-9C35CC4A2BCC}" destId="{E6C35B5F-23F9-41F8-9535-5F26C625AD66}" srcOrd="1" destOrd="0" presId="urn:microsoft.com/office/officeart/2005/8/layout/matrix1"/>
    <dgm:cxn modelId="{47E2943C-C791-4420-8CD0-39FC76E99087}" type="presOf" srcId="{E3514ADA-5E26-4C45-9586-75BF41F8EB10}" destId="{05476410-16D9-43E2-843F-EE7E3A6ADEDF}" srcOrd="1" destOrd="0" presId="urn:microsoft.com/office/officeart/2005/8/layout/matrix1"/>
    <dgm:cxn modelId="{B3763673-7D11-49AA-AB77-4C92DDB72826}" srcId="{0660E6B0-1646-405E-92F5-4109996A5B7B}" destId="{75A26B80-A77B-4CC2-961E-4CAB9823E916}" srcOrd="0" destOrd="0" parTransId="{A0903A84-5613-487C-A60E-F2F3F9458C96}" sibTransId="{8DCA5EB1-9560-4949-A0AA-822114C3DBD6}"/>
    <dgm:cxn modelId="{C327F980-26A2-48E1-BC90-5EEEA5187C97}" type="presOf" srcId="{E3514ADA-5E26-4C45-9586-75BF41F8EB10}" destId="{3EB7E996-3EF5-4D96-9A1A-A982BCA7EE6F}" srcOrd="0" destOrd="0" presId="urn:microsoft.com/office/officeart/2005/8/layout/matrix1"/>
    <dgm:cxn modelId="{C6859487-637E-4720-A5AB-C4450CF6C46F}" type="presOf" srcId="{C8B17A0D-DE90-47AA-B1CB-1DACD20B83FD}" destId="{5E045E31-C705-4391-B2AE-1EDF42E86B42}" srcOrd="0" destOrd="0" presId="urn:microsoft.com/office/officeart/2005/8/layout/matrix1"/>
    <dgm:cxn modelId="{6149A49A-B4E8-4CAC-860E-650206CA4CDA}" srcId="{75A26B80-A77B-4CC2-961E-4CAB9823E916}" destId="{C8B17A0D-DE90-47AA-B1CB-1DACD20B83FD}" srcOrd="2" destOrd="0" parTransId="{3F6D0DDB-745F-44C9-85A6-10DC8757B700}" sibTransId="{0A851BED-6FB4-4975-B62A-8584D24A2A9C}"/>
    <dgm:cxn modelId="{28212DA9-937F-4CB7-A59D-2D07FE831C0A}" srcId="{75A26B80-A77B-4CC2-961E-4CAB9823E916}" destId="{AEB8CC5B-7C12-48BD-B2AE-5540620B50BB}" srcOrd="1" destOrd="0" parTransId="{B5E429AC-F613-41DA-8BBE-04977C810B47}" sibTransId="{904474BE-4BED-4CE6-A8C2-FCDCD17F18F4}"/>
    <dgm:cxn modelId="{D8E857A9-9CA9-4BA2-8AF0-87D6E0C88F4D}" type="presOf" srcId="{32D531CB-A795-43D7-943C-9C35CC4A2BCC}" destId="{6AF13E00-7059-42DB-9C3C-2F08C748E20D}" srcOrd="0" destOrd="0" presId="urn:microsoft.com/office/officeart/2005/8/layout/matrix1"/>
    <dgm:cxn modelId="{FADD9ABC-AE2E-43DF-A337-B71A9A57BCA8}" srcId="{75A26B80-A77B-4CC2-961E-4CAB9823E916}" destId="{32D531CB-A795-43D7-943C-9C35CC4A2BCC}" srcOrd="0" destOrd="0" parTransId="{EBA38057-812A-43ED-ADE6-B972A6790166}" sibTransId="{D7FA4A9E-AB71-40DF-8E18-6BF90F0E2BEA}"/>
    <dgm:cxn modelId="{225E41BF-BE8C-49F3-B28E-B07E9E308738}" srcId="{75A26B80-A77B-4CC2-961E-4CAB9823E916}" destId="{2B4E969D-2122-4325-9302-43087474A9EB}" srcOrd="5" destOrd="0" parTransId="{B56E426C-3F1D-4885-A75D-84D685E99B21}" sibTransId="{8663C85E-3B53-4772-B788-3F4FE0A14879}"/>
    <dgm:cxn modelId="{61F50ED3-1AF7-4984-B257-E217A578E91F}" type="presOf" srcId="{AEB8CC5B-7C12-48BD-B2AE-5540620B50BB}" destId="{B6966B32-49B0-42AC-8340-440546E8B8DB}" srcOrd="0" destOrd="0" presId="urn:microsoft.com/office/officeart/2005/8/layout/matrix1"/>
    <dgm:cxn modelId="{19BEAED9-5050-493C-84EF-0067BFEF968A}" type="presOf" srcId="{C8B17A0D-DE90-47AA-B1CB-1DACD20B83FD}" destId="{DC67AFAC-1607-4C4E-9715-FCF906A48DAB}" srcOrd="1" destOrd="0" presId="urn:microsoft.com/office/officeart/2005/8/layout/matrix1"/>
    <dgm:cxn modelId="{37679AE3-BFF6-49D3-BA38-81BCB833CA0E}" srcId="{75A26B80-A77B-4CC2-961E-4CAB9823E916}" destId="{E3514ADA-5E26-4C45-9586-75BF41F8EB10}" srcOrd="3" destOrd="0" parTransId="{C93C6337-60C5-4FE9-A7CF-3D2B91E3CCDD}" sibTransId="{A9C1CE3B-AC6A-4CA1-98EB-089A3D6E1C88}"/>
    <dgm:cxn modelId="{DB6E73E6-2470-4F50-865C-44647695EFA6}" type="presOf" srcId="{0660E6B0-1646-405E-92F5-4109996A5B7B}" destId="{CD0DEB34-24BA-466F-9FD5-6AB78E65CA43}" srcOrd="0" destOrd="0" presId="urn:microsoft.com/office/officeart/2005/8/layout/matrix1"/>
    <dgm:cxn modelId="{FEF469EE-BCDB-46D7-8243-22E93B9E037E}" srcId="{75A26B80-A77B-4CC2-961E-4CAB9823E916}" destId="{E6FEDA0C-C9DC-46E1-A255-749535E5CCE6}" srcOrd="4" destOrd="0" parTransId="{4B085F6A-B517-44BA-B9EB-73EED8ED76C0}" sibTransId="{B1F3B3DD-7924-4FA9-8FA5-79A4AC1DEA1B}"/>
    <dgm:cxn modelId="{A34B9A16-10E3-4E6A-BB68-B21EE43709DA}" type="presParOf" srcId="{CD0DEB34-24BA-466F-9FD5-6AB78E65CA43}" destId="{64C4EA26-8362-490C-94FB-FCC94D49326F}" srcOrd="0" destOrd="0" presId="urn:microsoft.com/office/officeart/2005/8/layout/matrix1"/>
    <dgm:cxn modelId="{DA07540A-20B9-439F-BE6D-A5A1C998B515}" type="presParOf" srcId="{64C4EA26-8362-490C-94FB-FCC94D49326F}" destId="{6AF13E00-7059-42DB-9C3C-2F08C748E20D}" srcOrd="0" destOrd="0" presId="urn:microsoft.com/office/officeart/2005/8/layout/matrix1"/>
    <dgm:cxn modelId="{1FD1F184-BE0C-4CFD-85EB-726BC5BAAC95}" type="presParOf" srcId="{64C4EA26-8362-490C-94FB-FCC94D49326F}" destId="{E6C35B5F-23F9-41F8-9535-5F26C625AD66}" srcOrd="1" destOrd="0" presId="urn:microsoft.com/office/officeart/2005/8/layout/matrix1"/>
    <dgm:cxn modelId="{71F4813B-BD60-4F93-92C0-C9D78F0E4755}" type="presParOf" srcId="{64C4EA26-8362-490C-94FB-FCC94D49326F}" destId="{B6966B32-49B0-42AC-8340-440546E8B8DB}" srcOrd="2" destOrd="0" presId="urn:microsoft.com/office/officeart/2005/8/layout/matrix1"/>
    <dgm:cxn modelId="{16E71011-AB9F-4649-B2B3-3FC9C1975572}" type="presParOf" srcId="{64C4EA26-8362-490C-94FB-FCC94D49326F}" destId="{6EEBCD55-429E-4C39-A02B-2AC7CF9C5156}" srcOrd="3" destOrd="0" presId="urn:microsoft.com/office/officeart/2005/8/layout/matrix1"/>
    <dgm:cxn modelId="{A740E04D-9B85-4A91-B24B-627EEBA78C97}" type="presParOf" srcId="{64C4EA26-8362-490C-94FB-FCC94D49326F}" destId="{5E045E31-C705-4391-B2AE-1EDF42E86B42}" srcOrd="4" destOrd="0" presId="urn:microsoft.com/office/officeart/2005/8/layout/matrix1"/>
    <dgm:cxn modelId="{6666515A-8ABB-4D6A-9BAE-EDDFE8B52F52}" type="presParOf" srcId="{64C4EA26-8362-490C-94FB-FCC94D49326F}" destId="{DC67AFAC-1607-4C4E-9715-FCF906A48DAB}" srcOrd="5" destOrd="0" presId="urn:microsoft.com/office/officeart/2005/8/layout/matrix1"/>
    <dgm:cxn modelId="{225EE672-4149-4FA1-98AF-DF4FADEA7A67}" type="presParOf" srcId="{64C4EA26-8362-490C-94FB-FCC94D49326F}" destId="{3EB7E996-3EF5-4D96-9A1A-A982BCA7EE6F}" srcOrd="6" destOrd="0" presId="urn:microsoft.com/office/officeart/2005/8/layout/matrix1"/>
    <dgm:cxn modelId="{D8C48746-054F-479C-A247-05EE354E105E}" type="presParOf" srcId="{64C4EA26-8362-490C-94FB-FCC94D49326F}" destId="{05476410-16D9-43E2-843F-EE7E3A6ADEDF}" srcOrd="7" destOrd="0" presId="urn:microsoft.com/office/officeart/2005/8/layout/matrix1"/>
    <dgm:cxn modelId="{C4288525-19F0-4EE4-A1C0-86F94B98D136}" type="presParOf" srcId="{CD0DEB34-24BA-466F-9FD5-6AB78E65CA43}" destId="{F638FE78-5728-481D-A7B3-D11638EFBCAA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2F8F22C-58CA-4BF5-A23C-6C41838FBEC9}" type="doc">
      <dgm:prSet loTypeId="urn:microsoft.com/office/officeart/2005/8/layout/lProcess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9944DCE-64E7-4874-A623-E99183793231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b="1" dirty="0">
              <a:effectLst/>
              <a:latin typeface="+mn-lt"/>
            </a:rPr>
            <a:t>2</a:t>
          </a:r>
          <a:br>
            <a:rPr lang="en-US" b="1" dirty="0">
              <a:effectLst/>
              <a:latin typeface="+mn-lt"/>
            </a:rPr>
          </a:br>
          <a:r>
            <a:rPr lang="en-US" b="1" dirty="0">
              <a:effectLst/>
              <a:latin typeface="+mn-lt"/>
            </a:rPr>
            <a:t>Vaccine quality defect-related reaction</a:t>
          </a:r>
        </a:p>
      </dgm:t>
    </dgm:pt>
    <dgm:pt modelId="{135DFB02-26E4-4796-AD65-5CE20A51C8CD}" type="parTrans" cxnId="{80920C82-A8B7-4435-B542-8291AE80D341}">
      <dgm:prSet/>
      <dgm:spPr/>
      <dgm:t>
        <a:bodyPr/>
        <a:lstStyle/>
        <a:p>
          <a:endParaRPr lang="en-US"/>
        </a:p>
      </dgm:t>
    </dgm:pt>
    <dgm:pt modelId="{05BB24B4-A170-4BC2-ADFE-3133D4C7639C}" type="sibTrans" cxnId="{80920C82-A8B7-4435-B542-8291AE80D341}">
      <dgm:prSet/>
      <dgm:spPr/>
      <dgm:t>
        <a:bodyPr/>
        <a:lstStyle/>
        <a:p>
          <a:endParaRPr lang="en-US"/>
        </a:p>
      </dgm:t>
    </dgm:pt>
    <dgm:pt modelId="{8C6FE2ED-5412-4043-B88E-C1DFB2AA4F89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</a:rPr>
            <a:t>An AEFI that is caused or precipitated by a vaccine that is due to one or more quality defects of the vaccine product as provided by the manufacturer.</a:t>
          </a:r>
        </a:p>
        <a:p>
          <a:endParaRPr lang="en-US" sz="1200" dirty="0">
            <a:solidFill>
              <a:schemeClr val="tx1"/>
            </a:solidFill>
          </a:endParaRPr>
        </a:p>
        <a:p>
          <a:r>
            <a:rPr lang="en-US" sz="1200" i="1" dirty="0" err="1">
              <a:solidFill>
                <a:schemeClr val="tx1"/>
              </a:solidFill>
            </a:rPr>
            <a:t>Eg</a:t>
          </a:r>
          <a:r>
            <a:rPr lang="en-US" sz="1200" i="1" dirty="0">
              <a:solidFill>
                <a:schemeClr val="tx1"/>
              </a:solidFill>
            </a:rPr>
            <a:t>, Failure by the manufacturer to completely inactivate a lot of inactivated polio vaccine leads to cases of paralytic polio. </a:t>
          </a:r>
          <a:endParaRPr lang="en-US" sz="1200" i="1" dirty="0"/>
        </a:p>
      </dgm:t>
    </dgm:pt>
    <dgm:pt modelId="{1444B9AB-1ED1-4945-878C-ACE2A45FA9D6}" type="parTrans" cxnId="{0B75C4B8-772D-465E-A6E2-4DA5D81EAE7A}">
      <dgm:prSet/>
      <dgm:spPr/>
      <dgm:t>
        <a:bodyPr/>
        <a:lstStyle/>
        <a:p>
          <a:endParaRPr lang="en-US"/>
        </a:p>
      </dgm:t>
    </dgm:pt>
    <dgm:pt modelId="{8822030D-97D9-4712-AD29-759AFC36D259}" type="sibTrans" cxnId="{0B75C4B8-772D-465E-A6E2-4DA5D81EAE7A}">
      <dgm:prSet/>
      <dgm:spPr/>
      <dgm:t>
        <a:bodyPr/>
        <a:lstStyle/>
        <a:p>
          <a:endParaRPr lang="en-US"/>
        </a:p>
      </dgm:t>
    </dgm:pt>
    <dgm:pt modelId="{763F39A2-144B-4F80-80D6-36445F8E2A7F}">
      <dgm:prSet phldrT="[Text]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b="1" dirty="0">
              <a:effectLst/>
              <a:latin typeface="+mn-lt"/>
            </a:rPr>
            <a:t>3</a:t>
          </a:r>
          <a:br>
            <a:rPr lang="en-US" b="1" dirty="0">
              <a:effectLst/>
              <a:latin typeface="+mn-lt"/>
            </a:rPr>
          </a:br>
          <a:r>
            <a:rPr lang="en-US" b="1" dirty="0">
              <a:effectLst/>
              <a:latin typeface="+mn-lt"/>
            </a:rPr>
            <a:t>Immunization error-related reaction</a:t>
          </a:r>
        </a:p>
      </dgm:t>
    </dgm:pt>
    <dgm:pt modelId="{6DC31E0C-8263-4F92-83EC-5C89A46385BD}" type="parTrans" cxnId="{41046B98-DF50-44FF-8538-7429730A5829}">
      <dgm:prSet/>
      <dgm:spPr/>
      <dgm:t>
        <a:bodyPr/>
        <a:lstStyle/>
        <a:p>
          <a:endParaRPr lang="en-US"/>
        </a:p>
      </dgm:t>
    </dgm:pt>
    <dgm:pt modelId="{AF0D8007-EEDF-4B18-8A7B-8E81C1F89F59}" type="sibTrans" cxnId="{41046B98-DF50-44FF-8538-7429730A5829}">
      <dgm:prSet/>
      <dgm:spPr/>
      <dgm:t>
        <a:bodyPr/>
        <a:lstStyle/>
        <a:p>
          <a:endParaRPr lang="en-US"/>
        </a:p>
      </dgm:t>
    </dgm:pt>
    <dgm:pt modelId="{A75D7214-2DD1-4DA0-900E-8C86098A0E9A}">
      <dgm:prSet phldrT="[Text]"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An AEFI that is caused by Inappropriate vaccine handling, prescribing or administration.</a:t>
          </a:r>
        </a:p>
        <a:p>
          <a:endParaRPr lang="en-US" sz="1400" dirty="0">
            <a:solidFill>
              <a:schemeClr val="tx1"/>
            </a:solidFill>
          </a:endParaRPr>
        </a:p>
        <a:p>
          <a:endParaRPr lang="en-US" sz="1400" dirty="0">
            <a:solidFill>
              <a:schemeClr val="tx1"/>
            </a:solidFill>
          </a:endParaRPr>
        </a:p>
        <a:p>
          <a:r>
            <a:rPr lang="en-US" sz="1400" i="1" dirty="0" err="1">
              <a:solidFill>
                <a:schemeClr val="tx1"/>
              </a:solidFill>
            </a:rPr>
            <a:t>Eg</a:t>
          </a:r>
          <a:r>
            <a:rPr lang="en-US" sz="1400" i="1" dirty="0">
              <a:solidFill>
                <a:schemeClr val="tx1"/>
              </a:solidFill>
            </a:rPr>
            <a:t>, Transmission of infection by contaminated multidose vial</a:t>
          </a:r>
        </a:p>
      </dgm:t>
    </dgm:pt>
    <dgm:pt modelId="{710D1B88-5E20-4B74-9A6A-B91A7081F301}" type="parTrans" cxnId="{B8E3E942-B335-407A-9F9C-E4BF107A5A96}">
      <dgm:prSet/>
      <dgm:spPr/>
      <dgm:t>
        <a:bodyPr/>
        <a:lstStyle/>
        <a:p>
          <a:endParaRPr lang="en-US"/>
        </a:p>
      </dgm:t>
    </dgm:pt>
    <dgm:pt modelId="{4891522F-4A16-4353-AFE7-060869317E02}" type="sibTrans" cxnId="{B8E3E942-B335-407A-9F9C-E4BF107A5A96}">
      <dgm:prSet/>
      <dgm:spPr/>
      <dgm:t>
        <a:bodyPr/>
        <a:lstStyle/>
        <a:p>
          <a:endParaRPr lang="en-US"/>
        </a:p>
      </dgm:t>
    </dgm:pt>
    <dgm:pt modelId="{313859B0-DC1C-4723-A9A0-ED2D8ECFBEA4}">
      <dgm:prSet phldrT="[Text]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b="1" dirty="0">
              <a:effectLst/>
              <a:latin typeface="+mn-lt"/>
            </a:rPr>
            <a:t>4</a:t>
          </a:r>
          <a:br>
            <a:rPr lang="en-US" b="1" dirty="0">
              <a:effectLst/>
              <a:latin typeface="+mn-lt"/>
            </a:rPr>
          </a:br>
          <a:r>
            <a:rPr lang="en-US" b="1" dirty="0">
              <a:effectLst/>
              <a:latin typeface="+mn-lt"/>
            </a:rPr>
            <a:t>Immunization Triggered Stress response</a:t>
          </a:r>
        </a:p>
      </dgm:t>
    </dgm:pt>
    <dgm:pt modelId="{5FB9BCAE-780D-40A9-A9A9-F72F0E4967BF}" type="parTrans" cxnId="{08FB17AD-192D-410B-9B23-17FC5FCC3B5F}">
      <dgm:prSet/>
      <dgm:spPr/>
      <dgm:t>
        <a:bodyPr/>
        <a:lstStyle/>
        <a:p>
          <a:endParaRPr lang="en-US"/>
        </a:p>
      </dgm:t>
    </dgm:pt>
    <dgm:pt modelId="{AE809054-FBA5-4592-A169-430C5893C871}" type="sibTrans" cxnId="{08FB17AD-192D-410B-9B23-17FC5FCC3B5F}">
      <dgm:prSet/>
      <dgm:spPr/>
      <dgm:t>
        <a:bodyPr/>
        <a:lstStyle/>
        <a:p>
          <a:endParaRPr lang="en-US"/>
        </a:p>
      </dgm:t>
    </dgm:pt>
    <dgm:pt modelId="{90A38D48-1A50-49C3-AEB7-8935C541A201}">
      <dgm:prSet phldrT="[Text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An AEFI arising from anxiety about the immunization.</a:t>
          </a:r>
        </a:p>
        <a:p>
          <a:endParaRPr lang="en-US" sz="1400" i="1" dirty="0">
            <a:solidFill>
              <a:schemeClr val="tx1"/>
            </a:solidFill>
          </a:endParaRPr>
        </a:p>
        <a:p>
          <a:endParaRPr lang="en-US" sz="1400" i="1" dirty="0">
            <a:solidFill>
              <a:schemeClr val="tx1"/>
            </a:solidFill>
          </a:endParaRPr>
        </a:p>
        <a:p>
          <a:endParaRPr lang="en-US" sz="1400" i="1" dirty="0">
            <a:solidFill>
              <a:schemeClr val="tx1"/>
            </a:solidFill>
          </a:endParaRPr>
        </a:p>
        <a:p>
          <a:r>
            <a:rPr lang="en-US" sz="1400" i="1" dirty="0" err="1">
              <a:solidFill>
                <a:schemeClr val="tx1"/>
              </a:solidFill>
            </a:rPr>
            <a:t>Eg</a:t>
          </a:r>
          <a:r>
            <a:rPr lang="en-US" sz="1400" i="1" dirty="0">
              <a:solidFill>
                <a:schemeClr val="tx1"/>
              </a:solidFill>
            </a:rPr>
            <a:t>, Vasovagal syncope in an adolescent following vaccination.</a:t>
          </a:r>
        </a:p>
        <a:p>
          <a:endParaRPr lang="en-US" sz="1400" dirty="0"/>
        </a:p>
      </dgm:t>
    </dgm:pt>
    <dgm:pt modelId="{F674CFB4-AF9D-4C59-B926-A44EDB059A19}" type="parTrans" cxnId="{4A755583-E755-4760-BA4B-F8E991F16E66}">
      <dgm:prSet/>
      <dgm:spPr/>
      <dgm:t>
        <a:bodyPr/>
        <a:lstStyle/>
        <a:p>
          <a:endParaRPr lang="en-US"/>
        </a:p>
      </dgm:t>
    </dgm:pt>
    <dgm:pt modelId="{669953BD-8198-48DC-82FF-ABBB1AEF1ADE}" type="sibTrans" cxnId="{4A755583-E755-4760-BA4B-F8E991F16E66}">
      <dgm:prSet/>
      <dgm:spPr/>
      <dgm:t>
        <a:bodyPr/>
        <a:lstStyle/>
        <a:p>
          <a:endParaRPr lang="en-US"/>
        </a:p>
      </dgm:t>
    </dgm:pt>
    <dgm:pt modelId="{655D1B05-5C82-46BA-99C0-A63C4582D005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An AEFI that is caused or precipitated by a vaccine due to one or more of the inherent properties of the vaccine product.</a:t>
          </a:r>
        </a:p>
        <a:p>
          <a:endParaRPr lang="en-US" sz="1400" dirty="0">
            <a:solidFill>
              <a:schemeClr val="tx1"/>
            </a:solidFill>
          </a:endParaRPr>
        </a:p>
        <a:p>
          <a:r>
            <a:rPr lang="en-US" sz="1400" i="1" dirty="0" err="1">
              <a:solidFill>
                <a:schemeClr val="tx1"/>
              </a:solidFill>
            </a:rPr>
            <a:t>Eg</a:t>
          </a:r>
          <a:r>
            <a:rPr lang="en-US" sz="1400" i="1" dirty="0">
              <a:solidFill>
                <a:schemeClr val="tx1"/>
              </a:solidFill>
            </a:rPr>
            <a:t>, Extensive</a:t>
          </a:r>
          <a:br>
            <a:rPr lang="en-US" sz="1400" i="1" dirty="0">
              <a:solidFill>
                <a:schemeClr val="tx1"/>
              </a:solidFill>
            </a:rPr>
          </a:br>
          <a:r>
            <a:rPr lang="en-US" sz="1400" i="1" dirty="0">
              <a:solidFill>
                <a:schemeClr val="tx1"/>
              </a:solidFill>
            </a:rPr>
            <a:t>limb swelling following DTP vaccination.</a:t>
          </a:r>
          <a:endParaRPr lang="en-US" sz="1400" i="1" dirty="0"/>
        </a:p>
      </dgm:t>
    </dgm:pt>
    <dgm:pt modelId="{C23923A7-3BF0-4E0C-93FF-D889B58EC703}" type="parTrans" cxnId="{717BA93F-3CCD-4B19-A75C-80152C57A422}">
      <dgm:prSet/>
      <dgm:spPr/>
      <dgm:t>
        <a:bodyPr/>
        <a:lstStyle/>
        <a:p>
          <a:endParaRPr lang="en-US"/>
        </a:p>
      </dgm:t>
    </dgm:pt>
    <dgm:pt modelId="{6BE0EC73-A03C-46AF-A699-0BC3DF500669}" type="sibTrans" cxnId="{717BA93F-3CCD-4B19-A75C-80152C57A422}">
      <dgm:prSet/>
      <dgm:spPr/>
      <dgm:t>
        <a:bodyPr/>
        <a:lstStyle/>
        <a:p>
          <a:endParaRPr lang="en-US"/>
        </a:p>
      </dgm:t>
    </dgm:pt>
    <dgm:pt modelId="{FE01A76E-2897-46B3-963C-811BC56F0A2F}">
      <dgm:prSet phldrT="[Text]"/>
      <dgm:spPr/>
      <dgm:t>
        <a:bodyPr/>
        <a:lstStyle/>
        <a:p>
          <a:r>
            <a:rPr lang="en-US" b="1" dirty="0">
              <a:effectLst/>
              <a:latin typeface="+mn-lt"/>
            </a:rPr>
            <a:t>1 </a:t>
          </a:r>
          <a:br>
            <a:rPr lang="en-US" b="1" dirty="0">
              <a:effectLst/>
              <a:latin typeface="+mn-lt"/>
            </a:rPr>
          </a:br>
          <a:r>
            <a:rPr lang="en-US" b="1" dirty="0">
              <a:effectLst/>
              <a:latin typeface="+mn-lt"/>
            </a:rPr>
            <a:t>Vaccine product-related reaction</a:t>
          </a:r>
        </a:p>
      </dgm:t>
    </dgm:pt>
    <dgm:pt modelId="{D0B6EE33-F727-4731-A5EA-4A33DD0B3689}" type="parTrans" cxnId="{5A0E6455-227F-4143-A588-57982B55E4CC}">
      <dgm:prSet/>
      <dgm:spPr/>
      <dgm:t>
        <a:bodyPr/>
        <a:lstStyle/>
        <a:p>
          <a:endParaRPr lang="en-US"/>
        </a:p>
      </dgm:t>
    </dgm:pt>
    <dgm:pt modelId="{AA270B8C-1A57-4D4F-BB2B-F5F88E677F85}" type="sibTrans" cxnId="{5A0E6455-227F-4143-A588-57982B55E4CC}">
      <dgm:prSet/>
      <dgm:spPr/>
      <dgm:t>
        <a:bodyPr/>
        <a:lstStyle/>
        <a:p>
          <a:endParaRPr lang="en-US"/>
        </a:p>
      </dgm:t>
    </dgm:pt>
    <dgm:pt modelId="{88237B8C-BD1D-4E3B-B380-159A11D3D5AE}">
      <dgm:prSet phldrT="[Text]"/>
      <dgm:spPr/>
      <dgm:t>
        <a:bodyPr/>
        <a:lstStyle/>
        <a:p>
          <a:r>
            <a:rPr lang="en-US" b="1" dirty="0">
              <a:effectLst/>
              <a:latin typeface="+mn-lt"/>
            </a:rPr>
            <a:t>5</a:t>
          </a:r>
        </a:p>
        <a:p>
          <a:br>
            <a:rPr lang="en-US" b="1" dirty="0">
              <a:effectLst/>
            </a:rPr>
          </a:br>
          <a:r>
            <a:rPr lang="en-US" b="1" dirty="0">
              <a:effectLst/>
            </a:rPr>
            <a:t>Coincidental event</a:t>
          </a:r>
        </a:p>
      </dgm:t>
    </dgm:pt>
    <dgm:pt modelId="{F324591E-6C6A-424A-B29A-8E774A8B739C}" type="parTrans" cxnId="{A7B92322-29FE-43E8-BF7C-1E7357073747}">
      <dgm:prSet/>
      <dgm:spPr/>
      <dgm:t>
        <a:bodyPr/>
        <a:lstStyle/>
        <a:p>
          <a:endParaRPr lang="en-IN"/>
        </a:p>
      </dgm:t>
    </dgm:pt>
    <dgm:pt modelId="{587CC295-2B7A-4751-AFB4-4C8EFD92CAEF}" type="sibTrans" cxnId="{A7B92322-29FE-43E8-BF7C-1E7357073747}">
      <dgm:prSet/>
      <dgm:spPr/>
      <dgm:t>
        <a:bodyPr/>
        <a:lstStyle/>
        <a:p>
          <a:endParaRPr lang="en-IN"/>
        </a:p>
      </dgm:t>
    </dgm:pt>
    <dgm:pt modelId="{D65CEEEA-1ECF-4E25-95A7-5E4EFC2D6987}">
      <dgm:prSet phldrT="[Text]"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An AEFI that is caused by something other than the vaccine product, immunization error or immunization anxiety.</a:t>
          </a:r>
        </a:p>
        <a:p>
          <a:endParaRPr lang="en-US" sz="1400" dirty="0">
            <a:solidFill>
              <a:schemeClr val="tx1"/>
            </a:solidFill>
          </a:endParaRPr>
        </a:p>
        <a:p>
          <a:r>
            <a:rPr lang="en-US" sz="1400" i="1" dirty="0" err="1">
              <a:solidFill>
                <a:schemeClr val="tx1"/>
              </a:solidFill>
            </a:rPr>
            <a:t>Eg</a:t>
          </a:r>
          <a:r>
            <a:rPr lang="en-US" sz="1400" i="1" dirty="0">
              <a:solidFill>
                <a:schemeClr val="tx1"/>
              </a:solidFill>
            </a:rPr>
            <a:t>, A fever occurs at the time of the vaccination, but is in fact caused by malaria</a:t>
          </a:r>
          <a:r>
            <a:rPr lang="en-US" sz="1400" dirty="0">
              <a:solidFill>
                <a:schemeClr val="tx1"/>
              </a:solidFill>
            </a:rPr>
            <a:t>. </a:t>
          </a:r>
        </a:p>
      </dgm:t>
    </dgm:pt>
    <dgm:pt modelId="{59AFBCB4-2719-4907-8BD3-52107F7A446E}" type="parTrans" cxnId="{26DFC1AF-D9C0-48A1-9CA9-E16645A07CAE}">
      <dgm:prSet/>
      <dgm:spPr/>
      <dgm:t>
        <a:bodyPr/>
        <a:lstStyle/>
        <a:p>
          <a:endParaRPr lang="en-IN"/>
        </a:p>
      </dgm:t>
    </dgm:pt>
    <dgm:pt modelId="{65F16496-8878-42EA-A092-A5741A25930F}" type="sibTrans" cxnId="{26DFC1AF-D9C0-48A1-9CA9-E16645A07CAE}">
      <dgm:prSet/>
      <dgm:spPr/>
      <dgm:t>
        <a:bodyPr/>
        <a:lstStyle/>
        <a:p>
          <a:endParaRPr lang="en-IN"/>
        </a:p>
      </dgm:t>
    </dgm:pt>
    <dgm:pt modelId="{94C8AD88-CA21-4A26-9548-87637FF27942}" type="pres">
      <dgm:prSet presAssocID="{92F8F22C-58CA-4BF5-A23C-6C41838FBEC9}" presName="theList" presStyleCnt="0">
        <dgm:presLayoutVars>
          <dgm:dir/>
          <dgm:animLvl val="lvl"/>
          <dgm:resizeHandles val="exact"/>
        </dgm:presLayoutVars>
      </dgm:prSet>
      <dgm:spPr/>
    </dgm:pt>
    <dgm:pt modelId="{EF78E20F-8710-4213-A482-56C7EB5423F7}" type="pres">
      <dgm:prSet presAssocID="{FE01A76E-2897-46B3-963C-811BC56F0A2F}" presName="compNode" presStyleCnt="0"/>
      <dgm:spPr/>
    </dgm:pt>
    <dgm:pt modelId="{665EAC98-E7AD-4191-97CA-AFF7C5C8F279}" type="pres">
      <dgm:prSet presAssocID="{FE01A76E-2897-46B3-963C-811BC56F0A2F}" presName="aNode" presStyleLbl="bgShp" presStyleIdx="0" presStyleCnt="5"/>
      <dgm:spPr>
        <a:prstGeom prst="snip1Rect">
          <a:avLst/>
        </a:prstGeom>
      </dgm:spPr>
    </dgm:pt>
    <dgm:pt modelId="{4A290812-4FB4-49D5-A506-7F50E210A434}" type="pres">
      <dgm:prSet presAssocID="{FE01A76E-2897-46B3-963C-811BC56F0A2F}" presName="textNode" presStyleLbl="bgShp" presStyleIdx="0" presStyleCnt="5"/>
      <dgm:spPr>
        <a:prstGeom prst="snip1Rect">
          <a:avLst/>
        </a:prstGeom>
      </dgm:spPr>
    </dgm:pt>
    <dgm:pt modelId="{4403101F-8AC0-415F-A3F6-E76D313FBC47}" type="pres">
      <dgm:prSet presAssocID="{FE01A76E-2897-46B3-963C-811BC56F0A2F}" presName="compChildNode" presStyleCnt="0"/>
      <dgm:spPr/>
    </dgm:pt>
    <dgm:pt modelId="{E527C78A-6FAC-4A1E-8940-00B99502BF3E}" type="pres">
      <dgm:prSet presAssocID="{FE01A76E-2897-46B3-963C-811BC56F0A2F}" presName="theInnerList" presStyleCnt="0"/>
      <dgm:spPr/>
    </dgm:pt>
    <dgm:pt modelId="{22000A70-C02E-4E01-B341-D8E9970C1B0B}" type="pres">
      <dgm:prSet presAssocID="{655D1B05-5C82-46BA-99C0-A63C4582D005}" presName="childNode" presStyleLbl="node1" presStyleIdx="0" presStyleCnt="5" custScaleX="121570" custScaleY="109727" custLinFactNeighborY="8887">
        <dgm:presLayoutVars>
          <dgm:bulletEnabled val="1"/>
        </dgm:presLayoutVars>
      </dgm:prSet>
      <dgm:spPr/>
    </dgm:pt>
    <dgm:pt modelId="{3690A302-8901-4231-A846-4BEA24009978}" type="pres">
      <dgm:prSet presAssocID="{FE01A76E-2897-46B3-963C-811BC56F0A2F}" presName="aSpace" presStyleCnt="0"/>
      <dgm:spPr/>
    </dgm:pt>
    <dgm:pt modelId="{3254D1EF-CC73-4F84-9270-85EE764470FA}" type="pres">
      <dgm:prSet presAssocID="{B9944DCE-64E7-4874-A623-E99183793231}" presName="compNode" presStyleCnt="0"/>
      <dgm:spPr/>
    </dgm:pt>
    <dgm:pt modelId="{8C0085CA-14D3-4448-A9B8-0C9DC5798814}" type="pres">
      <dgm:prSet presAssocID="{B9944DCE-64E7-4874-A623-E99183793231}" presName="aNode" presStyleLbl="bgShp" presStyleIdx="1" presStyleCnt="5"/>
      <dgm:spPr>
        <a:prstGeom prst="snip1Rect">
          <a:avLst/>
        </a:prstGeom>
      </dgm:spPr>
    </dgm:pt>
    <dgm:pt modelId="{A908A54F-616D-4FB0-912A-6DEE9A9EDDAF}" type="pres">
      <dgm:prSet presAssocID="{B9944DCE-64E7-4874-A623-E99183793231}" presName="textNode" presStyleLbl="bgShp" presStyleIdx="1" presStyleCnt="5"/>
      <dgm:spPr/>
    </dgm:pt>
    <dgm:pt modelId="{CEBFB491-B0B8-44FE-B7BA-97AEE141EA4D}" type="pres">
      <dgm:prSet presAssocID="{B9944DCE-64E7-4874-A623-E99183793231}" presName="compChildNode" presStyleCnt="0"/>
      <dgm:spPr/>
    </dgm:pt>
    <dgm:pt modelId="{979F32CC-00B6-4919-9CF7-62341E44D105}" type="pres">
      <dgm:prSet presAssocID="{B9944DCE-64E7-4874-A623-E99183793231}" presName="theInnerList" presStyleCnt="0"/>
      <dgm:spPr/>
    </dgm:pt>
    <dgm:pt modelId="{194C9046-47DB-4861-B19F-9802F1747EDC}" type="pres">
      <dgm:prSet presAssocID="{8C6FE2ED-5412-4043-B88E-C1DFB2AA4F89}" presName="childNode" presStyleLbl="node1" presStyleIdx="1" presStyleCnt="5" custScaleX="125795" custScaleY="118822" custLinFactNeighborY="9738">
        <dgm:presLayoutVars>
          <dgm:bulletEnabled val="1"/>
        </dgm:presLayoutVars>
      </dgm:prSet>
      <dgm:spPr/>
    </dgm:pt>
    <dgm:pt modelId="{4964AD82-1358-47BD-B71D-E4010B4837B1}" type="pres">
      <dgm:prSet presAssocID="{B9944DCE-64E7-4874-A623-E99183793231}" presName="aSpace" presStyleCnt="0"/>
      <dgm:spPr/>
    </dgm:pt>
    <dgm:pt modelId="{5DE55A86-CB55-4ABD-89A0-496428C910F1}" type="pres">
      <dgm:prSet presAssocID="{763F39A2-144B-4F80-80D6-36445F8E2A7F}" presName="compNode" presStyleCnt="0"/>
      <dgm:spPr/>
    </dgm:pt>
    <dgm:pt modelId="{AE6D545F-613C-4E18-811B-3F87145D105B}" type="pres">
      <dgm:prSet presAssocID="{763F39A2-144B-4F80-80D6-36445F8E2A7F}" presName="aNode" presStyleLbl="bgShp" presStyleIdx="2" presStyleCnt="5"/>
      <dgm:spPr>
        <a:prstGeom prst="snip1Rect">
          <a:avLst/>
        </a:prstGeom>
      </dgm:spPr>
    </dgm:pt>
    <dgm:pt modelId="{A489933F-48CE-4B9A-BAFA-5356CFEB51C1}" type="pres">
      <dgm:prSet presAssocID="{763F39A2-144B-4F80-80D6-36445F8E2A7F}" presName="textNode" presStyleLbl="bgShp" presStyleIdx="2" presStyleCnt="5"/>
      <dgm:spPr/>
    </dgm:pt>
    <dgm:pt modelId="{992D8167-0C60-42ED-84D7-293859B03D7A}" type="pres">
      <dgm:prSet presAssocID="{763F39A2-144B-4F80-80D6-36445F8E2A7F}" presName="compChildNode" presStyleCnt="0"/>
      <dgm:spPr/>
    </dgm:pt>
    <dgm:pt modelId="{F8D9B696-20E1-4E75-83AF-DBDE376E92AF}" type="pres">
      <dgm:prSet presAssocID="{763F39A2-144B-4F80-80D6-36445F8E2A7F}" presName="theInnerList" presStyleCnt="0"/>
      <dgm:spPr/>
    </dgm:pt>
    <dgm:pt modelId="{2E556C06-39A8-46C8-A997-0450D59AE274}" type="pres">
      <dgm:prSet presAssocID="{A75D7214-2DD1-4DA0-900E-8C86098A0E9A}" presName="childNode" presStyleLbl="node1" presStyleIdx="2" presStyleCnt="5" custScaleX="131711" custScaleY="104357" custLinFactNeighborY="10346">
        <dgm:presLayoutVars>
          <dgm:bulletEnabled val="1"/>
        </dgm:presLayoutVars>
      </dgm:prSet>
      <dgm:spPr/>
    </dgm:pt>
    <dgm:pt modelId="{0AFD4B21-8461-4289-B90B-E022C4B0639E}" type="pres">
      <dgm:prSet presAssocID="{763F39A2-144B-4F80-80D6-36445F8E2A7F}" presName="aSpace" presStyleCnt="0"/>
      <dgm:spPr/>
    </dgm:pt>
    <dgm:pt modelId="{71B5A140-2D61-4BCF-B575-D56F3102ECA7}" type="pres">
      <dgm:prSet presAssocID="{313859B0-DC1C-4723-A9A0-ED2D8ECFBEA4}" presName="compNode" presStyleCnt="0"/>
      <dgm:spPr/>
    </dgm:pt>
    <dgm:pt modelId="{8D36FBD4-52ED-4B0F-8C1D-CF70910E798B}" type="pres">
      <dgm:prSet presAssocID="{313859B0-DC1C-4723-A9A0-ED2D8ECFBEA4}" presName="aNode" presStyleLbl="bgShp" presStyleIdx="3" presStyleCnt="5"/>
      <dgm:spPr>
        <a:prstGeom prst="snip1Rect">
          <a:avLst/>
        </a:prstGeom>
      </dgm:spPr>
    </dgm:pt>
    <dgm:pt modelId="{37BD6EEB-0807-4178-A979-4E36A1AB0FA2}" type="pres">
      <dgm:prSet presAssocID="{313859B0-DC1C-4723-A9A0-ED2D8ECFBEA4}" presName="textNode" presStyleLbl="bgShp" presStyleIdx="3" presStyleCnt="5"/>
      <dgm:spPr/>
    </dgm:pt>
    <dgm:pt modelId="{41B8A7D9-E70F-428F-8EDA-AED83E60C955}" type="pres">
      <dgm:prSet presAssocID="{313859B0-DC1C-4723-A9A0-ED2D8ECFBEA4}" presName="compChildNode" presStyleCnt="0"/>
      <dgm:spPr/>
    </dgm:pt>
    <dgm:pt modelId="{D1AF24BA-037B-4AF2-9A91-242CD37D790F}" type="pres">
      <dgm:prSet presAssocID="{313859B0-DC1C-4723-A9A0-ED2D8ECFBEA4}" presName="theInnerList" presStyleCnt="0"/>
      <dgm:spPr/>
    </dgm:pt>
    <dgm:pt modelId="{3BF33F9D-0AD6-4C94-AFE7-799553EED16D}" type="pres">
      <dgm:prSet presAssocID="{90A38D48-1A50-49C3-AEB7-8935C541A201}" presName="childNode" presStyleLbl="node1" presStyleIdx="3" presStyleCnt="5" custScaleX="122879" custLinFactNeighborY="7692">
        <dgm:presLayoutVars>
          <dgm:bulletEnabled val="1"/>
        </dgm:presLayoutVars>
      </dgm:prSet>
      <dgm:spPr/>
    </dgm:pt>
    <dgm:pt modelId="{BC08621C-A58B-40DE-A2BB-FF6CDD0208D9}" type="pres">
      <dgm:prSet presAssocID="{313859B0-DC1C-4723-A9A0-ED2D8ECFBEA4}" presName="aSpace" presStyleCnt="0"/>
      <dgm:spPr/>
    </dgm:pt>
    <dgm:pt modelId="{2D610503-127D-4BC1-9EBA-B5AC039CF3F6}" type="pres">
      <dgm:prSet presAssocID="{88237B8C-BD1D-4E3B-B380-159A11D3D5AE}" presName="compNode" presStyleCnt="0"/>
      <dgm:spPr/>
    </dgm:pt>
    <dgm:pt modelId="{B3A01A73-B321-461E-AEEF-338283452544}" type="pres">
      <dgm:prSet presAssocID="{88237B8C-BD1D-4E3B-B380-159A11D3D5AE}" presName="aNode" presStyleLbl="bgShp" presStyleIdx="4" presStyleCnt="5" custLinFactNeighborX="7559" custLinFactNeighborY="-5292"/>
      <dgm:spPr>
        <a:prstGeom prst="snip1Rect">
          <a:avLst/>
        </a:prstGeom>
      </dgm:spPr>
    </dgm:pt>
    <dgm:pt modelId="{A0EF3B5C-28A8-4127-8D85-BCA15405E6BD}" type="pres">
      <dgm:prSet presAssocID="{88237B8C-BD1D-4E3B-B380-159A11D3D5AE}" presName="textNode" presStyleLbl="bgShp" presStyleIdx="4" presStyleCnt="5"/>
      <dgm:spPr/>
    </dgm:pt>
    <dgm:pt modelId="{13396AB5-A8E7-4117-BB66-241BEFC1681B}" type="pres">
      <dgm:prSet presAssocID="{88237B8C-BD1D-4E3B-B380-159A11D3D5AE}" presName="compChildNode" presStyleCnt="0"/>
      <dgm:spPr/>
    </dgm:pt>
    <dgm:pt modelId="{8500F52E-D0FD-4A14-BB75-BC5F192A28AE}" type="pres">
      <dgm:prSet presAssocID="{88237B8C-BD1D-4E3B-B380-159A11D3D5AE}" presName="theInnerList" presStyleCnt="0"/>
      <dgm:spPr/>
    </dgm:pt>
    <dgm:pt modelId="{044E8D59-478E-4D1B-BDD7-7FCC9D477376}" type="pres">
      <dgm:prSet presAssocID="{D65CEEEA-1ECF-4E25-95A7-5E4EFC2D6987}" presName="childNode" presStyleLbl="node1" presStyleIdx="4" presStyleCnt="5" custScaleX="121147" custScaleY="104689" custLinFactNeighborY="9140">
        <dgm:presLayoutVars>
          <dgm:bulletEnabled val="1"/>
        </dgm:presLayoutVars>
      </dgm:prSet>
      <dgm:spPr/>
    </dgm:pt>
  </dgm:ptLst>
  <dgm:cxnLst>
    <dgm:cxn modelId="{D448450B-3CCB-4427-95F9-6C75F630A57D}" type="presOf" srcId="{313859B0-DC1C-4723-A9A0-ED2D8ECFBEA4}" destId="{37BD6EEB-0807-4178-A979-4E36A1AB0FA2}" srcOrd="1" destOrd="0" presId="urn:microsoft.com/office/officeart/2005/8/layout/lProcess2"/>
    <dgm:cxn modelId="{5AF95A15-6AAD-4D90-B59B-559D15C9670E}" type="presOf" srcId="{B9944DCE-64E7-4874-A623-E99183793231}" destId="{8C0085CA-14D3-4448-A9B8-0C9DC5798814}" srcOrd="0" destOrd="0" presId="urn:microsoft.com/office/officeart/2005/8/layout/lProcess2"/>
    <dgm:cxn modelId="{5CB96819-7283-4081-9A14-E92D9903350A}" type="presOf" srcId="{763F39A2-144B-4F80-80D6-36445F8E2A7F}" destId="{AE6D545F-613C-4E18-811B-3F87145D105B}" srcOrd="0" destOrd="0" presId="urn:microsoft.com/office/officeart/2005/8/layout/lProcess2"/>
    <dgm:cxn modelId="{A7B92322-29FE-43E8-BF7C-1E7357073747}" srcId="{92F8F22C-58CA-4BF5-A23C-6C41838FBEC9}" destId="{88237B8C-BD1D-4E3B-B380-159A11D3D5AE}" srcOrd="4" destOrd="0" parTransId="{F324591E-6C6A-424A-B29A-8E774A8B739C}" sibTransId="{587CC295-2B7A-4751-AFB4-4C8EFD92CAEF}"/>
    <dgm:cxn modelId="{717BA93F-3CCD-4B19-A75C-80152C57A422}" srcId="{FE01A76E-2897-46B3-963C-811BC56F0A2F}" destId="{655D1B05-5C82-46BA-99C0-A63C4582D005}" srcOrd="0" destOrd="0" parTransId="{C23923A7-3BF0-4E0C-93FF-D889B58EC703}" sibTransId="{6BE0EC73-A03C-46AF-A699-0BC3DF500669}"/>
    <dgm:cxn modelId="{FCA0C040-DF25-4109-8A77-5A74438E2522}" type="presOf" srcId="{8C6FE2ED-5412-4043-B88E-C1DFB2AA4F89}" destId="{194C9046-47DB-4861-B19F-9802F1747EDC}" srcOrd="0" destOrd="0" presId="urn:microsoft.com/office/officeart/2005/8/layout/lProcess2"/>
    <dgm:cxn modelId="{B8E3E942-B335-407A-9F9C-E4BF107A5A96}" srcId="{763F39A2-144B-4F80-80D6-36445F8E2A7F}" destId="{A75D7214-2DD1-4DA0-900E-8C86098A0E9A}" srcOrd="0" destOrd="0" parTransId="{710D1B88-5E20-4B74-9A6A-B91A7081F301}" sibTransId="{4891522F-4A16-4353-AFE7-060869317E02}"/>
    <dgm:cxn modelId="{B35B2B53-86BF-4FE1-B243-6E7668531A5C}" type="presOf" srcId="{88237B8C-BD1D-4E3B-B380-159A11D3D5AE}" destId="{A0EF3B5C-28A8-4127-8D85-BCA15405E6BD}" srcOrd="1" destOrd="0" presId="urn:microsoft.com/office/officeart/2005/8/layout/lProcess2"/>
    <dgm:cxn modelId="{5A0E6455-227F-4143-A588-57982B55E4CC}" srcId="{92F8F22C-58CA-4BF5-A23C-6C41838FBEC9}" destId="{FE01A76E-2897-46B3-963C-811BC56F0A2F}" srcOrd="0" destOrd="0" parTransId="{D0B6EE33-F727-4731-A5EA-4A33DD0B3689}" sibTransId="{AA270B8C-1A57-4D4F-BB2B-F5F88E677F85}"/>
    <dgm:cxn modelId="{6C417180-D00E-432C-A462-D7FF8ACF8436}" type="presOf" srcId="{90A38D48-1A50-49C3-AEB7-8935C541A201}" destId="{3BF33F9D-0AD6-4C94-AFE7-799553EED16D}" srcOrd="0" destOrd="0" presId="urn:microsoft.com/office/officeart/2005/8/layout/lProcess2"/>
    <dgm:cxn modelId="{80920C82-A8B7-4435-B542-8291AE80D341}" srcId="{92F8F22C-58CA-4BF5-A23C-6C41838FBEC9}" destId="{B9944DCE-64E7-4874-A623-E99183793231}" srcOrd="1" destOrd="0" parTransId="{135DFB02-26E4-4796-AD65-5CE20A51C8CD}" sibTransId="{05BB24B4-A170-4BC2-ADFE-3133D4C7639C}"/>
    <dgm:cxn modelId="{4A755583-E755-4760-BA4B-F8E991F16E66}" srcId="{313859B0-DC1C-4723-A9A0-ED2D8ECFBEA4}" destId="{90A38D48-1A50-49C3-AEB7-8935C541A201}" srcOrd="0" destOrd="0" parTransId="{F674CFB4-AF9D-4C59-B926-A44EDB059A19}" sibTransId="{669953BD-8198-48DC-82FF-ABBB1AEF1ADE}"/>
    <dgm:cxn modelId="{96E95D87-4736-4C96-A819-3B6FE315C4D9}" type="presOf" srcId="{B9944DCE-64E7-4874-A623-E99183793231}" destId="{A908A54F-616D-4FB0-912A-6DEE9A9EDDAF}" srcOrd="1" destOrd="0" presId="urn:microsoft.com/office/officeart/2005/8/layout/lProcess2"/>
    <dgm:cxn modelId="{FF0B5890-0491-4016-AB58-78554439A217}" type="presOf" srcId="{A75D7214-2DD1-4DA0-900E-8C86098A0E9A}" destId="{2E556C06-39A8-46C8-A997-0450D59AE274}" srcOrd="0" destOrd="0" presId="urn:microsoft.com/office/officeart/2005/8/layout/lProcess2"/>
    <dgm:cxn modelId="{732B2C96-1BEB-4726-8313-658633F33888}" type="presOf" srcId="{88237B8C-BD1D-4E3B-B380-159A11D3D5AE}" destId="{B3A01A73-B321-461E-AEEF-338283452544}" srcOrd="0" destOrd="0" presId="urn:microsoft.com/office/officeart/2005/8/layout/lProcess2"/>
    <dgm:cxn modelId="{41046B98-DF50-44FF-8538-7429730A5829}" srcId="{92F8F22C-58CA-4BF5-A23C-6C41838FBEC9}" destId="{763F39A2-144B-4F80-80D6-36445F8E2A7F}" srcOrd="2" destOrd="0" parTransId="{6DC31E0C-8263-4F92-83EC-5C89A46385BD}" sibTransId="{AF0D8007-EEDF-4B18-8A7B-8E81C1F89F59}"/>
    <dgm:cxn modelId="{08FB17AD-192D-410B-9B23-17FC5FCC3B5F}" srcId="{92F8F22C-58CA-4BF5-A23C-6C41838FBEC9}" destId="{313859B0-DC1C-4723-A9A0-ED2D8ECFBEA4}" srcOrd="3" destOrd="0" parTransId="{5FB9BCAE-780D-40A9-A9A9-F72F0E4967BF}" sibTransId="{AE809054-FBA5-4592-A169-430C5893C871}"/>
    <dgm:cxn modelId="{26DFC1AF-D9C0-48A1-9CA9-E16645A07CAE}" srcId="{88237B8C-BD1D-4E3B-B380-159A11D3D5AE}" destId="{D65CEEEA-1ECF-4E25-95A7-5E4EFC2D6987}" srcOrd="0" destOrd="0" parTransId="{59AFBCB4-2719-4907-8BD3-52107F7A446E}" sibTransId="{65F16496-8878-42EA-A092-A5741A25930F}"/>
    <dgm:cxn modelId="{FA3C86B7-00CA-494B-8503-5FA655187B39}" type="presOf" srcId="{313859B0-DC1C-4723-A9A0-ED2D8ECFBEA4}" destId="{8D36FBD4-52ED-4B0F-8C1D-CF70910E798B}" srcOrd="0" destOrd="0" presId="urn:microsoft.com/office/officeart/2005/8/layout/lProcess2"/>
    <dgm:cxn modelId="{0B75C4B8-772D-465E-A6E2-4DA5D81EAE7A}" srcId="{B9944DCE-64E7-4874-A623-E99183793231}" destId="{8C6FE2ED-5412-4043-B88E-C1DFB2AA4F89}" srcOrd="0" destOrd="0" parTransId="{1444B9AB-1ED1-4945-878C-ACE2A45FA9D6}" sibTransId="{8822030D-97D9-4712-AD29-759AFC36D259}"/>
    <dgm:cxn modelId="{42582CC1-3365-4F44-A90E-FDE5E1A57331}" type="presOf" srcId="{92F8F22C-58CA-4BF5-A23C-6C41838FBEC9}" destId="{94C8AD88-CA21-4A26-9548-87637FF27942}" srcOrd="0" destOrd="0" presId="urn:microsoft.com/office/officeart/2005/8/layout/lProcess2"/>
    <dgm:cxn modelId="{58E11EC7-E91B-4718-92E9-928EAFC177E3}" type="presOf" srcId="{FE01A76E-2897-46B3-963C-811BC56F0A2F}" destId="{4A290812-4FB4-49D5-A506-7F50E210A434}" srcOrd="1" destOrd="0" presId="urn:microsoft.com/office/officeart/2005/8/layout/lProcess2"/>
    <dgm:cxn modelId="{C1685FC8-1788-4D8B-9FF5-0B2091CC83AC}" type="presOf" srcId="{763F39A2-144B-4F80-80D6-36445F8E2A7F}" destId="{A489933F-48CE-4B9A-BAFA-5356CFEB51C1}" srcOrd="1" destOrd="0" presId="urn:microsoft.com/office/officeart/2005/8/layout/lProcess2"/>
    <dgm:cxn modelId="{90539FC8-B7F7-436C-A2BC-84DBC204E38A}" type="presOf" srcId="{FE01A76E-2897-46B3-963C-811BC56F0A2F}" destId="{665EAC98-E7AD-4191-97CA-AFF7C5C8F279}" srcOrd="0" destOrd="0" presId="urn:microsoft.com/office/officeart/2005/8/layout/lProcess2"/>
    <dgm:cxn modelId="{D11F8DF2-9877-4D3F-B609-EE37C5772520}" type="presOf" srcId="{D65CEEEA-1ECF-4E25-95A7-5E4EFC2D6987}" destId="{044E8D59-478E-4D1B-BDD7-7FCC9D477376}" srcOrd="0" destOrd="0" presId="urn:microsoft.com/office/officeart/2005/8/layout/lProcess2"/>
    <dgm:cxn modelId="{A5A823F8-DC1E-4802-A569-D079C412B918}" type="presOf" srcId="{655D1B05-5C82-46BA-99C0-A63C4582D005}" destId="{22000A70-C02E-4E01-B341-D8E9970C1B0B}" srcOrd="0" destOrd="0" presId="urn:microsoft.com/office/officeart/2005/8/layout/lProcess2"/>
    <dgm:cxn modelId="{A353092A-6E0D-4014-8B93-3385E923976F}" type="presParOf" srcId="{94C8AD88-CA21-4A26-9548-87637FF27942}" destId="{EF78E20F-8710-4213-A482-56C7EB5423F7}" srcOrd="0" destOrd="0" presId="urn:microsoft.com/office/officeart/2005/8/layout/lProcess2"/>
    <dgm:cxn modelId="{F1E7589D-D1AD-49FA-A710-D9A0DB0FDA9D}" type="presParOf" srcId="{EF78E20F-8710-4213-A482-56C7EB5423F7}" destId="{665EAC98-E7AD-4191-97CA-AFF7C5C8F279}" srcOrd="0" destOrd="0" presId="urn:microsoft.com/office/officeart/2005/8/layout/lProcess2"/>
    <dgm:cxn modelId="{E125B0C2-2494-4DA9-9902-19128093BBE2}" type="presParOf" srcId="{EF78E20F-8710-4213-A482-56C7EB5423F7}" destId="{4A290812-4FB4-49D5-A506-7F50E210A434}" srcOrd="1" destOrd="0" presId="urn:microsoft.com/office/officeart/2005/8/layout/lProcess2"/>
    <dgm:cxn modelId="{4595F9A0-ABF8-4E40-9CC8-60C5AB43645F}" type="presParOf" srcId="{EF78E20F-8710-4213-A482-56C7EB5423F7}" destId="{4403101F-8AC0-415F-A3F6-E76D313FBC47}" srcOrd="2" destOrd="0" presId="urn:microsoft.com/office/officeart/2005/8/layout/lProcess2"/>
    <dgm:cxn modelId="{B01DA1F4-46E0-47FB-8F33-5B451C8C18EB}" type="presParOf" srcId="{4403101F-8AC0-415F-A3F6-E76D313FBC47}" destId="{E527C78A-6FAC-4A1E-8940-00B99502BF3E}" srcOrd="0" destOrd="0" presId="urn:microsoft.com/office/officeart/2005/8/layout/lProcess2"/>
    <dgm:cxn modelId="{B1C03A29-1476-4AA5-A06A-1CD2F7F2E7A2}" type="presParOf" srcId="{E527C78A-6FAC-4A1E-8940-00B99502BF3E}" destId="{22000A70-C02E-4E01-B341-D8E9970C1B0B}" srcOrd="0" destOrd="0" presId="urn:microsoft.com/office/officeart/2005/8/layout/lProcess2"/>
    <dgm:cxn modelId="{842E0E43-8F13-45F1-B47D-E0B71C26A499}" type="presParOf" srcId="{94C8AD88-CA21-4A26-9548-87637FF27942}" destId="{3690A302-8901-4231-A846-4BEA24009978}" srcOrd="1" destOrd="0" presId="urn:microsoft.com/office/officeart/2005/8/layout/lProcess2"/>
    <dgm:cxn modelId="{A3C803F0-751B-4FB8-AF36-EAD200AD10B4}" type="presParOf" srcId="{94C8AD88-CA21-4A26-9548-87637FF27942}" destId="{3254D1EF-CC73-4F84-9270-85EE764470FA}" srcOrd="2" destOrd="0" presId="urn:microsoft.com/office/officeart/2005/8/layout/lProcess2"/>
    <dgm:cxn modelId="{C200A792-B254-4064-BF88-C55F79AB3899}" type="presParOf" srcId="{3254D1EF-CC73-4F84-9270-85EE764470FA}" destId="{8C0085CA-14D3-4448-A9B8-0C9DC5798814}" srcOrd="0" destOrd="0" presId="urn:microsoft.com/office/officeart/2005/8/layout/lProcess2"/>
    <dgm:cxn modelId="{88BCCD26-8387-4631-A61F-E8BBD8575E83}" type="presParOf" srcId="{3254D1EF-CC73-4F84-9270-85EE764470FA}" destId="{A908A54F-616D-4FB0-912A-6DEE9A9EDDAF}" srcOrd="1" destOrd="0" presId="urn:microsoft.com/office/officeart/2005/8/layout/lProcess2"/>
    <dgm:cxn modelId="{D7E7DAE9-E2B4-4537-B153-0F1C34CCDCCF}" type="presParOf" srcId="{3254D1EF-CC73-4F84-9270-85EE764470FA}" destId="{CEBFB491-B0B8-44FE-B7BA-97AEE141EA4D}" srcOrd="2" destOrd="0" presId="urn:microsoft.com/office/officeart/2005/8/layout/lProcess2"/>
    <dgm:cxn modelId="{05ACC29B-154C-44E9-B1AD-C414A2E43CD4}" type="presParOf" srcId="{CEBFB491-B0B8-44FE-B7BA-97AEE141EA4D}" destId="{979F32CC-00B6-4919-9CF7-62341E44D105}" srcOrd="0" destOrd="0" presId="urn:microsoft.com/office/officeart/2005/8/layout/lProcess2"/>
    <dgm:cxn modelId="{69947239-2040-4DCC-A7B7-5E43DAD28C79}" type="presParOf" srcId="{979F32CC-00B6-4919-9CF7-62341E44D105}" destId="{194C9046-47DB-4861-B19F-9802F1747EDC}" srcOrd="0" destOrd="0" presId="urn:microsoft.com/office/officeart/2005/8/layout/lProcess2"/>
    <dgm:cxn modelId="{EAA4E6F4-3866-4E27-ACE6-CF62ABD0A8C7}" type="presParOf" srcId="{94C8AD88-CA21-4A26-9548-87637FF27942}" destId="{4964AD82-1358-47BD-B71D-E4010B4837B1}" srcOrd="3" destOrd="0" presId="urn:microsoft.com/office/officeart/2005/8/layout/lProcess2"/>
    <dgm:cxn modelId="{0E7CE131-1F2A-4649-8CA9-DC4C20B49750}" type="presParOf" srcId="{94C8AD88-CA21-4A26-9548-87637FF27942}" destId="{5DE55A86-CB55-4ABD-89A0-496428C910F1}" srcOrd="4" destOrd="0" presId="urn:microsoft.com/office/officeart/2005/8/layout/lProcess2"/>
    <dgm:cxn modelId="{B09ABCCF-7D4D-483F-A859-C2AF60E2A338}" type="presParOf" srcId="{5DE55A86-CB55-4ABD-89A0-496428C910F1}" destId="{AE6D545F-613C-4E18-811B-3F87145D105B}" srcOrd="0" destOrd="0" presId="urn:microsoft.com/office/officeart/2005/8/layout/lProcess2"/>
    <dgm:cxn modelId="{8D5226FB-81A2-4ED8-8D03-92CCF12F7928}" type="presParOf" srcId="{5DE55A86-CB55-4ABD-89A0-496428C910F1}" destId="{A489933F-48CE-4B9A-BAFA-5356CFEB51C1}" srcOrd="1" destOrd="0" presId="urn:microsoft.com/office/officeart/2005/8/layout/lProcess2"/>
    <dgm:cxn modelId="{05DB38D2-2D2F-4B07-9730-D09C35416E7E}" type="presParOf" srcId="{5DE55A86-CB55-4ABD-89A0-496428C910F1}" destId="{992D8167-0C60-42ED-84D7-293859B03D7A}" srcOrd="2" destOrd="0" presId="urn:microsoft.com/office/officeart/2005/8/layout/lProcess2"/>
    <dgm:cxn modelId="{70C47A89-4A68-4B94-BEF8-9834CA351662}" type="presParOf" srcId="{992D8167-0C60-42ED-84D7-293859B03D7A}" destId="{F8D9B696-20E1-4E75-83AF-DBDE376E92AF}" srcOrd="0" destOrd="0" presId="urn:microsoft.com/office/officeart/2005/8/layout/lProcess2"/>
    <dgm:cxn modelId="{C9EE8BD9-B846-48C2-9709-71DBBEEA353A}" type="presParOf" srcId="{F8D9B696-20E1-4E75-83AF-DBDE376E92AF}" destId="{2E556C06-39A8-46C8-A997-0450D59AE274}" srcOrd="0" destOrd="0" presId="urn:microsoft.com/office/officeart/2005/8/layout/lProcess2"/>
    <dgm:cxn modelId="{0A930AFB-87AC-4DAF-9936-AB8434B36938}" type="presParOf" srcId="{94C8AD88-CA21-4A26-9548-87637FF27942}" destId="{0AFD4B21-8461-4289-B90B-E022C4B0639E}" srcOrd="5" destOrd="0" presId="urn:microsoft.com/office/officeart/2005/8/layout/lProcess2"/>
    <dgm:cxn modelId="{D18A50A2-4A8C-44EA-B93E-57BF1748AE39}" type="presParOf" srcId="{94C8AD88-CA21-4A26-9548-87637FF27942}" destId="{71B5A140-2D61-4BCF-B575-D56F3102ECA7}" srcOrd="6" destOrd="0" presId="urn:microsoft.com/office/officeart/2005/8/layout/lProcess2"/>
    <dgm:cxn modelId="{8E0F0D78-C39B-4714-8D96-07117DA18C96}" type="presParOf" srcId="{71B5A140-2D61-4BCF-B575-D56F3102ECA7}" destId="{8D36FBD4-52ED-4B0F-8C1D-CF70910E798B}" srcOrd="0" destOrd="0" presId="urn:microsoft.com/office/officeart/2005/8/layout/lProcess2"/>
    <dgm:cxn modelId="{3914C25F-77A9-4D1A-973A-91B6E0EAC657}" type="presParOf" srcId="{71B5A140-2D61-4BCF-B575-D56F3102ECA7}" destId="{37BD6EEB-0807-4178-A979-4E36A1AB0FA2}" srcOrd="1" destOrd="0" presId="urn:microsoft.com/office/officeart/2005/8/layout/lProcess2"/>
    <dgm:cxn modelId="{748AE72C-F508-4899-979C-E3CAA86BDD62}" type="presParOf" srcId="{71B5A140-2D61-4BCF-B575-D56F3102ECA7}" destId="{41B8A7D9-E70F-428F-8EDA-AED83E60C955}" srcOrd="2" destOrd="0" presId="urn:microsoft.com/office/officeart/2005/8/layout/lProcess2"/>
    <dgm:cxn modelId="{029BF457-DEDB-4402-8ADC-FC2E63A4612B}" type="presParOf" srcId="{41B8A7D9-E70F-428F-8EDA-AED83E60C955}" destId="{D1AF24BA-037B-4AF2-9A91-242CD37D790F}" srcOrd="0" destOrd="0" presId="urn:microsoft.com/office/officeart/2005/8/layout/lProcess2"/>
    <dgm:cxn modelId="{249813B6-F1B1-4A84-94BE-C70A9437E4BE}" type="presParOf" srcId="{D1AF24BA-037B-4AF2-9A91-242CD37D790F}" destId="{3BF33F9D-0AD6-4C94-AFE7-799553EED16D}" srcOrd="0" destOrd="0" presId="urn:microsoft.com/office/officeart/2005/8/layout/lProcess2"/>
    <dgm:cxn modelId="{C7D06AD3-5469-44AD-9D11-9834F20A561A}" type="presParOf" srcId="{94C8AD88-CA21-4A26-9548-87637FF27942}" destId="{BC08621C-A58B-40DE-A2BB-FF6CDD0208D9}" srcOrd="7" destOrd="0" presId="urn:microsoft.com/office/officeart/2005/8/layout/lProcess2"/>
    <dgm:cxn modelId="{7C4ECA16-E1FE-463C-B916-22E343E2CC2C}" type="presParOf" srcId="{94C8AD88-CA21-4A26-9548-87637FF27942}" destId="{2D610503-127D-4BC1-9EBA-B5AC039CF3F6}" srcOrd="8" destOrd="0" presId="urn:microsoft.com/office/officeart/2005/8/layout/lProcess2"/>
    <dgm:cxn modelId="{FC0988AD-C4D0-4AAA-938F-7B6F87D0C181}" type="presParOf" srcId="{2D610503-127D-4BC1-9EBA-B5AC039CF3F6}" destId="{B3A01A73-B321-461E-AEEF-338283452544}" srcOrd="0" destOrd="0" presId="urn:microsoft.com/office/officeart/2005/8/layout/lProcess2"/>
    <dgm:cxn modelId="{6FC9C77D-27AF-4C43-8E39-4E7112BFDA90}" type="presParOf" srcId="{2D610503-127D-4BC1-9EBA-B5AC039CF3F6}" destId="{A0EF3B5C-28A8-4127-8D85-BCA15405E6BD}" srcOrd="1" destOrd="0" presId="urn:microsoft.com/office/officeart/2005/8/layout/lProcess2"/>
    <dgm:cxn modelId="{53FD9FB2-AB30-4518-B330-95329338F207}" type="presParOf" srcId="{2D610503-127D-4BC1-9EBA-B5AC039CF3F6}" destId="{13396AB5-A8E7-4117-BB66-241BEFC1681B}" srcOrd="2" destOrd="0" presId="urn:microsoft.com/office/officeart/2005/8/layout/lProcess2"/>
    <dgm:cxn modelId="{D4F0D95E-4EC5-4733-8792-6F7A03D2E696}" type="presParOf" srcId="{13396AB5-A8E7-4117-BB66-241BEFC1681B}" destId="{8500F52E-D0FD-4A14-BB75-BC5F192A28AE}" srcOrd="0" destOrd="0" presId="urn:microsoft.com/office/officeart/2005/8/layout/lProcess2"/>
    <dgm:cxn modelId="{0DD55D05-17A1-4271-A5BC-5B91A5822647}" type="presParOf" srcId="{8500F52E-D0FD-4A14-BB75-BC5F192A28AE}" destId="{044E8D59-478E-4D1B-BDD7-7FCC9D477376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5AA8E-DFA2-4EC5-8D76-CDF326510080}">
      <dsp:nvSpPr>
        <dsp:cNvPr id="0" name=""/>
        <dsp:cNvSpPr/>
      </dsp:nvSpPr>
      <dsp:spPr>
        <a:xfrm>
          <a:off x="0" y="1043"/>
          <a:ext cx="9638230" cy="1020950"/>
        </a:xfrm>
        <a:prstGeom prst="roundRect">
          <a:avLst/>
        </a:prstGeom>
        <a:solidFill>
          <a:srgbClr val="92D050">
            <a:alpha val="50196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Immunization is one of the most cost-effective health investments</a:t>
          </a:r>
        </a:p>
      </dsp:txBody>
      <dsp:txXfrm>
        <a:off x="49839" y="50882"/>
        <a:ext cx="9538552" cy="921272"/>
      </dsp:txXfrm>
    </dsp:sp>
    <dsp:sp modelId="{29F9BBB6-FCF3-41CA-870E-1CEE6F3C242F}">
      <dsp:nvSpPr>
        <dsp:cNvPr id="0" name=""/>
        <dsp:cNvSpPr/>
      </dsp:nvSpPr>
      <dsp:spPr>
        <a:xfrm>
          <a:off x="0" y="1035578"/>
          <a:ext cx="9638230" cy="1020950"/>
        </a:xfrm>
        <a:prstGeom prst="roundRect">
          <a:avLst/>
        </a:prstGeom>
        <a:solidFill>
          <a:schemeClr val="accent2">
            <a:lumMod val="40000"/>
            <a:lumOff val="60000"/>
            <a:alpha val="50196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Vaccination played a major role in the battle on infectious diseases since 496 B.C</a:t>
          </a:r>
        </a:p>
      </dsp:txBody>
      <dsp:txXfrm>
        <a:off x="49839" y="1085417"/>
        <a:ext cx="9538552" cy="921272"/>
      </dsp:txXfrm>
    </dsp:sp>
    <dsp:sp modelId="{C0CF52B6-3511-4927-AEA5-905F237F16DD}">
      <dsp:nvSpPr>
        <dsp:cNvPr id="0" name=""/>
        <dsp:cNvSpPr/>
      </dsp:nvSpPr>
      <dsp:spPr>
        <a:xfrm>
          <a:off x="0" y="2070113"/>
          <a:ext cx="9638230" cy="1020950"/>
        </a:xfrm>
        <a:prstGeom prst="roundRect">
          <a:avLst/>
        </a:prstGeom>
        <a:solidFill>
          <a:srgbClr val="92D050">
            <a:alpha val="50196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Edward Jenner, pioneered the concept of vaccines and developed world’s first vaccine for smallpox</a:t>
          </a:r>
        </a:p>
      </dsp:txBody>
      <dsp:txXfrm>
        <a:off x="49839" y="2119952"/>
        <a:ext cx="9538552" cy="921272"/>
      </dsp:txXfrm>
    </dsp:sp>
    <dsp:sp modelId="{00A1D171-4C9F-42DB-9398-2391D8D0318A}">
      <dsp:nvSpPr>
        <dsp:cNvPr id="0" name=""/>
        <dsp:cNvSpPr/>
      </dsp:nvSpPr>
      <dsp:spPr>
        <a:xfrm>
          <a:off x="0" y="3104648"/>
          <a:ext cx="9638230" cy="1020950"/>
        </a:xfrm>
        <a:prstGeom prst="roundRect">
          <a:avLst/>
        </a:prstGeom>
        <a:solidFill>
          <a:schemeClr val="accent2">
            <a:lumMod val="40000"/>
            <a:lumOff val="60000"/>
            <a:alpha val="50196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Last case of smallpox in Somalia in 1977 and eradicated globally in 1980</a:t>
          </a:r>
        </a:p>
      </dsp:txBody>
      <dsp:txXfrm>
        <a:off x="49839" y="3154487"/>
        <a:ext cx="9538552" cy="921272"/>
      </dsp:txXfrm>
    </dsp:sp>
    <dsp:sp modelId="{50A0533F-0C70-40E7-AEF1-B13ACBA7FBCD}">
      <dsp:nvSpPr>
        <dsp:cNvPr id="0" name=""/>
        <dsp:cNvSpPr/>
      </dsp:nvSpPr>
      <dsp:spPr>
        <a:xfrm>
          <a:off x="0" y="4139183"/>
          <a:ext cx="9638230" cy="1020950"/>
        </a:xfrm>
        <a:prstGeom prst="roundRect">
          <a:avLst/>
        </a:prstGeom>
        <a:solidFill>
          <a:srgbClr val="92D050">
            <a:alpha val="50196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In 1974, 27</a:t>
          </a:r>
          <a:r>
            <a:rPr lang="en-US" sz="1800" b="1" kern="1200" baseline="300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th</a:t>
          </a:r>
          <a:r>
            <a:rPr lang="en-US" sz="18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 World Health Assembly recommended vaccination against six diseases: Tuberculosis, Diphtheria, Tetanus, Pertussis, Measles and Poliomyelitis under Expanded Programme on Immunization (EPI). </a:t>
          </a:r>
        </a:p>
      </dsp:txBody>
      <dsp:txXfrm>
        <a:off x="49839" y="4189022"/>
        <a:ext cx="9538552" cy="921272"/>
      </dsp:txXfrm>
    </dsp:sp>
    <dsp:sp modelId="{0EEDDD43-9BEE-4F21-A2D7-EA77B50CBCCD}">
      <dsp:nvSpPr>
        <dsp:cNvPr id="0" name=""/>
        <dsp:cNvSpPr/>
      </dsp:nvSpPr>
      <dsp:spPr>
        <a:xfrm>
          <a:off x="0" y="5173718"/>
          <a:ext cx="9638230" cy="1020950"/>
        </a:xfrm>
        <a:prstGeom prst="roundRect">
          <a:avLst/>
        </a:prstGeom>
        <a:solidFill>
          <a:schemeClr val="accent2">
            <a:lumMod val="40000"/>
            <a:lumOff val="60000"/>
            <a:alpha val="50196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EPI was launched in India in 1978 ( for 6 VPDs :BCG, OPV, Diphtheria, </a:t>
          </a:r>
          <a:r>
            <a:rPr lang="en-US" sz="1800" b="1" kern="1200" dirty="0" err="1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Pertusis</a:t>
          </a:r>
          <a:r>
            <a:rPr lang="en-US" sz="1800" b="1" kern="120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, Tetanus , Typhoid-Urban area)</a:t>
          </a:r>
        </a:p>
      </dsp:txBody>
      <dsp:txXfrm>
        <a:off x="49839" y="5223557"/>
        <a:ext cx="9538552" cy="92127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13E00-7059-42DB-9C3C-2F08C748E20D}">
      <dsp:nvSpPr>
        <dsp:cNvPr id="0" name=""/>
        <dsp:cNvSpPr/>
      </dsp:nvSpPr>
      <dsp:spPr>
        <a:xfrm rot="16200000">
          <a:off x="1629838" y="-1648882"/>
          <a:ext cx="2705100" cy="5964777"/>
        </a:xfrm>
        <a:prstGeom prst="round1Rect">
          <a:avLst/>
        </a:prstGeom>
        <a:solidFill>
          <a:schemeClr val="accent2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u="sng" kern="1200" dirty="0"/>
            <a:t>Annual target 2025-26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Newborns  : 611249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Pregnant women : 726522</a:t>
          </a:r>
          <a:endParaRPr lang="en-IN" sz="2800" b="1" kern="1200" dirty="0"/>
        </a:p>
      </dsp:txBody>
      <dsp:txXfrm rot="5400000">
        <a:off x="0" y="-19044"/>
        <a:ext cx="5964777" cy="2028825"/>
      </dsp:txXfrm>
    </dsp:sp>
    <dsp:sp modelId="{B6966B32-49B0-42AC-8340-440546E8B8DB}">
      <dsp:nvSpPr>
        <dsp:cNvPr id="0" name=""/>
        <dsp:cNvSpPr/>
      </dsp:nvSpPr>
      <dsp:spPr>
        <a:xfrm>
          <a:off x="5964777" y="-19043"/>
          <a:ext cx="5964777" cy="27051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u="sng" kern="1200" dirty="0"/>
            <a:t>Vaccine against VPDs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b="1" u="sng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12 Nos. of Vaccine with 13 Nos. of Vaccine Preventable </a:t>
          </a:r>
          <a:r>
            <a:rPr lang="en-IN" sz="2800" b="1" kern="1200"/>
            <a:t>Diseases including HPV</a:t>
          </a:r>
          <a:endParaRPr lang="en-IN" sz="2800" b="1" kern="1200" dirty="0"/>
        </a:p>
      </dsp:txBody>
      <dsp:txXfrm>
        <a:off x="5964777" y="-19043"/>
        <a:ext cx="5964777" cy="2028825"/>
      </dsp:txXfrm>
    </dsp:sp>
    <dsp:sp modelId="{5E045E31-C705-4391-B2AE-1EDF42E86B42}">
      <dsp:nvSpPr>
        <dsp:cNvPr id="0" name=""/>
        <dsp:cNvSpPr/>
      </dsp:nvSpPr>
      <dsp:spPr>
        <a:xfrm rot="10800000">
          <a:off x="0" y="2686056"/>
          <a:ext cx="5964777" cy="27051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&gt; 30000 sessions planned per year </a:t>
          </a:r>
          <a:endParaRPr lang="en-IN" sz="2800" b="1" kern="1200" dirty="0"/>
        </a:p>
      </dsp:txBody>
      <dsp:txXfrm rot="10800000">
        <a:off x="0" y="3362331"/>
        <a:ext cx="5964777" cy="2028825"/>
      </dsp:txXfrm>
    </dsp:sp>
    <dsp:sp modelId="{3EB7E996-3EF5-4D96-9A1A-A982BCA7EE6F}">
      <dsp:nvSpPr>
        <dsp:cNvPr id="0" name=""/>
        <dsp:cNvSpPr/>
      </dsp:nvSpPr>
      <dsp:spPr>
        <a:xfrm rot="5400000">
          <a:off x="7556528" y="1019373"/>
          <a:ext cx="2781275" cy="5964777"/>
        </a:xfrm>
        <a:prstGeom prst="round1Rect">
          <a:avLst/>
        </a:prstGeom>
        <a:solidFill>
          <a:schemeClr val="accent2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~1293 cold chain points for storage and distribution of vaccines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(NCCMIS)</a:t>
          </a:r>
        </a:p>
      </dsp:txBody>
      <dsp:txXfrm rot="-5400000">
        <a:off x="5964777" y="3306443"/>
        <a:ext cx="5964777" cy="2085956"/>
      </dsp:txXfrm>
    </dsp:sp>
    <dsp:sp modelId="{F638FE78-5728-481D-A7B3-D11638EFBCAA}">
      <dsp:nvSpPr>
        <dsp:cNvPr id="0" name=""/>
        <dsp:cNvSpPr/>
      </dsp:nvSpPr>
      <dsp:spPr>
        <a:xfrm>
          <a:off x="909879" y="2390003"/>
          <a:ext cx="10109796" cy="630193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One of the largest Public Health Programmes</a:t>
          </a:r>
        </a:p>
      </dsp:txBody>
      <dsp:txXfrm>
        <a:off x="940642" y="2420766"/>
        <a:ext cx="10048270" cy="56866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EAC98-E7AD-4191-97CA-AFF7C5C8F279}">
      <dsp:nvSpPr>
        <dsp:cNvPr id="0" name=""/>
        <dsp:cNvSpPr/>
      </dsp:nvSpPr>
      <dsp:spPr>
        <a:xfrm>
          <a:off x="1286" y="0"/>
          <a:ext cx="2129120" cy="4957765"/>
        </a:xfrm>
        <a:prstGeom prst="snip1Rect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/>
              <a:latin typeface="+mn-lt"/>
            </a:rPr>
            <a:t>1 </a:t>
          </a:r>
          <a:br>
            <a:rPr lang="en-US" sz="2000" b="1" kern="1200" dirty="0">
              <a:effectLst/>
              <a:latin typeface="+mn-lt"/>
            </a:rPr>
          </a:br>
          <a:r>
            <a:rPr lang="en-US" sz="2000" b="1" kern="1200" dirty="0">
              <a:effectLst/>
              <a:latin typeface="+mn-lt"/>
            </a:rPr>
            <a:t>Vaccine product-related reaction</a:t>
          </a:r>
        </a:p>
      </dsp:txBody>
      <dsp:txXfrm>
        <a:off x="1286" y="123947"/>
        <a:ext cx="2005173" cy="1363382"/>
      </dsp:txXfrm>
    </dsp:sp>
    <dsp:sp modelId="{22000A70-C02E-4E01-B341-D8E9970C1B0B}">
      <dsp:nvSpPr>
        <dsp:cNvPr id="0" name=""/>
        <dsp:cNvSpPr/>
      </dsp:nvSpPr>
      <dsp:spPr>
        <a:xfrm>
          <a:off x="30498" y="1735995"/>
          <a:ext cx="2070697" cy="3221769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An AEFI that is caused or precipitated by a vaccine due to one or more of the inherent properties of the vaccine product.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 err="1">
              <a:solidFill>
                <a:schemeClr val="tx1"/>
              </a:solidFill>
            </a:rPr>
            <a:t>Eg</a:t>
          </a:r>
          <a:r>
            <a:rPr lang="en-US" sz="1400" i="1" kern="1200" dirty="0">
              <a:solidFill>
                <a:schemeClr val="tx1"/>
              </a:solidFill>
            </a:rPr>
            <a:t>, Extensive</a:t>
          </a:r>
          <a:br>
            <a:rPr lang="en-US" sz="1400" i="1" kern="1200" dirty="0">
              <a:solidFill>
                <a:schemeClr val="tx1"/>
              </a:solidFill>
            </a:rPr>
          </a:br>
          <a:r>
            <a:rPr lang="en-US" sz="1400" i="1" kern="1200" dirty="0">
              <a:solidFill>
                <a:schemeClr val="tx1"/>
              </a:solidFill>
            </a:rPr>
            <a:t>limb swelling following DTP vaccination.</a:t>
          </a:r>
          <a:endParaRPr lang="en-US" sz="1400" i="1" kern="1200" dirty="0"/>
        </a:p>
      </dsp:txBody>
      <dsp:txXfrm>
        <a:off x="91147" y="1796644"/>
        <a:ext cx="1949399" cy="3100471"/>
      </dsp:txXfrm>
    </dsp:sp>
    <dsp:sp modelId="{8C0085CA-14D3-4448-A9B8-0C9DC5798814}">
      <dsp:nvSpPr>
        <dsp:cNvPr id="0" name=""/>
        <dsp:cNvSpPr/>
      </dsp:nvSpPr>
      <dsp:spPr>
        <a:xfrm>
          <a:off x="2296861" y="0"/>
          <a:ext cx="2129120" cy="4957765"/>
        </a:xfrm>
        <a:prstGeom prst="snip1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/>
              <a:latin typeface="+mn-lt"/>
            </a:rPr>
            <a:t>2</a:t>
          </a:r>
          <a:br>
            <a:rPr lang="en-US" sz="2000" b="1" kern="1200" dirty="0">
              <a:effectLst/>
              <a:latin typeface="+mn-lt"/>
            </a:rPr>
          </a:br>
          <a:r>
            <a:rPr lang="en-US" sz="2000" b="1" kern="1200" dirty="0">
              <a:effectLst/>
              <a:latin typeface="+mn-lt"/>
            </a:rPr>
            <a:t>Vaccine quality defect-related reaction</a:t>
          </a:r>
        </a:p>
      </dsp:txBody>
      <dsp:txXfrm>
        <a:off x="2296861" y="0"/>
        <a:ext cx="2129120" cy="1487329"/>
      </dsp:txXfrm>
    </dsp:sp>
    <dsp:sp modelId="{194C9046-47DB-4861-B19F-9802F1747EDC}">
      <dsp:nvSpPr>
        <dsp:cNvPr id="0" name=""/>
        <dsp:cNvSpPr/>
      </dsp:nvSpPr>
      <dsp:spPr>
        <a:xfrm>
          <a:off x="2290090" y="1741328"/>
          <a:ext cx="2142661" cy="3216436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An AEFI that is caused or precipitated by a vaccine that is due to one or more quality defects of the vaccine product as provided by the manufacturer.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chemeClr val="tx1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 err="1">
              <a:solidFill>
                <a:schemeClr val="tx1"/>
              </a:solidFill>
            </a:rPr>
            <a:t>Eg</a:t>
          </a:r>
          <a:r>
            <a:rPr lang="en-US" sz="1200" i="1" kern="1200" dirty="0">
              <a:solidFill>
                <a:schemeClr val="tx1"/>
              </a:solidFill>
            </a:rPr>
            <a:t>, Failure by the manufacturer to completely inactivate a lot of inactivated polio vaccine leads to cases of paralytic polio. </a:t>
          </a:r>
          <a:endParaRPr lang="en-US" sz="1200" i="1" kern="1200" dirty="0"/>
        </a:p>
      </dsp:txBody>
      <dsp:txXfrm>
        <a:off x="2352846" y="1804084"/>
        <a:ext cx="2017149" cy="3090924"/>
      </dsp:txXfrm>
    </dsp:sp>
    <dsp:sp modelId="{AE6D545F-613C-4E18-811B-3F87145D105B}">
      <dsp:nvSpPr>
        <dsp:cNvPr id="0" name=""/>
        <dsp:cNvSpPr/>
      </dsp:nvSpPr>
      <dsp:spPr>
        <a:xfrm>
          <a:off x="4649590" y="0"/>
          <a:ext cx="2129120" cy="4957765"/>
        </a:xfrm>
        <a:prstGeom prst="snip1Rect">
          <a:avLst/>
        </a:prstGeom>
        <a:solidFill>
          <a:schemeClr val="accent3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/>
              <a:latin typeface="+mn-lt"/>
            </a:rPr>
            <a:t>3</a:t>
          </a:r>
          <a:br>
            <a:rPr lang="en-US" sz="2000" b="1" kern="1200" dirty="0">
              <a:effectLst/>
              <a:latin typeface="+mn-lt"/>
            </a:rPr>
          </a:br>
          <a:r>
            <a:rPr lang="en-US" sz="2000" b="1" kern="1200" dirty="0">
              <a:effectLst/>
              <a:latin typeface="+mn-lt"/>
            </a:rPr>
            <a:t>Immunization error-related reaction</a:t>
          </a:r>
        </a:p>
      </dsp:txBody>
      <dsp:txXfrm>
        <a:off x="4649590" y="0"/>
        <a:ext cx="2129120" cy="1487329"/>
      </dsp:txXfrm>
    </dsp:sp>
    <dsp:sp modelId="{2E556C06-39A8-46C8-A997-0450D59AE274}">
      <dsp:nvSpPr>
        <dsp:cNvPr id="0" name=""/>
        <dsp:cNvSpPr/>
      </dsp:nvSpPr>
      <dsp:spPr>
        <a:xfrm>
          <a:off x="4592435" y="1739175"/>
          <a:ext cx="2243428" cy="3218589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An AEFI that is caused by Inappropriate vaccine handling, prescribing or administration.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 err="1">
              <a:solidFill>
                <a:schemeClr val="tx1"/>
              </a:solidFill>
            </a:rPr>
            <a:t>Eg</a:t>
          </a:r>
          <a:r>
            <a:rPr lang="en-US" sz="1400" i="1" kern="1200" dirty="0">
              <a:solidFill>
                <a:schemeClr val="tx1"/>
              </a:solidFill>
            </a:rPr>
            <a:t>, Transmission of infection by contaminated multidose vial</a:t>
          </a:r>
        </a:p>
      </dsp:txBody>
      <dsp:txXfrm>
        <a:off x="4658143" y="1804883"/>
        <a:ext cx="2112012" cy="3087173"/>
      </dsp:txXfrm>
    </dsp:sp>
    <dsp:sp modelId="{8D36FBD4-52ED-4B0F-8C1D-CF70910E798B}">
      <dsp:nvSpPr>
        <dsp:cNvPr id="0" name=""/>
        <dsp:cNvSpPr/>
      </dsp:nvSpPr>
      <dsp:spPr>
        <a:xfrm>
          <a:off x="6995548" y="0"/>
          <a:ext cx="2129120" cy="4957765"/>
        </a:xfrm>
        <a:prstGeom prst="snip1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/>
              <a:latin typeface="+mn-lt"/>
            </a:rPr>
            <a:t>4</a:t>
          </a:r>
          <a:br>
            <a:rPr lang="en-US" sz="2000" b="1" kern="1200" dirty="0">
              <a:effectLst/>
              <a:latin typeface="+mn-lt"/>
            </a:rPr>
          </a:br>
          <a:r>
            <a:rPr lang="en-US" sz="2000" b="1" kern="1200" dirty="0">
              <a:effectLst/>
              <a:latin typeface="+mn-lt"/>
            </a:rPr>
            <a:t>Immunization Triggered Stress response</a:t>
          </a:r>
        </a:p>
      </dsp:txBody>
      <dsp:txXfrm>
        <a:off x="6995548" y="0"/>
        <a:ext cx="2129120" cy="1487329"/>
      </dsp:txXfrm>
    </dsp:sp>
    <dsp:sp modelId="{3BF33F9D-0AD6-4C94-AFE7-799553EED16D}">
      <dsp:nvSpPr>
        <dsp:cNvPr id="0" name=""/>
        <dsp:cNvSpPr/>
      </dsp:nvSpPr>
      <dsp:spPr>
        <a:xfrm>
          <a:off x="7013611" y="1735207"/>
          <a:ext cx="2092993" cy="3222547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An AEFI arising from anxiety about the immunization.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i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i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i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 err="1">
              <a:solidFill>
                <a:schemeClr val="tx1"/>
              </a:solidFill>
            </a:rPr>
            <a:t>Eg</a:t>
          </a:r>
          <a:r>
            <a:rPr lang="en-US" sz="1400" i="1" kern="1200" dirty="0">
              <a:solidFill>
                <a:schemeClr val="tx1"/>
              </a:solidFill>
            </a:rPr>
            <a:t>, Vasovagal syncope in an adolescent following vaccination.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7074913" y="1796509"/>
        <a:ext cx="1970389" cy="3099943"/>
      </dsp:txXfrm>
    </dsp:sp>
    <dsp:sp modelId="{B3A01A73-B321-461E-AEEF-338283452544}">
      <dsp:nvSpPr>
        <dsp:cNvPr id="0" name=""/>
        <dsp:cNvSpPr/>
      </dsp:nvSpPr>
      <dsp:spPr>
        <a:xfrm>
          <a:off x="9285638" y="0"/>
          <a:ext cx="2129120" cy="4957765"/>
        </a:xfrm>
        <a:prstGeom prst="snip1Rect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/>
              <a:latin typeface="+mn-lt"/>
            </a:rPr>
            <a:t>5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2000" b="1" kern="1200" dirty="0">
              <a:effectLst/>
            </a:rPr>
          </a:br>
          <a:r>
            <a:rPr lang="en-US" sz="2000" b="1" kern="1200" dirty="0">
              <a:effectLst/>
            </a:rPr>
            <a:t>Coincidental event</a:t>
          </a:r>
        </a:p>
      </dsp:txBody>
      <dsp:txXfrm>
        <a:off x="9285638" y="0"/>
        <a:ext cx="2129120" cy="1487329"/>
      </dsp:txXfrm>
    </dsp:sp>
    <dsp:sp modelId="{044E8D59-478E-4D1B-BDD7-7FCC9D477376}">
      <dsp:nvSpPr>
        <dsp:cNvPr id="0" name=""/>
        <dsp:cNvSpPr/>
      </dsp:nvSpPr>
      <dsp:spPr>
        <a:xfrm>
          <a:off x="9317166" y="1735663"/>
          <a:ext cx="2063492" cy="3222101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An AEFI that is caused by something other than the vaccine product, immunization error or immunization anxiety.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 err="1">
              <a:solidFill>
                <a:schemeClr val="tx1"/>
              </a:solidFill>
            </a:rPr>
            <a:t>Eg</a:t>
          </a:r>
          <a:r>
            <a:rPr lang="en-US" sz="1400" i="1" kern="1200" dirty="0">
              <a:solidFill>
                <a:schemeClr val="tx1"/>
              </a:solidFill>
            </a:rPr>
            <a:t>, A fever occurs at the time of the vaccination, but is in fact caused by malaria</a:t>
          </a:r>
          <a:r>
            <a:rPr lang="en-US" sz="1400" kern="1200" dirty="0">
              <a:solidFill>
                <a:schemeClr val="tx1"/>
              </a:solidFill>
            </a:rPr>
            <a:t>. </a:t>
          </a:r>
        </a:p>
      </dsp:txBody>
      <dsp:txXfrm>
        <a:off x="9377604" y="1796101"/>
        <a:ext cx="1942616" cy="3101225"/>
      </dsp:txXfrm>
    </dsp:sp>
  </dsp:spTree>
</dsp:drawing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0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04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98.jpeg"/><Relationship Id="rId4" Type="http://schemas.openxmlformats.org/officeDocument/2006/relationships/image" Target="../media/image199.png"/><Relationship Id="rId5" Type="http://schemas.microsoft.com/office/2007/relationships/hdphoto" Target="../media/hdphoto3.wdp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diagramData" Target="../diagrams/data13.xml"/><Relationship Id="rId3" Type="http://schemas.openxmlformats.org/officeDocument/2006/relationships/diagramLayout" Target="../diagrams/layout13.xml"/><Relationship Id="rId4" Type="http://schemas.openxmlformats.org/officeDocument/2006/relationships/diagramQuickStyle" Target="../diagrams/quickStyle13.xml"/><Relationship Id="rId5" Type="http://schemas.openxmlformats.org/officeDocument/2006/relationships/diagramColors" Target="../diagrams/colors13.xml"/><Relationship Id="rId6" Type="http://schemas.microsoft.com/office/2007/relationships/diagramDrawing" Target="../diagrams/drawing13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00.png"/><Relationship Id="rId3" Type="http://schemas.openxmlformats.org/officeDocument/2006/relationships/image" Target="../media/image201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02.png"/><Relationship Id="rId3" Type="http://schemas.openxmlformats.org/officeDocument/2006/relationships/image" Target="../media/image203.png"/><Relationship Id="rId4" Type="http://schemas.openxmlformats.org/officeDocument/2006/relationships/image" Target="../media/image2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diagramData" Target="../diagrams/data14.xml"/><Relationship Id="rId3" Type="http://schemas.openxmlformats.org/officeDocument/2006/relationships/diagramLayout" Target="../diagrams/layout14.xml"/><Relationship Id="rId4" Type="http://schemas.openxmlformats.org/officeDocument/2006/relationships/diagramQuickStyle" Target="../diagrams/quickStyle14.xml"/><Relationship Id="rId5" Type="http://schemas.openxmlformats.org/officeDocument/2006/relationships/diagramColors" Target="../diagrams/colors14.xml"/><Relationship Id="rId6" Type="http://schemas.microsoft.com/office/2007/relationships/diagramDrawing" Target="../diagrams/drawing14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05.png"/><Relationship Id="rId3" Type="http://schemas.openxmlformats.org/officeDocument/2006/relationships/image" Target="../media/image206.sv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chart" Target="../charts/chart4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07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08.png"/><Relationship Id="rId3" Type="http://schemas.openxmlformats.org/officeDocument/2006/relationships/image" Target="../media/image209.emf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10.png"/><Relationship Id="rId3" Type="http://schemas.openxmlformats.org/officeDocument/2006/relationships/image" Target="../media/image209.emf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11.png"/><Relationship Id="rId3" Type="http://schemas.openxmlformats.org/officeDocument/2006/relationships/image" Target="../media/image209.emf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12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13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14.emf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18.png"/><Relationship Id="rId3" Type="http://schemas.openxmlformats.org/officeDocument/2006/relationships/image" Target="../media/image219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20.emf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21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22.png"/><Relationship Id="rId3" Type="http://schemas.openxmlformats.org/officeDocument/2006/relationships/image" Target="../media/image223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24.emf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25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diagramData" Target="../diagrams/data15.xml"/><Relationship Id="rId3" Type="http://schemas.openxmlformats.org/officeDocument/2006/relationships/diagramLayout" Target="../diagrams/layout15.xml"/><Relationship Id="rId4" Type="http://schemas.openxmlformats.org/officeDocument/2006/relationships/diagramQuickStyle" Target="../diagrams/quickStyle15.xml"/><Relationship Id="rId5" Type="http://schemas.openxmlformats.org/officeDocument/2006/relationships/diagramColors" Target="../diagrams/colors15.xml"/><Relationship Id="rId6" Type="http://schemas.microsoft.com/office/2007/relationships/diagramDrawing" Target="../diagrams/drawing15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226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227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28.jpe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29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30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31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32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/Relationships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65A8BC-7CAC-0515-C92A-2BFED26200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78" r="9089" b="17202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33C141-E319-17CC-AA74-AC7A0183F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05" y="1110922"/>
            <a:ext cx="5651653" cy="162948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dirty="0">
                <a:solidFill>
                  <a:srgbClr val="7030A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 Over View Immunization Programme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24ED2-9C59-C5EA-ED4C-911864804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180" y="5335098"/>
            <a:ext cx="4413509" cy="997928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/>
              <a:t>Topic 6</a:t>
            </a:r>
          </a:p>
        </p:txBody>
      </p:sp>
      <p:pic>
        <p:nvPicPr>
          <p:cNvPr id="1026" name="Picture 2" descr="Pin on Travel Agency in Bhubaneswar">
            <a:extLst>
              <a:ext uri="{FF2B5EF4-FFF2-40B4-BE49-F238E27FC236}">
                <a16:creationId xmlns:a16="http://schemas.microsoft.com/office/drawing/2014/main" id="{88616EA4-1A9D-DD22-96BD-C7C8E594E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80" y="2740404"/>
            <a:ext cx="3385456" cy="255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297557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5186-1DA0-AB88-AFCD-B2E1C9B6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3626"/>
            <a:ext cx="2466683" cy="6754374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+mn-lt"/>
              </a:rPr>
              <a:t>Introduction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041C748-195B-6470-792E-CAFB2C713C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88456" y="331143"/>
          <a:ext cx="9638230" cy="61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7696432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5186-1DA0-AB88-AFCD-B2E1C9B6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91"/>
            <a:ext cx="12192000" cy="812890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n-lt"/>
              </a:rPr>
              <a:t>India’s Universal Immunization Programme (UIP)</a:t>
            </a:r>
          </a:p>
        </p:txBody>
      </p:sp>
      <p:sp>
        <p:nvSpPr>
          <p:cNvPr id="127" name="Subtitle 2">
            <a:extLst>
              <a:ext uri="{FF2B5EF4-FFF2-40B4-BE49-F238E27FC236}">
                <a16:creationId xmlns:a16="http://schemas.microsoft.com/office/drawing/2014/main" id="{27ABBEC2-4A46-644D-AB00-716CB3E52120}"/>
              </a:ext>
            </a:extLst>
          </p:cNvPr>
          <p:cNvSpPr txBox="1">
            <a:spLocks/>
          </p:cNvSpPr>
          <p:nvPr/>
        </p:nvSpPr>
        <p:spPr>
          <a:xfrm>
            <a:off x="9479131" y="3954855"/>
            <a:ext cx="1766163" cy="1637051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636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Green marketing is a practice whereby companies seek to go above and beyond traditional marketing by promoting environmental core values in the hope.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E0D2F42-6716-3E4D-8F4A-C0D7601E43E0}"/>
              </a:ext>
            </a:extLst>
          </p:cNvPr>
          <p:cNvSpPr txBox="1"/>
          <p:nvPr/>
        </p:nvSpPr>
        <p:spPr>
          <a:xfrm>
            <a:off x="9548529" y="3575581"/>
            <a:ext cx="1627370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League Spartan" charset="0"/>
                <a:cs typeface="Poppins" pitchFamily="2" charset="77"/>
              </a:rPr>
              <a:t>YOUR TITLE 05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EEB46C8-2585-9AD1-2B0E-058632950946}"/>
              </a:ext>
            </a:extLst>
          </p:cNvPr>
          <p:cNvSpPr txBox="1"/>
          <p:nvPr/>
        </p:nvSpPr>
        <p:spPr>
          <a:xfrm>
            <a:off x="2546696" y="977163"/>
            <a:ext cx="641442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of the largest public health programs in the world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E203F367-9A25-FB10-9125-636BAE4BE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440" y="1811326"/>
            <a:ext cx="5167854" cy="3072693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D6C88493-CD42-3DB4-1609-C8305CFEA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82" y="2269033"/>
            <a:ext cx="4849180" cy="2077169"/>
          </a:xfrm>
          <a:prstGeom prst="rect">
            <a:avLst/>
          </a:prstGeom>
        </p:spPr>
      </p:pic>
      <p:sp>
        <p:nvSpPr>
          <p:cNvPr id="135" name="Rectangle 134">
            <a:extLst>
              <a:ext uri="{FF2B5EF4-FFF2-40B4-BE49-F238E27FC236}">
                <a16:creationId xmlns:a16="http://schemas.microsoft.com/office/drawing/2014/main" id="{8D5A309D-6B4C-420A-64FF-0982A8415BDB}"/>
              </a:ext>
            </a:extLst>
          </p:cNvPr>
          <p:cNvSpPr/>
          <p:nvPr/>
        </p:nvSpPr>
        <p:spPr>
          <a:xfrm>
            <a:off x="1213655" y="5237963"/>
            <a:ext cx="9923570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All vaccines under UIP are manufactured in India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India has largest vaccine manufacturing capacity in the world</a:t>
            </a:r>
          </a:p>
        </p:txBody>
      </p:sp>
    </p:spTree>
    <p:extLst>
      <p:ext uri="{BB962C8B-B14F-4D97-AF65-F5344CB8AC3E}">
        <p14:creationId xmlns:p14="http://schemas.microsoft.com/office/powerpoint/2010/main" val="2744863327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: Rounded Corners 315">
            <a:extLst>
              <a:ext uri="{FF2B5EF4-FFF2-40B4-BE49-F238E27FC236}">
                <a16:creationId xmlns:a16="http://schemas.microsoft.com/office/drawing/2014/main" id="{53254991-A4A1-D586-A861-35A670FC356D}"/>
              </a:ext>
            </a:extLst>
          </p:cNvPr>
          <p:cNvSpPr/>
          <p:nvPr/>
        </p:nvSpPr>
        <p:spPr>
          <a:xfrm>
            <a:off x="8708774" y="4892818"/>
            <a:ext cx="1150909" cy="5525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RVV product change</a:t>
            </a:r>
          </a:p>
        </p:txBody>
      </p:sp>
      <p:sp>
        <p:nvSpPr>
          <p:cNvPr id="318" name="Rectangle: Rounded Corners 317">
            <a:extLst>
              <a:ext uri="{FF2B5EF4-FFF2-40B4-BE49-F238E27FC236}">
                <a16:creationId xmlns:a16="http://schemas.microsoft.com/office/drawing/2014/main" id="{487C09C1-1CCB-6631-E1CD-D1EF702B8CB3}"/>
              </a:ext>
            </a:extLst>
          </p:cNvPr>
          <p:cNvSpPr/>
          <p:nvPr/>
        </p:nvSpPr>
        <p:spPr>
          <a:xfrm>
            <a:off x="10620462" y="4892818"/>
            <a:ext cx="1088713" cy="5525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fIPV 3</a:t>
            </a:r>
            <a:r>
              <a:rPr kumimoji="0" lang="en-US" sz="12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dose introduced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C5186-1DA0-AB88-AFCD-B2E1C9B6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91"/>
            <a:ext cx="12192000" cy="8128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Roadmap of Introduction &amp; Expansion of New Vaccines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1B6E53B-CDBD-C54C-67E7-38AB0AE5368C}"/>
              </a:ext>
            </a:extLst>
          </p:cNvPr>
          <p:cNvSpPr txBox="1"/>
          <p:nvPr/>
        </p:nvSpPr>
        <p:spPr>
          <a:xfrm>
            <a:off x="8363316" y="1491055"/>
            <a:ext cx="2339844" cy="289182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Key</a:t>
            </a:r>
            <a:r>
              <a:rPr kumimoji="0" sz="1800" b="1" i="0" u="none" strike="noStrike" kern="1200" cap="none" spc="-7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highlights:</a:t>
            </a:r>
            <a:r>
              <a:rPr kumimoji="0" sz="1800" b="1" i="0" u="none" strike="noStrike" kern="1200" cap="none" spc="-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UIP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34FBD155-8836-004A-AC42-992029395A67}"/>
              </a:ext>
            </a:extLst>
          </p:cNvPr>
          <p:cNvSpPr/>
          <p:nvPr/>
        </p:nvSpPr>
        <p:spPr>
          <a:xfrm>
            <a:off x="0" y="1600199"/>
            <a:ext cx="6311265" cy="4232275"/>
          </a:xfrm>
          <a:custGeom>
            <a:avLst/>
            <a:gdLst/>
            <a:ahLst/>
            <a:cxnLst/>
            <a:rect l="l" t="t" r="r" b="b"/>
            <a:pathLst>
              <a:path w="6311265" h="4232275">
                <a:moveTo>
                  <a:pt x="6310884" y="2607564"/>
                </a:moveTo>
                <a:lnTo>
                  <a:pt x="6309093" y="2563266"/>
                </a:lnTo>
                <a:lnTo>
                  <a:pt x="6303835" y="2519781"/>
                </a:lnTo>
                <a:lnTo>
                  <a:pt x="6295199" y="2477198"/>
                </a:lnTo>
                <a:lnTo>
                  <a:pt x="6283312" y="2435618"/>
                </a:lnTo>
                <a:lnTo>
                  <a:pt x="6268288" y="2395131"/>
                </a:lnTo>
                <a:lnTo>
                  <a:pt x="6250229" y="2355837"/>
                </a:lnTo>
                <a:lnTo>
                  <a:pt x="6229261" y="2317826"/>
                </a:lnTo>
                <a:lnTo>
                  <a:pt x="6205499" y="2281212"/>
                </a:lnTo>
                <a:lnTo>
                  <a:pt x="6179045" y="2246071"/>
                </a:lnTo>
                <a:lnTo>
                  <a:pt x="6150038" y="2212492"/>
                </a:lnTo>
                <a:lnTo>
                  <a:pt x="6118568" y="2180602"/>
                </a:lnTo>
                <a:lnTo>
                  <a:pt x="6084760" y="2150465"/>
                </a:lnTo>
                <a:lnTo>
                  <a:pt x="6048718" y="2122195"/>
                </a:lnTo>
                <a:lnTo>
                  <a:pt x="6010580" y="2095881"/>
                </a:lnTo>
                <a:lnTo>
                  <a:pt x="5970435" y="2071624"/>
                </a:lnTo>
                <a:lnTo>
                  <a:pt x="5928411" y="2049500"/>
                </a:lnTo>
                <a:lnTo>
                  <a:pt x="5884621" y="2029637"/>
                </a:lnTo>
                <a:lnTo>
                  <a:pt x="5839180" y="2012099"/>
                </a:lnTo>
                <a:lnTo>
                  <a:pt x="5792190" y="1997011"/>
                </a:lnTo>
                <a:lnTo>
                  <a:pt x="5743791" y="1984438"/>
                </a:lnTo>
                <a:lnTo>
                  <a:pt x="5694070" y="1974507"/>
                </a:lnTo>
                <a:lnTo>
                  <a:pt x="5643156" y="1967280"/>
                </a:lnTo>
                <a:lnTo>
                  <a:pt x="5591162" y="1962886"/>
                </a:lnTo>
                <a:lnTo>
                  <a:pt x="5538216" y="1961388"/>
                </a:lnTo>
                <a:lnTo>
                  <a:pt x="5538216" y="1953768"/>
                </a:lnTo>
                <a:lnTo>
                  <a:pt x="2746248" y="1953768"/>
                </a:lnTo>
                <a:lnTo>
                  <a:pt x="2696248" y="1951164"/>
                </a:lnTo>
                <a:lnTo>
                  <a:pt x="2648077" y="1943557"/>
                </a:lnTo>
                <a:lnTo>
                  <a:pt x="2602115" y="1931276"/>
                </a:lnTo>
                <a:lnTo>
                  <a:pt x="2558758" y="1914613"/>
                </a:lnTo>
                <a:lnTo>
                  <a:pt x="2518346" y="1893887"/>
                </a:lnTo>
                <a:lnTo>
                  <a:pt x="2481288" y="1869440"/>
                </a:lnTo>
                <a:lnTo>
                  <a:pt x="2447937" y="1841550"/>
                </a:lnTo>
                <a:lnTo>
                  <a:pt x="2418689" y="1810562"/>
                </a:lnTo>
                <a:lnTo>
                  <a:pt x="2393924" y="1776780"/>
                </a:lnTo>
                <a:lnTo>
                  <a:pt x="2373998" y="1740522"/>
                </a:lnTo>
                <a:lnTo>
                  <a:pt x="2359291" y="1702092"/>
                </a:lnTo>
                <a:lnTo>
                  <a:pt x="2350198" y="1661820"/>
                </a:lnTo>
                <a:lnTo>
                  <a:pt x="2347087" y="1620012"/>
                </a:lnTo>
                <a:lnTo>
                  <a:pt x="2350198" y="1578216"/>
                </a:lnTo>
                <a:lnTo>
                  <a:pt x="2359291" y="1537944"/>
                </a:lnTo>
                <a:lnTo>
                  <a:pt x="2373998" y="1499514"/>
                </a:lnTo>
                <a:lnTo>
                  <a:pt x="2393924" y="1463255"/>
                </a:lnTo>
                <a:lnTo>
                  <a:pt x="2418689" y="1429473"/>
                </a:lnTo>
                <a:lnTo>
                  <a:pt x="2447937" y="1398485"/>
                </a:lnTo>
                <a:lnTo>
                  <a:pt x="2481288" y="1370596"/>
                </a:lnTo>
                <a:lnTo>
                  <a:pt x="2518346" y="1346149"/>
                </a:lnTo>
                <a:lnTo>
                  <a:pt x="2558758" y="1325422"/>
                </a:lnTo>
                <a:lnTo>
                  <a:pt x="2602115" y="1308760"/>
                </a:lnTo>
                <a:lnTo>
                  <a:pt x="2648077" y="1296479"/>
                </a:lnTo>
                <a:lnTo>
                  <a:pt x="2696248" y="1288872"/>
                </a:lnTo>
                <a:lnTo>
                  <a:pt x="2746248" y="1286256"/>
                </a:lnTo>
                <a:lnTo>
                  <a:pt x="2746248" y="1287780"/>
                </a:lnTo>
                <a:lnTo>
                  <a:pt x="4534154" y="1287780"/>
                </a:lnTo>
                <a:lnTo>
                  <a:pt x="4534027" y="1290828"/>
                </a:lnTo>
                <a:lnTo>
                  <a:pt x="4586630" y="1289380"/>
                </a:lnTo>
                <a:lnTo>
                  <a:pt x="4637951" y="1285062"/>
                </a:lnTo>
                <a:lnTo>
                  <a:pt x="4687913" y="1277975"/>
                </a:lnTo>
                <a:lnTo>
                  <a:pt x="4736401" y="1268209"/>
                </a:lnTo>
                <a:lnTo>
                  <a:pt x="4783353" y="1255852"/>
                </a:lnTo>
                <a:lnTo>
                  <a:pt x="4828654" y="1240993"/>
                </a:lnTo>
                <a:lnTo>
                  <a:pt x="4872240" y="1223721"/>
                </a:lnTo>
                <a:lnTo>
                  <a:pt x="4913985" y="1204137"/>
                </a:lnTo>
                <a:lnTo>
                  <a:pt x="4953838" y="1182306"/>
                </a:lnTo>
                <a:lnTo>
                  <a:pt x="4991671" y="1158341"/>
                </a:lnTo>
                <a:lnTo>
                  <a:pt x="5027422" y="1132319"/>
                </a:lnTo>
                <a:lnTo>
                  <a:pt x="5060988" y="1104341"/>
                </a:lnTo>
                <a:lnTo>
                  <a:pt x="5092281" y="1074470"/>
                </a:lnTo>
                <a:lnTo>
                  <a:pt x="5121211" y="1042822"/>
                </a:lnTo>
                <a:lnTo>
                  <a:pt x="5147691" y="1009472"/>
                </a:lnTo>
                <a:lnTo>
                  <a:pt x="5171618" y="974521"/>
                </a:lnTo>
                <a:lnTo>
                  <a:pt x="5192915" y="938047"/>
                </a:lnTo>
                <a:lnTo>
                  <a:pt x="5211483" y="900137"/>
                </a:lnTo>
                <a:lnTo>
                  <a:pt x="5227231" y="860894"/>
                </a:lnTo>
                <a:lnTo>
                  <a:pt x="5240083" y="820407"/>
                </a:lnTo>
                <a:lnTo>
                  <a:pt x="5249926" y="778751"/>
                </a:lnTo>
                <a:lnTo>
                  <a:pt x="5256695" y="736015"/>
                </a:lnTo>
                <a:lnTo>
                  <a:pt x="5260276" y="692315"/>
                </a:lnTo>
                <a:lnTo>
                  <a:pt x="5260594" y="647700"/>
                </a:lnTo>
                <a:lnTo>
                  <a:pt x="5257685" y="603097"/>
                </a:lnTo>
                <a:lnTo>
                  <a:pt x="5251729" y="559333"/>
                </a:lnTo>
                <a:lnTo>
                  <a:pt x="5242801" y="516509"/>
                </a:lnTo>
                <a:lnTo>
                  <a:pt x="5230990" y="474713"/>
                </a:lnTo>
                <a:lnTo>
                  <a:pt x="5216372" y="434047"/>
                </a:lnTo>
                <a:lnTo>
                  <a:pt x="5199024" y="394614"/>
                </a:lnTo>
                <a:lnTo>
                  <a:pt x="5179022" y="356476"/>
                </a:lnTo>
                <a:lnTo>
                  <a:pt x="5156454" y="319760"/>
                </a:lnTo>
                <a:lnTo>
                  <a:pt x="5131409" y="284543"/>
                </a:lnTo>
                <a:lnTo>
                  <a:pt x="5103952" y="250926"/>
                </a:lnTo>
                <a:lnTo>
                  <a:pt x="5074183" y="218986"/>
                </a:lnTo>
                <a:lnTo>
                  <a:pt x="5042166" y="188836"/>
                </a:lnTo>
                <a:lnTo>
                  <a:pt x="5007991" y="160566"/>
                </a:lnTo>
                <a:lnTo>
                  <a:pt x="4971732" y="134251"/>
                </a:lnTo>
                <a:lnTo>
                  <a:pt x="4933467" y="110007"/>
                </a:lnTo>
                <a:lnTo>
                  <a:pt x="4893297" y="87922"/>
                </a:lnTo>
                <a:lnTo>
                  <a:pt x="4851285" y="68072"/>
                </a:lnTo>
                <a:lnTo>
                  <a:pt x="4807509" y="50584"/>
                </a:lnTo>
                <a:lnTo>
                  <a:pt x="4762068" y="35509"/>
                </a:lnTo>
                <a:lnTo>
                  <a:pt x="4715027" y="22987"/>
                </a:lnTo>
                <a:lnTo>
                  <a:pt x="4666475" y="13068"/>
                </a:lnTo>
                <a:lnTo>
                  <a:pt x="4616501" y="5880"/>
                </a:lnTo>
                <a:lnTo>
                  <a:pt x="4565167" y="1485"/>
                </a:lnTo>
                <a:lnTo>
                  <a:pt x="4527804" y="431"/>
                </a:lnTo>
                <a:lnTo>
                  <a:pt x="4527804" y="0"/>
                </a:lnTo>
                <a:lnTo>
                  <a:pt x="4512564" y="0"/>
                </a:lnTo>
                <a:lnTo>
                  <a:pt x="0" y="0"/>
                </a:lnTo>
                <a:lnTo>
                  <a:pt x="0" y="335280"/>
                </a:lnTo>
                <a:lnTo>
                  <a:pt x="4512564" y="335280"/>
                </a:lnTo>
                <a:lnTo>
                  <a:pt x="4512564" y="335788"/>
                </a:lnTo>
                <a:lnTo>
                  <a:pt x="4566742" y="338378"/>
                </a:lnTo>
                <a:lnTo>
                  <a:pt x="4618748" y="345973"/>
                </a:lnTo>
                <a:lnTo>
                  <a:pt x="4668075" y="358330"/>
                </a:lnTo>
                <a:lnTo>
                  <a:pt x="4714265" y="375234"/>
                </a:lnTo>
                <a:lnTo>
                  <a:pt x="4756810" y="396430"/>
                </a:lnTo>
                <a:lnTo>
                  <a:pt x="4795266" y="421690"/>
                </a:lnTo>
                <a:lnTo>
                  <a:pt x="4829111" y="450786"/>
                </a:lnTo>
                <a:lnTo>
                  <a:pt x="4857889" y="483476"/>
                </a:lnTo>
                <a:lnTo>
                  <a:pt x="4881105" y="519518"/>
                </a:lnTo>
                <a:lnTo>
                  <a:pt x="4898288" y="558673"/>
                </a:lnTo>
                <a:lnTo>
                  <a:pt x="4908943" y="600722"/>
                </a:lnTo>
                <a:lnTo>
                  <a:pt x="4912614" y="645414"/>
                </a:lnTo>
                <a:lnTo>
                  <a:pt x="4909413" y="690562"/>
                </a:lnTo>
                <a:lnTo>
                  <a:pt x="4900053" y="733793"/>
                </a:lnTo>
                <a:lnTo>
                  <a:pt x="4884839" y="774712"/>
                </a:lnTo>
                <a:lnTo>
                  <a:pt x="4864074" y="812952"/>
                </a:lnTo>
                <a:lnTo>
                  <a:pt x="4838090" y="848131"/>
                </a:lnTo>
                <a:lnTo>
                  <a:pt x="4807204" y="879868"/>
                </a:lnTo>
                <a:lnTo>
                  <a:pt x="4771707" y="907757"/>
                </a:lnTo>
                <a:lnTo>
                  <a:pt x="4731944" y="931443"/>
                </a:lnTo>
                <a:lnTo>
                  <a:pt x="4688217" y="950531"/>
                </a:lnTo>
                <a:lnTo>
                  <a:pt x="4640846" y="964641"/>
                </a:lnTo>
                <a:lnTo>
                  <a:pt x="4590148" y="973378"/>
                </a:lnTo>
                <a:lnTo>
                  <a:pt x="4543044" y="976007"/>
                </a:lnTo>
                <a:lnTo>
                  <a:pt x="4543044" y="975360"/>
                </a:lnTo>
                <a:lnTo>
                  <a:pt x="2746248" y="975360"/>
                </a:lnTo>
                <a:lnTo>
                  <a:pt x="2746248" y="973836"/>
                </a:lnTo>
                <a:lnTo>
                  <a:pt x="2693581" y="975334"/>
                </a:lnTo>
                <a:lnTo>
                  <a:pt x="2641828" y="979728"/>
                </a:lnTo>
                <a:lnTo>
                  <a:pt x="2591104" y="986955"/>
                </a:lnTo>
                <a:lnTo>
                  <a:pt x="2541549" y="996886"/>
                </a:lnTo>
                <a:lnTo>
                  <a:pt x="2493251" y="1009459"/>
                </a:lnTo>
                <a:lnTo>
                  <a:pt x="2446350" y="1024547"/>
                </a:lnTo>
                <a:lnTo>
                  <a:pt x="2400947" y="1042085"/>
                </a:lnTo>
                <a:lnTo>
                  <a:pt x="2357170" y="1061948"/>
                </a:lnTo>
                <a:lnTo>
                  <a:pt x="2315133" y="1084072"/>
                </a:lnTo>
                <a:lnTo>
                  <a:pt x="2274951" y="1108329"/>
                </a:lnTo>
                <a:lnTo>
                  <a:pt x="2236762" y="1134643"/>
                </a:lnTo>
                <a:lnTo>
                  <a:pt x="2200656" y="1162913"/>
                </a:lnTo>
                <a:lnTo>
                  <a:pt x="2166759" y="1193050"/>
                </a:lnTo>
                <a:lnTo>
                  <a:pt x="2135187" y="1224940"/>
                </a:lnTo>
                <a:lnTo>
                  <a:pt x="2106066" y="1258519"/>
                </a:lnTo>
                <a:lnTo>
                  <a:pt x="2079523" y="1293660"/>
                </a:lnTo>
                <a:lnTo>
                  <a:pt x="2055647" y="1330274"/>
                </a:lnTo>
                <a:lnTo>
                  <a:pt x="2034578" y="1368285"/>
                </a:lnTo>
                <a:lnTo>
                  <a:pt x="2016429" y="1407579"/>
                </a:lnTo>
                <a:lnTo>
                  <a:pt x="2001316" y="1448066"/>
                </a:lnTo>
                <a:lnTo>
                  <a:pt x="1989353" y="1489646"/>
                </a:lnTo>
                <a:lnTo>
                  <a:pt x="1980666" y="1532229"/>
                </a:lnTo>
                <a:lnTo>
                  <a:pt x="1975370" y="1575714"/>
                </a:lnTo>
                <a:lnTo>
                  <a:pt x="1973580" y="1620012"/>
                </a:lnTo>
                <a:lnTo>
                  <a:pt x="1975370" y="1664322"/>
                </a:lnTo>
                <a:lnTo>
                  <a:pt x="1980666" y="1707807"/>
                </a:lnTo>
                <a:lnTo>
                  <a:pt x="1989353" y="1750390"/>
                </a:lnTo>
                <a:lnTo>
                  <a:pt x="2001316" y="1791970"/>
                </a:lnTo>
                <a:lnTo>
                  <a:pt x="2016429" y="1832457"/>
                </a:lnTo>
                <a:lnTo>
                  <a:pt x="2034578" y="1871751"/>
                </a:lnTo>
                <a:lnTo>
                  <a:pt x="2055647" y="1909762"/>
                </a:lnTo>
                <a:lnTo>
                  <a:pt x="2079523" y="1946376"/>
                </a:lnTo>
                <a:lnTo>
                  <a:pt x="2106066" y="1981517"/>
                </a:lnTo>
                <a:lnTo>
                  <a:pt x="2135187" y="2015096"/>
                </a:lnTo>
                <a:lnTo>
                  <a:pt x="2166759" y="2046986"/>
                </a:lnTo>
                <a:lnTo>
                  <a:pt x="2200656" y="2077123"/>
                </a:lnTo>
                <a:lnTo>
                  <a:pt x="2236762" y="2105393"/>
                </a:lnTo>
                <a:lnTo>
                  <a:pt x="2274951" y="2131707"/>
                </a:lnTo>
                <a:lnTo>
                  <a:pt x="2315133" y="2155964"/>
                </a:lnTo>
                <a:lnTo>
                  <a:pt x="2357170" y="2178088"/>
                </a:lnTo>
                <a:lnTo>
                  <a:pt x="2400947" y="2197951"/>
                </a:lnTo>
                <a:lnTo>
                  <a:pt x="2446350" y="2215489"/>
                </a:lnTo>
                <a:lnTo>
                  <a:pt x="2493251" y="2230577"/>
                </a:lnTo>
                <a:lnTo>
                  <a:pt x="2541549" y="2243150"/>
                </a:lnTo>
                <a:lnTo>
                  <a:pt x="2591104" y="2253081"/>
                </a:lnTo>
                <a:lnTo>
                  <a:pt x="2641828" y="2260308"/>
                </a:lnTo>
                <a:lnTo>
                  <a:pt x="2693581" y="2264702"/>
                </a:lnTo>
                <a:lnTo>
                  <a:pt x="2746248" y="2266188"/>
                </a:lnTo>
                <a:lnTo>
                  <a:pt x="5538216" y="2266188"/>
                </a:lnTo>
                <a:lnTo>
                  <a:pt x="5538216" y="2271649"/>
                </a:lnTo>
                <a:lnTo>
                  <a:pt x="5588203" y="2274265"/>
                </a:lnTo>
                <a:lnTo>
                  <a:pt x="5636374" y="2281872"/>
                </a:lnTo>
                <a:lnTo>
                  <a:pt x="5682335" y="2294178"/>
                </a:lnTo>
                <a:lnTo>
                  <a:pt x="5725693" y="2310879"/>
                </a:lnTo>
                <a:lnTo>
                  <a:pt x="5766105" y="2331656"/>
                </a:lnTo>
                <a:lnTo>
                  <a:pt x="5803163" y="2356205"/>
                </a:lnTo>
                <a:lnTo>
                  <a:pt x="5836513" y="2384209"/>
                </a:lnTo>
                <a:lnTo>
                  <a:pt x="5865761" y="2415362"/>
                </a:lnTo>
                <a:lnTo>
                  <a:pt x="5890526" y="2449360"/>
                </a:lnTo>
                <a:lnTo>
                  <a:pt x="5910453" y="2485885"/>
                </a:lnTo>
                <a:lnTo>
                  <a:pt x="5925159" y="2524645"/>
                </a:lnTo>
                <a:lnTo>
                  <a:pt x="5934253" y="2565298"/>
                </a:lnTo>
                <a:lnTo>
                  <a:pt x="5937377" y="2607564"/>
                </a:lnTo>
                <a:lnTo>
                  <a:pt x="5934253" y="2649372"/>
                </a:lnTo>
                <a:lnTo>
                  <a:pt x="5925159" y="2689644"/>
                </a:lnTo>
                <a:lnTo>
                  <a:pt x="5910453" y="2728074"/>
                </a:lnTo>
                <a:lnTo>
                  <a:pt x="5890526" y="2764332"/>
                </a:lnTo>
                <a:lnTo>
                  <a:pt x="5865761" y="2798114"/>
                </a:lnTo>
                <a:lnTo>
                  <a:pt x="5836513" y="2829102"/>
                </a:lnTo>
                <a:lnTo>
                  <a:pt x="5803163" y="2856992"/>
                </a:lnTo>
                <a:lnTo>
                  <a:pt x="5766105" y="2881439"/>
                </a:lnTo>
                <a:lnTo>
                  <a:pt x="5725693" y="2902166"/>
                </a:lnTo>
                <a:lnTo>
                  <a:pt x="5682335" y="2918828"/>
                </a:lnTo>
                <a:lnTo>
                  <a:pt x="5636374" y="2931109"/>
                </a:lnTo>
                <a:lnTo>
                  <a:pt x="5588203" y="2938716"/>
                </a:lnTo>
                <a:lnTo>
                  <a:pt x="5538216" y="2941320"/>
                </a:lnTo>
                <a:lnTo>
                  <a:pt x="5538216" y="2939796"/>
                </a:lnTo>
                <a:lnTo>
                  <a:pt x="2359152" y="2939796"/>
                </a:lnTo>
                <a:lnTo>
                  <a:pt x="2306485" y="2941294"/>
                </a:lnTo>
                <a:lnTo>
                  <a:pt x="2254732" y="2945688"/>
                </a:lnTo>
                <a:lnTo>
                  <a:pt x="2204008" y="2952915"/>
                </a:lnTo>
                <a:lnTo>
                  <a:pt x="2154453" y="2962846"/>
                </a:lnTo>
                <a:lnTo>
                  <a:pt x="2106155" y="2975419"/>
                </a:lnTo>
                <a:lnTo>
                  <a:pt x="2059254" y="2990507"/>
                </a:lnTo>
                <a:lnTo>
                  <a:pt x="2013851" y="3008045"/>
                </a:lnTo>
                <a:lnTo>
                  <a:pt x="1970074" y="3027908"/>
                </a:lnTo>
                <a:lnTo>
                  <a:pt x="1928037" y="3050032"/>
                </a:lnTo>
                <a:lnTo>
                  <a:pt x="1887855" y="3074289"/>
                </a:lnTo>
                <a:lnTo>
                  <a:pt x="1849666" y="3100603"/>
                </a:lnTo>
                <a:lnTo>
                  <a:pt x="1813560" y="3128873"/>
                </a:lnTo>
                <a:lnTo>
                  <a:pt x="1779663" y="3159010"/>
                </a:lnTo>
                <a:lnTo>
                  <a:pt x="1748091" y="3190900"/>
                </a:lnTo>
                <a:lnTo>
                  <a:pt x="1718970" y="3224479"/>
                </a:lnTo>
                <a:lnTo>
                  <a:pt x="1692427" y="3259620"/>
                </a:lnTo>
                <a:lnTo>
                  <a:pt x="1668551" y="3296234"/>
                </a:lnTo>
                <a:lnTo>
                  <a:pt x="1647482" y="3334245"/>
                </a:lnTo>
                <a:lnTo>
                  <a:pt x="1629333" y="3373539"/>
                </a:lnTo>
                <a:lnTo>
                  <a:pt x="1614220" y="3414026"/>
                </a:lnTo>
                <a:lnTo>
                  <a:pt x="1602257" y="3455606"/>
                </a:lnTo>
                <a:lnTo>
                  <a:pt x="1593570" y="3498189"/>
                </a:lnTo>
                <a:lnTo>
                  <a:pt x="1588274" y="3541674"/>
                </a:lnTo>
                <a:lnTo>
                  <a:pt x="1586484" y="3585972"/>
                </a:lnTo>
                <a:lnTo>
                  <a:pt x="1588274" y="3630282"/>
                </a:lnTo>
                <a:lnTo>
                  <a:pt x="1593570" y="3673767"/>
                </a:lnTo>
                <a:lnTo>
                  <a:pt x="1602257" y="3716350"/>
                </a:lnTo>
                <a:lnTo>
                  <a:pt x="1614220" y="3757930"/>
                </a:lnTo>
                <a:lnTo>
                  <a:pt x="1629333" y="3798417"/>
                </a:lnTo>
                <a:lnTo>
                  <a:pt x="1647482" y="3837711"/>
                </a:lnTo>
                <a:lnTo>
                  <a:pt x="1668551" y="3875722"/>
                </a:lnTo>
                <a:lnTo>
                  <a:pt x="1692427" y="3912336"/>
                </a:lnTo>
                <a:lnTo>
                  <a:pt x="1718970" y="3947477"/>
                </a:lnTo>
                <a:lnTo>
                  <a:pt x="1748091" y="3981056"/>
                </a:lnTo>
                <a:lnTo>
                  <a:pt x="1779663" y="4012946"/>
                </a:lnTo>
                <a:lnTo>
                  <a:pt x="1813560" y="4043083"/>
                </a:lnTo>
                <a:lnTo>
                  <a:pt x="1849666" y="4071353"/>
                </a:lnTo>
                <a:lnTo>
                  <a:pt x="1887855" y="4097667"/>
                </a:lnTo>
                <a:lnTo>
                  <a:pt x="1928037" y="4121924"/>
                </a:lnTo>
                <a:lnTo>
                  <a:pt x="1970074" y="4144048"/>
                </a:lnTo>
                <a:lnTo>
                  <a:pt x="2013851" y="4163911"/>
                </a:lnTo>
                <a:lnTo>
                  <a:pt x="2059254" y="4181449"/>
                </a:lnTo>
                <a:lnTo>
                  <a:pt x="2106155" y="4196537"/>
                </a:lnTo>
                <a:lnTo>
                  <a:pt x="2154453" y="4209110"/>
                </a:lnTo>
                <a:lnTo>
                  <a:pt x="2204008" y="4219041"/>
                </a:lnTo>
                <a:lnTo>
                  <a:pt x="2254732" y="4226268"/>
                </a:lnTo>
                <a:lnTo>
                  <a:pt x="2306485" y="4230662"/>
                </a:lnTo>
                <a:lnTo>
                  <a:pt x="2359152" y="4232148"/>
                </a:lnTo>
                <a:lnTo>
                  <a:pt x="2359152" y="3919728"/>
                </a:lnTo>
                <a:lnTo>
                  <a:pt x="2309152" y="3917162"/>
                </a:lnTo>
                <a:lnTo>
                  <a:pt x="2260981" y="3909657"/>
                </a:lnTo>
                <a:lnTo>
                  <a:pt x="2215019" y="3897490"/>
                </a:lnTo>
                <a:lnTo>
                  <a:pt x="2171662" y="3880993"/>
                </a:lnTo>
                <a:lnTo>
                  <a:pt x="2131250" y="3860444"/>
                </a:lnTo>
                <a:lnTo>
                  <a:pt x="2094191" y="3836136"/>
                </a:lnTo>
                <a:lnTo>
                  <a:pt x="2060841" y="3808387"/>
                </a:lnTo>
                <a:lnTo>
                  <a:pt x="2031593" y="3777475"/>
                </a:lnTo>
                <a:lnTo>
                  <a:pt x="2006828" y="3743693"/>
                </a:lnTo>
                <a:lnTo>
                  <a:pt x="1986902" y="3707371"/>
                </a:lnTo>
                <a:lnTo>
                  <a:pt x="1972195" y="3668776"/>
                </a:lnTo>
                <a:lnTo>
                  <a:pt x="1963102" y="3628212"/>
                </a:lnTo>
                <a:lnTo>
                  <a:pt x="1959991" y="3585972"/>
                </a:lnTo>
                <a:lnTo>
                  <a:pt x="1963102" y="3544176"/>
                </a:lnTo>
                <a:lnTo>
                  <a:pt x="1972195" y="3503904"/>
                </a:lnTo>
                <a:lnTo>
                  <a:pt x="1986902" y="3465474"/>
                </a:lnTo>
                <a:lnTo>
                  <a:pt x="2006828" y="3429216"/>
                </a:lnTo>
                <a:lnTo>
                  <a:pt x="2031593" y="3395434"/>
                </a:lnTo>
                <a:lnTo>
                  <a:pt x="2060841" y="3364446"/>
                </a:lnTo>
                <a:lnTo>
                  <a:pt x="2094191" y="3336556"/>
                </a:lnTo>
                <a:lnTo>
                  <a:pt x="2131250" y="3312109"/>
                </a:lnTo>
                <a:lnTo>
                  <a:pt x="2171662" y="3291382"/>
                </a:lnTo>
                <a:lnTo>
                  <a:pt x="2215019" y="3274720"/>
                </a:lnTo>
                <a:lnTo>
                  <a:pt x="2260981" y="3262439"/>
                </a:lnTo>
                <a:lnTo>
                  <a:pt x="2309152" y="3254832"/>
                </a:lnTo>
                <a:lnTo>
                  <a:pt x="2359152" y="3252216"/>
                </a:lnTo>
                <a:lnTo>
                  <a:pt x="5538216" y="3252216"/>
                </a:lnTo>
                <a:lnTo>
                  <a:pt x="5538216" y="3253740"/>
                </a:lnTo>
                <a:lnTo>
                  <a:pt x="5591162" y="3252241"/>
                </a:lnTo>
                <a:lnTo>
                  <a:pt x="5643156" y="3247821"/>
                </a:lnTo>
                <a:lnTo>
                  <a:pt x="5694070" y="3240544"/>
                </a:lnTo>
                <a:lnTo>
                  <a:pt x="5743791" y="3230549"/>
                </a:lnTo>
                <a:lnTo>
                  <a:pt x="5792190" y="3217913"/>
                </a:lnTo>
                <a:lnTo>
                  <a:pt x="5839180" y="3202736"/>
                </a:lnTo>
                <a:lnTo>
                  <a:pt x="5884621" y="3185122"/>
                </a:lnTo>
                <a:lnTo>
                  <a:pt x="5928411" y="3165157"/>
                </a:lnTo>
                <a:lnTo>
                  <a:pt x="5970435" y="3142958"/>
                </a:lnTo>
                <a:lnTo>
                  <a:pt x="6010580" y="3118599"/>
                </a:lnTo>
                <a:lnTo>
                  <a:pt x="6048718" y="3092208"/>
                </a:lnTo>
                <a:lnTo>
                  <a:pt x="6084748" y="3063862"/>
                </a:lnTo>
                <a:lnTo>
                  <a:pt x="6118568" y="3033674"/>
                </a:lnTo>
                <a:lnTo>
                  <a:pt x="6150038" y="3001721"/>
                </a:lnTo>
                <a:lnTo>
                  <a:pt x="6179045" y="2968129"/>
                </a:lnTo>
                <a:lnTo>
                  <a:pt x="6205499" y="2932976"/>
                </a:lnTo>
                <a:lnTo>
                  <a:pt x="6229261" y="2896362"/>
                </a:lnTo>
                <a:lnTo>
                  <a:pt x="6250229" y="2858389"/>
                </a:lnTo>
                <a:lnTo>
                  <a:pt x="6268288" y="2819158"/>
                </a:lnTo>
                <a:lnTo>
                  <a:pt x="6283312" y="2778772"/>
                </a:lnTo>
                <a:lnTo>
                  <a:pt x="6295199" y="2737320"/>
                </a:lnTo>
                <a:lnTo>
                  <a:pt x="6303835" y="2694902"/>
                </a:lnTo>
                <a:lnTo>
                  <a:pt x="6309093" y="2651620"/>
                </a:lnTo>
                <a:lnTo>
                  <a:pt x="6310884" y="260756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36D933B4-EAD6-F1ED-49DB-5C00A83850DD}"/>
              </a:ext>
            </a:extLst>
          </p:cNvPr>
          <p:cNvSpPr/>
          <p:nvPr/>
        </p:nvSpPr>
        <p:spPr>
          <a:xfrm>
            <a:off x="2330195" y="5521452"/>
            <a:ext cx="9862185" cy="314325"/>
          </a:xfrm>
          <a:custGeom>
            <a:avLst/>
            <a:gdLst/>
            <a:ahLst/>
            <a:cxnLst/>
            <a:rect l="l" t="t" r="r" b="b"/>
            <a:pathLst>
              <a:path w="9862185" h="314325">
                <a:moveTo>
                  <a:pt x="9861804" y="0"/>
                </a:moveTo>
                <a:lnTo>
                  <a:pt x="0" y="0"/>
                </a:lnTo>
                <a:lnTo>
                  <a:pt x="0" y="313944"/>
                </a:lnTo>
                <a:lnTo>
                  <a:pt x="9861804" y="313944"/>
                </a:lnTo>
                <a:lnTo>
                  <a:pt x="9861804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1CA9C80-0DCA-A569-F80B-2A72679C4789}"/>
              </a:ext>
            </a:extLst>
          </p:cNvPr>
          <p:cNvSpPr/>
          <p:nvPr/>
        </p:nvSpPr>
        <p:spPr>
          <a:xfrm>
            <a:off x="6271037" y="5677523"/>
            <a:ext cx="5794128" cy="13970"/>
          </a:xfrm>
          <a:custGeom>
            <a:avLst/>
            <a:gdLst/>
            <a:ahLst/>
            <a:cxnLst/>
            <a:rect l="l" t="t" r="r" b="b"/>
            <a:pathLst>
              <a:path w="4788534" h="13970">
                <a:moveTo>
                  <a:pt x="0" y="0"/>
                </a:moveTo>
                <a:lnTo>
                  <a:pt x="109600" y="0"/>
                </a:lnTo>
              </a:path>
              <a:path w="4788534" h="13970">
                <a:moveTo>
                  <a:pt x="259079" y="0"/>
                </a:moveTo>
                <a:lnTo>
                  <a:pt x="368680" y="0"/>
                </a:lnTo>
              </a:path>
              <a:path w="4788534" h="13970">
                <a:moveTo>
                  <a:pt x="490727" y="0"/>
                </a:moveTo>
                <a:lnTo>
                  <a:pt x="600328" y="0"/>
                </a:lnTo>
              </a:path>
              <a:path w="4788534" h="13970">
                <a:moveTo>
                  <a:pt x="749807" y="0"/>
                </a:moveTo>
                <a:lnTo>
                  <a:pt x="859408" y="0"/>
                </a:lnTo>
              </a:path>
              <a:path w="4788534" h="13970">
                <a:moveTo>
                  <a:pt x="1007363" y="0"/>
                </a:moveTo>
                <a:lnTo>
                  <a:pt x="1116964" y="0"/>
                </a:lnTo>
              </a:path>
              <a:path w="4788534" h="13970">
                <a:moveTo>
                  <a:pt x="1266444" y="0"/>
                </a:moveTo>
                <a:lnTo>
                  <a:pt x="1376045" y="0"/>
                </a:lnTo>
              </a:path>
              <a:path w="4788534" h="13970">
                <a:moveTo>
                  <a:pt x="1502663" y="0"/>
                </a:moveTo>
                <a:lnTo>
                  <a:pt x="1612264" y="0"/>
                </a:lnTo>
              </a:path>
              <a:path w="4788534" h="13970">
                <a:moveTo>
                  <a:pt x="2093976" y="0"/>
                </a:moveTo>
                <a:lnTo>
                  <a:pt x="2203577" y="0"/>
                </a:lnTo>
              </a:path>
              <a:path w="4788534" h="13970">
                <a:moveTo>
                  <a:pt x="2353055" y="0"/>
                </a:moveTo>
                <a:lnTo>
                  <a:pt x="2462656" y="0"/>
                </a:lnTo>
              </a:path>
              <a:path w="4788534" h="13970">
                <a:moveTo>
                  <a:pt x="2569463" y="0"/>
                </a:moveTo>
                <a:lnTo>
                  <a:pt x="2679064" y="0"/>
                </a:lnTo>
              </a:path>
              <a:path w="4788534" h="13970">
                <a:moveTo>
                  <a:pt x="2828544" y="0"/>
                </a:moveTo>
                <a:lnTo>
                  <a:pt x="2938145" y="0"/>
                </a:lnTo>
              </a:path>
              <a:path w="4788534" h="13970">
                <a:moveTo>
                  <a:pt x="3061715" y="0"/>
                </a:moveTo>
                <a:lnTo>
                  <a:pt x="3171316" y="0"/>
                </a:lnTo>
              </a:path>
              <a:path w="4788534" h="13970">
                <a:moveTo>
                  <a:pt x="3320796" y="0"/>
                </a:moveTo>
                <a:lnTo>
                  <a:pt x="3430397" y="0"/>
                </a:lnTo>
              </a:path>
              <a:path w="4788534" h="13970">
                <a:moveTo>
                  <a:pt x="3523487" y="0"/>
                </a:moveTo>
                <a:lnTo>
                  <a:pt x="3633088" y="0"/>
                </a:lnTo>
              </a:path>
              <a:path w="4788534" h="13970">
                <a:moveTo>
                  <a:pt x="3782568" y="0"/>
                </a:moveTo>
                <a:lnTo>
                  <a:pt x="3892169" y="0"/>
                </a:lnTo>
              </a:path>
              <a:path w="4788534" h="13970">
                <a:moveTo>
                  <a:pt x="3982211" y="0"/>
                </a:moveTo>
                <a:lnTo>
                  <a:pt x="4091812" y="0"/>
                </a:lnTo>
              </a:path>
              <a:path w="4788534" h="13970">
                <a:moveTo>
                  <a:pt x="4241291" y="0"/>
                </a:moveTo>
                <a:lnTo>
                  <a:pt x="4350893" y="0"/>
                </a:lnTo>
              </a:path>
              <a:path w="4788534" h="13970">
                <a:moveTo>
                  <a:pt x="4419600" y="0"/>
                </a:moveTo>
                <a:lnTo>
                  <a:pt x="4529201" y="0"/>
                </a:lnTo>
              </a:path>
              <a:path w="4788534" h="13970">
                <a:moveTo>
                  <a:pt x="4678680" y="0"/>
                </a:moveTo>
                <a:lnTo>
                  <a:pt x="4788281" y="0"/>
                </a:lnTo>
              </a:path>
              <a:path w="4788534" h="13970">
                <a:moveTo>
                  <a:pt x="1819655" y="13715"/>
                </a:moveTo>
                <a:lnTo>
                  <a:pt x="1929256" y="13715"/>
                </a:lnTo>
              </a:path>
            </a:pathLst>
          </a:custGeom>
          <a:solidFill>
            <a:schemeClr val="bg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4C90ACC3-EC5B-0EC5-4649-5DC4D58DC502}"/>
              </a:ext>
            </a:extLst>
          </p:cNvPr>
          <p:cNvSpPr/>
          <p:nvPr/>
        </p:nvSpPr>
        <p:spPr>
          <a:xfrm>
            <a:off x="1588008" y="1738884"/>
            <a:ext cx="4577080" cy="3944620"/>
          </a:xfrm>
          <a:custGeom>
            <a:avLst/>
            <a:gdLst/>
            <a:ahLst/>
            <a:cxnLst/>
            <a:rect l="l" t="t" r="r" b="b"/>
            <a:pathLst>
              <a:path w="4577080" h="3944620">
                <a:moveTo>
                  <a:pt x="4576571" y="3926992"/>
                </a:moveTo>
                <a:lnTo>
                  <a:pt x="4453636" y="3926992"/>
                </a:lnTo>
                <a:lnTo>
                  <a:pt x="4453636" y="3944112"/>
                </a:lnTo>
                <a:lnTo>
                  <a:pt x="4576571" y="3944112"/>
                </a:lnTo>
                <a:lnTo>
                  <a:pt x="4576571" y="3926992"/>
                </a:lnTo>
                <a:close/>
              </a:path>
              <a:path w="4577080" h="3944620">
                <a:moveTo>
                  <a:pt x="4330572" y="3926992"/>
                </a:moveTo>
                <a:lnTo>
                  <a:pt x="4207637" y="3926992"/>
                </a:lnTo>
                <a:lnTo>
                  <a:pt x="4207637" y="3944112"/>
                </a:lnTo>
                <a:lnTo>
                  <a:pt x="4330572" y="3944112"/>
                </a:lnTo>
                <a:lnTo>
                  <a:pt x="4330572" y="3926992"/>
                </a:lnTo>
                <a:close/>
              </a:path>
              <a:path w="4577080" h="3944620">
                <a:moveTo>
                  <a:pt x="4084574" y="3926992"/>
                </a:moveTo>
                <a:lnTo>
                  <a:pt x="3961638" y="3926992"/>
                </a:lnTo>
                <a:lnTo>
                  <a:pt x="3961638" y="3944112"/>
                </a:lnTo>
                <a:lnTo>
                  <a:pt x="4084574" y="3944112"/>
                </a:lnTo>
                <a:lnTo>
                  <a:pt x="4084574" y="3926992"/>
                </a:lnTo>
                <a:close/>
              </a:path>
              <a:path w="4577080" h="3944620">
                <a:moveTo>
                  <a:pt x="3838575" y="3926992"/>
                </a:moveTo>
                <a:lnTo>
                  <a:pt x="3712971" y="3926992"/>
                </a:lnTo>
                <a:lnTo>
                  <a:pt x="3712971" y="3944112"/>
                </a:lnTo>
                <a:lnTo>
                  <a:pt x="3838575" y="3944112"/>
                </a:lnTo>
                <a:lnTo>
                  <a:pt x="3838575" y="3926992"/>
                </a:lnTo>
                <a:close/>
              </a:path>
              <a:path w="4577080" h="3944620">
                <a:moveTo>
                  <a:pt x="3590036" y="3926992"/>
                </a:moveTo>
                <a:lnTo>
                  <a:pt x="3466972" y="3926992"/>
                </a:lnTo>
                <a:lnTo>
                  <a:pt x="3466972" y="3944112"/>
                </a:lnTo>
                <a:lnTo>
                  <a:pt x="3590036" y="3944112"/>
                </a:lnTo>
                <a:lnTo>
                  <a:pt x="3590036" y="3926992"/>
                </a:lnTo>
                <a:close/>
              </a:path>
              <a:path w="4577080" h="3944620">
                <a:moveTo>
                  <a:pt x="3344037" y="3926992"/>
                </a:moveTo>
                <a:lnTo>
                  <a:pt x="3220974" y="3926992"/>
                </a:lnTo>
                <a:lnTo>
                  <a:pt x="3220974" y="3944112"/>
                </a:lnTo>
                <a:lnTo>
                  <a:pt x="3344037" y="3944112"/>
                </a:lnTo>
                <a:lnTo>
                  <a:pt x="3344037" y="3926992"/>
                </a:lnTo>
                <a:close/>
              </a:path>
              <a:path w="4577080" h="3944620">
                <a:moveTo>
                  <a:pt x="3098038" y="3926992"/>
                </a:moveTo>
                <a:lnTo>
                  <a:pt x="2974975" y="3926992"/>
                </a:lnTo>
                <a:lnTo>
                  <a:pt x="2974975" y="3944112"/>
                </a:lnTo>
                <a:lnTo>
                  <a:pt x="3098038" y="3944112"/>
                </a:lnTo>
                <a:lnTo>
                  <a:pt x="3098038" y="3926992"/>
                </a:lnTo>
                <a:close/>
              </a:path>
              <a:path w="4577080" h="3944620">
                <a:moveTo>
                  <a:pt x="2852039" y="3926992"/>
                </a:moveTo>
                <a:lnTo>
                  <a:pt x="2728976" y="3926992"/>
                </a:lnTo>
                <a:lnTo>
                  <a:pt x="2728976" y="3944112"/>
                </a:lnTo>
                <a:lnTo>
                  <a:pt x="2852039" y="3944112"/>
                </a:lnTo>
                <a:lnTo>
                  <a:pt x="2852039" y="3926992"/>
                </a:lnTo>
                <a:close/>
              </a:path>
              <a:path w="4577080" h="3944620">
                <a:moveTo>
                  <a:pt x="2606040" y="3926992"/>
                </a:moveTo>
                <a:lnTo>
                  <a:pt x="2482977" y="3926992"/>
                </a:lnTo>
                <a:lnTo>
                  <a:pt x="2482977" y="3944112"/>
                </a:lnTo>
                <a:lnTo>
                  <a:pt x="2606040" y="3944112"/>
                </a:lnTo>
                <a:lnTo>
                  <a:pt x="2606040" y="3926992"/>
                </a:lnTo>
                <a:close/>
              </a:path>
              <a:path w="4577080" h="3944620">
                <a:moveTo>
                  <a:pt x="2357501" y="3926992"/>
                </a:moveTo>
                <a:lnTo>
                  <a:pt x="2234438" y="3926992"/>
                </a:lnTo>
                <a:lnTo>
                  <a:pt x="2234438" y="3944112"/>
                </a:lnTo>
                <a:lnTo>
                  <a:pt x="2357501" y="3944112"/>
                </a:lnTo>
                <a:lnTo>
                  <a:pt x="2357501" y="3926992"/>
                </a:lnTo>
                <a:close/>
              </a:path>
              <a:path w="4577080" h="3944620">
                <a:moveTo>
                  <a:pt x="2111502" y="3926992"/>
                </a:moveTo>
                <a:lnTo>
                  <a:pt x="1988439" y="3926992"/>
                </a:lnTo>
                <a:lnTo>
                  <a:pt x="1988439" y="3944112"/>
                </a:lnTo>
                <a:lnTo>
                  <a:pt x="2111502" y="3944112"/>
                </a:lnTo>
                <a:lnTo>
                  <a:pt x="2111502" y="3926992"/>
                </a:lnTo>
                <a:close/>
              </a:path>
              <a:path w="4577080" h="3944620">
                <a:moveTo>
                  <a:pt x="1865502" y="3926992"/>
                </a:moveTo>
                <a:lnTo>
                  <a:pt x="1742439" y="3926992"/>
                </a:lnTo>
                <a:lnTo>
                  <a:pt x="1742439" y="3944112"/>
                </a:lnTo>
                <a:lnTo>
                  <a:pt x="1865502" y="3944112"/>
                </a:lnTo>
                <a:lnTo>
                  <a:pt x="1865502" y="3926992"/>
                </a:lnTo>
                <a:close/>
              </a:path>
              <a:path w="4577080" h="3944620">
                <a:moveTo>
                  <a:pt x="1619504" y="3926992"/>
                </a:moveTo>
                <a:lnTo>
                  <a:pt x="1496441" y="3926992"/>
                </a:lnTo>
                <a:lnTo>
                  <a:pt x="1496441" y="3944112"/>
                </a:lnTo>
                <a:lnTo>
                  <a:pt x="1619504" y="3944112"/>
                </a:lnTo>
                <a:lnTo>
                  <a:pt x="1619504" y="3926992"/>
                </a:lnTo>
                <a:close/>
              </a:path>
              <a:path w="4577080" h="3944620">
                <a:moveTo>
                  <a:pt x="1373505" y="3926992"/>
                </a:moveTo>
                <a:lnTo>
                  <a:pt x="1250442" y="3926992"/>
                </a:lnTo>
                <a:lnTo>
                  <a:pt x="1250442" y="3944112"/>
                </a:lnTo>
                <a:lnTo>
                  <a:pt x="1373505" y="3944112"/>
                </a:lnTo>
                <a:lnTo>
                  <a:pt x="1373505" y="3926992"/>
                </a:lnTo>
                <a:close/>
              </a:path>
              <a:path w="4577080" h="3944620">
                <a:moveTo>
                  <a:pt x="1127505" y="3926992"/>
                </a:moveTo>
                <a:lnTo>
                  <a:pt x="1001903" y="3926992"/>
                </a:lnTo>
                <a:lnTo>
                  <a:pt x="1001903" y="3944112"/>
                </a:lnTo>
                <a:lnTo>
                  <a:pt x="1127505" y="3944112"/>
                </a:lnTo>
                <a:lnTo>
                  <a:pt x="1127505" y="3926992"/>
                </a:lnTo>
                <a:close/>
              </a:path>
              <a:path w="4577080" h="3944620">
                <a:moveTo>
                  <a:pt x="878966" y="3926992"/>
                </a:moveTo>
                <a:lnTo>
                  <a:pt x="755904" y="3926992"/>
                </a:lnTo>
                <a:lnTo>
                  <a:pt x="755904" y="3944112"/>
                </a:lnTo>
                <a:lnTo>
                  <a:pt x="878966" y="3944112"/>
                </a:lnTo>
                <a:lnTo>
                  <a:pt x="878966" y="3926992"/>
                </a:lnTo>
                <a:close/>
              </a:path>
              <a:path w="4577080" h="3944620">
                <a:moveTo>
                  <a:pt x="520191" y="3888473"/>
                </a:moveTo>
                <a:lnTo>
                  <a:pt x="571754" y="3920836"/>
                </a:lnTo>
                <a:lnTo>
                  <a:pt x="632967" y="3933405"/>
                </a:lnTo>
                <a:lnTo>
                  <a:pt x="635508" y="3918432"/>
                </a:lnTo>
                <a:lnTo>
                  <a:pt x="606667" y="3912845"/>
                </a:lnTo>
                <a:lnTo>
                  <a:pt x="577850" y="3905858"/>
                </a:lnTo>
                <a:lnTo>
                  <a:pt x="549032" y="3897667"/>
                </a:lnTo>
                <a:lnTo>
                  <a:pt x="520191" y="3888473"/>
                </a:lnTo>
                <a:close/>
              </a:path>
              <a:path w="4577080" h="3944620">
                <a:moveTo>
                  <a:pt x="328041" y="3768598"/>
                </a:moveTo>
                <a:lnTo>
                  <a:pt x="354869" y="3818404"/>
                </a:lnTo>
                <a:lnTo>
                  <a:pt x="404875" y="3852087"/>
                </a:lnTo>
                <a:lnTo>
                  <a:pt x="415162" y="3837051"/>
                </a:lnTo>
                <a:lnTo>
                  <a:pt x="392174" y="3821872"/>
                </a:lnTo>
                <a:lnTo>
                  <a:pt x="369649" y="3805253"/>
                </a:lnTo>
                <a:lnTo>
                  <a:pt x="348101" y="3787419"/>
                </a:lnTo>
                <a:lnTo>
                  <a:pt x="328041" y="3768598"/>
                </a:lnTo>
                <a:close/>
              </a:path>
              <a:path w="4577080" h="3944620">
                <a:moveTo>
                  <a:pt x="215265" y="3593083"/>
                </a:moveTo>
                <a:lnTo>
                  <a:pt x="194690" y="3597402"/>
                </a:lnTo>
                <a:lnTo>
                  <a:pt x="204789" y="3622712"/>
                </a:lnTo>
                <a:lnTo>
                  <a:pt x="215852" y="3647201"/>
                </a:lnTo>
                <a:lnTo>
                  <a:pt x="227891" y="3670857"/>
                </a:lnTo>
                <a:lnTo>
                  <a:pt x="240918" y="3693667"/>
                </a:lnTo>
                <a:lnTo>
                  <a:pt x="258825" y="3687317"/>
                </a:lnTo>
                <a:lnTo>
                  <a:pt x="245911" y="3664467"/>
                </a:lnTo>
                <a:lnTo>
                  <a:pt x="234187" y="3641010"/>
                </a:lnTo>
                <a:lnTo>
                  <a:pt x="223893" y="3617148"/>
                </a:lnTo>
                <a:lnTo>
                  <a:pt x="215265" y="3593083"/>
                </a:lnTo>
                <a:close/>
              </a:path>
              <a:path w="4577080" h="3944620">
                <a:moveTo>
                  <a:pt x="174243" y="3389883"/>
                </a:moveTo>
                <a:lnTo>
                  <a:pt x="172775" y="3402635"/>
                </a:lnTo>
                <a:lnTo>
                  <a:pt x="172015" y="3415474"/>
                </a:lnTo>
                <a:lnTo>
                  <a:pt x="171743" y="3427424"/>
                </a:lnTo>
                <a:lnTo>
                  <a:pt x="171743" y="3453475"/>
                </a:lnTo>
                <a:lnTo>
                  <a:pt x="172021" y="3467703"/>
                </a:lnTo>
                <a:lnTo>
                  <a:pt x="172775" y="3481502"/>
                </a:lnTo>
                <a:lnTo>
                  <a:pt x="174243" y="3494658"/>
                </a:lnTo>
                <a:lnTo>
                  <a:pt x="194690" y="3492500"/>
                </a:lnTo>
                <a:lnTo>
                  <a:pt x="193222" y="3479680"/>
                </a:lnTo>
                <a:lnTo>
                  <a:pt x="192468" y="3466623"/>
                </a:lnTo>
                <a:lnTo>
                  <a:pt x="192197" y="3453475"/>
                </a:lnTo>
                <a:lnTo>
                  <a:pt x="192191" y="3427424"/>
                </a:lnTo>
                <a:lnTo>
                  <a:pt x="192484" y="3415220"/>
                </a:lnTo>
                <a:lnTo>
                  <a:pt x="193222" y="3403492"/>
                </a:lnTo>
                <a:lnTo>
                  <a:pt x="194690" y="3391916"/>
                </a:lnTo>
                <a:lnTo>
                  <a:pt x="174243" y="3389883"/>
                </a:lnTo>
                <a:close/>
              </a:path>
              <a:path w="4577080" h="3944620">
                <a:moveTo>
                  <a:pt x="251078" y="3192907"/>
                </a:moveTo>
                <a:lnTo>
                  <a:pt x="236259" y="3215757"/>
                </a:lnTo>
                <a:lnTo>
                  <a:pt x="222630" y="3239214"/>
                </a:lnTo>
                <a:lnTo>
                  <a:pt x="210431" y="3263076"/>
                </a:lnTo>
                <a:lnTo>
                  <a:pt x="199897" y="3287141"/>
                </a:lnTo>
                <a:lnTo>
                  <a:pt x="217804" y="3293491"/>
                </a:lnTo>
                <a:lnTo>
                  <a:pt x="228340" y="3269533"/>
                </a:lnTo>
                <a:lnTo>
                  <a:pt x="240553" y="3245945"/>
                </a:lnTo>
                <a:lnTo>
                  <a:pt x="254220" y="3223142"/>
                </a:lnTo>
                <a:lnTo>
                  <a:pt x="269112" y="3201542"/>
                </a:lnTo>
                <a:lnTo>
                  <a:pt x="251078" y="3192907"/>
                </a:lnTo>
                <a:close/>
              </a:path>
              <a:path w="4577080" h="3944620">
                <a:moveTo>
                  <a:pt x="420242" y="3041015"/>
                </a:moveTo>
                <a:lnTo>
                  <a:pt x="395347" y="3056247"/>
                </a:lnTo>
                <a:lnTo>
                  <a:pt x="370903" y="3072860"/>
                </a:lnTo>
                <a:lnTo>
                  <a:pt x="347412" y="3090664"/>
                </a:lnTo>
                <a:lnTo>
                  <a:pt x="325373" y="3109467"/>
                </a:lnTo>
                <a:lnTo>
                  <a:pt x="340867" y="3120135"/>
                </a:lnTo>
                <a:lnTo>
                  <a:pt x="362396" y="3102580"/>
                </a:lnTo>
                <a:lnTo>
                  <a:pt x="384698" y="3085417"/>
                </a:lnTo>
                <a:lnTo>
                  <a:pt x="407501" y="3069040"/>
                </a:lnTo>
                <a:lnTo>
                  <a:pt x="430529" y="3053841"/>
                </a:lnTo>
                <a:lnTo>
                  <a:pt x="420242" y="3041015"/>
                </a:lnTo>
                <a:close/>
              </a:path>
              <a:path w="4577080" h="3944620">
                <a:moveTo>
                  <a:pt x="650874" y="2959735"/>
                </a:moveTo>
                <a:lnTo>
                  <a:pt x="620150" y="2965275"/>
                </a:lnTo>
                <a:lnTo>
                  <a:pt x="589676" y="2972244"/>
                </a:lnTo>
                <a:lnTo>
                  <a:pt x="559702" y="2980451"/>
                </a:lnTo>
                <a:lnTo>
                  <a:pt x="530479" y="2989707"/>
                </a:lnTo>
                <a:lnTo>
                  <a:pt x="538098" y="3004566"/>
                </a:lnTo>
                <a:lnTo>
                  <a:pt x="565868" y="2995719"/>
                </a:lnTo>
                <a:lnTo>
                  <a:pt x="594804" y="2988278"/>
                </a:lnTo>
                <a:lnTo>
                  <a:pt x="624216" y="2982027"/>
                </a:lnTo>
                <a:lnTo>
                  <a:pt x="653415" y="2976753"/>
                </a:lnTo>
                <a:lnTo>
                  <a:pt x="650874" y="2959735"/>
                </a:lnTo>
                <a:close/>
              </a:path>
              <a:path w="4577080" h="3944620">
                <a:moveTo>
                  <a:pt x="3853941" y="2953258"/>
                </a:moveTo>
                <a:lnTo>
                  <a:pt x="3731005" y="2953258"/>
                </a:lnTo>
                <a:lnTo>
                  <a:pt x="3731005" y="2970403"/>
                </a:lnTo>
                <a:lnTo>
                  <a:pt x="3853941" y="2970403"/>
                </a:lnTo>
                <a:lnTo>
                  <a:pt x="3853941" y="2953258"/>
                </a:lnTo>
                <a:close/>
              </a:path>
              <a:path w="4577080" h="3944620">
                <a:moveTo>
                  <a:pt x="3607942" y="2953258"/>
                </a:moveTo>
                <a:lnTo>
                  <a:pt x="3485006" y="2953258"/>
                </a:lnTo>
                <a:lnTo>
                  <a:pt x="3485006" y="2970403"/>
                </a:lnTo>
                <a:lnTo>
                  <a:pt x="3607942" y="2970403"/>
                </a:lnTo>
                <a:lnTo>
                  <a:pt x="3607942" y="2953258"/>
                </a:lnTo>
                <a:close/>
              </a:path>
              <a:path w="4577080" h="3944620">
                <a:moveTo>
                  <a:pt x="3361943" y="2953258"/>
                </a:moveTo>
                <a:lnTo>
                  <a:pt x="3239007" y="2953258"/>
                </a:lnTo>
                <a:lnTo>
                  <a:pt x="3239007" y="2970403"/>
                </a:lnTo>
                <a:lnTo>
                  <a:pt x="3361943" y="2970403"/>
                </a:lnTo>
                <a:lnTo>
                  <a:pt x="3361943" y="2953258"/>
                </a:lnTo>
                <a:close/>
              </a:path>
              <a:path w="4577080" h="3944620">
                <a:moveTo>
                  <a:pt x="3115944" y="2953258"/>
                </a:moveTo>
                <a:lnTo>
                  <a:pt x="2993008" y="2953258"/>
                </a:lnTo>
                <a:lnTo>
                  <a:pt x="2993008" y="2970403"/>
                </a:lnTo>
                <a:lnTo>
                  <a:pt x="3115944" y="2970403"/>
                </a:lnTo>
                <a:lnTo>
                  <a:pt x="3115944" y="2953258"/>
                </a:lnTo>
                <a:close/>
              </a:path>
              <a:path w="4577080" h="3944620">
                <a:moveTo>
                  <a:pt x="2869945" y="2953258"/>
                </a:moveTo>
                <a:lnTo>
                  <a:pt x="2747009" y="2953258"/>
                </a:lnTo>
                <a:lnTo>
                  <a:pt x="2747009" y="2970403"/>
                </a:lnTo>
                <a:lnTo>
                  <a:pt x="2869945" y="2970403"/>
                </a:lnTo>
                <a:lnTo>
                  <a:pt x="2869945" y="2953258"/>
                </a:lnTo>
                <a:close/>
              </a:path>
              <a:path w="4577080" h="3944620">
                <a:moveTo>
                  <a:pt x="2621406" y="2953258"/>
                </a:moveTo>
                <a:lnTo>
                  <a:pt x="2498470" y="2953258"/>
                </a:lnTo>
                <a:lnTo>
                  <a:pt x="2498470" y="2970403"/>
                </a:lnTo>
                <a:lnTo>
                  <a:pt x="2621406" y="2970403"/>
                </a:lnTo>
                <a:lnTo>
                  <a:pt x="2621406" y="2953258"/>
                </a:lnTo>
                <a:close/>
              </a:path>
              <a:path w="4577080" h="3944620">
                <a:moveTo>
                  <a:pt x="2375407" y="2953258"/>
                </a:moveTo>
                <a:lnTo>
                  <a:pt x="2252471" y="2953258"/>
                </a:lnTo>
                <a:lnTo>
                  <a:pt x="2252471" y="2970403"/>
                </a:lnTo>
                <a:lnTo>
                  <a:pt x="2375407" y="2970403"/>
                </a:lnTo>
                <a:lnTo>
                  <a:pt x="2375407" y="2953258"/>
                </a:lnTo>
                <a:close/>
              </a:path>
              <a:path w="4577080" h="3944620">
                <a:moveTo>
                  <a:pt x="2129408" y="2953258"/>
                </a:moveTo>
                <a:lnTo>
                  <a:pt x="2006472" y="2953258"/>
                </a:lnTo>
                <a:lnTo>
                  <a:pt x="2006472" y="2970403"/>
                </a:lnTo>
                <a:lnTo>
                  <a:pt x="2129408" y="2970403"/>
                </a:lnTo>
                <a:lnTo>
                  <a:pt x="2129408" y="2953258"/>
                </a:lnTo>
                <a:close/>
              </a:path>
              <a:path w="4577080" h="3944620">
                <a:moveTo>
                  <a:pt x="1883409" y="2953258"/>
                </a:moveTo>
                <a:lnTo>
                  <a:pt x="1760474" y="2953258"/>
                </a:lnTo>
                <a:lnTo>
                  <a:pt x="1760474" y="2970403"/>
                </a:lnTo>
                <a:lnTo>
                  <a:pt x="1883409" y="2970403"/>
                </a:lnTo>
                <a:lnTo>
                  <a:pt x="1883409" y="2953258"/>
                </a:lnTo>
                <a:close/>
              </a:path>
              <a:path w="4577080" h="3944620">
                <a:moveTo>
                  <a:pt x="1637411" y="2953258"/>
                </a:moveTo>
                <a:lnTo>
                  <a:pt x="1514474" y="2953258"/>
                </a:lnTo>
                <a:lnTo>
                  <a:pt x="1514474" y="2970403"/>
                </a:lnTo>
                <a:lnTo>
                  <a:pt x="1637411" y="2970403"/>
                </a:lnTo>
                <a:lnTo>
                  <a:pt x="1637411" y="2953258"/>
                </a:lnTo>
                <a:close/>
              </a:path>
              <a:path w="4577080" h="3944620">
                <a:moveTo>
                  <a:pt x="1391411" y="2953258"/>
                </a:moveTo>
                <a:lnTo>
                  <a:pt x="1265809" y="2953258"/>
                </a:lnTo>
                <a:lnTo>
                  <a:pt x="1265809" y="2970403"/>
                </a:lnTo>
                <a:lnTo>
                  <a:pt x="1391411" y="2970403"/>
                </a:lnTo>
                <a:lnTo>
                  <a:pt x="1391411" y="2953258"/>
                </a:lnTo>
                <a:close/>
              </a:path>
              <a:path w="4577080" h="3944620">
                <a:moveTo>
                  <a:pt x="1142873" y="2953258"/>
                </a:moveTo>
                <a:lnTo>
                  <a:pt x="1019810" y="2953258"/>
                </a:lnTo>
                <a:lnTo>
                  <a:pt x="1019810" y="2970403"/>
                </a:lnTo>
                <a:lnTo>
                  <a:pt x="1142873" y="2970403"/>
                </a:lnTo>
                <a:lnTo>
                  <a:pt x="1142873" y="2953258"/>
                </a:lnTo>
                <a:close/>
              </a:path>
              <a:path w="4577080" h="3944620">
                <a:moveTo>
                  <a:pt x="896873" y="2953258"/>
                </a:moveTo>
                <a:lnTo>
                  <a:pt x="773810" y="2953258"/>
                </a:lnTo>
                <a:lnTo>
                  <a:pt x="773810" y="2970403"/>
                </a:lnTo>
                <a:lnTo>
                  <a:pt x="896873" y="2970403"/>
                </a:lnTo>
                <a:lnTo>
                  <a:pt x="896873" y="2953258"/>
                </a:lnTo>
                <a:close/>
              </a:path>
              <a:path w="4577080" h="3944620">
                <a:moveTo>
                  <a:pt x="4094861" y="2931922"/>
                </a:moveTo>
                <a:lnTo>
                  <a:pt x="4065962" y="2937918"/>
                </a:lnTo>
                <a:lnTo>
                  <a:pt x="4036837" y="2943129"/>
                </a:lnTo>
                <a:lnTo>
                  <a:pt x="4007260" y="2947531"/>
                </a:lnTo>
                <a:lnTo>
                  <a:pt x="3977004" y="2951098"/>
                </a:lnTo>
                <a:lnTo>
                  <a:pt x="3979544" y="2968243"/>
                </a:lnTo>
                <a:lnTo>
                  <a:pt x="4010290" y="2964588"/>
                </a:lnTo>
                <a:lnTo>
                  <a:pt x="4041013" y="2959957"/>
                </a:lnTo>
                <a:lnTo>
                  <a:pt x="4071735" y="2954135"/>
                </a:lnTo>
                <a:lnTo>
                  <a:pt x="4102480" y="2946908"/>
                </a:lnTo>
                <a:lnTo>
                  <a:pt x="4094861" y="2931922"/>
                </a:lnTo>
                <a:close/>
              </a:path>
              <a:path w="4577080" h="3944620">
                <a:moveTo>
                  <a:pt x="4302379" y="2831338"/>
                </a:moveTo>
                <a:lnTo>
                  <a:pt x="4280318" y="2847292"/>
                </a:lnTo>
                <a:lnTo>
                  <a:pt x="4256579" y="2862865"/>
                </a:lnTo>
                <a:lnTo>
                  <a:pt x="4231387" y="2877629"/>
                </a:lnTo>
                <a:lnTo>
                  <a:pt x="4204970" y="2891154"/>
                </a:lnTo>
                <a:lnTo>
                  <a:pt x="4215257" y="2906141"/>
                </a:lnTo>
                <a:lnTo>
                  <a:pt x="4242111" y="2891670"/>
                </a:lnTo>
                <a:lnTo>
                  <a:pt x="4268454" y="2876772"/>
                </a:lnTo>
                <a:lnTo>
                  <a:pt x="4293820" y="2861063"/>
                </a:lnTo>
                <a:lnTo>
                  <a:pt x="4317745" y="2844165"/>
                </a:lnTo>
                <a:lnTo>
                  <a:pt x="4302379" y="2831338"/>
                </a:lnTo>
                <a:close/>
              </a:path>
              <a:path w="4577080" h="3944620">
                <a:moveTo>
                  <a:pt x="4443349" y="2668651"/>
                </a:moveTo>
                <a:lnTo>
                  <a:pt x="4430891" y="2691096"/>
                </a:lnTo>
                <a:lnTo>
                  <a:pt x="4416742" y="2713339"/>
                </a:lnTo>
                <a:lnTo>
                  <a:pt x="4401165" y="2735177"/>
                </a:lnTo>
                <a:lnTo>
                  <a:pt x="4384420" y="2756408"/>
                </a:lnTo>
                <a:lnTo>
                  <a:pt x="4399788" y="2764916"/>
                </a:lnTo>
                <a:lnTo>
                  <a:pt x="4418093" y="2743652"/>
                </a:lnTo>
                <a:lnTo>
                  <a:pt x="4434697" y="2721578"/>
                </a:lnTo>
                <a:lnTo>
                  <a:pt x="4449847" y="2698694"/>
                </a:lnTo>
                <a:lnTo>
                  <a:pt x="4463795" y="2675001"/>
                </a:lnTo>
                <a:lnTo>
                  <a:pt x="4443349" y="2668651"/>
                </a:lnTo>
                <a:close/>
              </a:path>
              <a:path w="4577080" h="3944620">
                <a:moveTo>
                  <a:pt x="4512564" y="2471801"/>
                </a:moveTo>
                <a:lnTo>
                  <a:pt x="4491990" y="2471801"/>
                </a:lnTo>
                <a:lnTo>
                  <a:pt x="4491472" y="2497107"/>
                </a:lnTo>
                <a:lnTo>
                  <a:pt x="4489751" y="2522045"/>
                </a:lnTo>
                <a:lnTo>
                  <a:pt x="4486578" y="2547006"/>
                </a:lnTo>
                <a:lnTo>
                  <a:pt x="4481703" y="2572385"/>
                </a:lnTo>
                <a:lnTo>
                  <a:pt x="4499737" y="2574416"/>
                </a:lnTo>
                <a:lnTo>
                  <a:pt x="4506027" y="2549685"/>
                </a:lnTo>
                <a:lnTo>
                  <a:pt x="4509960" y="2523918"/>
                </a:lnTo>
                <a:lnTo>
                  <a:pt x="4511988" y="2497746"/>
                </a:lnTo>
                <a:lnTo>
                  <a:pt x="4512564" y="2471801"/>
                </a:lnTo>
                <a:close/>
              </a:path>
              <a:path w="4577080" h="3944620">
                <a:moveTo>
                  <a:pt x="4463795" y="2268473"/>
                </a:moveTo>
                <a:lnTo>
                  <a:pt x="4445889" y="2274823"/>
                </a:lnTo>
                <a:lnTo>
                  <a:pt x="4456896" y="2297707"/>
                </a:lnTo>
                <a:lnTo>
                  <a:pt x="4466701" y="2321401"/>
                </a:lnTo>
                <a:lnTo>
                  <a:pt x="4475053" y="2345904"/>
                </a:lnTo>
                <a:lnTo>
                  <a:pt x="4481703" y="2371216"/>
                </a:lnTo>
                <a:lnTo>
                  <a:pt x="4502277" y="2366898"/>
                </a:lnTo>
                <a:lnTo>
                  <a:pt x="4494442" y="2341572"/>
                </a:lnTo>
                <a:lnTo>
                  <a:pt x="4485894" y="2316876"/>
                </a:lnTo>
                <a:lnTo>
                  <a:pt x="4475916" y="2292586"/>
                </a:lnTo>
                <a:lnTo>
                  <a:pt x="4463795" y="2268473"/>
                </a:lnTo>
                <a:close/>
              </a:path>
              <a:path w="4577080" h="3944620">
                <a:moveTo>
                  <a:pt x="4320286" y="2097278"/>
                </a:moveTo>
                <a:lnTo>
                  <a:pt x="4304919" y="2110104"/>
                </a:lnTo>
                <a:lnTo>
                  <a:pt x="4327096" y="2128133"/>
                </a:lnTo>
                <a:lnTo>
                  <a:pt x="4347845" y="2146982"/>
                </a:lnTo>
                <a:lnTo>
                  <a:pt x="4367641" y="2166665"/>
                </a:lnTo>
                <a:lnTo>
                  <a:pt x="4386961" y="2187193"/>
                </a:lnTo>
                <a:lnTo>
                  <a:pt x="4402328" y="2176398"/>
                </a:lnTo>
                <a:lnTo>
                  <a:pt x="4384079" y="2155606"/>
                </a:lnTo>
                <a:lnTo>
                  <a:pt x="4364164" y="2135219"/>
                </a:lnTo>
                <a:lnTo>
                  <a:pt x="4342820" y="2115641"/>
                </a:lnTo>
                <a:lnTo>
                  <a:pt x="4320286" y="2097278"/>
                </a:lnTo>
                <a:close/>
              </a:path>
              <a:path w="4577080" h="3944620">
                <a:moveTo>
                  <a:pt x="4105020" y="1992376"/>
                </a:moveTo>
                <a:lnTo>
                  <a:pt x="4099941" y="2009520"/>
                </a:lnTo>
                <a:lnTo>
                  <a:pt x="4127273" y="2017960"/>
                </a:lnTo>
                <a:lnTo>
                  <a:pt x="4155058" y="2027412"/>
                </a:lnTo>
                <a:lnTo>
                  <a:pt x="4182844" y="2038078"/>
                </a:lnTo>
                <a:lnTo>
                  <a:pt x="4210177" y="2050160"/>
                </a:lnTo>
                <a:lnTo>
                  <a:pt x="4220337" y="2035174"/>
                </a:lnTo>
                <a:lnTo>
                  <a:pt x="4191549" y="2022754"/>
                </a:lnTo>
                <a:lnTo>
                  <a:pt x="4162726" y="2011346"/>
                </a:lnTo>
                <a:lnTo>
                  <a:pt x="4133879" y="2001152"/>
                </a:lnTo>
                <a:lnTo>
                  <a:pt x="4105020" y="1992376"/>
                </a:lnTo>
                <a:close/>
              </a:path>
              <a:path w="4577080" h="3944620">
                <a:moveTo>
                  <a:pt x="3930777" y="1971039"/>
                </a:moveTo>
                <a:lnTo>
                  <a:pt x="3859021" y="1971039"/>
                </a:lnTo>
                <a:lnTo>
                  <a:pt x="3859021" y="1988058"/>
                </a:lnTo>
                <a:lnTo>
                  <a:pt x="3942718" y="1988091"/>
                </a:lnTo>
                <a:lnTo>
                  <a:pt x="3955160" y="1988327"/>
                </a:lnTo>
                <a:lnTo>
                  <a:pt x="3967603" y="1988968"/>
                </a:lnTo>
                <a:lnTo>
                  <a:pt x="3979544" y="1990216"/>
                </a:lnTo>
                <a:lnTo>
                  <a:pt x="3982084" y="1973071"/>
                </a:lnTo>
                <a:lnTo>
                  <a:pt x="3969049" y="1971897"/>
                </a:lnTo>
                <a:lnTo>
                  <a:pt x="3956478" y="1971294"/>
                </a:lnTo>
                <a:lnTo>
                  <a:pt x="3943883" y="1971071"/>
                </a:lnTo>
                <a:lnTo>
                  <a:pt x="3930777" y="1971039"/>
                </a:lnTo>
                <a:close/>
              </a:path>
              <a:path w="4577080" h="3944620">
                <a:moveTo>
                  <a:pt x="3736086" y="1968880"/>
                </a:moveTo>
                <a:lnTo>
                  <a:pt x="3613022" y="1968880"/>
                </a:lnTo>
                <a:lnTo>
                  <a:pt x="3613022" y="1986026"/>
                </a:lnTo>
                <a:lnTo>
                  <a:pt x="3736086" y="1986026"/>
                </a:lnTo>
                <a:lnTo>
                  <a:pt x="3736086" y="1968880"/>
                </a:lnTo>
                <a:close/>
              </a:path>
              <a:path w="4577080" h="3944620">
                <a:moveTo>
                  <a:pt x="3487546" y="1968880"/>
                </a:moveTo>
                <a:lnTo>
                  <a:pt x="3364483" y="1968880"/>
                </a:lnTo>
                <a:lnTo>
                  <a:pt x="3364483" y="1986026"/>
                </a:lnTo>
                <a:lnTo>
                  <a:pt x="3487546" y="1986026"/>
                </a:lnTo>
                <a:lnTo>
                  <a:pt x="3487546" y="1968880"/>
                </a:lnTo>
                <a:close/>
              </a:path>
              <a:path w="4577080" h="3944620">
                <a:moveTo>
                  <a:pt x="3118484" y="1966721"/>
                </a:moveTo>
                <a:lnTo>
                  <a:pt x="3118484" y="1983866"/>
                </a:lnTo>
                <a:lnTo>
                  <a:pt x="3241547" y="1986026"/>
                </a:lnTo>
                <a:lnTo>
                  <a:pt x="3241547" y="1968880"/>
                </a:lnTo>
                <a:lnTo>
                  <a:pt x="3118484" y="1966721"/>
                </a:lnTo>
                <a:close/>
              </a:path>
              <a:path w="4577080" h="3944620">
                <a:moveTo>
                  <a:pt x="2995549" y="1966721"/>
                </a:moveTo>
                <a:lnTo>
                  <a:pt x="2872486" y="1966721"/>
                </a:lnTo>
                <a:lnTo>
                  <a:pt x="2872486" y="1983866"/>
                </a:lnTo>
                <a:lnTo>
                  <a:pt x="2995549" y="1983866"/>
                </a:lnTo>
                <a:lnTo>
                  <a:pt x="2995549" y="1966721"/>
                </a:lnTo>
                <a:close/>
              </a:path>
              <a:path w="4577080" h="3944620">
                <a:moveTo>
                  <a:pt x="2749550" y="1966721"/>
                </a:moveTo>
                <a:lnTo>
                  <a:pt x="2626487" y="1966721"/>
                </a:lnTo>
                <a:lnTo>
                  <a:pt x="2626487" y="1983866"/>
                </a:lnTo>
                <a:lnTo>
                  <a:pt x="2749550" y="1983866"/>
                </a:lnTo>
                <a:lnTo>
                  <a:pt x="2749550" y="1966721"/>
                </a:lnTo>
                <a:close/>
              </a:path>
              <a:path w="4577080" h="3944620">
                <a:moveTo>
                  <a:pt x="2503551" y="1964563"/>
                </a:moveTo>
                <a:lnTo>
                  <a:pt x="2380488" y="1964563"/>
                </a:lnTo>
                <a:lnTo>
                  <a:pt x="2380488" y="1981708"/>
                </a:lnTo>
                <a:lnTo>
                  <a:pt x="2503551" y="1981708"/>
                </a:lnTo>
                <a:lnTo>
                  <a:pt x="2503551" y="1964563"/>
                </a:lnTo>
                <a:close/>
              </a:path>
              <a:path w="4577080" h="3944620">
                <a:moveTo>
                  <a:pt x="2257552" y="1964563"/>
                </a:moveTo>
                <a:lnTo>
                  <a:pt x="2134489" y="1964563"/>
                </a:lnTo>
                <a:lnTo>
                  <a:pt x="2131949" y="1981708"/>
                </a:lnTo>
                <a:lnTo>
                  <a:pt x="2257552" y="1981708"/>
                </a:lnTo>
                <a:lnTo>
                  <a:pt x="2257552" y="1964563"/>
                </a:lnTo>
                <a:close/>
              </a:path>
              <a:path w="4577080" h="3944620">
                <a:moveTo>
                  <a:pt x="1885950" y="1962403"/>
                </a:moveTo>
                <a:lnTo>
                  <a:pt x="1885950" y="1979548"/>
                </a:lnTo>
                <a:lnTo>
                  <a:pt x="2009013" y="1981708"/>
                </a:lnTo>
                <a:lnTo>
                  <a:pt x="2009013" y="1964563"/>
                </a:lnTo>
                <a:lnTo>
                  <a:pt x="1885950" y="1962403"/>
                </a:lnTo>
                <a:close/>
              </a:path>
              <a:path w="4577080" h="3944620">
                <a:moveTo>
                  <a:pt x="1763014" y="1962403"/>
                </a:moveTo>
                <a:lnTo>
                  <a:pt x="1639951" y="1962403"/>
                </a:lnTo>
                <a:lnTo>
                  <a:pt x="1639951" y="1979548"/>
                </a:lnTo>
                <a:lnTo>
                  <a:pt x="1763014" y="1979548"/>
                </a:lnTo>
                <a:lnTo>
                  <a:pt x="1763014" y="1962403"/>
                </a:lnTo>
                <a:close/>
              </a:path>
              <a:path w="4577080" h="3944620">
                <a:moveTo>
                  <a:pt x="1393952" y="1960245"/>
                </a:moveTo>
                <a:lnTo>
                  <a:pt x="1393952" y="1977389"/>
                </a:lnTo>
                <a:lnTo>
                  <a:pt x="1517015" y="1979548"/>
                </a:lnTo>
                <a:lnTo>
                  <a:pt x="1517015" y="1962403"/>
                </a:lnTo>
                <a:lnTo>
                  <a:pt x="1393952" y="1960245"/>
                </a:lnTo>
                <a:close/>
              </a:path>
              <a:path w="4577080" h="3944620">
                <a:moveTo>
                  <a:pt x="1271016" y="1960245"/>
                </a:moveTo>
                <a:lnTo>
                  <a:pt x="1147953" y="1960245"/>
                </a:lnTo>
                <a:lnTo>
                  <a:pt x="1147953" y="1977389"/>
                </a:lnTo>
                <a:lnTo>
                  <a:pt x="1271016" y="1977389"/>
                </a:lnTo>
                <a:lnTo>
                  <a:pt x="1271016" y="1960245"/>
                </a:lnTo>
                <a:close/>
              </a:path>
              <a:path w="4577080" h="3944620">
                <a:moveTo>
                  <a:pt x="912241" y="1919604"/>
                </a:moveTo>
                <a:lnTo>
                  <a:pt x="962533" y="1953847"/>
                </a:lnTo>
                <a:lnTo>
                  <a:pt x="1022477" y="1966721"/>
                </a:lnTo>
                <a:lnTo>
                  <a:pt x="1027556" y="1951735"/>
                </a:lnTo>
                <a:lnTo>
                  <a:pt x="997269" y="1944929"/>
                </a:lnTo>
                <a:lnTo>
                  <a:pt x="967946" y="1937289"/>
                </a:lnTo>
                <a:lnTo>
                  <a:pt x="939599" y="1928840"/>
                </a:lnTo>
                <a:lnTo>
                  <a:pt x="912241" y="1919604"/>
                </a:lnTo>
                <a:close/>
              </a:path>
              <a:path w="4577080" h="3944620">
                <a:moveTo>
                  <a:pt x="717549" y="1801876"/>
                </a:moveTo>
                <a:lnTo>
                  <a:pt x="746632" y="1849548"/>
                </a:lnTo>
                <a:lnTo>
                  <a:pt x="796924" y="1883283"/>
                </a:lnTo>
                <a:lnTo>
                  <a:pt x="807211" y="1868296"/>
                </a:lnTo>
                <a:lnTo>
                  <a:pt x="784183" y="1853096"/>
                </a:lnTo>
                <a:lnTo>
                  <a:pt x="761380" y="1836705"/>
                </a:lnTo>
                <a:lnTo>
                  <a:pt x="739078" y="1819505"/>
                </a:lnTo>
                <a:lnTo>
                  <a:pt x="717549" y="1801876"/>
                </a:lnTo>
                <a:close/>
              </a:path>
              <a:path w="4577080" h="3944620">
                <a:moveTo>
                  <a:pt x="602234" y="1626489"/>
                </a:moveTo>
                <a:lnTo>
                  <a:pt x="581660" y="1630679"/>
                </a:lnTo>
                <a:lnTo>
                  <a:pt x="591798" y="1655992"/>
                </a:lnTo>
                <a:lnTo>
                  <a:pt x="603138" y="1680495"/>
                </a:lnTo>
                <a:lnTo>
                  <a:pt x="615932" y="1704189"/>
                </a:lnTo>
                <a:lnTo>
                  <a:pt x="630428" y="1727073"/>
                </a:lnTo>
                <a:lnTo>
                  <a:pt x="648335" y="1718437"/>
                </a:lnTo>
                <a:lnTo>
                  <a:pt x="635005" y="1695926"/>
                </a:lnTo>
                <a:lnTo>
                  <a:pt x="622379" y="1673225"/>
                </a:lnTo>
                <a:lnTo>
                  <a:pt x="611205" y="1650142"/>
                </a:lnTo>
                <a:lnTo>
                  <a:pt x="602234" y="1626489"/>
                </a:lnTo>
                <a:close/>
              </a:path>
              <a:path w="4577080" h="3944620">
                <a:moveTo>
                  <a:pt x="563753" y="1423162"/>
                </a:moveTo>
                <a:lnTo>
                  <a:pt x="560816" y="1439521"/>
                </a:lnTo>
                <a:lnTo>
                  <a:pt x="559307" y="1456309"/>
                </a:lnTo>
                <a:lnTo>
                  <a:pt x="558752" y="1473096"/>
                </a:lnTo>
                <a:lnTo>
                  <a:pt x="558672" y="1527937"/>
                </a:lnTo>
                <a:lnTo>
                  <a:pt x="579119" y="1525904"/>
                </a:lnTo>
                <a:lnTo>
                  <a:pt x="579211" y="1473096"/>
                </a:lnTo>
                <a:lnTo>
                  <a:pt x="579754" y="1457388"/>
                </a:lnTo>
                <a:lnTo>
                  <a:pt x="581263" y="1441342"/>
                </a:lnTo>
                <a:lnTo>
                  <a:pt x="584199" y="1425320"/>
                </a:lnTo>
                <a:lnTo>
                  <a:pt x="563753" y="1423162"/>
                </a:lnTo>
                <a:close/>
              </a:path>
              <a:path w="4577080" h="3944620">
                <a:moveTo>
                  <a:pt x="645794" y="1228343"/>
                </a:moveTo>
                <a:lnTo>
                  <a:pt x="629433" y="1250890"/>
                </a:lnTo>
                <a:lnTo>
                  <a:pt x="615013" y="1273841"/>
                </a:lnTo>
                <a:lnTo>
                  <a:pt x="602521" y="1297602"/>
                </a:lnTo>
                <a:lnTo>
                  <a:pt x="591947" y="1322577"/>
                </a:lnTo>
                <a:lnTo>
                  <a:pt x="612393" y="1326768"/>
                </a:lnTo>
                <a:lnTo>
                  <a:pt x="622571" y="1304059"/>
                </a:lnTo>
                <a:lnTo>
                  <a:pt x="634190" y="1281112"/>
                </a:lnTo>
                <a:lnTo>
                  <a:pt x="647737" y="1258546"/>
                </a:lnTo>
                <a:lnTo>
                  <a:pt x="663702" y="1236979"/>
                </a:lnTo>
                <a:lnTo>
                  <a:pt x="645794" y="1228343"/>
                </a:lnTo>
                <a:close/>
              </a:path>
              <a:path w="4577080" h="3944620">
                <a:moveTo>
                  <a:pt x="812291" y="1072133"/>
                </a:moveTo>
                <a:lnTo>
                  <a:pt x="787437" y="1088614"/>
                </a:lnTo>
                <a:lnTo>
                  <a:pt x="763285" y="1105868"/>
                </a:lnTo>
                <a:lnTo>
                  <a:pt x="740586" y="1123908"/>
                </a:lnTo>
                <a:lnTo>
                  <a:pt x="720090" y="1142745"/>
                </a:lnTo>
                <a:lnTo>
                  <a:pt x="732916" y="1155573"/>
                </a:lnTo>
                <a:lnTo>
                  <a:pt x="754499" y="1136769"/>
                </a:lnTo>
                <a:lnTo>
                  <a:pt x="776795" y="1118965"/>
                </a:lnTo>
                <a:lnTo>
                  <a:pt x="799568" y="1102352"/>
                </a:lnTo>
                <a:lnTo>
                  <a:pt x="822579" y="1087119"/>
                </a:lnTo>
                <a:lnTo>
                  <a:pt x="812291" y="1072133"/>
                </a:lnTo>
                <a:close/>
              </a:path>
              <a:path w="4577080" h="3944620">
                <a:moveTo>
                  <a:pt x="1037843" y="988694"/>
                </a:moveTo>
                <a:lnTo>
                  <a:pt x="1008588" y="994340"/>
                </a:lnTo>
                <a:lnTo>
                  <a:pt x="978868" y="1001569"/>
                </a:lnTo>
                <a:lnTo>
                  <a:pt x="949172" y="1010394"/>
                </a:lnTo>
                <a:lnTo>
                  <a:pt x="919987" y="1020826"/>
                </a:lnTo>
                <a:lnTo>
                  <a:pt x="927608" y="1035812"/>
                </a:lnTo>
                <a:lnTo>
                  <a:pt x="956448" y="1026610"/>
                </a:lnTo>
                <a:lnTo>
                  <a:pt x="985266" y="1018397"/>
                </a:lnTo>
                <a:lnTo>
                  <a:pt x="1014083" y="1011398"/>
                </a:lnTo>
                <a:lnTo>
                  <a:pt x="1042923" y="1005839"/>
                </a:lnTo>
                <a:lnTo>
                  <a:pt x="1037843" y="988694"/>
                </a:lnTo>
                <a:close/>
              </a:path>
              <a:path w="4577080" h="3944620">
                <a:moveTo>
                  <a:pt x="3010916" y="975867"/>
                </a:moveTo>
                <a:lnTo>
                  <a:pt x="2972768" y="978836"/>
                </a:lnTo>
                <a:lnTo>
                  <a:pt x="2954319" y="979814"/>
                </a:lnTo>
                <a:lnTo>
                  <a:pt x="2936620" y="980186"/>
                </a:lnTo>
                <a:lnTo>
                  <a:pt x="2887853" y="980186"/>
                </a:lnTo>
                <a:lnTo>
                  <a:pt x="2887853" y="997203"/>
                </a:lnTo>
                <a:lnTo>
                  <a:pt x="2936620" y="997203"/>
                </a:lnTo>
                <a:lnTo>
                  <a:pt x="2955841" y="996852"/>
                </a:lnTo>
                <a:lnTo>
                  <a:pt x="2975038" y="995918"/>
                </a:lnTo>
                <a:lnTo>
                  <a:pt x="2994235" y="994578"/>
                </a:lnTo>
                <a:lnTo>
                  <a:pt x="3013455" y="993013"/>
                </a:lnTo>
                <a:lnTo>
                  <a:pt x="3010916" y="975867"/>
                </a:lnTo>
                <a:close/>
              </a:path>
              <a:path w="4577080" h="3944620">
                <a:moveTo>
                  <a:pt x="2764916" y="980186"/>
                </a:moveTo>
                <a:lnTo>
                  <a:pt x="2641854" y="980186"/>
                </a:lnTo>
                <a:lnTo>
                  <a:pt x="2641854" y="997203"/>
                </a:lnTo>
                <a:lnTo>
                  <a:pt x="2764916" y="997203"/>
                </a:lnTo>
                <a:lnTo>
                  <a:pt x="2764916" y="980186"/>
                </a:lnTo>
                <a:close/>
              </a:path>
              <a:path w="4577080" h="3944620">
                <a:moveTo>
                  <a:pt x="2518917" y="980186"/>
                </a:moveTo>
                <a:lnTo>
                  <a:pt x="2395854" y="980186"/>
                </a:lnTo>
                <a:lnTo>
                  <a:pt x="2395854" y="997203"/>
                </a:lnTo>
                <a:lnTo>
                  <a:pt x="2518917" y="997203"/>
                </a:lnTo>
                <a:lnTo>
                  <a:pt x="2518917" y="980186"/>
                </a:lnTo>
                <a:close/>
              </a:path>
              <a:path w="4577080" h="3944620">
                <a:moveTo>
                  <a:pt x="2272918" y="980186"/>
                </a:moveTo>
                <a:lnTo>
                  <a:pt x="2149855" y="980186"/>
                </a:lnTo>
                <a:lnTo>
                  <a:pt x="2149855" y="997203"/>
                </a:lnTo>
                <a:lnTo>
                  <a:pt x="2272918" y="997203"/>
                </a:lnTo>
                <a:lnTo>
                  <a:pt x="2272918" y="980186"/>
                </a:lnTo>
                <a:close/>
              </a:path>
              <a:path w="4577080" h="3944620">
                <a:moveTo>
                  <a:pt x="2026919" y="980186"/>
                </a:moveTo>
                <a:lnTo>
                  <a:pt x="1903856" y="980186"/>
                </a:lnTo>
                <a:lnTo>
                  <a:pt x="1903856" y="997203"/>
                </a:lnTo>
                <a:lnTo>
                  <a:pt x="2026919" y="997203"/>
                </a:lnTo>
                <a:lnTo>
                  <a:pt x="2026919" y="980186"/>
                </a:lnTo>
                <a:close/>
              </a:path>
              <a:path w="4577080" h="3944620">
                <a:moveTo>
                  <a:pt x="1778380" y="980186"/>
                </a:moveTo>
                <a:lnTo>
                  <a:pt x="1655317" y="980186"/>
                </a:lnTo>
                <a:lnTo>
                  <a:pt x="1655317" y="997203"/>
                </a:lnTo>
                <a:lnTo>
                  <a:pt x="1778380" y="997203"/>
                </a:lnTo>
                <a:lnTo>
                  <a:pt x="1778380" y="980186"/>
                </a:lnTo>
                <a:close/>
              </a:path>
              <a:path w="4577080" h="3944620">
                <a:moveTo>
                  <a:pt x="1532381" y="980186"/>
                </a:moveTo>
                <a:lnTo>
                  <a:pt x="1409318" y="980186"/>
                </a:lnTo>
                <a:lnTo>
                  <a:pt x="1409318" y="997203"/>
                </a:lnTo>
                <a:lnTo>
                  <a:pt x="1532381" y="997203"/>
                </a:lnTo>
                <a:lnTo>
                  <a:pt x="1532381" y="980186"/>
                </a:lnTo>
                <a:close/>
              </a:path>
              <a:path w="4577080" h="3944620">
                <a:moveTo>
                  <a:pt x="1286383" y="980186"/>
                </a:moveTo>
                <a:lnTo>
                  <a:pt x="1163319" y="980186"/>
                </a:lnTo>
                <a:lnTo>
                  <a:pt x="1163319" y="997203"/>
                </a:lnTo>
                <a:lnTo>
                  <a:pt x="1286383" y="997203"/>
                </a:lnTo>
                <a:lnTo>
                  <a:pt x="1286383" y="980186"/>
                </a:lnTo>
                <a:close/>
              </a:path>
              <a:path w="4577080" h="3944620">
                <a:moveTo>
                  <a:pt x="3236341" y="907414"/>
                </a:moveTo>
                <a:lnTo>
                  <a:pt x="3209438" y="919851"/>
                </a:lnTo>
                <a:lnTo>
                  <a:pt x="3182286" y="931465"/>
                </a:lnTo>
                <a:lnTo>
                  <a:pt x="3154634" y="942294"/>
                </a:lnTo>
                <a:lnTo>
                  <a:pt x="3126231" y="952373"/>
                </a:lnTo>
                <a:lnTo>
                  <a:pt x="3133852" y="967358"/>
                </a:lnTo>
                <a:lnTo>
                  <a:pt x="3162671" y="958139"/>
                </a:lnTo>
                <a:lnTo>
                  <a:pt x="3191240" y="946943"/>
                </a:lnTo>
                <a:lnTo>
                  <a:pt x="3219309" y="934176"/>
                </a:lnTo>
                <a:lnTo>
                  <a:pt x="3246628" y="920241"/>
                </a:lnTo>
                <a:lnTo>
                  <a:pt x="3236341" y="907414"/>
                </a:lnTo>
                <a:close/>
              </a:path>
              <a:path w="4577080" h="3944620">
                <a:moveTo>
                  <a:pt x="3405504" y="766190"/>
                </a:moveTo>
                <a:lnTo>
                  <a:pt x="3387766" y="786645"/>
                </a:lnTo>
                <a:lnTo>
                  <a:pt x="3369040" y="806291"/>
                </a:lnTo>
                <a:lnTo>
                  <a:pt x="3349337" y="825126"/>
                </a:lnTo>
                <a:lnTo>
                  <a:pt x="3328669" y="843152"/>
                </a:lnTo>
                <a:lnTo>
                  <a:pt x="3344037" y="855979"/>
                </a:lnTo>
                <a:lnTo>
                  <a:pt x="3365101" y="836672"/>
                </a:lnTo>
                <a:lnTo>
                  <a:pt x="3385677" y="816959"/>
                </a:lnTo>
                <a:lnTo>
                  <a:pt x="3405276" y="796436"/>
                </a:lnTo>
                <a:lnTo>
                  <a:pt x="3423412" y="774700"/>
                </a:lnTo>
                <a:lnTo>
                  <a:pt x="3405504" y="766190"/>
                </a:lnTo>
                <a:close/>
              </a:path>
              <a:path w="4577080" h="3944620">
                <a:moveTo>
                  <a:pt x="3492627" y="577850"/>
                </a:moveTo>
                <a:lnTo>
                  <a:pt x="3486374" y="602178"/>
                </a:lnTo>
                <a:lnTo>
                  <a:pt x="3478895" y="626744"/>
                </a:lnTo>
                <a:lnTo>
                  <a:pt x="3469963" y="650930"/>
                </a:lnTo>
                <a:lnTo>
                  <a:pt x="3459353" y="674115"/>
                </a:lnTo>
                <a:lnTo>
                  <a:pt x="3479800" y="680592"/>
                </a:lnTo>
                <a:lnTo>
                  <a:pt x="3490370" y="656125"/>
                </a:lnTo>
                <a:lnTo>
                  <a:pt x="3499024" y="631063"/>
                </a:lnTo>
                <a:lnTo>
                  <a:pt x="3505749" y="605619"/>
                </a:lnTo>
                <a:lnTo>
                  <a:pt x="3510533" y="580008"/>
                </a:lnTo>
                <a:lnTo>
                  <a:pt x="3492627" y="577850"/>
                </a:lnTo>
                <a:close/>
              </a:path>
              <a:path w="4577080" h="3944620">
                <a:moveTo>
                  <a:pt x="3500374" y="372363"/>
                </a:moveTo>
                <a:lnTo>
                  <a:pt x="3479800" y="376681"/>
                </a:lnTo>
                <a:lnTo>
                  <a:pt x="3486957" y="401077"/>
                </a:lnTo>
                <a:lnTo>
                  <a:pt x="3492674" y="426116"/>
                </a:lnTo>
                <a:lnTo>
                  <a:pt x="3496462" y="451584"/>
                </a:lnTo>
                <a:lnTo>
                  <a:pt x="3497833" y="477265"/>
                </a:lnTo>
                <a:lnTo>
                  <a:pt x="3518280" y="475106"/>
                </a:lnTo>
                <a:lnTo>
                  <a:pt x="3515840" y="449409"/>
                </a:lnTo>
                <a:lnTo>
                  <a:pt x="3512184" y="423735"/>
                </a:lnTo>
                <a:lnTo>
                  <a:pt x="3507101" y="398061"/>
                </a:lnTo>
                <a:lnTo>
                  <a:pt x="3500374" y="372363"/>
                </a:lnTo>
                <a:close/>
              </a:path>
              <a:path w="4577080" h="3944620">
                <a:moveTo>
                  <a:pt x="3390138" y="186181"/>
                </a:moveTo>
                <a:lnTo>
                  <a:pt x="3374770" y="196850"/>
                </a:lnTo>
                <a:lnTo>
                  <a:pt x="3393076" y="216832"/>
                </a:lnTo>
                <a:lnTo>
                  <a:pt x="3409680" y="238029"/>
                </a:lnTo>
                <a:lnTo>
                  <a:pt x="3424830" y="260036"/>
                </a:lnTo>
                <a:lnTo>
                  <a:pt x="3438779" y="282448"/>
                </a:lnTo>
                <a:lnTo>
                  <a:pt x="3456813" y="273938"/>
                </a:lnTo>
                <a:lnTo>
                  <a:pt x="3442394" y="251493"/>
                </a:lnTo>
                <a:lnTo>
                  <a:pt x="3426332" y="229250"/>
                </a:lnTo>
                <a:lnTo>
                  <a:pt x="3408842" y="207412"/>
                </a:lnTo>
                <a:lnTo>
                  <a:pt x="3390138" y="186181"/>
                </a:lnTo>
                <a:close/>
              </a:path>
              <a:path w="4577080" h="3944620">
                <a:moveTo>
                  <a:pt x="3197987" y="53466"/>
                </a:moveTo>
                <a:lnTo>
                  <a:pt x="3190240" y="68452"/>
                </a:lnTo>
                <a:lnTo>
                  <a:pt x="3216697" y="80466"/>
                </a:lnTo>
                <a:lnTo>
                  <a:pt x="3242167" y="93884"/>
                </a:lnTo>
                <a:lnTo>
                  <a:pt x="3266660" y="108493"/>
                </a:lnTo>
                <a:lnTo>
                  <a:pt x="3290189" y="124078"/>
                </a:lnTo>
                <a:lnTo>
                  <a:pt x="3303016" y="111251"/>
                </a:lnTo>
                <a:lnTo>
                  <a:pt x="3277961" y="95632"/>
                </a:lnTo>
                <a:lnTo>
                  <a:pt x="3252406" y="80787"/>
                </a:lnTo>
                <a:lnTo>
                  <a:pt x="3225899" y="66728"/>
                </a:lnTo>
                <a:lnTo>
                  <a:pt x="3197987" y="53466"/>
                </a:lnTo>
                <a:close/>
              </a:path>
              <a:path w="4577080" h="3944620">
                <a:moveTo>
                  <a:pt x="2957067" y="0"/>
                </a:moveTo>
                <a:lnTo>
                  <a:pt x="2957067" y="17144"/>
                </a:lnTo>
                <a:lnTo>
                  <a:pt x="2987434" y="19182"/>
                </a:lnTo>
                <a:lnTo>
                  <a:pt x="3017313" y="22209"/>
                </a:lnTo>
                <a:lnTo>
                  <a:pt x="3047168" y="26449"/>
                </a:lnTo>
                <a:lnTo>
                  <a:pt x="3077464" y="32130"/>
                </a:lnTo>
                <a:lnTo>
                  <a:pt x="3082670" y="17144"/>
                </a:lnTo>
                <a:lnTo>
                  <a:pt x="3051865" y="10269"/>
                </a:lnTo>
                <a:lnTo>
                  <a:pt x="3020821" y="5381"/>
                </a:lnTo>
                <a:lnTo>
                  <a:pt x="2989302" y="2089"/>
                </a:lnTo>
                <a:lnTo>
                  <a:pt x="2957067" y="0"/>
                </a:lnTo>
                <a:close/>
              </a:path>
              <a:path w="4577080" h="3944620">
                <a:moveTo>
                  <a:pt x="2834131" y="0"/>
                </a:moveTo>
                <a:lnTo>
                  <a:pt x="2711068" y="0"/>
                </a:lnTo>
                <a:lnTo>
                  <a:pt x="2711068" y="17144"/>
                </a:lnTo>
                <a:lnTo>
                  <a:pt x="2834131" y="17144"/>
                </a:lnTo>
                <a:lnTo>
                  <a:pt x="2834131" y="0"/>
                </a:lnTo>
                <a:close/>
              </a:path>
              <a:path w="4577080" h="3944620">
                <a:moveTo>
                  <a:pt x="2588132" y="0"/>
                </a:moveTo>
                <a:lnTo>
                  <a:pt x="2465069" y="0"/>
                </a:lnTo>
                <a:lnTo>
                  <a:pt x="2465069" y="17144"/>
                </a:lnTo>
                <a:lnTo>
                  <a:pt x="2588132" y="17144"/>
                </a:lnTo>
                <a:lnTo>
                  <a:pt x="2588132" y="0"/>
                </a:lnTo>
                <a:close/>
              </a:path>
              <a:path w="4577080" h="3944620">
                <a:moveTo>
                  <a:pt x="2342133" y="0"/>
                </a:moveTo>
                <a:lnTo>
                  <a:pt x="2219070" y="0"/>
                </a:lnTo>
                <a:lnTo>
                  <a:pt x="2219070" y="17144"/>
                </a:lnTo>
                <a:lnTo>
                  <a:pt x="2342133" y="17144"/>
                </a:lnTo>
                <a:lnTo>
                  <a:pt x="2342133" y="0"/>
                </a:lnTo>
                <a:close/>
              </a:path>
              <a:path w="4577080" h="3944620">
                <a:moveTo>
                  <a:pt x="2096134" y="0"/>
                </a:moveTo>
                <a:lnTo>
                  <a:pt x="1973071" y="0"/>
                </a:lnTo>
                <a:lnTo>
                  <a:pt x="1973071" y="17144"/>
                </a:lnTo>
                <a:lnTo>
                  <a:pt x="2096134" y="17144"/>
                </a:lnTo>
                <a:lnTo>
                  <a:pt x="2096134" y="0"/>
                </a:lnTo>
                <a:close/>
              </a:path>
              <a:path w="4577080" h="3944620">
                <a:moveTo>
                  <a:pt x="1847595" y="0"/>
                </a:moveTo>
                <a:lnTo>
                  <a:pt x="1724532" y="0"/>
                </a:lnTo>
                <a:lnTo>
                  <a:pt x="1724532" y="17144"/>
                </a:lnTo>
                <a:lnTo>
                  <a:pt x="1847595" y="17144"/>
                </a:lnTo>
                <a:lnTo>
                  <a:pt x="1847595" y="0"/>
                </a:lnTo>
                <a:close/>
              </a:path>
              <a:path w="4577080" h="3944620">
                <a:moveTo>
                  <a:pt x="1601597" y="0"/>
                </a:moveTo>
                <a:lnTo>
                  <a:pt x="1478534" y="0"/>
                </a:lnTo>
                <a:lnTo>
                  <a:pt x="1478534" y="17144"/>
                </a:lnTo>
                <a:lnTo>
                  <a:pt x="1601597" y="17144"/>
                </a:lnTo>
                <a:lnTo>
                  <a:pt x="1601597" y="0"/>
                </a:lnTo>
                <a:close/>
              </a:path>
              <a:path w="4577080" h="3944620">
                <a:moveTo>
                  <a:pt x="1355598" y="0"/>
                </a:moveTo>
                <a:lnTo>
                  <a:pt x="1232535" y="0"/>
                </a:lnTo>
                <a:lnTo>
                  <a:pt x="1232535" y="17144"/>
                </a:lnTo>
                <a:lnTo>
                  <a:pt x="1355598" y="17144"/>
                </a:lnTo>
                <a:lnTo>
                  <a:pt x="1355598" y="0"/>
                </a:lnTo>
                <a:close/>
              </a:path>
              <a:path w="4577080" h="3944620">
                <a:moveTo>
                  <a:pt x="1109598" y="0"/>
                </a:moveTo>
                <a:lnTo>
                  <a:pt x="986535" y="0"/>
                </a:lnTo>
                <a:lnTo>
                  <a:pt x="986535" y="17144"/>
                </a:lnTo>
                <a:lnTo>
                  <a:pt x="1109598" y="17144"/>
                </a:lnTo>
                <a:lnTo>
                  <a:pt x="1109598" y="0"/>
                </a:lnTo>
                <a:close/>
              </a:path>
              <a:path w="4577080" h="3944620">
                <a:moveTo>
                  <a:pt x="863599" y="0"/>
                </a:moveTo>
                <a:lnTo>
                  <a:pt x="740536" y="0"/>
                </a:lnTo>
                <a:lnTo>
                  <a:pt x="740536" y="17144"/>
                </a:lnTo>
                <a:lnTo>
                  <a:pt x="863599" y="17144"/>
                </a:lnTo>
                <a:lnTo>
                  <a:pt x="863599" y="0"/>
                </a:lnTo>
                <a:close/>
              </a:path>
              <a:path w="4577080" h="3944620">
                <a:moveTo>
                  <a:pt x="617600" y="0"/>
                </a:moveTo>
                <a:lnTo>
                  <a:pt x="491997" y="0"/>
                </a:lnTo>
                <a:lnTo>
                  <a:pt x="491997" y="17144"/>
                </a:lnTo>
                <a:lnTo>
                  <a:pt x="617600" y="17144"/>
                </a:lnTo>
                <a:lnTo>
                  <a:pt x="617600" y="0"/>
                </a:lnTo>
                <a:close/>
              </a:path>
              <a:path w="4577080" h="3944620">
                <a:moveTo>
                  <a:pt x="368934" y="0"/>
                </a:moveTo>
                <a:lnTo>
                  <a:pt x="245998" y="0"/>
                </a:lnTo>
                <a:lnTo>
                  <a:pt x="245998" y="17144"/>
                </a:lnTo>
                <a:lnTo>
                  <a:pt x="368934" y="17144"/>
                </a:lnTo>
                <a:lnTo>
                  <a:pt x="368934" y="0"/>
                </a:lnTo>
                <a:close/>
              </a:path>
              <a:path w="4577080" h="3944620">
                <a:moveTo>
                  <a:pt x="122935" y="0"/>
                </a:moveTo>
                <a:lnTo>
                  <a:pt x="0" y="0"/>
                </a:lnTo>
                <a:lnTo>
                  <a:pt x="0" y="17144"/>
                </a:lnTo>
                <a:lnTo>
                  <a:pt x="122935" y="17144"/>
                </a:lnTo>
                <a:lnTo>
                  <a:pt x="12293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DBB6F093-20E5-0E6B-5176-0D70F0BA0AAE}"/>
              </a:ext>
            </a:extLst>
          </p:cNvPr>
          <p:cNvSpPr/>
          <p:nvPr/>
        </p:nvSpPr>
        <p:spPr>
          <a:xfrm>
            <a:off x="475994" y="1571957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" name="object 112">
            <a:extLst>
              <a:ext uri="{FF2B5EF4-FFF2-40B4-BE49-F238E27FC236}">
                <a16:creationId xmlns:a16="http://schemas.microsoft.com/office/drawing/2014/main" id="{3B876E0C-844C-C1F3-A30D-0CAAE2C1EA8B}"/>
              </a:ext>
            </a:extLst>
          </p:cNvPr>
          <p:cNvSpPr txBox="1"/>
          <p:nvPr/>
        </p:nvSpPr>
        <p:spPr>
          <a:xfrm>
            <a:off x="584573" y="1643526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1978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87652CC-0D97-F06D-B0CF-9818B412BACB}"/>
              </a:ext>
            </a:extLst>
          </p:cNvPr>
          <p:cNvGrpSpPr/>
          <p:nvPr/>
        </p:nvGrpSpPr>
        <p:grpSpPr>
          <a:xfrm>
            <a:off x="284732" y="1357478"/>
            <a:ext cx="381000" cy="457200"/>
            <a:chOff x="231647" y="1248155"/>
            <a:chExt cx="381000" cy="457200"/>
          </a:xfrm>
        </p:grpSpPr>
        <p:sp>
          <p:nvSpPr>
            <p:cNvPr id="213" name="object 115">
              <a:extLst>
                <a:ext uri="{FF2B5EF4-FFF2-40B4-BE49-F238E27FC236}">
                  <a16:creationId xmlns:a16="http://schemas.microsoft.com/office/drawing/2014/main" id="{5E144CDB-7B1E-7570-59DC-DCFEFC6D0F2D}"/>
                </a:ext>
              </a:extLst>
            </p:cNvPr>
            <p:cNvSpPr/>
            <p:nvPr/>
          </p:nvSpPr>
          <p:spPr>
            <a:xfrm>
              <a:off x="231647" y="1248155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39951" y="6483"/>
                  </a:lnTo>
                  <a:lnTo>
                    <a:pt x="94471" y="24816"/>
                  </a:lnTo>
                  <a:lnTo>
                    <a:pt x="55897" y="53324"/>
                  </a:lnTo>
                  <a:lnTo>
                    <a:pt x="26068" y="90329"/>
                  </a:lnTo>
                  <a:lnTo>
                    <a:pt x="6823" y="134158"/>
                  </a:lnTo>
                  <a:lnTo>
                    <a:pt x="0" y="183134"/>
                  </a:lnTo>
                  <a:lnTo>
                    <a:pt x="29765" y="268497"/>
                  </a:lnTo>
                  <a:lnTo>
                    <a:pt x="95250" y="357981"/>
                  </a:lnTo>
                  <a:lnTo>
                    <a:pt x="160734" y="428557"/>
                  </a:lnTo>
                  <a:lnTo>
                    <a:pt x="190500" y="457200"/>
                  </a:lnTo>
                  <a:lnTo>
                    <a:pt x="220265" y="428557"/>
                  </a:lnTo>
                  <a:lnTo>
                    <a:pt x="285750" y="357981"/>
                  </a:lnTo>
                  <a:lnTo>
                    <a:pt x="351234" y="268497"/>
                  </a:lnTo>
                  <a:lnTo>
                    <a:pt x="381000" y="183134"/>
                  </a:lnTo>
                  <a:lnTo>
                    <a:pt x="374176" y="134158"/>
                  </a:lnTo>
                  <a:lnTo>
                    <a:pt x="354931" y="90329"/>
                  </a:lnTo>
                  <a:lnTo>
                    <a:pt x="325102" y="53324"/>
                  </a:lnTo>
                  <a:lnTo>
                    <a:pt x="286528" y="24816"/>
                  </a:lnTo>
                  <a:lnTo>
                    <a:pt x="241048" y="6483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CAE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14" name="object 116">
              <a:extLst>
                <a:ext uri="{FF2B5EF4-FFF2-40B4-BE49-F238E27FC236}">
                  <a16:creationId xmlns:a16="http://schemas.microsoft.com/office/drawing/2014/main" id="{23C1481C-0A9C-92AC-3E78-B1A837891B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470" y="1408587"/>
              <a:ext cx="89567" cy="159487"/>
            </a:xfrm>
            <a:prstGeom prst="rect">
              <a:avLst/>
            </a:prstGeom>
          </p:spPr>
        </p:pic>
        <p:pic>
          <p:nvPicPr>
            <p:cNvPr id="215" name="object 117">
              <a:extLst>
                <a:ext uri="{FF2B5EF4-FFF2-40B4-BE49-F238E27FC236}">
                  <a16:creationId xmlns:a16="http://schemas.microsoft.com/office/drawing/2014/main" id="{C2522D31-39F7-CBE5-CDD8-C3633BDD174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679" y="1317908"/>
              <a:ext cx="72593" cy="250623"/>
            </a:xfrm>
            <a:prstGeom prst="rect">
              <a:avLst/>
            </a:prstGeom>
          </p:spPr>
        </p:pic>
      </p:grp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D7B1E329-56F1-6FA0-72E0-BCACF7586521}"/>
              </a:ext>
            </a:extLst>
          </p:cNvPr>
          <p:cNvSpPr/>
          <p:nvPr/>
        </p:nvSpPr>
        <p:spPr>
          <a:xfrm>
            <a:off x="1063413" y="948164"/>
            <a:ext cx="2258994" cy="6043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EPI</a:t>
            </a:r>
            <a:r>
              <a:rPr kumimoji="0" lang="en-US" sz="1200" b="1" i="0" u="none" strike="noStrike" kern="120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US" sz="12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BCG,</a:t>
            </a:r>
            <a:r>
              <a:rPr kumimoji="0" lang="en-US" sz="1200" b="1" i="0" u="none" strike="noStrike" kern="1200" cap="none" spc="-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2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OPV,</a:t>
            </a:r>
            <a:r>
              <a:rPr kumimoji="0" lang="en-US" sz="1200" b="1" i="0" u="none" strike="noStrike" kern="120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DPT</a:t>
            </a:r>
            <a:r>
              <a:rPr kumimoji="0" lang="en-US" sz="1200" b="1" i="0" u="none" strike="noStrike" kern="120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&amp;</a:t>
            </a:r>
            <a:r>
              <a:rPr kumimoji="0" lang="en-US" sz="1200" b="1" i="0" u="none" strike="noStrike" kern="1200" cap="none" spc="-3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typhoid-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ts val="1750"/>
              </a:lnSpc>
              <a:spcBef>
                <a:spcPts val="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paratyphoid vaccines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8CFDFFA0-2271-4AB0-0445-939175D625B2}"/>
              </a:ext>
            </a:extLst>
          </p:cNvPr>
          <p:cNvSpPr/>
          <p:nvPr/>
        </p:nvSpPr>
        <p:spPr>
          <a:xfrm>
            <a:off x="3760597" y="1556430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0" name="object 112">
            <a:extLst>
              <a:ext uri="{FF2B5EF4-FFF2-40B4-BE49-F238E27FC236}">
                <a16:creationId xmlns:a16="http://schemas.microsoft.com/office/drawing/2014/main" id="{A31D349B-F5EF-F196-43B1-44DE0AD711F1}"/>
              </a:ext>
            </a:extLst>
          </p:cNvPr>
          <p:cNvSpPr txBox="1"/>
          <p:nvPr/>
        </p:nvSpPr>
        <p:spPr>
          <a:xfrm>
            <a:off x="3849991" y="1623972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1985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4C821EC-6C70-784A-CF94-DBDB72E2E11F}"/>
              </a:ext>
            </a:extLst>
          </p:cNvPr>
          <p:cNvSpPr/>
          <p:nvPr/>
        </p:nvSpPr>
        <p:spPr>
          <a:xfrm>
            <a:off x="4511355" y="2459617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object 112">
            <a:extLst>
              <a:ext uri="{FF2B5EF4-FFF2-40B4-BE49-F238E27FC236}">
                <a16:creationId xmlns:a16="http://schemas.microsoft.com/office/drawing/2014/main" id="{CE85B7C8-12CF-138C-3A1B-0B44CBEB7BCA}"/>
              </a:ext>
            </a:extLst>
          </p:cNvPr>
          <p:cNvSpPr txBox="1"/>
          <p:nvPr/>
        </p:nvSpPr>
        <p:spPr>
          <a:xfrm>
            <a:off x="4602537" y="2528258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2002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5A784865-5BD0-97B2-235A-68E98686026D}"/>
              </a:ext>
            </a:extLst>
          </p:cNvPr>
          <p:cNvSpPr/>
          <p:nvPr/>
        </p:nvSpPr>
        <p:spPr>
          <a:xfrm>
            <a:off x="1892165" y="2715570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object 112">
            <a:extLst>
              <a:ext uri="{FF2B5EF4-FFF2-40B4-BE49-F238E27FC236}">
                <a16:creationId xmlns:a16="http://schemas.microsoft.com/office/drawing/2014/main" id="{70708FC0-A501-D2B2-AF89-0C671596EF10}"/>
              </a:ext>
            </a:extLst>
          </p:cNvPr>
          <p:cNvSpPr txBox="1"/>
          <p:nvPr/>
        </p:nvSpPr>
        <p:spPr>
          <a:xfrm>
            <a:off x="1983347" y="2784211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2006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4DF21D1E-84A4-68F0-A845-6C7ED6ADA20C}"/>
              </a:ext>
            </a:extLst>
          </p:cNvPr>
          <p:cNvSpPr/>
          <p:nvPr/>
        </p:nvSpPr>
        <p:spPr>
          <a:xfrm>
            <a:off x="2575075" y="3534700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object 112">
            <a:extLst>
              <a:ext uri="{FF2B5EF4-FFF2-40B4-BE49-F238E27FC236}">
                <a16:creationId xmlns:a16="http://schemas.microsoft.com/office/drawing/2014/main" id="{5D3FFDAD-E334-A324-2BBE-4B8C31E8342E}"/>
              </a:ext>
            </a:extLst>
          </p:cNvPr>
          <p:cNvSpPr txBox="1"/>
          <p:nvPr/>
        </p:nvSpPr>
        <p:spPr>
          <a:xfrm>
            <a:off x="2666257" y="3603341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2010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67D48BF3-0A9E-55D0-84FF-210371F753AC}"/>
              </a:ext>
            </a:extLst>
          </p:cNvPr>
          <p:cNvSpPr/>
          <p:nvPr/>
        </p:nvSpPr>
        <p:spPr>
          <a:xfrm>
            <a:off x="4497430" y="3527242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object 112">
            <a:extLst>
              <a:ext uri="{FF2B5EF4-FFF2-40B4-BE49-F238E27FC236}">
                <a16:creationId xmlns:a16="http://schemas.microsoft.com/office/drawing/2014/main" id="{93D15627-FDA4-0A65-49B5-FB6A3D058234}"/>
              </a:ext>
            </a:extLst>
          </p:cNvPr>
          <p:cNvSpPr txBox="1"/>
          <p:nvPr/>
        </p:nvSpPr>
        <p:spPr>
          <a:xfrm>
            <a:off x="4588612" y="3595883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2011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BA93B668-0AA1-C309-F543-9AFB1323F92F}"/>
              </a:ext>
            </a:extLst>
          </p:cNvPr>
          <p:cNvSpPr/>
          <p:nvPr/>
        </p:nvSpPr>
        <p:spPr>
          <a:xfrm>
            <a:off x="5315621" y="4515023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object 112">
            <a:extLst>
              <a:ext uri="{FF2B5EF4-FFF2-40B4-BE49-F238E27FC236}">
                <a16:creationId xmlns:a16="http://schemas.microsoft.com/office/drawing/2014/main" id="{7B30576A-FA27-4C42-7868-CA4A3E7FE7FC}"/>
              </a:ext>
            </a:extLst>
          </p:cNvPr>
          <p:cNvSpPr txBox="1"/>
          <p:nvPr/>
        </p:nvSpPr>
        <p:spPr>
          <a:xfrm>
            <a:off x="5406803" y="4583664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2013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697996AE-E932-39F9-5F22-44C79879FAA6}"/>
              </a:ext>
            </a:extLst>
          </p:cNvPr>
          <p:cNvSpPr/>
          <p:nvPr/>
        </p:nvSpPr>
        <p:spPr>
          <a:xfrm>
            <a:off x="3090492" y="4514955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object 112">
            <a:extLst>
              <a:ext uri="{FF2B5EF4-FFF2-40B4-BE49-F238E27FC236}">
                <a16:creationId xmlns:a16="http://schemas.microsoft.com/office/drawing/2014/main" id="{2D2977A0-76D9-76C6-9127-E4DD1E5F0868}"/>
              </a:ext>
            </a:extLst>
          </p:cNvPr>
          <p:cNvSpPr txBox="1"/>
          <p:nvPr/>
        </p:nvSpPr>
        <p:spPr>
          <a:xfrm>
            <a:off x="3181674" y="4569948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2015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C047F539-704A-EA50-4B62-2978B078933B}"/>
              </a:ext>
            </a:extLst>
          </p:cNvPr>
          <p:cNvSpPr/>
          <p:nvPr/>
        </p:nvSpPr>
        <p:spPr>
          <a:xfrm>
            <a:off x="1798459" y="4515673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object 112">
            <a:extLst>
              <a:ext uri="{FF2B5EF4-FFF2-40B4-BE49-F238E27FC236}">
                <a16:creationId xmlns:a16="http://schemas.microsoft.com/office/drawing/2014/main" id="{90D4B75F-EA70-A10C-1BEC-8ED34847111C}"/>
              </a:ext>
            </a:extLst>
          </p:cNvPr>
          <p:cNvSpPr txBox="1"/>
          <p:nvPr/>
        </p:nvSpPr>
        <p:spPr>
          <a:xfrm>
            <a:off x="1889641" y="4584314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2016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02D4567B-A95A-3908-8760-1619604A1824}"/>
              </a:ext>
            </a:extLst>
          </p:cNvPr>
          <p:cNvSpPr/>
          <p:nvPr/>
        </p:nvSpPr>
        <p:spPr>
          <a:xfrm>
            <a:off x="1927153" y="5495069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object 112">
            <a:extLst>
              <a:ext uri="{FF2B5EF4-FFF2-40B4-BE49-F238E27FC236}">
                <a16:creationId xmlns:a16="http://schemas.microsoft.com/office/drawing/2014/main" id="{5A42D5EE-A7A4-F103-EFC5-81E47B55C3CD}"/>
              </a:ext>
            </a:extLst>
          </p:cNvPr>
          <p:cNvSpPr txBox="1"/>
          <p:nvPr/>
        </p:nvSpPr>
        <p:spPr>
          <a:xfrm>
            <a:off x="2018335" y="5563710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2017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DCE9E6CA-5742-F741-EB9A-75DC40E4BCED}"/>
              </a:ext>
            </a:extLst>
          </p:cNvPr>
          <p:cNvSpPr/>
          <p:nvPr/>
        </p:nvSpPr>
        <p:spPr>
          <a:xfrm>
            <a:off x="4174019" y="5495069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object 112">
            <a:extLst>
              <a:ext uri="{FF2B5EF4-FFF2-40B4-BE49-F238E27FC236}">
                <a16:creationId xmlns:a16="http://schemas.microsoft.com/office/drawing/2014/main" id="{14EBBF1D-D35E-133B-9C2B-3B459C31F098}"/>
              </a:ext>
            </a:extLst>
          </p:cNvPr>
          <p:cNvSpPr txBox="1"/>
          <p:nvPr/>
        </p:nvSpPr>
        <p:spPr>
          <a:xfrm>
            <a:off x="4265201" y="5563710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2019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F1EDE3CF-F965-F8C4-2EBB-845F4756D5BA}"/>
              </a:ext>
            </a:extLst>
          </p:cNvPr>
          <p:cNvSpPr/>
          <p:nvPr/>
        </p:nvSpPr>
        <p:spPr>
          <a:xfrm>
            <a:off x="6570550" y="5495069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object 112">
            <a:extLst>
              <a:ext uri="{FF2B5EF4-FFF2-40B4-BE49-F238E27FC236}">
                <a16:creationId xmlns:a16="http://schemas.microsoft.com/office/drawing/2014/main" id="{C5E269B5-F8B3-7A9A-237E-81B41E3A7156}"/>
              </a:ext>
            </a:extLst>
          </p:cNvPr>
          <p:cNvSpPr txBox="1"/>
          <p:nvPr/>
        </p:nvSpPr>
        <p:spPr>
          <a:xfrm>
            <a:off x="6661732" y="5563710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2021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80FD2F70-464A-92E0-4A4D-277E71D5005F}"/>
              </a:ext>
            </a:extLst>
          </p:cNvPr>
          <p:cNvSpPr/>
          <p:nvPr/>
        </p:nvSpPr>
        <p:spPr>
          <a:xfrm>
            <a:off x="8646382" y="5494573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object 112">
            <a:extLst>
              <a:ext uri="{FF2B5EF4-FFF2-40B4-BE49-F238E27FC236}">
                <a16:creationId xmlns:a16="http://schemas.microsoft.com/office/drawing/2014/main" id="{315E3AB4-0173-C40E-B904-C630D8A40164}"/>
              </a:ext>
            </a:extLst>
          </p:cNvPr>
          <p:cNvSpPr txBox="1"/>
          <p:nvPr/>
        </p:nvSpPr>
        <p:spPr>
          <a:xfrm>
            <a:off x="8737564" y="5563214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2022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789B9C28-17AC-6235-05E1-80D8C79B1D08}"/>
              </a:ext>
            </a:extLst>
          </p:cNvPr>
          <p:cNvSpPr/>
          <p:nvPr/>
        </p:nvSpPr>
        <p:spPr>
          <a:xfrm>
            <a:off x="4327359" y="889211"/>
            <a:ext cx="2258994" cy="6043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UIP - Vaccine against 6 VPDs-</a:t>
            </a:r>
          </a:p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Measles, DPT, TB, Polio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229A5283-6E24-CE40-F274-85881A42A18D}"/>
              </a:ext>
            </a:extLst>
          </p:cNvPr>
          <p:cNvSpPr/>
          <p:nvPr/>
        </p:nvSpPr>
        <p:spPr>
          <a:xfrm>
            <a:off x="10702240" y="5483200"/>
            <a:ext cx="703748" cy="364908"/>
          </a:xfrm>
          <a:prstGeom prst="roundRect">
            <a:avLst>
              <a:gd name="adj" fmla="val 3603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8" name="object 112">
            <a:extLst>
              <a:ext uri="{FF2B5EF4-FFF2-40B4-BE49-F238E27FC236}">
                <a16:creationId xmlns:a16="http://schemas.microsoft.com/office/drawing/2014/main" id="{E0FE18C0-C506-9BB8-5A0E-B1315020EABE}"/>
              </a:ext>
            </a:extLst>
          </p:cNvPr>
          <p:cNvSpPr txBox="1"/>
          <p:nvPr/>
        </p:nvSpPr>
        <p:spPr>
          <a:xfrm>
            <a:off x="10793422" y="5551841"/>
            <a:ext cx="5073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n-ea"/>
                <a:cs typeface="Cambria"/>
              </a:rPr>
              <a:t>2023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Cambria"/>
            </a:endParaRP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42AFB246-F1F6-7A68-E77B-5A6A9A6CA43E}"/>
              </a:ext>
            </a:extLst>
          </p:cNvPr>
          <p:cNvSpPr/>
          <p:nvPr/>
        </p:nvSpPr>
        <p:spPr>
          <a:xfrm>
            <a:off x="5350169" y="2417116"/>
            <a:ext cx="1205004" cy="6043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Hep. B vaccine</a:t>
            </a:r>
          </a:p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piloted</a:t>
            </a: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652128BA-0F0C-6DCD-1AAA-64B82B10FAEF}"/>
              </a:ext>
            </a:extLst>
          </p:cNvPr>
          <p:cNvSpPr/>
          <p:nvPr/>
        </p:nvSpPr>
        <p:spPr>
          <a:xfrm>
            <a:off x="768792" y="2591092"/>
            <a:ext cx="1060672" cy="6043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JE Vaccine introduced</a:t>
            </a:r>
          </a:p>
        </p:txBody>
      </p:sp>
      <p:sp>
        <p:nvSpPr>
          <p:cNvPr id="251" name="Rectangle: Rounded Corners 250">
            <a:extLst>
              <a:ext uri="{FF2B5EF4-FFF2-40B4-BE49-F238E27FC236}">
                <a16:creationId xmlns:a16="http://schemas.microsoft.com/office/drawing/2014/main" id="{6E73E360-D2BA-D0AD-65C5-9C40F3AC6781}"/>
              </a:ext>
            </a:extLst>
          </p:cNvPr>
          <p:cNvSpPr/>
          <p:nvPr/>
        </p:nvSpPr>
        <p:spPr>
          <a:xfrm>
            <a:off x="272474" y="3635885"/>
            <a:ext cx="2246580" cy="6043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Measles 2nd dose introduced,</a:t>
            </a:r>
          </a:p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Hep-B Nationwide</a:t>
            </a:r>
          </a:p>
        </p:txBody>
      </p:sp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7F53704B-1CF2-B9D0-564B-B8D5FDDFB153}"/>
              </a:ext>
            </a:extLst>
          </p:cNvPr>
          <p:cNvSpPr/>
          <p:nvPr/>
        </p:nvSpPr>
        <p:spPr>
          <a:xfrm>
            <a:off x="5137116" y="3724211"/>
            <a:ext cx="1576467" cy="6043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Pentavalent vaccine introduced</a:t>
            </a:r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247E2C2-C49B-F6BF-CE0E-DB4A8F6A58AF}"/>
              </a:ext>
            </a:extLst>
          </p:cNvPr>
          <p:cNvGrpSpPr/>
          <p:nvPr/>
        </p:nvGrpSpPr>
        <p:grpSpPr>
          <a:xfrm>
            <a:off x="3586130" y="1331374"/>
            <a:ext cx="381000" cy="425450"/>
            <a:chOff x="1531619" y="2604515"/>
            <a:chExt cx="381000" cy="425450"/>
          </a:xfrm>
        </p:grpSpPr>
        <p:sp>
          <p:nvSpPr>
            <p:cNvPr id="254" name="object 46">
              <a:extLst>
                <a:ext uri="{FF2B5EF4-FFF2-40B4-BE49-F238E27FC236}">
                  <a16:creationId xmlns:a16="http://schemas.microsoft.com/office/drawing/2014/main" id="{4C8E4EAD-1998-8CAA-E51F-4E948A286050}"/>
                </a:ext>
              </a:extLst>
            </p:cNvPr>
            <p:cNvSpPr/>
            <p:nvPr/>
          </p:nvSpPr>
          <p:spPr>
            <a:xfrm>
              <a:off x="1531619" y="2604515"/>
              <a:ext cx="381000" cy="425450"/>
            </a:xfrm>
            <a:custGeom>
              <a:avLst/>
              <a:gdLst/>
              <a:ahLst/>
              <a:cxnLst/>
              <a:rect l="l" t="t" r="r" b="b"/>
              <a:pathLst>
                <a:path w="381000" h="425450">
                  <a:moveTo>
                    <a:pt x="190500" y="0"/>
                  </a:moveTo>
                  <a:lnTo>
                    <a:pt x="139964" y="6027"/>
                  </a:lnTo>
                  <a:lnTo>
                    <a:pt x="94487" y="23071"/>
                  </a:lnTo>
                  <a:lnTo>
                    <a:pt x="55911" y="49577"/>
                  </a:lnTo>
                  <a:lnTo>
                    <a:pt x="26077" y="83989"/>
                  </a:lnTo>
                  <a:lnTo>
                    <a:pt x="6826" y="124751"/>
                  </a:lnTo>
                  <a:lnTo>
                    <a:pt x="0" y="170307"/>
                  </a:lnTo>
                  <a:lnTo>
                    <a:pt x="29765" y="249674"/>
                  </a:lnTo>
                  <a:lnTo>
                    <a:pt x="95250" y="332898"/>
                  </a:lnTo>
                  <a:lnTo>
                    <a:pt x="160734" y="398549"/>
                  </a:lnTo>
                  <a:lnTo>
                    <a:pt x="190500" y="425196"/>
                  </a:lnTo>
                  <a:lnTo>
                    <a:pt x="220265" y="398549"/>
                  </a:lnTo>
                  <a:lnTo>
                    <a:pt x="285750" y="332898"/>
                  </a:lnTo>
                  <a:lnTo>
                    <a:pt x="351234" y="249674"/>
                  </a:lnTo>
                  <a:lnTo>
                    <a:pt x="381000" y="170307"/>
                  </a:lnTo>
                  <a:lnTo>
                    <a:pt x="374173" y="124751"/>
                  </a:lnTo>
                  <a:lnTo>
                    <a:pt x="354922" y="83989"/>
                  </a:lnTo>
                  <a:lnTo>
                    <a:pt x="325088" y="49577"/>
                  </a:lnTo>
                  <a:lnTo>
                    <a:pt x="286512" y="23071"/>
                  </a:lnTo>
                  <a:lnTo>
                    <a:pt x="241035" y="6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901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55" name="object 47">
              <a:extLst>
                <a:ext uri="{FF2B5EF4-FFF2-40B4-BE49-F238E27FC236}">
                  <a16:creationId xmlns:a16="http://schemas.microsoft.com/office/drawing/2014/main" id="{636E6F49-714D-5754-17C9-270F32CED81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3885" y="2742548"/>
              <a:ext cx="95148" cy="168083"/>
            </a:xfrm>
            <a:prstGeom prst="rect">
              <a:avLst/>
            </a:prstGeom>
          </p:spPr>
        </p:pic>
        <p:sp>
          <p:nvSpPr>
            <p:cNvPr id="256" name="object 48">
              <a:extLst>
                <a:ext uri="{FF2B5EF4-FFF2-40B4-BE49-F238E27FC236}">
                  <a16:creationId xmlns:a16="http://schemas.microsoft.com/office/drawing/2014/main" id="{E53EE84F-5678-FD8F-9C44-88792F8B3572}"/>
                </a:ext>
              </a:extLst>
            </p:cNvPr>
            <p:cNvSpPr/>
            <p:nvPr/>
          </p:nvSpPr>
          <p:spPr>
            <a:xfrm>
              <a:off x="1626874" y="2646981"/>
              <a:ext cx="77470" cy="264160"/>
            </a:xfrm>
            <a:custGeom>
              <a:avLst/>
              <a:gdLst/>
              <a:ahLst/>
              <a:cxnLst/>
              <a:rect l="l" t="t" r="r" b="b"/>
              <a:pathLst>
                <a:path w="77469" h="264160">
                  <a:moveTo>
                    <a:pt x="61694" y="256125"/>
                  </a:moveTo>
                  <a:lnTo>
                    <a:pt x="15358" y="256125"/>
                  </a:lnTo>
                  <a:lnTo>
                    <a:pt x="13457" y="257917"/>
                  </a:lnTo>
                  <a:lnTo>
                    <a:pt x="13457" y="262338"/>
                  </a:lnTo>
                  <a:lnTo>
                    <a:pt x="15358" y="264129"/>
                  </a:lnTo>
                  <a:lnTo>
                    <a:pt x="61694" y="264129"/>
                  </a:lnTo>
                  <a:lnTo>
                    <a:pt x="63593" y="262338"/>
                  </a:lnTo>
                  <a:lnTo>
                    <a:pt x="63593" y="257917"/>
                  </a:lnTo>
                  <a:lnTo>
                    <a:pt x="61694" y="256125"/>
                  </a:lnTo>
                  <a:close/>
                </a:path>
                <a:path w="77469" h="264160">
                  <a:moveTo>
                    <a:pt x="33452" y="221787"/>
                  </a:moveTo>
                  <a:lnTo>
                    <a:pt x="24962" y="221787"/>
                  </a:lnTo>
                  <a:lnTo>
                    <a:pt x="24962" y="256125"/>
                  </a:lnTo>
                  <a:lnTo>
                    <a:pt x="33452" y="256125"/>
                  </a:lnTo>
                  <a:lnTo>
                    <a:pt x="33452" y="221787"/>
                  </a:lnTo>
                  <a:close/>
                </a:path>
                <a:path w="77469" h="264160">
                  <a:moveTo>
                    <a:pt x="52089" y="221787"/>
                  </a:moveTo>
                  <a:lnTo>
                    <a:pt x="43598" y="221787"/>
                  </a:lnTo>
                  <a:lnTo>
                    <a:pt x="43598" y="256125"/>
                  </a:lnTo>
                  <a:lnTo>
                    <a:pt x="52089" y="256125"/>
                  </a:lnTo>
                  <a:lnTo>
                    <a:pt x="52089" y="221787"/>
                  </a:lnTo>
                  <a:close/>
                </a:path>
                <a:path w="77469" h="264160">
                  <a:moveTo>
                    <a:pt x="75194" y="213783"/>
                  </a:moveTo>
                  <a:lnTo>
                    <a:pt x="1900" y="213783"/>
                  </a:lnTo>
                  <a:lnTo>
                    <a:pt x="0" y="215578"/>
                  </a:lnTo>
                  <a:lnTo>
                    <a:pt x="0" y="219996"/>
                  </a:lnTo>
                  <a:lnTo>
                    <a:pt x="1900" y="221787"/>
                  </a:lnTo>
                  <a:lnTo>
                    <a:pt x="75194" y="221787"/>
                  </a:lnTo>
                  <a:lnTo>
                    <a:pt x="77093" y="219996"/>
                  </a:lnTo>
                  <a:lnTo>
                    <a:pt x="77093" y="215578"/>
                  </a:lnTo>
                  <a:lnTo>
                    <a:pt x="75194" y="213783"/>
                  </a:lnTo>
                  <a:close/>
                </a:path>
                <a:path w="77469" h="264160">
                  <a:moveTo>
                    <a:pt x="40807" y="0"/>
                  </a:moveTo>
                  <a:lnTo>
                    <a:pt x="36116" y="0"/>
                  </a:lnTo>
                  <a:lnTo>
                    <a:pt x="34216" y="1794"/>
                  </a:lnTo>
                  <a:lnTo>
                    <a:pt x="34216" y="54026"/>
                  </a:lnTo>
                  <a:lnTo>
                    <a:pt x="27559" y="54739"/>
                  </a:lnTo>
                  <a:lnTo>
                    <a:pt x="22522" y="60035"/>
                  </a:lnTo>
                  <a:lnTo>
                    <a:pt x="22500" y="81199"/>
                  </a:lnTo>
                  <a:lnTo>
                    <a:pt x="11969" y="88102"/>
                  </a:lnTo>
                  <a:lnTo>
                    <a:pt x="9856" y="91951"/>
                  </a:lnTo>
                  <a:lnTo>
                    <a:pt x="9891" y="213783"/>
                  </a:lnTo>
                  <a:lnTo>
                    <a:pt x="67117" y="213783"/>
                  </a:lnTo>
                  <a:lnTo>
                    <a:pt x="67117" y="200397"/>
                  </a:lnTo>
                  <a:lnTo>
                    <a:pt x="66523" y="200377"/>
                  </a:lnTo>
                  <a:lnTo>
                    <a:pt x="50295" y="200377"/>
                  </a:lnTo>
                  <a:lnTo>
                    <a:pt x="48395" y="198586"/>
                  </a:lnTo>
                  <a:lnTo>
                    <a:pt x="48395" y="194167"/>
                  </a:lnTo>
                  <a:lnTo>
                    <a:pt x="50295" y="192373"/>
                  </a:lnTo>
                  <a:lnTo>
                    <a:pt x="66565" y="192373"/>
                  </a:lnTo>
                  <a:lnTo>
                    <a:pt x="66763" y="192356"/>
                  </a:lnTo>
                  <a:lnTo>
                    <a:pt x="67159" y="192356"/>
                  </a:lnTo>
                  <a:lnTo>
                    <a:pt x="67159" y="179207"/>
                  </a:lnTo>
                  <a:lnTo>
                    <a:pt x="45922" y="179207"/>
                  </a:lnTo>
                  <a:lnTo>
                    <a:pt x="44022" y="177416"/>
                  </a:lnTo>
                  <a:lnTo>
                    <a:pt x="44022" y="172997"/>
                  </a:lnTo>
                  <a:lnTo>
                    <a:pt x="45922" y="171203"/>
                  </a:lnTo>
                  <a:lnTo>
                    <a:pt x="67159" y="171203"/>
                  </a:lnTo>
                  <a:lnTo>
                    <a:pt x="67159" y="158036"/>
                  </a:lnTo>
                  <a:lnTo>
                    <a:pt x="50295" y="158036"/>
                  </a:lnTo>
                  <a:lnTo>
                    <a:pt x="48395" y="156245"/>
                  </a:lnTo>
                  <a:lnTo>
                    <a:pt x="48395" y="151827"/>
                  </a:lnTo>
                  <a:lnTo>
                    <a:pt x="50295" y="150032"/>
                  </a:lnTo>
                  <a:lnTo>
                    <a:pt x="66565" y="150032"/>
                  </a:lnTo>
                  <a:lnTo>
                    <a:pt x="66763" y="150016"/>
                  </a:lnTo>
                  <a:lnTo>
                    <a:pt x="67159" y="150016"/>
                  </a:lnTo>
                  <a:lnTo>
                    <a:pt x="67159" y="136846"/>
                  </a:lnTo>
                  <a:lnTo>
                    <a:pt x="66565" y="136826"/>
                  </a:lnTo>
                  <a:lnTo>
                    <a:pt x="45922" y="136826"/>
                  </a:lnTo>
                  <a:lnTo>
                    <a:pt x="44022" y="135035"/>
                  </a:lnTo>
                  <a:lnTo>
                    <a:pt x="44022" y="130616"/>
                  </a:lnTo>
                  <a:lnTo>
                    <a:pt x="45922" y="128822"/>
                  </a:lnTo>
                  <a:lnTo>
                    <a:pt x="66565" y="128822"/>
                  </a:lnTo>
                  <a:lnTo>
                    <a:pt x="66763" y="128805"/>
                  </a:lnTo>
                  <a:lnTo>
                    <a:pt x="67159" y="128805"/>
                  </a:lnTo>
                  <a:lnTo>
                    <a:pt x="67159" y="115676"/>
                  </a:lnTo>
                  <a:lnTo>
                    <a:pt x="66565" y="115656"/>
                  </a:lnTo>
                  <a:lnTo>
                    <a:pt x="50295" y="115656"/>
                  </a:lnTo>
                  <a:lnTo>
                    <a:pt x="48395" y="113865"/>
                  </a:lnTo>
                  <a:lnTo>
                    <a:pt x="48395" y="109446"/>
                  </a:lnTo>
                  <a:lnTo>
                    <a:pt x="50295" y="107652"/>
                  </a:lnTo>
                  <a:lnTo>
                    <a:pt x="67117" y="107652"/>
                  </a:lnTo>
                  <a:lnTo>
                    <a:pt x="67115" y="91951"/>
                  </a:lnTo>
                  <a:lnTo>
                    <a:pt x="64994" y="88129"/>
                  </a:lnTo>
                  <a:lnTo>
                    <a:pt x="54381" y="81199"/>
                  </a:lnTo>
                  <a:lnTo>
                    <a:pt x="54379" y="79318"/>
                  </a:lnTo>
                  <a:lnTo>
                    <a:pt x="31075" y="79318"/>
                  </a:lnTo>
                  <a:lnTo>
                    <a:pt x="31075" y="63877"/>
                  </a:lnTo>
                  <a:lnTo>
                    <a:pt x="33204" y="61870"/>
                  </a:lnTo>
                  <a:lnTo>
                    <a:pt x="54365" y="61870"/>
                  </a:lnTo>
                  <a:lnTo>
                    <a:pt x="54348" y="60035"/>
                  </a:lnTo>
                  <a:lnTo>
                    <a:pt x="49347" y="54756"/>
                  </a:lnTo>
                  <a:lnTo>
                    <a:pt x="42706" y="54026"/>
                  </a:lnTo>
                  <a:lnTo>
                    <a:pt x="42706" y="1794"/>
                  </a:lnTo>
                  <a:lnTo>
                    <a:pt x="40807" y="0"/>
                  </a:lnTo>
                  <a:close/>
                </a:path>
                <a:path w="77469" h="264160">
                  <a:moveTo>
                    <a:pt x="67117" y="200377"/>
                  </a:moveTo>
                  <a:lnTo>
                    <a:pt x="66919" y="200397"/>
                  </a:lnTo>
                  <a:lnTo>
                    <a:pt x="67117" y="200397"/>
                  </a:lnTo>
                  <a:close/>
                </a:path>
                <a:path w="77469" h="264160">
                  <a:moveTo>
                    <a:pt x="67159" y="192356"/>
                  </a:moveTo>
                  <a:lnTo>
                    <a:pt x="66763" y="192356"/>
                  </a:lnTo>
                  <a:lnTo>
                    <a:pt x="67159" y="192373"/>
                  </a:lnTo>
                  <a:close/>
                </a:path>
                <a:path w="77469" h="264160">
                  <a:moveTo>
                    <a:pt x="67159" y="150016"/>
                  </a:moveTo>
                  <a:lnTo>
                    <a:pt x="66763" y="150016"/>
                  </a:lnTo>
                  <a:lnTo>
                    <a:pt x="67159" y="150032"/>
                  </a:lnTo>
                  <a:close/>
                </a:path>
                <a:path w="77469" h="264160">
                  <a:moveTo>
                    <a:pt x="67159" y="136826"/>
                  </a:moveTo>
                  <a:lnTo>
                    <a:pt x="66961" y="136846"/>
                  </a:lnTo>
                  <a:lnTo>
                    <a:pt x="67159" y="136846"/>
                  </a:lnTo>
                  <a:close/>
                </a:path>
                <a:path w="77469" h="264160">
                  <a:moveTo>
                    <a:pt x="67159" y="128805"/>
                  </a:moveTo>
                  <a:lnTo>
                    <a:pt x="66763" y="128805"/>
                  </a:lnTo>
                  <a:lnTo>
                    <a:pt x="67159" y="128822"/>
                  </a:lnTo>
                  <a:close/>
                </a:path>
                <a:path w="77469" h="264160">
                  <a:moveTo>
                    <a:pt x="67159" y="115656"/>
                  </a:moveTo>
                  <a:lnTo>
                    <a:pt x="66961" y="115676"/>
                  </a:lnTo>
                  <a:lnTo>
                    <a:pt x="67159" y="115676"/>
                  </a:lnTo>
                  <a:close/>
                </a:path>
                <a:path w="77469" h="264160">
                  <a:moveTo>
                    <a:pt x="67117" y="107652"/>
                  </a:moveTo>
                  <a:lnTo>
                    <a:pt x="66565" y="107652"/>
                  </a:lnTo>
                  <a:lnTo>
                    <a:pt x="66767" y="107765"/>
                  </a:lnTo>
                  <a:lnTo>
                    <a:pt x="66951" y="107899"/>
                  </a:lnTo>
                  <a:lnTo>
                    <a:pt x="67117" y="108052"/>
                  </a:lnTo>
                  <a:lnTo>
                    <a:pt x="67117" y="107652"/>
                  </a:lnTo>
                  <a:close/>
                </a:path>
                <a:path w="77469" h="264160">
                  <a:moveTo>
                    <a:pt x="54365" y="61870"/>
                  </a:moveTo>
                  <a:lnTo>
                    <a:pt x="41263" y="61870"/>
                  </a:lnTo>
                  <a:lnTo>
                    <a:pt x="43839" y="61936"/>
                  </a:lnTo>
                  <a:lnTo>
                    <a:pt x="45842" y="63877"/>
                  </a:lnTo>
                  <a:lnTo>
                    <a:pt x="45890" y="79318"/>
                  </a:lnTo>
                  <a:lnTo>
                    <a:pt x="54379" y="79318"/>
                  </a:lnTo>
                  <a:lnTo>
                    <a:pt x="54365" y="61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09DF4B42-DF24-7FBC-064D-8AA08C8C807E}"/>
              </a:ext>
            </a:extLst>
          </p:cNvPr>
          <p:cNvGrpSpPr/>
          <p:nvPr/>
        </p:nvGrpSpPr>
        <p:grpSpPr>
          <a:xfrm>
            <a:off x="4292843" y="2360031"/>
            <a:ext cx="381000" cy="424180"/>
            <a:chOff x="3060192" y="4280915"/>
            <a:chExt cx="381000" cy="424180"/>
          </a:xfrm>
        </p:grpSpPr>
        <p:sp>
          <p:nvSpPr>
            <p:cNvPr id="258" name="object 62">
              <a:extLst>
                <a:ext uri="{FF2B5EF4-FFF2-40B4-BE49-F238E27FC236}">
                  <a16:creationId xmlns:a16="http://schemas.microsoft.com/office/drawing/2014/main" id="{8A694B63-1B1D-7A70-786B-ECF03BEB956E}"/>
                </a:ext>
              </a:extLst>
            </p:cNvPr>
            <p:cNvSpPr/>
            <p:nvPr/>
          </p:nvSpPr>
          <p:spPr>
            <a:xfrm>
              <a:off x="3060192" y="4280915"/>
              <a:ext cx="381000" cy="424180"/>
            </a:xfrm>
            <a:custGeom>
              <a:avLst/>
              <a:gdLst/>
              <a:ahLst/>
              <a:cxnLst/>
              <a:rect l="l" t="t" r="r" b="b"/>
              <a:pathLst>
                <a:path w="381000" h="424179">
                  <a:moveTo>
                    <a:pt x="190500" y="0"/>
                  </a:moveTo>
                  <a:lnTo>
                    <a:pt x="139964" y="6006"/>
                  </a:lnTo>
                  <a:lnTo>
                    <a:pt x="94487" y="22991"/>
                  </a:lnTo>
                  <a:lnTo>
                    <a:pt x="55911" y="49402"/>
                  </a:lnTo>
                  <a:lnTo>
                    <a:pt x="26077" y="83688"/>
                  </a:lnTo>
                  <a:lnTo>
                    <a:pt x="6826" y="124295"/>
                  </a:lnTo>
                  <a:lnTo>
                    <a:pt x="0" y="169671"/>
                  </a:lnTo>
                  <a:lnTo>
                    <a:pt x="29765" y="248792"/>
                  </a:lnTo>
                  <a:lnTo>
                    <a:pt x="95250" y="331723"/>
                  </a:lnTo>
                  <a:lnTo>
                    <a:pt x="160734" y="397128"/>
                  </a:lnTo>
                  <a:lnTo>
                    <a:pt x="190500" y="423671"/>
                  </a:lnTo>
                  <a:lnTo>
                    <a:pt x="220265" y="397128"/>
                  </a:lnTo>
                  <a:lnTo>
                    <a:pt x="285749" y="331723"/>
                  </a:lnTo>
                  <a:lnTo>
                    <a:pt x="351234" y="248792"/>
                  </a:lnTo>
                  <a:lnTo>
                    <a:pt x="380999" y="169671"/>
                  </a:lnTo>
                  <a:lnTo>
                    <a:pt x="374173" y="124295"/>
                  </a:lnTo>
                  <a:lnTo>
                    <a:pt x="354922" y="83688"/>
                  </a:lnTo>
                  <a:lnTo>
                    <a:pt x="325088" y="49402"/>
                  </a:lnTo>
                  <a:lnTo>
                    <a:pt x="286511" y="22991"/>
                  </a:lnTo>
                  <a:lnTo>
                    <a:pt x="241035" y="6006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AB001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59" name="object 63">
              <a:extLst>
                <a:ext uri="{FF2B5EF4-FFF2-40B4-BE49-F238E27FC236}">
                  <a16:creationId xmlns:a16="http://schemas.microsoft.com/office/drawing/2014/main" id="{D48D3200-ACB5-8003-1C96-21CCE3DFEC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9107" y="4431640"/>
              <a:ext cx="88871" cy="158536"/>
            </a:xfrm>
            <a:prstGeom prst="rect">
              <a:avLst/>
            </a:prstGeom>
          </p:spPr>
        </p:pic>
        <p:pic>
          <p:nvPicPr>
            <p:cNvPr id="260" name="object 64">
              <a:extLst>
                <a:ext uri="{FF2B5EF4-FFF2-40B4-BE49-F238E27FC236}">
                  <a16:creationId xmlns:a16="http://schemas.microsoft.com/office/drawing/2014/main" id="{96819A45-C49E-E5B7-98C9-D0A32385EBC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9099" y="4341502"/>
              <a:ext cx="72029" cy="249128"/>
            </a:xfrm>
            <a:prstGeom prst="rect">
              <a:avLst/>
            </a:prstGeom>
          </p:spPr>
        </p:pic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64CDA2D9-B413-B9B3-E6F4-8024710F7C9E}"/>
              </a:ext>
            </a:extLst>
          </p:cNvPr>
          <p:cNvGrpSpPr/>
          <p:nvPr/>
        </p:nvGrpSpPr>
        <p:grpSpPr>
          <a:xfrm>
            <a:off x="1730146" y="2455884"/>
            <a:ext cx="381000" cy="457200"/>
            <a:chOff x="231647" y="1248155"/>
            <a:chExt cx="381000" cy="457200"/>
          </a:xfrm>
        </p:grpSpPr>
        <p:sp>
          <p:nvSpPr>
            <p:cNvPr id="262" name="object 115">
              <a:extLst>
                <a:ext uri="{FF2B5EF4-FFF2-40B4-BE49-F238E27FC236}">
                  <a16:creationId xmlns:a16="http://schemas.microsoft.com/office/drawing/2014/main" id="{2A76EE4F-9266-A115-E3FC-DA2D7E845B12}"/>
                </a:ext>
              </a:extLst>
            </p:cNvPr>
            <p:cNvSpPr/>
            <p:nvPr/>
          </p:nvSpPr>
          <p:spPr>
            <a:xfrm>
              <a:off x="231647" y="1248155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39951" y="6483"/>
                  </a:lnTo>
                  <a:lnTo>
                    <a:pt x="94471" y="24816"/>
                  </a:lnTo>
                  <a:lnTo>
                    <a:pt x="55897" y="53324"/>
                  </a:lnTo>
                  <a:lnTo>
                    <a:pt x="26068" y="90329"/>
                  </a:lnTo>
                  <a:lnTo>
                    <a:pt x="6823" y="134158"/>
                  </a:lnTo>
                  <a:lnTo>
                    <a:pt x="0" y="183134"/>
                  </a:lnTo>
                  <a:lnTo>
                    <a:pt x="29765" y="268497"/>
                  </a:lnTo>
                  <a:lnTo>
                    <a:pt x="95250" y="357981"/>
                  </a:lnTo>
                  <a:lnTo>
                    <a:pt x="160734" y="428557"/>
                  </a:lnTo>
                  <a:lnTo>
                    <a:pt x="190500" y="457200"/>
                  </a:lnTo>
                  <a:lnTo>
                    <a:pt x="220265" y="428557"/>
                  </a:lnTo>
                  <a:lnTo>
                    <a:pt x="285750" y="357981"/>
                  </a:lnTo>
                  <a:lnTo>
                    <a:pt x="351234" y="268497"/>
                  </a:lnTo>
                  <a:lnTo>
                    <a:pt x="381000" y="183134"/>
                  </a:lnTo>
                  <a:lnTo>
                    <a:pt x="374176" y="134158"/>
                  </a:lnTo>
                  <a:lnTo>
                    <a:pt x="354931" y="90329"/>
                  </a:lnTo>
                  <a:lnTo>
                    <a:pt x="325102" y="53324"/>
                  </a:lnTo>
                  <a:lnTo>
                    <a:pt x="286528" y="24816"/>
                  </a:lnTo>
                  <a:lnTo>
                    <a:pt x="241048" y="6483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CAE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63" name="object 116">
              <a:extLst>
                <a:ext uri="{FF2B5EF4-FFF2-40B4-BE49-F238E27FC236}">
                  <a16:creationId xmlns:a16="http://schemas.microsoft.com/office/drawing/2014/main" id="{80F84BE3-6321-BBFA-E57B-FA341167D18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470" y="1408587"/>
              <a:ext cx="89567" cy="159487"/>
            </a:xfrm>
            <a:prstGeom prst="rect">
              <a:avLst/>
            </a:prstGeom>
          </p:spPr>
        </p:pic>
        <p:pic>
          <p:nvPicPr>
            <p:cNvPr id="264" name="object 117">
              <a:extLst>
                <a:ext uri="{FF2B5EF4-FFF2-40B4-BE49-F238E27FC236}">
                  <a16:creationId xmlns:a16="http://schemas.microsoft.com/office/drawing/2014/main" id="{15A56395-B8E7-46FC-4224-54887D2269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679" y="1317908"/>
              <a:ext cx="72593" cy="250623"/>
            </a:xfrm>
            <a:prstGeom prst="rect">
              <a:avLst/>
            </a:prstGeom>
          </p:spPr>
        </p:pic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243A363C-19B5-7256-2BAD-C0CA3F2C88AD}"/>
              </a:ext>
            </a:extLst>
          </p:cNvPr>
          <p:cNvGrpSpPr/>
          <p:nvPr/>
        </p:nvGrpSpPr>
        <p:grpSpPr>
          <a:xfrm>
            <a:off x="2384575" y="3335918"/>
            <a:ext cx="381000" cy="425450"/>
            <a:chOff x="1531619" y="2604515"/>
            <a:chExt cx="381000" cy="425450"/>
          </a:xfrm>
        </p:grpSpPr>
        <p:sp>
          <p:nvSpPr>
            <p:cNvPr id="266" name="object 46">
              <a:extLst>
                <a:ext uri="{FF2B5EF4-FFF2-40B4-BE49-F238E27FC236}">
                  <a16:creationId xmlns:a16="http://schemas.microsoft.com/office/drawing/2014/main" id="{8F7616CD-C95B-7B40-999C-4FDDE4C3F6CA}"/>
                </a:ext>
              </a:extLst>
            </p:cNvPr>
            <p:cNvSpPr/>
            <p:nvPr/>
          </p:nvSpPr>
          <p:spPr>
            <a:xfrm>
              <a:off x="1531619" y="2604515"/>
              <a:ext cx="381000" cy="425450"/>
            </a:xfrm>
            <a:custGeom>
              <a:avLst/>
              <a:gdLst/>
              <a:ahLst/>
              <a:cxnLst/>
              <a:rect l="l" t="t" r="r" b="b"/>
              <a:pathLst>
                <a:path w="381000" h="425450">
                  <a:moveTo>
                    <a:pt x="190500" y="0"/>
                  </a:moveTo>
                  <a:lnTo>
                    <a:pt x="139964" y="6027"/>
                  </a:lnTo>
                  <a:lnTo>
                    <a:pt x="94487" y="23071"/>
                  </a:lnTo>
                  <a:lnTo>
                    <a:pt x="55911" y="49577"/>
                  </a:lnTo>
                  <a:lnTo>
                    <a:pt x="26077" y="83989"/>
                  </a:lnTo>
                  <a:lnTo>
                    <a:pt x="6826" y="124751"/>
                  </a:lnTo>
                  <a:lnTo>
                    <a:pt x="0" y="170307"/>
                  </a:lnTo>
                  <a:lnTo>
                    <a:pt x="29765" y="249674"/>
                  </a:lnTo>
                  <a:lnTo>
                    <a:pt x="95250" y="332898"/>
                  </a:lnTo>
                  <a:lnTo>
                    <a:pt x="160734" y="398549"/>
                  </a:lnTo>
                  <a:lnTo>
                    <a:pt x="190500" y="425196"/>
                  </a:lnTo>
                  <a:lnTo>
                    <a:pt x="220265" y="398549"/>
                  </a:lnTo>
                  <a:lnTo>
                    <a:pt x="285750" y="332898"/>
                  </a:lnTo>
                  <a:lnTo>
                    <a:pt x="351234" y="249674"/>
                  </a:lnTo>
                  <a:lnTo>
                    <a:pt x="381000" y="170307"/>
                  </a:lnTo>
                  <a:lnTo>
                    <a:pt x="374173" y="124751"/>
                  </a:lnTo>
                  <a:lnTo>
                    <a:pt x="354922" y="83989"/>
                  </a:lnTo>
                  <a:lnTo>
                    <a:pt x="325088" y="49577"/>
                  </a:lnTo>
                  <a:lnTo>
                    <a:pt x="286512" y="23071"/>
                  </a:lnTo>
                  <a:lnTo>
                    <a:pt x="241035" y="6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901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67" name="object 47">
              <a:extLst>
                <a:ext uri="{FF2B5EF4-FFF2-40B4-BE49-F238E27FC236}">
                  <a16:creationId xmlns:a16="http://schemas.microsoft.com/office/drawing/2014/main" id="{D3E9469F-4BAE-8199-0F3B-DC0545690A6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3885" y="2742548"/>
              <a:ext cx="95148" cy="168083"/>
            </a:xfrm>
            <a:prstGeom prst="rect">
              <a:avLst/>
            </a:prstGeom>
          </p:spPr>
        </p:pic>
        <p:sp>
          <p:nvSpPr>
            <p:cNvPr id="268" name="object 48">
              <a:extLst>
                <a:ext uri="{FF2B5EF4-FFF2-40B4-BE49-F238E27FC236}">
                  <a16:creationId xmlns:a16="http://schemas.microsoft.com/office/drawing/2014/main" id="{79503E38-1DC9-3BDD-09DF-3A4FB2B87A6C}"/>
                </a:ext>
              </a:extLst>
            </p:cNvPr>
            <p:cNvSpPr/>
            <p:nvPr/>
          </p:nvSpPr>
          <p:spPr>
            <a:xfrm>
              <a:off x="1626874" y="2646981"/>
              <a:ext cx="77470" cy="264160"/>
            </a:xfrm>
            <a:custGeom>
              <a:avLst/>
              <a:gdLst/>
              <a:ahLst/>
              <a:cxnLst/>
              <a:rect l="l" t="t" r="r" b="b"/>
              <a:pathLst>
                <a:path w="77469" h="264160">
                  <a:moveTo>
                    <a:pt x="61694" y="256125"/>
                  </a:moveTo>
                  <a:lnTo>
                    <a:pt x="15358" y="256125"/>
                  </a:lnTo>
                  <a:lnTo>
                    <a:pt x="13457" y="257917"/>
                  </a:lnTo>
                  <a:lnTo>
                    <a:pt x="13457" y="262338"/>
                  </a:lnTo>
                  <a:lnTo>
                    <a:pt x="15358" y="264129"/>
                  </a:lnTo>
                  <a:lnTo>
                    <a:pt x="61694" y="264129"/>
                  </a:lnTo>
                  <a:lnTo>
                    <a:pt x="63593" y="262338"/>
                  </a:lnTo>
                  <a:lnTo>
                    <a:pt x="63593" y="257917"/>
                  </a:lnTo>
                  <a:lnTo>
                    <a:pt x="61694" y="256125"/>
                  </a:lnTo>
                  <a:close/>
                </a:path>
                <a:path w="77469" h="264160">
                  <a:moveTo>
                    <a:pt x="33452" y="221787"/>
                  </a:moveTo>
                  <a:lnTo>
                    <a:pt x="24962" y="221787"/>
                  </a:lnTo>
                  <a:lnTo>
                    <a:pt x="24962" y="256125"/>
                  </a:lnTo>
                  <a:lnTo>
                    <a:pt x="33452" y="256125"/>
                  </a:lnTo>
                  <a:lnTo>
                    <a:pt x="33452" y="221787"/>
                  </a:lnTo>
                  <a:close/>
                </a:path>
                <a:path w="77469" h="264160">
                  <a:moveTo>
                    <a:pt x="52089" y="221787"/>
                  </a:moveTo>
                  <a:lnTo>
                    <a:pt x="43598" y="221787"/>
                  </a:lnTo>
                  <a:lnTo>
                    <a:pt x="43598" y="256125"/>
                  </a:lnTo>
                  <a:lnTo>
                    <a:pt x="52089" y="256125"/>
                  </a:lnTo>
                  <a:lnTo>
                    <a:pt x="52089" y="221787"/>
                  </a:lnTo>
                  <a:close/>
                </a:path>
                <a:path w="77469" h="264160">
                  <a:moveTo>
                    <a:pt x="75194" y="213783"/>
                  </a:moveTo>
                  <a:lnTo>
                    <a:pt x="1900" y="213783"/>
                  </a:lnTo>
                  <a:lnTo>
                    <a:pt x="0" y="215578"/>
                  </a:lnTo>
                  <a:lnTo>
                    <a:pt x="0" y="219996"/>
                  </a:lnTo>
                  <a:lnTo>
                    <a:pt x="1900" y="221787"/>
                  </a:lnTo>
                  <a:lnTo>
                    <a:pt x="75194" y="221787"/>
                  </a:lnTo>
                  <a:lnTo>
                    <a:pt x="77093" y="219996"/>
                  </a:lnTo>
                  <a:lnTo>
                    <a:pt x="77093" y="215578"/>
                  </a:lnTo>
                  <a:lnTo>
                    <a:pt x="75194" y="213783"/>
                  </a:lnTo>
                  <a:close/>
                </a:path>
                <a:path w="77469" h="264160">
                  <a:moveTo>
                    <a:pt x="40807" y="0"/>
                  </a:moveTo>
                  <a:lnTo>
                    <a:pt x="36116" y="0"/>
                  </a:lnTo>
                  <a:lnTo>
                    <a:pt x="34216" y="1794"/>
                  </a:lnTo>
                  <a:lnTo>
                    <a:pt x="34216" y="54026"/>
                  </a:lnTo>
                  <a:lnTo>
                    <a:pt x="27559" y="54739"/>
                  </a:lnTo>
                  <a:lnTo>
                    <a:pt x="22522" y="60035"/>
                  </a:lnTo>
                  <a:lnTo>
                    <a:pt x="22500" y="81199"/>
                  </a:lnTo>
                  <a:lnTo>
                    <a:pt x="11969" y="88102"/>
                  </a:lnTo>
                  <a:lnTo>
                    <a:pt x="9856" y="91951"/>
                  </a:lnTo>
                  <a:lnTo>
                    <a:pt x="9891" y="213783"/>
                  </a:lnTo>
                  <a:lnTo>
                    <a:pt x="67117" y="213783"/>
                  </a:lnTo>
                  <a:lnTo>
                    <a:pt x="67117" y="200397"/>
                  </a:lnTo>
                  <a:lnTo>
                    <a:pt x="66523" y="200377"/>
                  </a:lnTo>
                  <a:lnTo>
                    <a:pt x="50295" y="200377"/>
                  </a:lnTo>
                  <a:lnTo>
                    <a:pt x="48395" y="198586"/>
                  </a:lnTo>
                  <a:lnTo>
                    <a:pt x="48395" y="194167"/>
                  </a:lnTo>
                  <a:lnTo>
                    <a:pt x="50295" y="192373"/>
                  </a:lnTo>
                  <a:lnTo>
                    <a:pt x="66565" y="192373"/>
                  </a:lnTo>
                  <a:lnTo>
                    <a:pt x="66763" y="192356"/>
                  </a:lnTo>
                  <a:lnTo>
                    <a:pt x="67159" y="192356"/>
                  </a:lnTo>
                  <a:lnTo>
                    <a:pt x="67159" y="179207"/>
                  </a:lnTo>
                  <a:lnTo>
                    <a:pt x="45922" y="179207"/>
                  </a:lnTo>
                  <a:lnTo>
                    <a:pt x="44022" y="177416"/>
                  </a:lnTo>
                  <a:lnTo>
                    <a:pt x="44022" y="172997"/>
                  </a:lnTo>
                  <a:lnTo>
                    <a:pt x="45922" y="171203"/>
                  </a:lnTo>
                  <a:lnTo>
                    <a:pt x="67159" y="171203"/>
                  </a:lnTo>
                  <a:lnTo>
                    <a:pt x="67159" y="158036"/>
                  </a:lnTo>
                  <a:lnTo>
                    <a:pt x="50295" y="158036"/>
                  </a:lnTo>
                  <a:lnTo>
                    <a:pt x="48395" y="156245"/>
                  </a:lnTo>
                  <a:lnTo>
                    <a:pt x="48395" y="151827"/>
                  </a:lnTo>
                  <a:lnTo>
                    <a:pt x="50295" y="150032"/>
                  </a:lnTo>
                  <a:lnTo>
                    <a:pt x="66565" y="150032"/>
                  </a:lnTo>
                  <a:lnTo>
                    <a:pt x="66763" y="150016"/>
                  </a:lnTo>
                  <a:lnTo>
                    <a:pt x="67159" y="150016"/>
                  </a:lnTo>
                  <a:lnTo>
                    <a:pt x="67159" y="136846"/>
                  </a:lnTo>
                  <a:lnTo>
                    <a:pt x="66565" y="136826"/>
                  </a:lnTo>
                  <a:lnTo>
                    <a:pt x="45922" y="136826"/>
                  </a:lnTo>
                  <a:lnTo>
                    <a:pt x="44022" y="135035"/>
                  </a:lnTo>
                  <a:lnTo>
                    <a:pt x="44022" y="130616"/>
                  </a:lnTo>
                  <a:lnTo>
                    <a:pt x="45922" y="128822"/>
                  </a:lnTo>
                  <a:lnTo>
                    <a:pt x="66565" y="128822"/>
                  </a:lnTo>
                  <a:lnTo>
                    <a:pt x="66763" y="128805"/>
                  </a:lnTo>
                  <a:lnTo>
                    <a:pt x="67159" y="128805"/>
                  </a:lnTo>
                  <a:lnTo>
                    <a:pt x="67159" y="115676"/>
                  </a:lnTo>
                  <a:lnTo>
                    <a:pt x="66565" y="115656"/>
                  </a:lnTo>
                  <a:lnTo>
                    <a:pt x="50295" y="115656"/>
                  </a:lnTo>
                  <a:lnTo>
                    <a:pt x="48395" y="113865"/>
                  </a:lnTo>
                  <a:lnTo>
                    <a:pt x="48395" y="109446"/>
                  </a:lnTo>
                  <a:lnTo>
                    <a:pt x="50295" y="107652"/>
                  </a:lnTo>
                  <a:lnTo>
                    <a:pt x="67117" y="107652"/>
                  </a:lnTo>
                  <a:lnTo>
                    <a:pt x="67115" y="91951"/>
                  </a:lnTo>
                  <a:lnTo>
                    <a:pt x="64994" y="88129"/>
                  </a:lnTo>
                  <a:lnTo>
                    <a:pt x="54381" y="81199"/>
                  </a:lnTo>
                  <a:lnTo>
                    <a:pt x="54379" y="79318"/>
                  </a:lnTo>
                  <a:lnTo>
                    <a:pt x="31075" y="79318"/>
                  </a:lnTo>
                  <a:lnTo>
                    <a:pt x="31075" y="63877"/>
                  </a:lnTo>
                  <a:lnTo>
                    <a:pt x="33204" y="61870"/>
                  </a:lnTo>
                  <a:lnTo>
                    <a:pt x="54365" y="61870"/>
                  </a:lnTo>
                  <a:lnTo>
                    <a:pt x="54348" y="60035"/>
                  </a:lnTo>
                  <a:lnTo>
                    <a:pt x="49347" y="54756"/>
                  </a:lnTo>
                  <a:lnTo>
                    <a:pt x="42706" y="54026"/>
                  </a:lnTo>
                  <a:lnTo>
                    <a:pt x="42706" y="1794"/>
                  </a:lnTo>
                  <a:lnTo>
                    <a:pt x="40807" y="0"/>
                  </a:lnTo>
                  <a:close/>
                </a:path>
                <a:path w="77469" h="264160">
                  <a:moveTo>
                    <a:pt x="67117" y="200377"/>
                  </a:moveTo>
                  <a:lnTo>
                    <a:pt x="66919" y="200397"/>
                  </a:lnTo>
                  <a:lnTo>
                    <a:pt x="67117" y="200397"/>
                  </a:lnTo>
                  <a:close/>
                </a:path>
                <a:path w="77469" h="264160">
                  <a:moveTo>
                    <a:pt x="67159" y="192356"/>
                  </a:moveTo>
                  <a:lnTo>
                    <a:pt x="66763" y="192356"/>
                  </a:lnTo>
                  <a:lnTo>
                    <a:pt x="67159" y="192373"/>
                  </a:lnTo>
                  <a:close/>
                </a:path>
                <a:path w="77469" h="264160">
                  <a:moveTo>
                    <a:pt x="67159" y="150016"/>
                  </a:moveTo>
                  <a:lnTo>
                    <a:pt x="66763" y="150016"/>
                  </a:lnTo>
                  <a:lnTo>
                    <a:pt x="67159" y="150032"/>
                  </a:lnTo>
                  <a:close/>
                </a:path>
                <a:path w="77469" h="264160">
                  <a:moveTo>
                    <a:pt x="67159" y="136826"/>
                  </a:moveTo>
                  <a:lnTo>
                    <a:pt x="66961" y="136846"/>
                  </a:lnTo>
                  <a:lnTo>
                    <a:pt x="67159" y="136846"/>
                  </a:lnTo>
                  <a:close/>
                </a:path>
                <a:path w="77469" h="264160">
                  <a:moveTo>
                    <a:pt x="67159" y="128805"/>
                  </a:moveTo>
                  <a:lnTo>
                    <a:pt x="66763" y="128805"/>
                  </a:lnTo>
                  <a:lnTo>
                    <a:pt x="67159" y="128822"/>
                  </a:lnTo>
                  <a:close/>
                </a:path>
                <a:path w="77469" h="264160">
                  <a:moveTo>
                    <a:pt x="67159" y="115656"/>
                  </a:moveTo>
                  <a:lnTo>
                    <a:pt x="66961" y="115676"/>
                  </a:lnTo>
                  <a:lnTo>
                    <a:pt x="67159" y="115676"/>
                  </a:lnTo>
                  <a:close/>
                </a:path>
                <a:path w="77469" h="264160">
                  <a:moveTo>
                    <a:pt x="67117" y="107652"/>
                  </a:moveTo>
                  <a:lnTo>
                    <a:pt x="66565" y="107652"/>
                  </a:lnTo>
                  <a:lnTo>
                    <a:pt x="66767" y="107765"/>
                  </a:lnTo>
                  <a:lnTo>
                    <a:pt x="66951" y="107899"/>
                  </a:lnTo>
                  <a:lnTo>
                    <a:pt x="67117" y="108052"/>
                  </a:lnTo>
                  <a:lnTo>
                    <a:pt x="67117" y="107652"/>
                  </a:lnTo>
                  <a:close/>
                </a:path>
                <a:path w="77469" h="264160">
                  <a:moveTo>
                    <a:pt x="54365" y="61870"/>
                  </a:moveTo>
                  <a:lnTo>
                    <a:pt x="41263" y="61870"/>
                  </a:lnTo>
                  <a:lnTo>
                    <a:pt x="43839" y="61936"/>
                  </a:lnTo>
                  <a:lnTo>
                    <a:pt x="45842" y="63877"/>
                  </a:lnTo>
                  <a:lnTo>
                    <a:pt x="45890" y="79318"/>
                  </a:lnTo>
                  <a:lnTo>
                    <a:pt x="54379" y="79318"/>
                  </a:lnTo>
                  <a:lnTo>
                    <a:pt x="54365" y="61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33EE6D2A-9927-E675-916F-B3E56FA3FAE8}"/>
              </a:ext>
            </a:extLst>
          </p:cNvPr>
          <p:cNvGrpSpPr/>
          <p:nvPr/>
        </p:nvGrpSpPr>
        <p:grpSpPr>
          <a:xfrm>
            <a:off x="4357356" y="3323743"/>
            <a:ext cx="381000" cy="424180"/>
            <a:chOff x="3060192" y="4280915"/>
            <a:chExt cx="381000" cy="424180"/>
          </a:xfrm>
        </p:grpSpPr>
        <p:sp>
          <p:nvSpPr>
            <p:cNvPr id="270" name="object 62">
              <a:extLst>
                <a:ext uri="{FF2B5EF4-FFF2-40B4-BE49-F238E27FC236}">
                  <a16:creationId xmlns:a16="http://schemas.microsoft.com/office/drawing/2014/main" id="{6165E764-FE7F-C98F-1B8C-BD119772EEEE}"/>
                </a:ext>
              </a:extLst>
            </p:cNvPr>
            <p:cNvSpPr/>
            <p:nvPr/>
          </p:nvSpPr>
          <p:spPr>
            <a:xfrm>
              <a:off x="3060192" y="4280915"/>
              <a:ext cx="381000" cy="424180"/>
            </a:xfrm>
            <a:custGeom>
              <a:avLst/>
              <a:gdLst/>
              <a:ahLst/>
              <a:cxnLst/>
              <a:rect l="l" t="t" r="r" b="b"/>
              <a:pathLst>
                <a:path w="381000" h="424179">
                  <a:moveTo>
                    <a:pt x="190500" y="0"/>
                  </a:moveTo>
                  <a:lnTo>
                    <a:pt x="139964" y="6006"/>
                  </a:lnTo>
                  <a:lnTo>
                    <a:pt x="94487" y="22991"/>
                  </a:lnTo>
                  <a:lnTo>
                    <a:pt x="55911" y="49402"/>
                  </a:lnTo>
                  <a:lnTo>
                    <a:pt x="26077" y="83688"/>
                  </a:lnTo>
                  <a:lnTo>
                    <a:pt x="6826" y="124295"/>
                  </a:lnTo>
                  <a:lnTo>
                    <a:pt x="0" y="169671"/>
                  </a:lnTo>
                  <a:lnTo>
                    <a:pt x="29765" y="248792"/>
                  </a:lnTo>
                  <a:lnTo>
                    <a:pt x="95250" y="331723"/>
                  </a:lnTo>
                  <a:lnTo>
                    <a:pt x="160734" y="397128"/>
                  </a:lnTo>
                  <a:lnTo>
                    <a:pt x="190500" y="423671"/>
                  </a:lnTo>
                  <a:lnTo>
                    <a:pt x="220265" y="397128"/>
                  </a:lnTo>
                  <a:lnTo>
                    <a:pt x="285749" y="331723"/>
                  </a:lnTo>
                  <a:lnTo>
                    <a:pt x="351234" y="248792"/>
                  </a:lnTo>
                  <a:lnTo>
                    <a:pt x="380999" y="169671"/>
                  </a:lnTo>
                  <a:lnTo>
                    <a:pt x="374173" y="124295"/>
                  </a:lnTo>
                  <a:lnTo>
                    <a:pt x="354922" y="83688"/>
                  </a:lnTo>
                  <a:lnTo>
                    <a:pt x="325088" y="49402"/>
                  </a:lnTo>
                  <a:lnTo>
                    <a:pt x="286511" y="22991"/>
                  </a:lnTo>
                  <a:lnTo>
                    <a:pt x="241035" y="6006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AB001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71" name="object 63">
              <a:extLst>
                <a:ext uri="{FF2B5EF4-FFF2-40B4-BE49-F238E27FC236}">
                  <a16:creationId xmlns:a16="http://schemas.microsoft.com/office/drawing/2014/main" id="{A79BC7C7-7183-9ABC-BD9B-3F9D7FBF198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9107" y="4431640"/>
              <a:ext cx="88871" cy="158536"/>
            </a:xfrm>
            <a:prstGeom prst="rect">
              <a:avLst/>
            </a:prstGeom>
          </p:spPr>
        </p:pic>
        <p:pic>
          <p:nvPicPr>
            <p:cNvPr id="272" name="object 64">
              <a:extLst>
                <a:ext uri="{FF2B5EF4-FFF2-40B4-BE49-F238E27FC236}">
                  <a16:creationId xmlns:a16="http://schemas.microsoft.com/office/drawing/2014/main" id="{897ACEA0-34BC-9CAC-B710-1E8A79A8985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9099" y="4341502"/>
              <a:ext cx="72029" cy="249128"/>
            </a:xfrm>
            <a:prstGeom prst="rect">
              <a:avLst/>
            </a:prstGeom>
          </p:spPr>
        </p:pic>
      </p:grp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4245372D-EB33-E3E3-A284-CB15FAD07D35}"/>
              </a:ext>
            </a:extLst>
          </p:cNvPr>
          <p:cNvSpPr/>
          <p:nvPr/>
        </p:nvSpPr>
        <p:spPr>
          <a:xfrm>
            <a:off x="5925349" y="4709956"/>
            <a:ext cx="1197651" cy="6043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JE 2</a:t>
            </a:r>
            <a:r>
              <a:rPr kumimoji="0" lang="en-US" sz="1200" b="1" i="0" u="none" strike="noStrike" kern="1200" cap="none" spc="0" normalizeH="0" baseline="30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dose introduced</a:t>
            </a:r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4EDF882F-AFED-1C6F-D024-DE1A42934D2D}"/>
              </a:ext>
            </a:extLst>
          </p:cNvPr>
          <p:cNvGrpSpPr/>
          <p:nvPr/>
        </p:nvGrpSpPr>
        <p:grpSpPr>
          <a:xfrm>
            <a:off x="5095977" y="4272957"/>
            <a:ext cx="381000" cy="457200"/>
            <a:chOff x="231647" y="1248155"/>
            <a:chExt cx="381000" cy="457200"/>
          </a:xfrm>
        </p:grpSpPr>
        <p:sp>
          <p:nvSpPr>
            <p:cNvPr id="275" name="object 115">
              <a:extLst>
                <a:ext uri="{FF2B5EF4-FFF2-40B4-BE49-F238E27FC236}">
                  <a16:creationId xmlns:a16="http://schemas.microsoft.com/office/drawing/2014/main" id="{5E622A65-2893-11D6-0441-763EC0583116}"/>
                </a:ext>
              </a:extLst>
            </p:cNvPr>
            <p:cNvSpPr/>
            <p:nvPr/>
          </p:nvSpPr>
          <p:spPr>
            <a:xfrm>
              <a:off x="231647" y="1248155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39951" y="6483"/>
                  </a:lnTo>
                  <a:lnTo>
                    <a:pt x="94471" y="24816"/>
                  </a:lnTo>
                  <a:lnTo>
                    <a:pt x="55897" y="53324"/>
                  </a:lnTo>
                  <a:lnTo>
                    <a:pt x="26068" y="90329"/>
                  </a:lnTo>
                  <a:lnTo>
                    <a:pt x="6823" y="134158"/>
                  </a:lnTo>
                  <a:lnTo>
                    <a:pt x="0" y="183134"/>
                  </a:lnTo>
                  <a:lnTo>
                    <a:pt x="29765" y="268497"/>
                  </a:lnTo>
                  <a:lnTo>
                    <a:pt x="95250" y="357981"/>
                  </a:lnTo>
                  <a:lnTo>
                    <a:pt x="160734" y="428557"/>
                  </a:lnTo>
                  <a:lnTo>
                    <a:pt x="190500" y="457200"/>
                  </a:lnTo>
                  <a:lnTo>
                    <a:pt x="220265" y="428557"/>
                  </a:lnTo>
                  <a:lnTo>
                    <a:pt x="285750" y="357981"/>
                  </a:lnTo>
                  <a:lnTo>
                    <a:pt x="351234" y="268497"/>
                  </a:lnTo>
                  <a:lnTo>
                    <a:pt x="381000" y="183134"/>
                  </a:lnTo>
                  <a:lnTo>
                    <a:pt x="374176" y="134158"/>
                  </a:lnTo>
                  <a:lnTo>
                    <a:pt x="354931" y="90329"/>
                  </a:lnTo>
                  <a:lnTo>
                    <a:pt x="325102" y="53324"/>
                  </a:lnTo>
                  <a:lnTo>
                    <a:pt x="286528" y="24816"/>
                  </a:lnTo>
                  <a:lnTo>
                    <a:pt x="241048" y="6483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CAE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76" name="object 116">
              <a:extLst>
                <a:ext uri="{FF2B5EF4-FFF2-40B4-BE49-F238E27FC236}">
                  <a16:creationId xmlns:a16="http://schemas.microsoft.com/office/drawing/2014/main" id="{93FA8623-8FEB-EB62-4883-0B62699BC4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470" y="1408587"/>
              <a:ext cx="89567" cy="159487"/>
            </a:xfrm>
            <a:prstGeom prst="rect">
              <a:avLst/>
            </a:prstGeom>
          </p:spPr>
        </p:pic>
        <p:pic>
          <p:nvPicPr>
            <p:cNvPr id="277" name="object 117">
              <a:extLst>
                <a:ext uri="{FF2B5EF4-FFF2-40B4-BE49-F238E27FC236}">
                  <a16:creationId xmlns:a16="http://schemas.microsoft.com/office/drawing/2014/main" id="{83E4BEF9-D731-7765-FCD5-4F7F7C60EAF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679" y="1317908"/>
              <a:ext cx="72593" cy="250623"/>
            </a:xfrm>
            <a:prstGeom prst="rect">
              <a:avLst/>
            </a:prstGeom>
          </p:spPr>
        </p:pic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77FF7283-3F10-1EAA-B60A-0EE11A5A2039}"/>
              </a:ext>
            </a:extLst>
          </p:cNvPr>
          <p:cNvGrpSpPr/>
          <p:nvPr/>
        </p:nvGrpSpPr>
        <p:grpSpPr>
          <a:xfrm>
            <a:off x="2935262" y="4298927"/>
            <a:ext cx="381000" cy="425450"/>
            <a:chOff x="1531619" y="2604515"/>
            <a:chExt cx="381000" cy="425450"/>
          </a:xfrm>
        </p:grpSpPr>
        <p:sp>
          <p:nvSpPr>
            <p:cNvPr id="279" name="object 46">
              <a:extLst>
                <a:ext uri="{FF2B5EF4-FFF2-40B4-BE49-F238E27FC236}">
                  <a16:creationId xmlns:a16="http://schemas.microsoft.com/office/drawing/2014/main" id="{DB655343-E6C0-8825-27C4-027AA852F307}"/>
                </a:ext>
              </a:extLst>
            </p:cNvPr>
            <p:cNvSpPr/>
            <p:nvPr/>
          </p:nvSpPr>
          <p:spPr>
            <a:xfrm>
              <a:off x="1531619" y="2604515"/>
              <a:ext cx="381000" cy="425450"/>
            </a:xfrm>
            <a:custGeom>
              <a:avLst/>
              <a:gdLst/>
              <a:ahLst/>
              <a:cxnLst/>
              <a:rect l="l" t="t" r="r" b="b"/>
              <a:pathLst>
                <a:path w="381000" h="425450">
                  <a:moveTo>
                    <a:pt x="190500" y="0"/>
                  </a:moveTo>
                  <a:lnTo>
                    <a:pt x="139964" y="6027"/>
                  </a:lnTo>
                  <a:lnTo>
                    <a:pt x="94487" y="23071"/>
                  </a:lnTo>
                  <a:lnTo>
                    <a:pt x="55911" y="49577"/>
                  </a:lnTo>
                  <a:lnTo>
                    <a:pt x="26077" y="83989"/>
                  </a:lnTo>
                  <a:lnTo>
                    <a:pt x="6826" y="124751"/>
                  </a:lnTo>
                  <a:lnTo>
                    <a:pt x="0" y="170307"/>
                  </a:lnTo>
                  <a:lnTo>
                    <a:pt x="29765" y="249674"/>
                  </a:lnTo>
                  <a:lnTo>
                    <a:pt x="95250" y="332898"/>
                  </a:lnTo>
                  <a:lnTo>
                    <a:pt x="160734" y="398549"/>
                  </a:lnTo>
                  <a:lnTo>
                    <a:pt x="190500" y="425196"/>
                  </a:lnTo>
                  <a:lnTo>
                    <a:pt x="220265" y="398549"/>
                  </a:lnTo>
                  <a:lnTo>
                    <a:pt x="285750" y="332898"/>
                  </a:lnTo>
                  <a:lnTo>
                    <a:pt x="351234" y="249674"/>
                  </a:lnTo>
                  <a:lnTo>
                    <a:pt x="381000" y="170307"/>
                  </a:lnTo>
                  <a:lnTo>
                    <a:pt x="374173" y="124751"/>
                  </a:lnTo>
                  <a:lnTo>
                    <a:pt x="354922" y="83989"/>
                  </a:lnTo>
                  <a:lnTo>
                    <a:pt x="325088" y="49577"/>
                  </a:lnTo>
                  <a:lnTo>
                    <a:pt x="286512" y="23071"/>
                  </a:lnTo>
                  <a:lnTo>
                    <a:pt x="241035" y="6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901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0" name="object 47">
              <a:extLst>
                <a:ext uri="{FF2B5EF4-FFF2-40B4-BE49-F238E27FC236}">
                  <a16:creationId xmlns:a16="http://schemas.microsoft.com/office/drawing/2014/main" id="{98892946-B110-E114-415A-675BA6598CE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3885" y="2742548"/>
              <a:ext cx="95148" cy="168083"/>
            </a:xfrm>
            <a:prstGeom prst="rect">
              <a:avLst/>
            </a:prstGeom>
          </p:spPr>
        </p:pic>
        <p:sp>
          <p:nvSpPr>
            <p:cNvPr id="281" name="object 48">
              <a:extLst>
                <a:ext uri="{FF2B5EF4-FFF2-40B4-BE49-F238E27FC236}">
                  <a16:creationId xmlns:a16="http://schemas.microsoft.com/office/drawing/2014/main" id="{D89E5F40-2CF2-071E-6C18-6339C7C56C8B}"/>
                </a:ext>
              </a:extLst>
            </p:cNvPr>
            <p:cNvSpPr/>
            <p:nvPr/>
          </p:nvSpPr>
          <p:spPr>
            <a:xfrm>
              <a:off x="1626874" y="2646981"/>
              <a:ext cx="77470" cy="264160"/>
            </a:xfrm>
            <a:custGeom>
              <a:avLst/>
              <a:gdLst/>
              <a:ahLst/>
              <a:cxnLst/>
              <a:rect l="l" t="t" r="r" b="b"/>
              <a:pathLst>
                <a:path w="77469" h="264160">
                  <a:moveTo>
                    <a:pt x="61694" y="256125"/>
                  </a:moveTo>
                  <a:lnTo>
                    <a:pt x="15358" y="256125"/>
                  </a:lnTo>
                  <a:lnTo>
                    <a:pt x="13457" y="257917"/>
                  </a:lnTo>
                  <a:lnTo>
                    <a:pt x="13457" y="262338"/>
                  </a:lnTo>
                  <a:lnTo>
                    <a:pt x="15358" y="264129"/>
                  </a:lnTo>
                  <a:lnTo>
                    <a:pt x="61694" y="264129"/>
                  </a:lnTo>
                  <a:lnTo>
                    <a:pt x="63593" y="262338"/>
                  </a:lnTo>
                  <a:lnTo>
                    <a:pt x="63593" y="257917"/>
                  </a:lnTo>
                  <a:lnTo>
                    <a:pt x="61694" y="256125"/>
                  </a:lnTo>
                  <a:close/>
                </a:path>
                <a:path w="77469" h="264160">
                  <a:moveTo>
                    <a:pt x="33452" y="221787"/>
                  </a:moveTo>
                  <a:lnTo>
                    <a:pt x="24962" y="221787"/>
                  </a:lnTo>
                  <a:lnTo>
                    <a:pt x="24962" y="256125"/>
                  </a:lnTo>
                  <a:lnTo>
                    <a:pt x="33452" y="256125"/>
                  </a:lnTo>
                  <a:lnTo>
                    <a:pt x="33452" y="221787"/>
                  </a:lnTo>
                  <a:close/>
                </a:path>
                <a:path w="77469" h="264160">
                  <a:moveTo>
                    <a:pt x="52089" y="221787"/>
                  </a:moveTo>
                  <a:lnTo>
                    <a:pt x="43598" y="221787"/>
                  </a:lnTo>
                  <a:lnTo>
                    <a:pt x="43598" y="256125"/>
                  </a:lnTo>
                  <a:lnTo>
                    <a:pt x="52089" y="256125"/>
                  </a:lnTo>
                  <a:lnTo>
                    <a:pt x="52089" y="221787"/>
                  </a:lnTo>
                  <a:close/>
                </a:path>
                <a:path w="77469" h="264160">
                  <a:moveTo>
                    <a:pt x="75194" y="213783"/>
                  </a:moveTo>
                  <a:lnTo>
                    <a:pt x="1900" y="213783"/>
                  </a:lnTo>
                  <a:lnTo>
                    <a:pt x="0" y="215578"/>
                  </a:lnTo>
                  <a:lnTo>
                    <a:pt x="0" y="219996"/>
                  </a:lnTo>
                  <a:lnTo>
                    <a:pt x="1900" y="221787"/>
                  </a:lnTo>
                  <a:lnTo>
                    <a:pt x="75194" y="221787"/>
                  </a:lnTo>
                  <a:lnTo>
                    <a:pt x="77093" y="219996"/>
                  </a:lnTo>
                  <a:lnTo>
                    <a:pt x="77093" y="215578"/>
                  </a:lnTo>
                  <a:lnTo>
                    <a:pt x="75194" y="213783"/>
                  </a:lnTo>
                  <a:close/>
                </a:path>
                <a:path w="77469" h="264160">
                  <a:moveTo>
                    <a:pt x="40807" y="0"/>
                  </a:moveTo>
                  <a:lnTo>
                    <a:pt x="36116" y="0"/>
                  </a:lnTo>
                  <a:lnTo>
                    <a:pt x="34216" y="1794"/>
                  </a:lnTo>
                  <a:lnTo>
                    <a:pt x="34216" y="54026"/>
                  </a:lnTo>
                  <a:lnTo>
                    <a:pt x="27559" y="54739"/>
                  </a:lnTo>
                  <a:lnTo>
                    <a:pt x="22522" y="60035"/>
                  </a:lnTo>
                  <a:lnTo>
                    <a:pt x="22500" y="81199"/>
                  </a:lnTo>
                  <a:lnTo>
                    <a:pt x="11969" y="88102"/>
                  </a:lnTo>
                  <a:lnTo>
                    <a:pt x="9856" y="91951"/>
                  </a:lnTo>
                  <a:lnTo>
                    <a:pt x="9891" y="213783"/>
                  </a:lnTo>
                  <a:lnTo>
                    <a:pt x="67117" y="213783"/>
                  </a:lnTo>
                  <a:lnTo>
                    <a:pt x="67117" y="200397"/>
                  </a:lnTo>
                  <a:lnTo>
                    <a:pt x="66523" y="200377"/>
                  </a:lnTo>
                  <a:lnTo>
                    <a:pt x="50295" y="200377"/>
                  </a:lnTo>
                  <a:lnTo>
                    <a:pt x="48395" y="198586"/>
                  </a:lnTo>
                  <a:lnTo>
                    <a:pt x="48395" y="194167"/>
                  </a:lnTo>
                  <a:lnTo>
                    <a:pt x="50295" y="192373"/>
                  </a:lnTo>
                  <a:lnTo>
                    <a:pt x="66565" y="192373"/>
                  </a:lnTo>
                  <a:lnTo>
                    <a:pt x="66763" y="192356"/>
                  </a:lnTo>
                  <a:lnTo>
                    <a:pt x="67159" y="192356"/>
                  </a:lnTo>
                  <a:lnTo>
                    <a:pt x="67159" y="179207"/>
                  </a:lnTo>
                  <a:lnTo>
                    <a:pt x="45922" y="179207"/>
                  </a:lnTo>
                  <a:lnTo>
                    <a:pt x="44022" y="177416"/>
                  </a:lnTo>
                  <a:lnTo>
                    <a:pt x="44022" y="172997"/>
                  </a:lnTo>
                  <a:lnTo>
                    <a:pt x="45922" y="171203"/>
                  </a:lnTo>
                  <a:lnTo>
                    <a:pt x="67159" y="171203"/>
                  </a:lnTo>
                  <a:lnTo>
                    <a:pt x="67159" y="158036"/>
                  </a:lnTo>
                  <a:lnTo>
                    <a:pt x="50295" y="158036"/>
                  </a:lnTo>
                  <a:lnTo>
                    <a:pt x="48395" y="156245"/>
                  </a:lnTo>
                  <a:lnTo>
                    <a:pt x="48395" y="151827"/>
                  </a:lnTo>
                  <a:lnTo>
                    <a:pt x="50295" y="150032"/>
                  </a:lnTo>
                  <a:lnTo>
                    <a:pt x="66565" y="150032"/>
                  </a:lnTo>
                  <a:lnTo>
                    <a:pt x="66763" y="150016"/>
                  </a:lnTo>
                  <a:lnTo>
                    <a:pt x="67159" y="150016"/>
                  </a:lnTo>
                  <a:lnTo>
                    <a:pt x="67159" y="136846"/>
                  </a:lnTo>
                  <a:lnTo>
                    <a:pt x="66565" y="136826"/>
                  </a:lnTo>
                  <a:lnTo>
                    <a:pt x="45922" y="136826"/>
                  </a:lnTo>
                  <a:lnTo>
                    <a:pt x="44022" y="135035"/>
                  </a:lnTo>
                  <a:lnTo>
                    <a:pt x="44022" y="130616"/>
                  </a:lnTo>
                  <a:lnTo>
                    <a:pt x="45922" y="128822"/>
                  </a:lnTo>
                  <a:lnTo>
                    <a:pt x="66565" y="128822"/>
                  </a:lnTo>
                  <a:lnTo>
                    <a:pt x="66763" y="128805"/>
                  </a:lnTo>
                  <a:lnTo>
                    <a:pt x="67159" y="128805"/>
                  </a:lnTo>
                  <a:lnTo>
                    <a:pt x="67159" y="115676"/>
                  </a:lnTo>
                  <a:lnTo>
                    <a:pt x="66565" y="115656"/>
                  </a:lnTo>
                  <a:lnTo>
                    <a:pt x="50295" y="115656"/>
                  </a:lnTo>
                  <a:lnTo>
                    <a:pt x="48395" y="113865"/>
                  </a:lnTo>
                  <a:lnTo>
                    <a:pt x="48395" y="109446"/>
                  </a:lnTo>
                  <a:lnTo>
                    <a:pt x="50295" y="107652"/>
                  </a:lnTo>
                  <a:lnTo>
                    <a:pt x="67117" y="107652"/>
                  </a:lnTo>
                  <a:lnTo>
                    <a:pt x="67115" y="91951"/>
                  </a:lnTo>
                  <a:lnTo>
                    <a:pt x="64994" y="88129"/>
                  </a:lnTo>
                  <a:lnTo>
                    <a:pt x="54381" y="81199"/>
                  </a:lnTo>
                  <a:lnTo>
                    <a:pt x="54379" y="79318"/>
                  </a:lnTo>
                  <a:lnTo>
                    <a:pt x="31075" y="79318"/>
                  </a:lnTo>
                  <a:lnTo>
                    <a:pt x="31075" y="63877"/>
                  </a:lnTo>
                  <a:lnTo>
                    <a:pt x="33204" y="61870"/>
                  </a:lnTo>
                  <a:lnTo>
                    <a:pt x="54365" y="61870"/>
                  </a:lnTo>
                  <a:lnTo>
                    <a:pt x="54348" y="60035"/>
                  </a:lnTo>
                  <a:lnTo>
                    <a:pt x="49347" y="54756"/>
                  </a:lnTo>
                  <a:lnTo>
                    <a:pt x="42706" y="54026"/>
                  </a:lnTo>
                  <a:lnTo>
                    <a:pt x="42706" y="1794"/>
                  </a:lnTo>
                  <a:lnTo>
                    <a:pt x="40807" y="0"/>
                  </a:lnTo>
                  <a:close/>
                </a:path>
                <a:path w="77469" h="264160">
                  <a:moveTo>
                    <a:pt x="67117" y="200377"/>
                  </a:moveTo>
                  <a:lnTo>
                    <a:pt x="66919" y="200397"/>
                  </a:lnTo>
                  <a:lnTo>
                    <a:pt x="67117" y="200397"/>
                  </a:lnTo>
                  <a:close/>
                </a:path>
                <a:path w="77469" h="264160">
                  <a:moveTo>
                    <a:pt x="67159" y="192356"/>
                  </a:moveTo>
                  <a:lnTo>
                    <a:pt x="66763" y="192356"/>
                  </a:lnTo>
                  <a:lnTo>
                    <a:pt x="67159" y="192373"/>
                  </a:lnTo>
                  <a:close/>
                </a:path>
                <a:path w="77469" h="264160">
                  <a:moveTo>
                    <a:pt x="67159" y="150016"/>
                  </a:moveTo>
                  <a:lnTo>
                    <a:pt x="66763" y="150016"/>
                  </a:lnTo>
                  <a:lnTo>
                    <a:pt x="67159" y="150032"/>
                  </a:lnTo>
                  <a:close/>
                </a:path>
                <a:path w="77469" h="264160">
                  <a:moveTo>
                    <a:pt x="67159" y="136826"/>
                  </a:moveTo>
                  <a:lnTo>
                    <a:pt x="66961" y="136846"/>
                  </a:lnTo>
                  <a:lnTo>
                    <a:pt x="67159" y="136846"/>
                  </a:lnTo>
                  <a:close/>
                </a:path>
                <a:path w="77469" h="264160">
                  <a:moveTo>
                    <a:pt x="67159" y="128805"/>
                  </a:moveTo>
                  <a:lnTo>
                    <a:pt x="66763" y="128805"/>
                  </a:lnTo>
                  <a:lnTo>
                    <a:pt x="67159" y="128822"/>
                  </a:lnTo>
                  <a:close/>
                </a:path>
                <a:path w="77469" h="264160">
                  <a:moveTo>
                    <a:pt x="67159" y="115656"/>
                  </a:moveTo>
                  <a:lnTo>
                    <a:pt x="66961" y="115676"/>
                  </a:lnTo>
                  <a:lnTo>
                    <a:pt x="67159" y="115676"/>
                  </a:lnTo>
                  <a:close/>
                </a:path>
                <a:path w="77469" h="264160">
                  <a:moveTo>
                    <a:pt x="67117" y="107652"/>
                  </a:moveTo>
                  <a:lnTo>
                    <a:pt x="66565" y="107652"/>
                  </a:lnTo>
                  <a:lnTo>
                    <a:pt x="66767" y="107765"/>
                  </a:lnTo>
                  <a:lnTo>
                    <a:pt x="66951" y="107899"/>
                  </a:lnTo>
                  <a:lnTo>
                    <a:pt x="67117" y="108052"/>
                  </a:lnTo>
                  <a:lnTo>
                    <a:pt x="67117" y="107652"/>
                  </a:lnTo>
                  <a:close/>
                </a:path>
                <a:path w="77469" h="264160">
                  <a:moveTo>
                    <a:pt x="54365" y="61870"/>
                  </a:moveTo>
                  <a:lnTo>
                    <a:pt x="41263" y="61870"/>
                  </a:lnTo>
                  <a:lnTo>
                    <a:pt x="43839" y="61936"/>
                  </a:lnTo>
                  <a:lnTo>
                    <a:pt x="45842" y="63877"/>
                  </a:lnTo>
                  <a:lnTo>
                    <a:pt x="45890" y="79318"/>
                  </a:lnTo>
                  <a:lnTo>
                    <a:pt x="54379" y="79318"/>
                  </a:lnTo>
                  <a:lnTo>
                    <a:pt x="54365" y="61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529424AA-20A8-21E7-17B5-6C262301449A}"/>
              </a:ext>
            </a:extLst>
          </p:cNvPr>
          <p:cNvGrpSpPr/>
          <p:nvPr/>
        </p:nvGrpSpPr>
        <p:grpSpPr>
          <a:xfrm>
            <a:off x="1632054" y="4298227"/>
            <a:ext cx="381000" cy="424180"/>
            <a:chOff x="3060192" y="4280915"/>
            <a:chExt cx="381000" cy="424180"/>
          </a:xfrm>
        </p:grpSpPr>
        <p:sp>
          <p:nvSpPr>
            <p:cNvPr id="283" name="object 62">
              <a:extLst>
                <a:ext uri="{FF2B5EF4-FFF2-40B4-BE49-F238E27FC236}">
                  <a16:creationId xmlns:a16="http://schemas.microsoft.com/office/drawing/2014/main" id="{8402F91C-7ABC-24E3-3175-3632E5107E75}"/>
                </a:ext>
              </a:extLst>
            </p:cNvPr>
            <p:cNvSpPr/>
            <p:nvPr/>
          </p:nvSpPr>
          <p:spPr>
            <a:xfrm>
              <a:off x="3060192" y="4280915"/>
              <a:ext cx="381000" cy="424180"/>
            </a:xfrm>
            <a:custGeom>
              <a:avLst/>
              <a:gdLst/>
              <a:ahLst/>
              <a:cxnLst/>
              <a:rect l="l" t="t" r="r" b="b"/>
              <a:pathLst>
                <a:path w="381000" h="424179">
                  <a:moveTo>
                    <a:pt x="190500" y="0"/>
                  </a:moveTo>
                  <a:lnTo>
                    <a:pt x="139964" y="6006"/>
                  </a:lnTo>
                  <a:lnTo>
                    <a:pt x="94487" y="22991"/>
                  </a:lnTo>
                  <a:lnTo>
                    <a:pt x="55911" y="49402"/>
                  </a:lnTo>
                  <a:lnTo>
                    <a:pt x="26077" y="83688"/>
                  </a:lnTo>
                  <a:lnTo>
                    <a:pt x="6826" y="124295"/>
                  </a:lnTo>
                  <a:lnTo>
                    <a:pt x="0" y="169671"/>
                  </a:lnTo>
                  <a:lnTo>
                    <a:pt x="29765" y="248792"/>
                  </a:lnTo>
                  <a:lnTo>
                    <a:pt x="95250" y="331723"/>
                  </a:lnTo>
                  <a:lnTo>
                    <a:pt x="160734" y="397128"/>
                  </a:lnTo>
                  <a:lnTo>
                    <a:pt x="190500" y="423671"/>
                  </a:lnTo>
                  <a:lnTo>
                    <a:pt x="220265" y="397128"/>
                  </a:lnTo>
                  <a:lnTo>
                    <a:pt x="285749" y="331723"/>
                  </a:lnTo>
                  <a:lnTo>
                    <a:pt x="351234" y="248792"/>
                  </a:lnTo>
                  <a:lnTo>
                    <a:pt x="380999" y="169671"/>
                  </a:lnTo>
                  <a:lnTo>
                    <a:pt x="374173" y="124295"/>
                  </a:lnTo>
                  <a:lnTo>
                    <a:pt x="354922" y="83688"/>
                  </a:lnTo>
                  <a:lnTo>
                    <a:pt x="325088" y="49402"/>
                  </a:lnTo>
                  <a:lnTo>
                    <a:pt x="286511" y="22991"/>
                  </a:lnTo>
                  <a:lnTo>
                    <a:pt x="241035" y="6006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AB001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4" name="object 63">
              <a:extLst>
                <a:ext uri="{FF2B5EF4-FFF2-40B4-BE49-F238E27FC236}">
                  <a16:creationId xmlns:a16="http://schemas.microsoft.com/office/drawing/2014/main" id="{DCDC455F-270A-1994-7BA7-964BFB8B7E6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9107" y="4431640"/>
              <a:ext cx="88871" cy="158536"/>
            </a:xfrm>
            <a:prstGeom prst="rect">
              <a:avLst/>
            </a:prstGeom>
          </p:spPr>
        </p:pic>
        <p:pic>
          <p:nvPicPr>
            <p:cNvPr id="285" name="object 64">
              <a:extLst>
                <a:ext uri="{FF2B5EF4-FFF2-40B4-BE49-F238E27FC236}">
                  <a16:creationId xmlns:a16="http://schemas.microsoft.com/office/drawing/2014/main" id="{A791D521-77AA-776F-90C7-52C0EE347E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9099" y="4341502"/>
              <a:ext cx="72029" cy="249128"/>
            </a:xfrm>
            <a:prstGeom prst="rect">
              <a:avLst/>
            </a:prstGeom>
          </p:spPr>
        </p:pic>
      </p:grp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E66B9495-3A4D-1B23-56DC-EE0A1D1ECD9B}"/>
              </a:ext>
            </a:extLst>
          </p:cNvPr>
          <p:cNvSpPr/>
          <p:nvPr/>
        </p:nvSpPr>
        <p:spPr>
          <a:xfrm>
            <a:off x="2748752" y="4842992"/>
            <a:ext cx="1465166" cy="6043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IPV introduced</a:t>
            </a:r>
          </a:p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Penta Nationwide</a:t>
            </a: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008FDD99-E891-A7FF-8425-3F9B4CEB569F}"/>
              </a:ext>
            </a:extLst>
          </p:cNvPr>
          <p:cNvGrpSpPr/>
          <p:nvPr/>
        </p:nvGrpSpPr>
        <p:grpSpPr>
          <a:xfrm>
            <a:off x="1735469" y="5213750"/>
            <a:ext cx="381000" cy="457200"/>
            <a:chOff x="231647" y="1248155"/>
            <a:chExt cx="381000" cy="457200"/>
          </a:xfrm>
        </p:grpSpPr>
        <p:sp>
          <p:nvSpPr>
            <p:cNvPr id="288" name="object 115">
              <a:extLst>
                <a:ext uri="{FF2B5EF4-FFF2-40B4-BE49-F238E27FC236}">
                  <a16:creationId xmlns:a16="http://schemas.microsoft.com/office/drawing/2014/main" id="{14A2470A-E596-2616-CA84-6BD5AD79558B}"/>
                </a:ext>
              </a:extLst>
            </p:cNvPr>
            <p:cNvSpPr/>
            <p:nvPr/>
          </p:nvSpPr>
          <p:spPr>
            <a:xfrm>
              <a:off x="231647" y="1248155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39951" y="6483"/>
                  </a:lnTo>
                  <a:lnTo>
                    <a:pt x="94471" y="24816"/>
                  </a:lnTo>
                  <a:lnTo>
                    <a:pt x="55897" y="53324"/>
                  </a:lnTo>
                  <a:lnTo>
                    <a:pt x="26068" y="90329"/>
                  </a:lnTo>
                  <a:lnTo>
                    <a:pt x="6823" y="134158"/>
                  </a:lnTo>
                  <a:lnTo>
                    <a:pt x="0" y="183134"/>
                  </a:lnTo>
                  <a:lnTo>
                    <a:pt x="29765" y="268497"/>
                  </a:lnTo>
                  <a:lnTo>
                    <a:pt x="95250" y="357981"/>
                  </a:lnTo>
                  <a:lnTo>
                    <a:pt x="160734" y="428557"/>
                  </a:lnTo>
                  <a:lnTo>
                    <a:pt x="190500" y="457200"/>
                  </a:lnTo>
                  <a:lnTo>
                    <a:pt x="220265" y="428557"/>
                  </a:lnTo>
                  <a:lnTo>
                    <a:pt x="285750" y="357981"/>
                  </a:lnTo>
                  <a:lnTo>
                    <a:pt x="351234" y="268497"/>
                  </a:lnTo>
                  <a:lnTo>
                    <a:pt x="381000" y="183134"/>
                  </a:lnTo>
                  <a:lnTo>
                    <a:pt x="374176" y="134158"/>
                  </a:lnTo>
                  <a:lnTo>
                    <a:pt x="354931" y="90329"/>
                  </a:lnTo>
                  <a:lnTo>
                    <a:pt x="325102" y="53324"/>
                  </a:lnTo>
                  <a:lnTo>
                    <a:pt x="286528" y="24816"/>
                  </a:lnTo>
                  <a:lnTo>
                    <a:pt x="241048" y="6483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CAE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9" name="object 116">
              <a:extLst>
                <a:ext uri="{FF2B5EF4-FFF2-40B4-BE49-F238E27FC236}">
                  <a16:creationId xmlns:a16="http://schemas.microsoft.com/office/drawing/2014/main" id="{A8F31384-CF65-6C27-6B70-315C6876F93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470" y="1408587"/>
              <a:ext cx="89567" cy="159487"/>
            </a:xfrm>
            <a:prstGeom prst="rect">
              <a:avLst/>
            </a:prstGeom>
          </p:spPr>
        </p:pic>
        <p:pic>
          <p:nvPicPr>
            <p:cNvPr id="290" name="object 117">
              <a:extLst>
                <a:ext uri="{FF2B5EF4-FFF2-40B4-BE49-F238E27FC236}">
                  <a16:creationId xmlns:a16="http://schemas.microsoft.com/office/drawing/2014/main" id="{829967BB-1359-3803-7D96-AA37EC241FD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679" y="1317908"/>
              <a:ext cx="72593" cy="250623"/>
            </a:xfrm>
            <a:prstGeom prst="rect">
              <a:avLst/>
            </a:prstGeom>
          </p:spPr>
        </p:pic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0C890118-505C-9E40-C788-DDA71A74B3BD}"/>
              </a:ext>
            </a:extLst>
          </p:cNvPr>
          <p:cNvGrpSpPr/>
          <p:nvPr/>
        </p:nvGrpSpPr>
        <p:grpSpPr>
          <a:xfrm>
            <a:off x="3927525" y="5411250"/>
            <a:ext cx="381000" cy="425450"/>
            <a:chOff x="1531619" y="2604515"/>
            <a:chExt cx="381000" cy="425450"/>
          </a:xfrm>
        </p:grpSpPr>
        <p:sp>
          <p:nvSpPr>
            <p:cNvPr id="292" name="object 46">
              <a:extLst>
                <a:ext uri="{FF2B5EF4-FFF2-40B4-BE49-F238E27FC236}">
                  <a16:creationId xmlns:a16="http://schemas.microsoft.com/office/drawing/2014/main" id="{4973FE2C-5519-C63B-7D87-358AB58636CF}"/>
                </a:ext>
              </a:extLst>
            </p:cNvPr>
            <p:cNvSpPr/>
            <p:nvPr/>
          </p:nvSpPr>
          <p:spPr>
            <a:xfrm>
              <a:off x="1531619" y="2604515"/>
              <a:ext cx="381000" cy="425450"/>
            </a:xfrm>
            <a:custGeom>
              <a:avLst/>
              <a:gdLst/>
              <a:ahLst/>
              <a:cxnLst/>
              <a:rect l="l" t="t" r="r" b="b"/>
              <a:pathLst>
                <a:path w="381000" h="425450">
                  <a:moveTo>
                    <a:pt x="190500" y="0"/>
                  </a:moveTo>
                  <a:lnTo>
                    <a:pt x="139964" y="6027"/>
                  </a:lnTo>
                  <a:lnTo>
                    <a:pt x="94487" y="23071"/>
                  </a:lnTo>
                  <a:lnTo>
                    <a:pt x="55911" y="49577"/>
                  </a:lnTo>
                  <a:lnTo>
                    <a:pt x="26077" y="83989"/>
                  </a:lnTo>
                  <a:lnTo>
                    <a:pt x="6826" y="124751"/>
                  </a:lnTo>
                  <a:lnTo>
                    <a:pt x="0" y="170307"/>
                  </a:lnTo>
                  <a:lnTo>
                    <a:pt x="29765" y="249674"/>
                  </a:lnTo>
                  <a:lnTo>
                    <a:pt x="95250" y="332898"/>
                  </a:lnTo>
                  <a:lnTo>
                    <a:pt x="160734" y="398549"/>
                  </a:lnTo>
                  <a:lnTo>
                    <a:pt x="190500" y="425196"/>
                  </a:lnTo>
                  <a:lnTo>
                    <a:pt x="220265" y="398549"/>
                  </a:lnTo>
                  <a:lnTo>
                    <a:pt x="285750" y="332898"/>
                  </a:lnTo>
                  <a:lnTo>
                    <a:pt x="351234" y="249674"/>
                  </a:lnTo>
                  <a:lnTo>
                    <a:pt x="381000" y="170307"/>
                  </a:lnTo>
                  <a:lnTo>
                    <a:pt x="374173" y="124751"/>
                  </a:lnTo>
                  <a:lnTo>
                    <a:pt x="354922" y="83989"/>
                  </a:lnTo>
                  <a:lnTo>
                    <a:pt x="325088" y="49577"/>
                  </a:lnTo>
                  <a:lnTo>
                    <a:pt x="286512" y="23071"/>
                  </a:lnTo>
                  <a:lnTo>
                    <a:pt x="241035" y="6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901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93" name="object 47">
              <a:extLst>
                <a:ext uri="{FF2B5EF4-FFF2-40B4-BE49-F238E27FC236}">
                  <a16:creationId xmlns:a16="http://schemas.microsoft.com/office/drawing/2014/main" id="{FA2AC2B4-CD4E-0710-CE34-A67D65EE08E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3885" y="2742548"/>
              <a:ext cx="95148" cy="168083"/>
            </a:xfrm>
            <a:prstGeom prst="rect">
              <a:avLst/>
            </a:prstGeom>
          </p:spPr>
        </p:pic>
        <p:sp>
          <p:nvSpPr>
            <p:cNvPr id="294" name="object 48">
              <a:extLst>
                <a:ext uri="{FF2B5EF4-FFF2-40B4-BE49-F238E27FC236}">
                  <a16:creationId xmlns:a16="http://schemas.microsoft.com/office/drawing/2014/main" id="{F05C4FF3-779D-2281-7D94-AFD343099737}"/>
                </a:ext>
              </a:extLst>
            </p:cNvPr>
            <p:cNvSpPr/>
            <p:nvPr/>
          </p:nvSpPr>
          <p:spPr>
            <a:xfrm>
              <a:off x="1626874" y="2646981"/>
              <a:ext cx="77470" cy="264160"/>
            </a:xfrm>
            <a:custGeom>
              <a:avLst/>
              <a:gdLst/>
              <a:ahLst/>
              <a:cxnLst/>
              <a:rect l="l" t="t" r="r" b="b"/>
              <a:pathLst>
                <a:path w="77469" h="264160">
                  <a:moveTo>
                    <a:pt x="61694" y="256125"/>
                  </a:moveTo>
                  <a:lnTo>
                    <a:pt x="15358" y="256125"/>
                  </a:lnTo>
                  <a:lnTo>
                    <a:pt x="13457" y="257917"/>
                  </a:lnTo>
                  <a:lnTo>
                    <a:pt x="13457" y="262338"/>
                  </a:lnTo>
                  <a:lnTo>
                    <a:pt x="15358" y="264129"/>
                  </a:lnTo>
                  <a:lnTo>
                    <a:pt x="61694" y="264129"/>
                  </a:lnTo>
                  <a:lnTo>
                    <a:pt x="63593" y="262338"/>
                  </a:lnTo>
                  <a:lnTo>
                    <a:pt x="63593" y="257917"/>
                  </a:lnTo>
                  <a:lnTo>
                    <a:pt x="61694" y="256125"/>
                  </a:lnTo>
                  <a:close/>
                </a:path>
                <a:path w="77469" h="264160">
                  <a:moveTo>
                    <a:pt x="33452" y="221787"/>
                  </a:moveTo>
                  <a:lnTo>
                    <a:pt x="24962" y="221787"/>
                  </a:lnTo>
                  <a:lnTo>
                    <a:pt x="24962" y="256125"/>
                  </a:lnTo>
                  <a:lnTo>
                    <a:pt x="33452" y="256125"/>
                  </a:lnTo>
                  <a:lnTo>
                    <a:pt x="33452" y="221787"/>
                  </a:lnTo>
                  <a:close/>
                </a:path>
                <a:path w="77469" h="264160">
                  <a:moveTo>
                    <a:pt x="52089" y="221787"/>
                  </a:moveTo>
                  <a:lnTo>
                    <a:pt x="43598" y="221787"/>
                  </a:lnTo>
                  <a:lnTo>
                    <a:pt x="43598" y="256125"/>
                  </a:lnTo>
                  <a:lnTo>
                    <a:pt x="52089" y="256125"/>
                  </a:lnTo>
                  <a:lnTo>
                    <a:pt x="52089" y="221787"/>
                  </a:lnTo>
                  <a:close/>
                </a:path>
                <a:path w="77469" h="264160">
                  <a:moveTo>
                    <a:pt x="75194" y="213783"/>
                  </a:moveTo>
                  <a:lnTo>
                    <a:pt x="1900" y="213783"/>
                  </a:lnTo>
                  <a:lnTo>
                    <a:pt x="0" y="215578"/>
                  </a:lnTo>
                  <a:lnTo>
                    <a:pt x="0" y="219996"/>
                  </a:lnTo>
                  <a:lnTo>
                    <a:pt x="1900" y="221787"/>
                  </a:lnTo>
                  <a:lnTo>
                    <a:pt x="75194" y="221787"/>
                  </a:lnTo>
                  <a:lnTo>
                    <a:pt x="77093" y="219996"/>
                  </a:lnTo>
                  <a:lnTo>
                    <a:pt x="77093" y="215578"/>
                  </a:lnTo>
                  <a:lnTo>
                    <a:pt x="75194" y="213783"/>
                  </a:lnTo>
                  <a:close/>
                </a:path>
                <a:path w="77469" h="264160">
                  <a:moveTo>
                    <a:pt x="40807" y="0"/>
                  </a:moveTo>
                  <a:lnTo>
                    <a:pt x="36116" y="0"/>
                  </a:lnTo>
                  <a:lnTo>
                    <a:pt x="34216" y="1794"/>
                  </a:lnTo>
                  <a:lnTo>
                    <a:pt x="34216" y="54026"/>
                  </a:lnTo>
                  <a:lnTo>
                    <a:pt x="27559" y="54739"/>
                  </a:lnTo>
                  <a:lnTo>
                    <a:pt x="22522" y="60035"/>
                  </a:lnTo>
                  <a:lnTo>
                    <a:pt x="22500" y="81199"/>
                  </a:lnTo>
                  <a:lnTo>
                    <a:pt x="11969" y="88102"/>
                  </a:lnTo>
                  <a:lnTo>
                    <a:pt x="9856" y="91951"/>
                  </a:lnTo>
                  <a:lnTo>
                    <a:pt x="9891" y="213783"/>
                  </a:lnTo>
                  <a:lnTo>
                    <a:pt x="67117" y="213783"/>
                  </a:lnTo>
                  <a:lnTo>
                    <a:pt x="67117" y="200397"/>
                  </a:lnTo>
                  <a:lnTo>
                    <a:pt x="66523" y="200377"/>
                  </a:lnTo>
                  <a:lnTo>
                    <a:pt x="50295" y="200377"/>
                  </a:lnTo>
                  <a:lnTo>
                    <a:pt x="48395" y="198586"/>
                  </a:lnTo>
                  <a:lnTo>
                    <a:pt x="48395" y="194167"/>
                  </a:lnTo>
                  <a:lnTo>
                    <a:pt x="50295" y="192373"/>
                  </a:lnTo>
                  <a:lnTo>
                    <a:pt x="66565" y="192373"/>
                  </a:lnTo>
                  <a:lnTo>
                    <a:pt x="66763" y="192356"/>
                  </a:lnTo>
                  <a:lnTo>
                    <a:pt x="67159" y="192356"/>
                  </a:lnTo>
                  <a:lnTo>
                    <a:pt x="67159" y="179207"/>
                  </a:lnTo>
                  <a:lnTo>
                    <a:pt x="45922" y="179207"/>
                  </a:lnTo>
                  <a:lnTo>
                    <a:pt x="44022" y="177416"/>
                  </a:lnTo>
                  <a:lnTo>
                    <a:pt x="44022" y="172997"/>
                  </a:lnTo>
                  <a:lnTo>
                    <a:pt x="45922" y="171203"/>
                  </a:lnTo>
                  <a:lnTo>
                    <a:pt x="67159" y="171203"/>
                  </a:lnTo>
                  <a:lnTo>
                    <a:pt x="67159" y="158036"/>
                  </a:lnTo>
                  <a:lnTo>
                    <a:pt x="50295" y="158036"/>
                  </a:lnTo>
                  <a:lnTo>
                    <a:pt x="48395" y="156245"/>
                  </a:lnTo>
                  <a:lnTo>
                    <a:pt x="48395" y="151827"/>
                  </a:lnTo>
                  <a:lnTo>
                    <a:pt x="50295" y="150032"/>
                  </a:lnTo>
                  <a:lnTo>
                    <a:pt x="66565" y="150032"/>
                  </a:lnTo>
                  <a:lnTo>
                    <a:pt x="66763" y="150016"/>
                  </a:lnTo>
                  <a:lnTo>
                    <a:pt x="67159" y="150016"/>
                  </a:lnTo>
                  <a:lnTo>
                    <a:pt x="67159" y="136846"/>
                  </a:lnTo>
                  <a:lnTo>
                    <a:pt x="66565" y="136826"/>
                  </a:lnTo>
                  <a:lnTo>
                    <a:pt x="45922" y="136826"/>
                  </a:lnTo>
                  <a:lnTo>
                    <a:pt x="44022" y="135035"/>
                  </a:lnTo>
                  <a:lnTo>
                    <a:pt x="44022" y="130616"/>
                  </a:lnTo>
                  <a:lnTo>
                    <a:pt x="45922" y="128822"/>
                  </a:lnTo>
                  <a:lnTo>
                    <a:pt x="66565" y="128822"/>
                  </a:lnTo>
                  <a:lnTo>
                    <a:pt x="66763" y="128805"/>
                  </a:lnTo>
                  <a:lnTo>
                    <a:pt x="67159" y="128805"/>
                  </a:lnTo>
                  <a:lnTo>
                    <a:pt x="67159" y="115676"/>
                  </a:lnTo>
                  <a:lnTo>
                    <a:pt x="66565" y="115656"/>
                  </a:lnTo>
                  <a:lnTo>
                    <a:pt x="50295" y="115656"/>
                  </a:lnTo>
                  <a:lnTo>
                    <a:pt x="48395" y="113865"/>
                  </a:lnTo>
                  <a:lnTo>
                    <a:pt x="48395" y="109446"/>
                  </a:lnTo>
                  <a:lnTo>
                    <a:pt x="50295" y="107652"/>
                  </a:lnTo>
                  <a:lnTo>
                    <a:pt x="67117" y="107652"/>
                  </a:lnTo>
                  <a:lnTo>
                    <a:pt x="67115" y="91951"/>
                  </a:lnTo>
                  <a:lnTo>
                    <a:pt x="64994" y="88129"/>
                  </a:lnTo>
                  <a:lnTo>
                    <a:pt x="54381" y="81199"/>
                  </a:lnTo>
                  <a:lnTo>
                    <a:pt x="54379" y="79318"/>
                  </a:lnTo>
                  <a:lnTo>
                    <a:pt x="31075" y="79318"/>
                  </a:lnTo>
                  <a:lnTo>
                    <a:pt x="31075" y="63877"/>
                  </a:lnTo>
                  <a:lnTo>
                    <a:pt x="33204" y="61870"/>
                  </a:lnTo>
                  <a:lnTo>
                    <a:pt x="54365" y="61870"/>
                  </a:lnTo>
                  <a:lnTo>
                    <a:pt x="54348" y="60035"/>
                  </a:lnTo>
                  <a:lnTo>
                    <a:pt x="49347" y="54756"/>
                  </a:lnTo>
                  <a:lnTo>
                    <a:pt x="42706" y="54026"/>
                  </a:lnTo>
                  <a:lnTo>
                    <a:pt x="42706" y="1794"/>
                  </a:lnTo>
                  <a:lnTo>
                    <a:pt x="40807" y="0"/>
                  </a:lnTo>
                  <a:close/>
                </a:path>
                <a:path w="77469" h="264160">
                  <a:moveTo>
                    <a:pt x="67117" y="200377"/>
                  </a:moveTo>
                  <a:lnTo>
                    <a:pt x="66919" y="200397"/>
                  </a:lnTo>
                  <a:lnTo>
                    <a:pt x="67117" y="200397"/>
                  </a:lnTo>
                  <a:close/>
                </a:path>
                <a:path w="77469" h="264160">
                  <a:moveTo>
                    <a:pt x="67159" y="192356"/>
                  </a:moveTo>
                  <a:lnTo>
                    <a:pt x="66763" y="192356"/>
                  </a:lnTo>
                  <a:lnTo>
                    <a:pt x="67159" y="192373"/>
                  </a:lnTo>
                  <a:close/>
                </a:path>
                <a:path w="77469" h="264160">
                  <a:moveTo>
                    <a:pt x="67159" y="150016"/>
                  </a:moveTo>
                  <a:lnTo>
                    <a:pt x="66763" y="150016"/>
                  </a:lnTo>
                  <a:lnTo>
                    <a:pt x="67159" y="150032"/>
                  </a:lnTo>
                  <a:close/>
                </a:path>
                <a:path w="77469" h="264160">
                  <a:moveTo>
                    <a:pt x="67159" y="136826"/>
                  </a:moveTo>
                  <a:lnTo>
                    <a:pt x="66961" y="136846"/>
                  </a:lnTo>
                  <a:lnTo>
                    <a:pt x="67159" y="136846"/>
                  </a:lnTo>
                  <a:close/>
                </a:path>
                <a:path w="77469" h="264160">
                  <a:moveTo>
                    <a:pt x="67159" y="128805"/>
                  </a:moveTo>
                  <a:lnTo>
                    <a:pt x="66763" y="128805"/>
                  </a:lnTo>
                  <a:lnTo>
                    <a:pt x="67159" y="128822"/>
                  </a:lnTo>
                  <a:close/>
                </a:path>
                <a:path w="77469" h="264160">
                  <a:moveTo>
                    <a:pt x="67159" y="115656"/>
                  </a:moveTo>
                  <a:lnTo>
                    <a:pt x="66961" y="115676"/>
                  </a:lnTo>
                  <a:lnTo>
                    <a:pt x="67159" y="115676"/>
                  </a:lnTo>
                  <a:close/>
                </a:path>
                <a:path w="77469" h="264160">
                  <a:moveTo>
                    <a:pt x="67117" y="107652"/>
                  </a:moveTo>
                  <a:lnTo>
                    <a:pt x="66565" y="107652"/>
                  </a:lnTo>
                  <a:lnTo>
                    <a:pt x="66767" y="107765"/>
                  </a:lnTo>
                  <a:lnTo>
                    <a:pt x="66951" y="107899"/>
                  </a:lnTo>
                  <a:lnTo>
                    <a:pt x="67117" y="108052"/>
                  </a:lnTo>
                  <a:lnTo>
                    <a:pt x="67117" y="107652"/>
                  </a:lnTo>
                  <a:close/>
                </a:path>
                <a:path w="77469" h="264160">
                  <a:moveTo>
                    <a:pt x="54365" y="61870"/>
                  </a:moveTo>
                  <a:lnTo>
                    <a:pt x="41263" y="61870"/>
                  </a:lnTo>
                  <a:lnTo>
                    <a:pt x="43839" y="61936"/>
                  </a:lnTo>
                  <a:lnTo>
                    <a:pt x="45842" y="63877"/>
                  </a:lnTo>
                  <a:lnTo>
                    <a:pt x="45890" y="79318"/>
                  </a:lnTo>
                  <a:lnTo>
                    <a:pt x="54379" y="79318"/>
                  </a:lnTo>
                  <a:lnTo>
                    <a:pt x="54365" y="61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AD47AFAA-255C-BCFC-8CB7-3D93FAADCD16}"/>
              </a:ext>
            </a:extLst>
          </p:cNvPr>
          <p:cNvGrpSpPr/>
          <p:nvPr/>
        </p:nvGrpSpPr>
        <p:grpSpPr>
          <a:xfrm>
            <a:off x="6385272" y="5321077"/>
            <a:ext cx="381000" cy="424180"/>
            <a:chOff x="3060192" y="4280915"/>
            <a:chExt cx="381000" cy="424180"/>
          </a:xfrm>
        </p:grpSpPr>
        <p:sp>
          <p:nvSpPr>
            <p:cNvPr id="296" name="object 62">
              <a:extLst>
                <a:ext uri="{FF2B5EF4-FFF2-40B4-BE49-F238E27FC236}">
                  <a16:creationId xmlns:a16="http://schemas.microsoft.com/office/drawing/2014/main" id="{8B7D3832-76B9-18A3-D7B9-ABAAEB27F008}"/>
                </a:ext>
              </a:extLst>
            </p:cNvPr>
            <p:cNvSpPr/>
            <p:nvPr/>
          </p:nvSpPr>
          <p:spPr>
            <a:xfrm>
              <a:off x="3060192" y="4280915"/>
              <a:ext cx="381000" cy="424180"/>
            </a:xfrm>
            <a:custGeom>
              <a:avLst/>
              <a:gdLst/>
              <a:ahLst/>
              <a:cxnLst/>
              <a:rect l="l" t="t" r="r" b="b"/>
              <a:pathLst>
                <a:path w="381000" h="424179">
                  <a:moveTo>
                    <a:pt x="190500" y="0"/>
                  </a:moveTo>
                  <a:lnTo>
                    <a:pt x="139964" y="6006"/>
                  </a:lnTo>
                  <a:lnTo>
                    <a:pt x="94487" y="22991"/>
                  </a:lnTo>
                  <a:lnTo>
                    <a:pt x="55911" y="49402"/>
                  </a:lnTo>
                  <a:lnTo>
                    <a:pt x="26077" y="83688"/>
                  </a:lnTo>
                  <a:lnTo>
                    <a:pt x="6826" y="124295"/>
                  </a:lnTo>
                  <a:lnTo>
                    <a:pt x="0" y="169671"/>
                  </a:lnTo>
                  <a:lnTo>
                    <a:pt x="29765" y="248792"/>
                  </a:lnTo>
                  <a:lnTo>
                    <a:pt x="95250" y="331723"/>
                  </a:lnTo>
                  <a:lnTo>
                    <a:pt x="160734" y="397128"/>
                  </a:lnTo>
                  <a:lnTo>
                    <a:pt x="190500" y="423671"/>
                  </a:lnTo>
                  <a:lnTo>
                    <a:pt x="220265" y="397128"/>
                  </a:lnTo>
                  <a:lnTo>
                    <a:pt x="285749" y="331723"/>
                  </a:lnTo>
                  <a:lnTo>
                    <a:pt x="351234" y="248792"/>
                  </a:lnTo>
                  <a:lnTo>
                    <a:pt x="380999" y="169671"/>
                  </a:lnTo>
                  <a:lnTo>
                    <a:pt x="374173" y="124295"/>
                  </a:lnTo>
                  <a:lnTo>
                    <a:pt x="354922" y="83688"/>
                  </a:lnTo>
                  <a:lnTo>
                    <a:pt x="325088" y="49402"/>
                  </a:lnTo>
                  <a:lnTo>
                    <a:pt x="286511" y="22991"/>
                  </a:lnTo>
                  <a:lnTo>
                    <a:pt x="241035" y="6006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AB001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97" name="object 63">
              <a:extLst>
                <a:ext uri="{FF2B5EF4-FFF2-40B4-BE49-F238E27FC236}">
                  <a16:creationId xmlns:a16="http://schemas.microsoft.com/office/drawing/2014/main" id="{DBD5C85D-FED2-845B-E63E-4F5AB6377A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9107" y="4431640"/>
              <a:ext cx="88871" cy="158536"/>
            </a:xfrm>
            <a:prstGeom prst="rect">
              <a:avLst/>
            </a:prstGeom>
          </p:spPr>
        </p:pic>
        <p:pic>
          <p:nvPicPr>
            <p:cNvPr id="298" name="object 64">
              <a:extLst>
                <a:ext uri="{FF2B5EF4-FFF2-40B4-BE49-F238E27FC236}">
                  <a16:creationId xmlns:a16="http://schemas.microsoft.com/office/drawing/2014/main" id="{EA018FD6-59DE-C634-135A-007F93373FF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9099" y="4341502"/>
              <a:ext cx="72029" cy="249128"/>
            </a:xfrm>
            <a:prstGeom prst="rect">
              <a:avLst/>
            </a:prstGeom>
          </p:spPr>
        </p:pic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52CF19D5-2273-3F25-FC4F-CB0CE812E7A2}"/>
              </a:ext>
            </a:extLst>
          </p:cNvPr>
          <p:cNvGrpSpPr/>
          <p:nvPr/>
        </p:nvGrpSpPr>
        <p:grpSpPr>
          <a:xfrm>
            <a:off x="8483083" y="5288057"/>
            <a:ext cx="381000" cy="457200"/>
            <a:chOff x="231647" y="1248155"/>
            <a:chExt cx="381000" cy="457200"/>
          </a:xfrm>
        </p:grpSpPr>
        <p:sp>
          <p:nvSpPr>
            <p:cNvPr id="300" name="object 115">
              <a:extLst>
                <a:ext uri="{FF2B5EF4-FFF2-40B4-BE49-F238E27FC236}">
                  <a16:creationId xmlns:a16="http://schemas.microsoft.com/office/drawing/2014/main" id="{94D1911A-8460-7885-6AD2-D37B9DA883ED}"/>
                </a:ext>
              </a:extLst>
            </p:cNvPr>
            <p:cNvSpPr/>
            <p:nvPr/>
          </p:nvSpPr>
          <p:spPr>
            <a:xfrm>
              <a:off x="231647" y="1248155"/>
              <a:ext cx="381000" cy="457200"/>
            </a:xfrm>
            <a:custGeom>
              <a:avLst/>
              <a:gdLst/>
              <a:ahLst/>
              <a:cxnLst/>
              <a:rect l="l" t="t" r="r" b="b"/>
              <a:pathLst>
                <a:path w="381000" h="457200">
                  <a:moveTo>
                    <a:pt x="190500" y="0"/>
                  </a:moveTo>
                  <a:lnTo>
                    <a:pt x="139951" y="6483"/>
                  </a:lnTo>
                  <a:lnTo>
                    <a:pt x="94471" y="24816"/>
                  </a:lnTo>
                  <a:lnTo>
                    <a:pt x="55897" y="53324"/>
                  </a:lnTo>
                  <a:lnTo>
                    <a:pt x="26068" y="90329"/>
                  </a:lnTo>
                  <a:lnTo>
                    <a:pt x="6823" y="134158"/>
                  </a:lnTo>
                  <a:lnTo>
                    <a:pt x="0" y="183134"/>
                  </a:lnTo>
                  <a:lnTo>
                    <a:pt x="29765" y="268497"/>
                  </a:lnTo>
                  <a:lnTo>
                    <a:pt x="95250" y="357981"/>
                  </a:lnTo>
                  <a:lnTo>
                    <a:pt x="160734" y="428557"/>
                  </a:lnTo>
                  <a:lnTo>
                    <a:pt x="190500" y="457200"/>
                  </a:lnTo>
                  <a:lnTo>
                    <a:pt x="220265" y="428557"/>
                  </a:lnTo>
                  <a:lnTo>
                    <a:pt x="285750" y="357981"/>
                  </a:lnTo>
                  <a:lnTo>
                    <a:pt x="351234" y="268497"/>
                  </a:lnTo>
                  <a:lnTo>
                    <a:pt x="381000" y="183134"/>
                  </a:lnTo>
                  <a:lnTo>
                    <a:pt x="374176" y="134158"/>
                  </a:lnTo>
                  <a:lnTo>
                    <a:pt x="354931" y="90329"/>
                  </a:lnTo>
                  <a:lnTo>
                    <a:pt x="325102" y="53324"/>
                  </a:lnTo>
                  <a:lnTo>
                    <a:pt x="286528" y="24816"/>
                  </a:lnTo>
                  <a:lnTo>
                    <a:pt x="241048" y="6483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3CAE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01" name="object 116">
              <a:extLst>
                <a:ext uri="{FF2B5EF4-FFF2-40B4-BE49-F238E27FC236}">
                  <a16:creationId xmlns:a16="http://schemas.microsoft.com/office/drawing/2014/main" id="{E734D538-7FA0-0D9A-8CF9-365D40214E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470" y="1408587"/>
              <a:ext cx="89567" cy="159487"/>
            </a:xfrm>
            <a:prstGeom prst="rect">
              <a:avLst/>
            </a:prstGeom>
          </p:spPr>
        </p:pic>
        <p:pic>
          <p:nvPicPr>
            <p:cNvPr id="302" name="object 117">
              <a:extLst>
                <a:ext uri="{FF2B5EF4-FFF2-40B4-BE49-F238E27FC236}">
                  <a16:creationId xmlns:a16="http://schemas.microsoft.com/office/drawing/2014/main" id="{FB7ADBE7-A5F3-C85A-AC58-EEEE374A4B3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679" y="1317908"/>
              <a:ext cx="72593" cy="250623"/>
            </a:xfrm>
            <a:prstGeom prst="rect">
              <a:avLst/>
            </a:prstGeom>
          </p:spPr>
        </p:pic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E76AB142-DE24-5E18-E530-D3527C79A1EA}"/>
              </a:ext>
            </a:extLst>
          </p:cNvPr>
          <p:cNvGrpSpPr/>
          <p:nvPr/>
        </p:nvGrpSpPr>
        <p:grpSpPr>
          <a:xfrm>
            <a:off x="10513652" y="5319807"/>
            <a:ext cx="381000" cy="425450"/>
            <a:chOff x="1531619" y="2604515"/>
            <a:chExt cx="381000" cy="425450"/>
          </a:xfrm>
        </p:grpSpPr>
        <p:sp>
          <p:nvSpPr>
            <p:cNvPr id="304" name="object 46">
              <a:extLst>
                <a:ext uri="{FF2B5EF4-FFF2-40B4-BE49-F238E27FC236}">
                  <a16:creationId xmlns:a16="http://schemas.microsoft.com/office/drawing/2014/main" id="{DB1AF572-E131-9EA4-2629-1E896434E2B3}"/>
                </a:ext>
              </a:extLst>
            </p:cNvPr>
            <p:cNvSpPr/>
            <p:nvPr/>
          </p:nvSpPr>
          <p:spPr>
            <a:xfrm>
              <a:off x="1531619" y="2604515"/>
              <a:ext cx="381000" cy="425450"/>
            </a:xfrm>
            <a:custGeom>
              <a:avLst/>
              <a:gdLst/>
              <a:ahLst/>
              <a:cxnLst/>
              <a:rect l="l" t="t" r="r" b="b"/>
              <a:pathLst>
                <a:path w="381000" h="425450">
                  <a:moveTo>
                    <a:pt x="190500" y="0"/>
                  </a:moveTo>
                  <a:lnTo>
                    <a:pt x="139964" y="6027"/>
                  </a:lnTo>
                  <a:lnTo>
                    <a:pt x="94487" y="23071"/>
                  </a:lnTo>
                  <a:lnTo>
                    <a:pt x="55911" y="49577"/>
                  </a:lnTo>
                  <a:lnTo>
                    <a:pt x="26077" y="83989"/>
                  </a:lnTo>
                  <a:lnTo>
                    <a:pt x="6826" y="124751"/>
                  </a:lnTo>
                  <a:lnTo>
                    <a:pt x="0" y="170307"/>
                  </a:lnTo>
                  <a:lnTo>
                    <a:pt x="29765" y="249674"/>
                  </a:lnTo>
                  <a:lnTo>
                    <a:pt x="95250" y="332898"/>
                  </a:lnTo>
                  <a:lnTo>
                    <a:pt x="160734" y="398549"/>
                  </a:lnTo>
                  <a:lnTo>
                    <a:pt x="190500" y="425196"/>
                  </a:lnTo>
                  <a:lnTo>
                    <a:pt x="220265" y="398549"/>
                  </a:lnTo>
                  <a:lnTo>
                    <a:pt x="285750" y="332898"/>
                  </a:lnTo>
                  <a:lnTo>
                    <a:pt x="351234" y="249674"/>
                  </a:lnTo>
                  <a:lnTo>
                    <a:pt x="381000" y="170307"/>
                  </a:lnTo>
                  <a:lnTo>
                    <a:pt x="374173" y="124751"/>
                  </a:lnTo>
                  <a:lnTo>
                    <a:pt x="354922" y="83989"/>
                  </a:lnTo>
                  <a:lnTo>
                    <a:pt x="325088" y="49577"/>
                  </a:lnTo>
                  <a:lnTo>
                    <a:pt x="286512" y="23071"/>
                  </a:lnTo>
                  <a:lnTo>
                    <a:pt x="241035" y="6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901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05" name="object 47">
              <a:extLst>
                <a:ext uri="{FF2B5EF4-FFF2-40B4-BE49-F238E27FC236}">
                  <a16:creationId xmlns:a16="http://schemas.microsoft.com/office/drawing/2014/main" id="{DD15D6F3-39C0-C039-17F1-79C0C8D8B04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3885" y="2742548"/>
              <a:ext cx="95148" cy="168083"/>
            </a:xfrm>
            <a:prstGeom prst="rect">
              <a:avLst/>
            </a:prstGeom>
          </p:spPr>
        </p:pic>
        <p:sp>
          <p:nvSpPr>
            <p:cNvPr id="306" name="object 48">
              <a:extLst>
                <a:ext uri="{FF2B5EF4-FFF2-40B4-BE49-F238E27FC236}">
                  <a16:creationId xmlns:a16="http://schemas.microsoft.com/office/drawing/2014/main" id="{B4704C67-9143-A15E-315F-CD13D9E3A107}"/>
                </a:ext>
              </a:extLst>
            </p:cNvPr>
            <p:cNvSpPr/>
            <p:nvPr/>
          </p:nvSpPr>
          <p:spPr>
            <a:xfrm>
              <a:off x="1626874" y="2646981"/>
              <a:ext cx="77470" cy="264160"/>
            </a:xfrm>
            <a:custGeom>
              <a:avLst/>
              <a:gdLst/>
              <a:ahLst/>
              <a:cxnLst/>
              <a:rect l="l" t="t" r="r" b="b"/>
              <a:pathLst>
                <a:path w="77469" h="264160">
                  <a:moveTo>
                    <a:pt x="61694" y="256125"/>
                  </a:moveTo>
                  <a:lnTo>
                    <a:pt x="15358" y="256125"/>
                  </a:lnTo>
                  <a:lnTo>
                    <a:pt x="13457" y="257917"/>
                  </a:lnTo>
                  <a:lnTo>
                    <a:pt x="13457" y="262338"/>
                  </a:lnTo>
                  <a:lnTo>
                    <a:pt x="15358" y="264129"/>
                  </a:lnTo>
                  <a:lnTo>
                    <a:pt x="61694" y="264129"/>
                  </a:lnTo>
                  <a:lnTo>
                    <a:pt x="63593" y="262338"/>
                  </a:lnTo>
                  <a:lnTo>
                    <a:pt x="63593" y="257917"/>
                  </a:lnTo>
                  <a:lnTo>
                    <a:pt x="61694" y="256125"/>
                  </a:lnTo>
                  <a:close/>
                </a:path>
                <a:path w="77469" h="264160">
                  <a:moveTo>
                    <a:pt x="33452" y="221787"/>
                  </a:moveTo>
                  <a:lnTo>
                    <a:pt x="24962" y="221787"/>
                  </a:lnTo>
                  <a:lnTo>
                    <a:pt x="24962" y="256125"/>
                  </a:lnTo>
                  <a:lnTo>
                    <a:pt x="33452" y="256125"/>
                  </a:lnTo>
                  <a:lnTo>
                    <a:pt x="33452" y="221787"/>
                  </a:lnTo>
                  <a:close/>
                </a:path>
                <a:path w="77469" h="264160">
                  <a:moveTo>
                    <a:pt x="52089" y="221787"/>
                  </a:moveTo>
                  <a:lnTo>
                    <a:pt x="43598" y="221787"/>
                  </a:lnTo>
                  <a:lnTo>
                    <a:pt x="43598" y="256125"/>
                  </a:lnTo>
                  <a:lnTo>
                    <a:pt x="52089" y="256125"/>
                  </a:lnTo>
                  <a:lnTo>
                    <a:pt x="52089" y="221787"/>
                  </a:lnTo>
                  <a:close/>
                </a:path>
                <a:path w="77469" h="264160">
                  <a:moveTo>
                    <a:pt x="75194" y="213783"/>
                  </a:moveTo>
                  <a:lnTo>
                    <a:pt x="1900" y="213783"/>
                  </a:lnTo>
                  <a:lnTo>
                    <a:pt x="0" y="215578"/>
                  </a:lnTo>
                  <a:lnTo>
                    <a:pt x="0" y="219996"/>
                  </a:lnTo>
                  <a:lnTo>
                    <a:pt x="1900" y="221787"/>
                  </a:lnTo>
                  <a:lnTo>
                    <a:pt x="75194" y="221787"/>
                  </a:lnTo>
                  <a:lnTo>
                    <a:pt x="77093" y="219996"/>
                  </a:lnTo>
                  <a:lnTo>
                    <a:pt x="77093" y="215578"/>
                  </a:lnTo>
                  <a:lnTo>
                    <a:pt x="75194" y="213783"/>
                  </a:lnTo>
                  <a:close/>
                </a:path>
                <a:path w="77469" h="264160">
                  <a:moveTo>
                    <a:pt x="40807" y="0"/>
                  </a:moveTo>
                  <a:lnTo>
                    <a:pt x="36116" y="0"/>
                  </a:lnTo>
                  <a:lnTo>
                    <a:pt x="34216" y="1794"/>
                  </a:lnTo>
                  <a:lnTo>
                    <a:pt x="34216" y="54026"/>
                  </a:lnTo>
                  <a:lnTo>
                    <a:pt x="27559" y="54739"/>
                  </a:lnTo>
                  <a:lnTo>
                    <a:pt x="22522" y="60035"/>
                  </a:lnTo>
                  <a:lnTo>
                    <a:pt x="22500" y="81199"/>
                  </a:lnTo>
                  <a:lnTo>
                    <a:pt x="11969" y="88102"/>
                  </a:lnTo>
                  <a:lnTo>
                    <a:pt x="9856" y="91951"/>
                  </a:lnTo>
                  <a:lnTo>
                    <a:pt x="9891" y="213783"/>
                  </a:lnTo>
                  <a:lnTo>
                    <a:pt x="67117" y="213783"/>
                  </a:lnTo>
                  <a:lnTo>
                    <a:pt x="67117" y="200397"/>
                  </a:lnTo>
                  <a:lnTo>
                    <a:pt x="66523" y="200377"/>
                  </a:lnTo>
                  <a:lnTo>
                    <a:pt x="50295" y="200377"/>
                  </a:lnTo>
                  <a:lnTo>
                    <a:pt x="48395" y="198586"/>
                  </a:lnTo>
                  <a:lnTo>
                    <a:pt x="48395" y="194167"/>
                  </a:lnTo>
                  <a:lnTo>
                    <a:pt x="50295" y="192373"/>
                  </a:lnTo>
                  <a:lnTo>
                    <a:pt x="66565" y="192373"/>
                  </a:lnTo>
                  <a:lnTo>
                    <a:pt x="66763" y="192356"/>
                  </a:lnTo>
                  <a:lnTo>
                    <a:pt x="67159" y="192356"/>
                  </a:lnTo>
                  <a:lnTo>
                    <a:pt x="67159" y="179207"/>
                  </a:lnTo>
                  <a:lnTo>
                    <a:pt x="45922" y="179207"/>
                  </a:lnTo>
                  <a:lnTo>
                    <a:pt x="44022" y="177416"/>
                  </a:lnTo>
                  <a:lnTo>
                    <a:pt x="44022" y="172997"/>
                  </a:lnTo>
                  <a:lnTo>
                    <a:pt x="45922" y="171203"/>
                  </a:lnTo>
                  <a:lnTo>
                    <a:pt x="67159" y="171203"/>
                  </a:lnTo>
                  <a:lnTo>
                    <a:pt x="67159" y="158036"/>
                  </a:lnTo>
                  <a:lnTo>
                    <a:pt x="50295" y="158036"/>
                  </a:lnTo>
                  <a:lnTo>
                    <a:pt x="48395" y="156245"/>
                  </a:lnTo>
                  <a:lnTo>
                    <a:pt x="48395" y="151827"/>
                  </a:lnTo>
                  <a:lnTo>
                    <a:pt x="50295" y="150032"/>
                  </a:lnTo>
                  <a:lnTo>
                    <a:pt x="66565" y="150032"/>
                  </a:lnTo>
                  <a:lnTo>
                    <a:pt x="66763" y="150016"/>
                  </a:lnTo>
                  <a:lnTo>
                    <a:pt x="67159" y="150016"/>
                  </a:lnTo>
                  <a:lnTo>
                    <a:pt x="67159" y="136846"/>
                  </a:lnTo>
                  <a:lnTo>
                    <a:pt x="66565" y="136826"/>
                  </a:lnTo>
                  <a:lnTo>
                    <a:pt x="45922" y="136826"/>
                  </a:lnTo>
                  <a:lnTo>
                    <a:pt x="44022" y="135035"/>
                  </a:lnTo>
                  <a:lnTo>
                    <a:pt x="44022" y="130616"/>
                  </a:lnTo>
                  <a:lnTo>
                    <a:pt x="45922" y="128822"/>
                  </a:lnTo>
                  <a:lnTo>
                    <a:pt x="66565" y="128822"/>
                  </a:lnTo>
                  <a:lnTo>
                    <a:pt x="66763" y="128805"/>
                  </a:lnTo>
                  <a:lnTo>
                    <a:pt x="67159" y="128805"/>
                  </a:lnTo>
                  <a:lnTo>
                    <a:pt x="67159" y="115676"/>
                  </a:lnTo>
                  <a:lnTo>
                    <a:pt x="66565" y="115656"/>
                  </a:lnTo>
                  <a:lnTo>
                    <a:pt x="50295" y="115656"/>
                  </a:lnTo>
                  <a:lnTo>
                    <a:pt x="48395" y="113865"/>
                  </a:lnTo>
                  <a:lnTo>
                    <a:pt x="48395" y="109446"/>
                  </a:lnTo>
                  <a:lnTo>
                    <a:pt x="50295" y="107652"/>
                  </a:lnTo>
                  <a:lnTo>
                    <a:pt x="67117" y="107652"/>
                  </a:lnTo>
                  <a:lnTo>
                    <a:pt x="67115" y="91951"/>
                  </a:lnTo>
                  <a:lnTo>
                    <a:pt x="64994" y="88129"/>
                  </a:lnTo>
                  <a:lnTo>
                    <a:pt x="54381" y="81199"/>
                  </a:lnTo>
                  <a:lnTo>
                    <a:pt x="54379" y="79318"/>
                  </a:lnTo>
                  <a:lnTo>
                    <a:pt x="31075" y="79318"/>
                  </a:lnTo>
                  <a:lnTo>
                    <a:pt x="31075" y="63877"/>
                  </a:lnTo>
                  <a:lnTo>
                    <a:pt x="33204" y="61870"/>
                  </a:lnTo>
                  <a:lnTo>
                    <a:pt x="54365" y="61870"/>
                  </a:lnTo>
                  <a:lnTo>
                    <a:pt x="54348" y="60035"/>
                  </a:lnTo>
                  <a:lnTo>
                    <a:pt x="49347" y="54756"/>
                  </a:lnTo>
                  <a:lnTo>
                    <a:pt x="42706" y="54026"/>
                  </a:lnTo>
                  <a:lnTo>
                    <a:pt x="42706" y="1794"/>
                  </a:lnTo>
                  <a:lnTo>
                    <a:pt x="40807" y="0"/>
                  </a:lnTo>
                  <a:close/>
                </a:path>
                <a:path w="77469" h="264160">
                  <a:moveTo>
                    <a:pt x="67117" y="200377"/>
                  </a:moveTo>
                  <a:lnTo>
                    <a:pt x="66919" y="200397"/>
                  </a:lnTo>
                  <a:lnTo>
                    <a:pt x="67117" y="200397"/>
                  </a:lnTo>
                  <a:close/>
                </a:path>
                <a:path w="77469" h="264160">
                  <a:moveTo>
                    <a:pt x="67159" y="192356"/>
                  </a:moveTo>
                  <a:lnTo>
                    <a:pt x="66763" y="192356"/>
                  </a:lnTo>
                  <a:lnTo>
                    <a:pt x="67159" y="192373"/>
                  </a:lnTo>
                  <a:close/>
                </a:path>
                <a:path w="77469" h="264160">
                  <a:moveTo>
                    <a:pt x="67159" y="150016"/>
                  </a:moveTo>
                  <a:lnTo>
                    <a:pt x="66763" y="150016"/>
                  </a:lnTo>
                  <a:lnTo>
                    <a:pt x="67159" y="150032"/>
                  </a:lnTo>
                  <a:close/>
                </a:path>
                <a:path w="77469" h="264160">
                  <a:moveTo>
                    <a:pt x="67159" y="136826"/>
                  </a:moveTo>
                  <a:lnTo>
                    <a:pt x="66961" y="136846"/>
                  </a:lnTo>
                  <a:lnTo>
                    <a:pt x="67159" y="136846"/>
                  </a:lnTo>
                  <a:close/>
                </a:path>
                <a:path w="77469" h="264160">
                  <a:moveTo>
                    <a:pt x="67159" y="128805"/>
                  </a:moveTo>
                  <a:lnTo>
                    <a:pt x="66763" y="128805"/>
                  </a:lnTo>
                  <a:lnTo>
                    <a:pt x="67159" y="128822"/>
                  </a:lnTo>
                  <a:close/>
                </a:path>
                <a:path w="77469" h="264160">
                  <a:moveTo>
                    <a:pt x="67159" y="115656"/>
                  </a:moveTo>
                  <a:lnTo>
                    <a:pt x="66961" y="115676"/>
                  </a:lnTo>
                  <a:lnTo>
                    <a:pt x="67159" y="115676"/>
                  </a:lnTo>
                  <a:close/>
                </a:path>
                <a:path w="77469" h="264160">
                  <a:moveTo>
                    <a:pt x="67117" y="107652"/>
                  </a:moveTo>
                  <a:lnTo>
                    <a:pt x="66565" y="107652"/>
                  </a:lnTo>
                  <a:lnTo>
                    <a:pt x="66767" y="107765"/>
                  </a:lnTo>
                  <a:lnTo>
                    <a:pt x="66951" y="107899"/>
                  </a:lnTo>
                  <a:lnTo>
                    <a:pt x="67117" y="108052"/>
                  </a:lnTo>
                  <a:lnTo>
                    <a:pt x="67117" y="107652"/>
                  </a:lnTo>
                  <a:close/>
                </a:path>
                <a:path w="77469" h="264160">
                  <a:moveTo>
                    <a:pt x="54365" y="61870"/>
                  </a:moveTo>
                  <a:lnTo>
                    <a:pt x="41263" y="61870"/>
                  </a:lnTo>
                  <a:lnTo>
                    <a:pt x="43839" y="61936"/>
                  </a:lnTo>
                  <a:lnTo>
                    <a:pt x="45842" y="63877"/>
                  </a:lnTo>
                  <a:lnTo>
                    <a:pt x="45890" y="79318"/>
                  </a:lnTo>
                  <a:lnTo>
                    <a:pt x="54379" y="79318"/>
                  </a:lnTo>
                  <a:lnTo>
                    <a:pt x="54365" y="61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67A686C7-4823-9831-6B3D-564FF6CBF077}"/>
              </a:ext>
            </a:extLst>
          </p:cNvPr>
          <p:cNvSpPr/>
          <p:nvPr/>
        </p:nvSpPr>
        <p:spPr>
          <a:xfrm>
            <a:off x="270334" y="4668529"/>
            <a:ext cx="1464939" cy="66225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RVV introduced</a:t>
            </a:r>
          </a:p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tOPV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 bOPV switch</a:t>
            </a:r>
          </a:p>
        </p:txBody>
      </p:sp>
      <p:sp>
        <p:nvSpPr>
          <p:cNvPr id="312" name="Rectangle: Rounded Corners 311">
            <a:extLst>
              <a:ext uri="{FF2B5EF4-FFF2-40B4-BE49-F238E27FC236}">
                <a16:creationId xmlns:a16="http://schemas.microsoft.com/office/drawing/2014/main" id="{A8E26515-CFEA-E908-DBD5-8F249AC2DFE3}"/>
              </a:ext>
            </a:extLst>
          </p:cNvPr>
          <p:cNvSpPr/>
          <p:nvPr/>
        </p:nvSpPr>
        <p:spPr>
          <a:xfrm>
            <a:off x="398149" y="5747018"/>
            <a:ext cx="1581124" cy="66225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MR, PCV introduced</a:t>
            </a:r>
          </a:p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JE adult</a:t>
            </a:r>
          </a:p>
        </p:txBody>
      </p:sp>
      <p:sp>
        <p:nvSpPr>
          <p:cNvPr id="313" name="Rectangle: Rounded Corners 312">
            <a:extLst>
              <a:ext uri="{FF2B5EF4-FFF2-40B4-BE49-F238E27FC236}">
                <a16:creationId xmlns:a16="http://schemas.microsoft.com/office/drawing/2014/main" id="{B034C9BD-5734-7442-4154-A0F0D42304DC}"/>
              </a:ext>
            </a:extLst>
          </p:cNvPr>
          <p:cNvSpPr/>
          <p:nvPr/>
        </p:nvSpPr>
        <p:spPr>
          <a:xfrm>
            <a:off x="3929571" y="5873179"/>
            <a:ext cx="1187922" cy="580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RVV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Nationwide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Td introduced</a:t>
            </a:r>
          </a:p>
        </p:txBody>
      </p: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28CFA2C7-BDA3-0D45-7E7E-9A06D6C7349A}"/>
              </a:ext>
            </a:extLst>
          </p:cNvPr>
          <p:cNvSpPr/>
          <p:nvPr/>
        </p:nvSpPr>
        <p:spPr>
          <a:xfrm>
            <a:off x="6357434" y="5848325"/>
            <a:ext cx="1150909" cy="53845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PCV </a:t>
            </a:r>
          </a:p>
          <a:p>
            <a:pPr marL="0" marR="0" lvl="0" indent="0" algn="ctr" defTabSz="914400" rtl="0" eaLnBrk="1" fontAlgn="auto" latinLnBrk="0" hangingPunct="1">
              <a:lnSpc>
                <a:spcPts val="18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Nationwide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C2C797-2DEB-39A8-E1A1-2C7BB9409F3A}"/>
              </a:ext>
            </a:extLst>
          </p:cNvPr>
          <p:cNvSpPr/>
          <p:nvPr/>
        </p:nvSpPr>
        <p:spPr>
          <a:xfrm>
            <a:off x="7641000" y="1833751"/>
            <a:ext cx="3783580" cy="1409461"/>
          </a:xfrm>
          <a:prstGeom prst="roundRect">
            <a:avLst>
              <a:gd name="adj" fmla="val 18486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Char char=""/>
              <a:tabLst>
                <a:tab pos="266700" algn="l"/>
              </a:tabLst>
              <a:defRPr/>
            </a:pPr>
            <a:r>
              <a:rPr kumimoji="0" lang="en-US" sz="1600" b="1" i="0" u="none" strike="noStrike" kern="120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1985-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2000:</a:t>
            </a:r>
            <a:r>
              <a:rPr kumimoji="0" lang="en-US" sz="1600" b="1" i="0" u="none" strike="noStrike" kern="1200" cap="none" spc="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</a:t>
            </a:r>
            <a:r>
              <a:rPr kumimoji="0" lang="en-US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vaccines</a:t>
            </a:r>
            <a:r>
              <a:rPr kumimoji="0" lang="en-US" sz="1600" b="1" i="0" u="none" strike="noStrike" kern="120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introduced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66700" marR="5080" lvl="0" indent="-25463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Char char=""/>
              <a:tabLst>
                <a:tab pos="2667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2001-</a:t>
            </a: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2010:</a:t>
            </a:r>
            <a:r>
              <a:rPr kumimoji="0" lang="en-US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lang="en-US" sz="1600" b="1" i="0" u="none" strike="noStrike" kern="120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vaccines</a:t>
            </a:r>
            <a:r>
              <a:rPr kumimoji="0" lang="en-US" sz="1600" b="1" i="0" u="none" strike="noStrike" kern="1200" cap="none" spc="-3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introduced</a:t>
            </a:r>
            <a:r>
              <a:rPr kumimoji="0" lang="en-US" sz="1600" b="1" i="0" u="none" strike="noStrike" kern="1200" cap="none" spc="-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    </a:t>
            </a:r>
            <a:r>
              <a:rPr kumimoji="0" lang="en-US" sz="14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(1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Nationally</a:t>
            </a:r>
            <a:r>
              <a:rPr kumimoji="0" lang="en-US" sz="1400" b="1" i="0" u="none" strike="noStrike" kern="1200" cap="none" spc="-4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&amp;</a:t>
            </a:r>
            <a:r>
              <a:rPr kumimoji="0" lang="en-US" sz="1400" b="1" i="0" u="none" strike="noStrike" kern="120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lang="en-US" sz="1400" b="1" i="0" u="none" strike="noStrike" kern="120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Sub-nationally)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66700" marR="0" lvl="0" indent="-25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/>
              <a:buChar char=""/>
              <a:tabLst>
                <a:tab pos="266700" algn="l"/>
              </a:tabLst>
              <a:defRPr/>
            </a:pPr>
            <a:r>
              <a:rPr kumimoji="0" lang="en-US" sz="1600" b="1" i="0" u="none" strike="noStrike" kern="1200" cap="none" spc="-2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2011-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2021:</a:t>
            </a:r>
            <a:r>
              <a:rPr kumimoji="0" lang="en-US" sz="1600" b="1" i="0" u="none" strike="noStrike" kern="1200" cap="none" spc="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</a:t>
            </a:r>
            <a:r>
              <a:rPr kumimoji="0" lang="en-US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vaccines</a:t>
            </a:r>
            <a:r>
              <a:rPr kumimoji="0" lang="en-US" sz="1600" b="1" i="0" u="none" strike="noStrike" kern="1200" cap="none" spc="-1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introduced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2796815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671F-E78D-B4F6-4DDA-2A8D6775D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61838" cy="1143000"/>
          </a:xfrm>
          <a:solidFill>
            <a:srgbClr val="7030A0"/>
          </a:solidFill>
        </p:spPr>
        <p:txBody>
          <a:bodyPr rtlCol="0">
            <a:noAutofit/>
          </a:bodyPr>
          <a:lstStyle/>
          <a:p>
            <a:pPr algn="ctr" defTabSz="912813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IN" alt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Universal Immunization Programme</a:t>
            </a:r>
            <a:br>
              <a:rPr lang="en-IN" alt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IN" alt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(Scope and Scale in Odisha)</a:t>
            </a:r>
            <a:endParaRPr lang="en-IN" altLang="en-US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F41D5CE-7C83-E260-4201-F1BB571475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1225" y="1275080"/>
          <a:ext cx="11929555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9160736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5186-1DA0-AB88-AFCD-B2E1C9B6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11939"/>
            <a:ext cx="12191999" cy="706415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+mn-lt"/>
              </a:rPr>
              <a:t>Aim and objectives of UIP </a:t>
            </a:r>
          </a:p>
        </p:txBody>
      </p:sp>
      <p:pic>
        <p:nvPicPr>
          <p:cNvPr id="50" name="Graphic 49" descr="Bullseye with solid fill">
            <a:extLst>
              <a:ext uri="{FF2B5EF4-FFF2-40B4-BE49-F238E27FC236}">
                <a16:creationId xmlns:a16="http://schemas.microsoft.com/office/drawing/2014/main" id="{2C06E4A9-3EEF-4408-8768-E029461E1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0075" y="1491045"/>
            <a:ext cx="3076793" cy="3076793"/>
          </a:xfrm>
          <a:prstGeom prst="rect">
            <a:avLst/>
          </a:prstGeom>
        </p:spPr>
      </p:pic>
      <p:sp>
        <p:nvSpPr>
          <p:cNvPr id="53" name="Half Frame 52">
            <a:extLst>
              <a:ext uri="{FF2B5EF4-FFF2-40B4-BE49-F238E27FC236}">
                <a16:creationId xmlns:a16="http://schemas.microsoft.com/office/drawing/2014/main" id="{11D0174A-3C31-3469-CAEA-CC0673F48C94}"/>
              </a:ext>
            </a:extLst>
          </p:cNvPr>
          <p:cNvSpPr/>
          <p:nvPr/>
        </p:nvSpPr>
        <p:spPr>
          <a:xfrm>
            <a:off x="5277117" y="923942"/>
            <a:ext cx="914400" cy="4155347"/>
          </a:xfrm>
          <a:prstGeom prst="halfFrame">
            <a:avLst>
              <a:gd name="adj1" fmla="val 9969"/>
              <a:gd name="adj2" fmla="val 8099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Half Frame 53">
            <a:extLst>
              <a:ext uri="{FF2B5EF4-FFF2-40B4-BE49-F238E27FC236}">
                <a16:creationId xmlns:a16="http://schemas.microsoft.com/office/drawing/2014/main" id="{173E0FA3-D165-3D7B-3436-99458ACBC067}"/>
              </a:ext>
            </a:extLst>
          </p:cNvPr>
          <p:cNvSpPr/>
          <p:nvPr/>
        </p:nvSpPr>
        <p:spPr>
          <a:xfrm rot="10800000">
            <a:off x="4638674" y="1057293"/>
            <a:ext cx="579483" cy="1831184"/>
          </a:xfrm>
          <a:prstGeom prst="halfFrame">
            <a:avLst>
              <a:gd name="adj1" fmla="val 9969"/>
              <a:gd name="adj2" fmla="val 8099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043C6B-E29E-EDE1-8152-738D7C243FF0}"/>
              </a:ext>
            </a:extLst>
          </p:cNvPr>
          <p:cNvSpPr txBox="1"/>
          <p:nvPr/>
        </p:nvSpPr>
        <p:spPr>
          <a:xfrm>
            <a:off x="1291590" y="4546545"/>
            <a:ext cx="3652502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Eligible beneficiaries should get all UIP vaccines, to be protected from life threatening Vaccine Preventable Diseases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D3BF63C-E82B-0F24-61E3-2A74D93E03BB}"/>
              </a:ext>
            </a:extLst>
          </p:cNvPr>
          <p:cNvCxnSpPr/>
          <p:nvPr/>
        </p:nvCxnSpPr>
        <p:spPr>
          <a:xfrm>
            <a:off x="5762892" y="1228369"/>
            <a:ext cx="0" cy="4683990"/>
          </a:xfrm>
          <a:prstGeom prst="line">
            <a:avLst/>
          </a:prstGeom>
          <a:ln w="22225">
            <a:solidFill>
              <a:srgbClr val="002060"/>
            </a:solidFill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F806B2DD-4AF6-B145-AAE3-8CA68B3A52BE}"/>
              </a:ext>
            </a:extLst>
          </p:cNvPr>
          <p:cNvSpPr/>
          <p:nvPr/>
        </p:nvSpPr>
        <p:spPr>
          <a:xfrm>
            <a:off x="5564081" y="1545027"/>
            <a:ext cx="396000" cy="396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D569A4-A791-560B-ABC5-DBDA2322A131}"/>
              </a:ext>
            </a:extLst>
          </p:cNvPr>
          <p:cNvSpPr txBox="1"/>
          <p:nvPr/>
        </p:nvSpPr>
        <p:spPr>
          <a:xfrm>
            <a:off x="5906865" y="1487137"/>
            <a:ext cx="57672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attain more than 90% full immunization coverage and sustain the gains 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AF47720-C09E-5E8B-B276-3ACD277D3AD5}"/>
              </a:ext>
            </a:extLst>
          </p:cNvPr>
          <p:cNvSpPr/>
          <p:nvPr/>
        </p:nvSpPr>
        <p:spPr>
          <a:xfrm>
            <a:off x="5582081" y="2095055"/>
            <a:ext cx="360000" cy="36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C4BB100-07CC-8738-52BD-921CDBAE323E}"/>
              </a:ext>
            </a:extLst>
          </p:cNvPr>
          <p:cNvSpPr/>
          <p:nvPr/>
        </p:nvSpPr>
        <p:spPr>
          <a:xfrm>
            <a:off x="5600081" y="2626033"/>
            <a:ext cx="324000" cy="324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8688630-C024-3F21-5E1D-CF6010AA264F}"/>
              </a:ext>
            </a:extLst>
          </p:cNvPr>
          <p:cNvSpPr/>
          <p:nvPr/>
        </p:nvSpPr>
        <p:spPr>
          <a:xfrm>
            <a:off x="5618081" y="3137961"/>
            <a:ext cx="288000" cy="28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11382AE-CDB1-8F13-BA34-260B93068F19}"/>
              </a:ext>
            </a:extLst>
          </p:cNvPr>
          <p:cNvSpPr/>
          <p:nvPr/>
        </p:nvSpPr>
        <p:spPr>
          <a:xfrm>
            <a:off x="5636081" y="3649889"/>
            <a:ext cx="252000" cy="252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6A3D723-5F1B-243A-9377-685734936933}"/>
              </a:ext>
            </a:extLst>
          </p:cNvPr>
          <p:cNvSpPr/>
          <p:nvPr/>
        </p:nvSpPr>
        <p:spPr>
          <a:xfrm>
            <a:off x="5654081" y="4161817"/>
            <a:ext cx="216000" cy="216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CBDDB76-DE85-5233-20F1-8FF3C490CF7B}"/>
              </a:ext>
            </a:extLst>
          </p:cNvPr>
          <p:cNvSpPr/>
          <p:nvPr/>
        </p:nvSpPr>
        <p:spPr>
          <a:xfrm>
            <a:off x="5672081" y="4673744"/>
            <a:ext cx="180000" cy="18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AC4D30F-DFEA-7B64-B5C3-8F1E9F971814}"/>
              </a:ext>
            </a:extLst>
          </p:cNvPr>
          <p:cNvSpPr/>
          <p:nvPr/>
        </p:nvSpPr>
        <p:spPr>
          <a:xfrm>
            <a:off x="5690081" y="5185671"/>
            <a:ext cx="144000" cy="144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CC1705B-1405-FABD-5B4A-EEF81C019110}"/>
              </a:ext>
            </a:extLst>
          </p:cNvPr>
          <p:cNvSpPr/>
          <p:nvPr/>
        </p:nvSpPr>
        <p:spPr>
          <a:xfrm>
            <a:off x="5708081" y="5697597"/>
            <a:ext cx="108000" cy="108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2811B3-06DE-F9CC-730D-787E1A3FB3D2}"/>
              </a:ext>
            </a:extLst>
          </p:cNvPr>
          <p:cNvSpPr txBox="1"/>
          <p:nvPr/>
        </p:nvSpPr>
        <p:spPr>
          <a:xfrm>
            <a:off x="5906865" y="2121200"/>
            <a:ext cx="57672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achieve MR elimination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5F86896-337C-0423-F20F-54CD7802EBD0}"/>
              </a:ext>
            </a:extLst>
          </p:cNvPr>
          <p:cNvSpPr txBox="1"/>
          <p:nvPr/>
        </p:nvSpPr>
        <p:spPr>
          <a:xfrm>
            <a:off x="5906866" y="2530145"/>
            <a:ext cx="57672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maintain and sustain Polio free status and Maternal &amp; Neonatal Tetanus elimination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1DAAF93-F142-5A1D-2FEE-8ADB9FF3C13E}"/>
              </a:ext>
            </a:extLst>
          </p:cNvPr>
          <p:cNvSpPr txBox="1"/>
          <p:nvPr/>
        </p:nvSpPr>
        <p:spPr>
          <a:xfrm>
            <a:off x="5906865" y="3135521"/>
            <a:ext cx="576722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sustain the robust VPD and AEFI surveillance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622ED52-5B26-16DB-8EC6-9D806E2060E6}"/>
              </a:ext>
            </a:extLst>
          </p:cNvPr>
          <p:cNvSpPr txBox="1"/>
          <p:nvPr/>
        </p:nvSpPr>
        <p:spPr>
          <a:xfrm>
            <a:off x="5879569" y="3603000"/>
            <a:ext cx="576722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ensure efficient supply chain, cold chain and logistic system for UIP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BA8B2BB-D8B8-022E-0B6D-0559D94CB54E}"/>
              </a:ext>
            </a:extLst>
          </p:cNvPr>
          <p:cNvSpPr txBox="1"/>
          <p:nvPr/>
        </p:nvSpPr>
        <p:spPr>
          <a:xfrm>
            <a:off x="5879569" y="4117480"/>
            <a:ext cx="57672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provide regular supportive supervision to UIP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0A2FCB8-E59E-15DB-77B8-F7D15AC1B97E}"/>
              </a:ext>
            </a:extLst>
          </p:cNvPr>
          <p:cNvSpPr txBox="1"/>
          <p:nvPr/>
        </p:nvSpPr>
        <p:spPr>
          <a:xfrm>
            <a:off x="5879569" y="4550072"/>
            <a:ext cx="57633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ensure accountability framework through regular task force meetings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6ADE5ED-651C-BD30-205B-5555BD958A52}"/>
              </a:ext>
            </a:extLst>
          </p:cNvPr>
          <p:cNvSpPr txBox="1"/>
          <p:nvPr/>
        </p:nvSpPr>
        <p:spPr>
          <a:xfrm>
            <a:off x="5865921" y="5117430"/>
            <a:ext cx="573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expand digitization in UIP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B88A0-77FA-6ECF-F4D2-A0F0F82A3BCB}"/>
              </a:ext>
            </a:extLst>
          </p:cNvPr>
          <p:cNvSpPr txBox="1"/>
          <p:nvPr/>
        </p:nvSpPr>
        <p:spPr>
          <a:xfrm>
            <a:off x="5824977" y="5577286"/>
            <a:ext cx="58353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introduce need based new vaccines </a:t>
            </a:r>
          </a:p>
        </p:txBody>
      </p:sp>
    </p:spTree>
    <p:extLst>
      <p:ext uri="{BB962C8B-B14F-4D97-AF65-F5344CB8AC3E}">
        <p14:creationId xmlns:p14="http://schemas.microsoft.com/office/powerpoint/2010/main" val="4023983169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1C309-8F6F-BBAB-283D-DF3FE391D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4075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Full Immunization trend ( NFHS)</a:t>
            </a:r>
            <a:endParaRPr lang="en-IN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400-000002000000}"/>
              </a:ext>
            </a:extLst>
          </p:cNvPr>
          <p:cNvGraphicFramePr>
            <a:graphicFrameLocks/>
          </p:cNvGraphicFramePr>
          <p:nvPr/>
        </p:nvGraphicFramePr>
        <p:xfrm>
          <a:off x="838200" y="1175657"/>
          <a:ext cx="10515600" cy="5429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4695FB-5477-422C-F30E-DA1A2E65D437}"/>
              </a:ext>
            </a:extLst>
          </p:cNvPr>
          <p:cNvCxnSpPr/>
          <p:nvPr/>
        </p:nvCxnSpPr>
        <p:spPr>
          <a:xfrm flipV="1">
            <a:off x="1828805" y="2267625"/>
            <a:ext cx="8850086" cy="24676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7336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5186-1DA0-AB88-AFCD-B2E1C9B6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1968"/>
            <a:ext cx="12191999" cy="701337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n-lt"/>
              </a:rPr>
              <a:t>Concept of Full Immunization Coverage (FIC) Plus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6C9030-C754-9146-EA63-73AA9BCFE9DF}"/>
              </a:ext>
            </a:extLst>
          </p:cNvPr>
          <p:cNvSpPr/>
          <p:nvPr/>
        </p:nvSpPr>
        <p:spPr>
          <a:xfrm>
            <a:off x="1959430" y="881042"/>
            <a:ext cx="10178143" cy="1535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Child who has received BCG, 3 doses of OPV, 3 doses of pentavalent and 1 dose of MR by first year of age. This is the historical definition used for survey and evaluation purposes and hence has been continued. - Full Immunization coverage (FIC)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059087-31F1-D991-FA42-C23107B8E64A}"/>
              </a:ext>
            </a:extLst>
          </p:cNvPr>
          <p:cNvSpPr/>
          <p:nvPr/>
        </p:nvSpPr>
        <p:spPr>
          <a:xfrm>
            <a:off x="1921329" y="2494366"/>
            <a:ext cx="10178144" cy="13178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Child who has received all the vaccines given in the Universal Immunization Programme (UIP) by one year of age.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FC11BA-EE4E-4061-B0FC-A763BDC81C74}"/>
              </a:ext>
            </a:extLst>
          </p:cNvPr>
          <p:cNvSpPr/>
          <p:nvPr/>
        </p:nvSpPr>
        <p:spPr>
          <a:xfrm>
            <a:off x="92528" y="881042"/>
            <a:ext cx="1758043" cy="142672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Full Immunization Coverage (FIC) Plus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–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95A8752-E37F-99D0-BCD0-FE55D5E18D3F}"/>
              </a:ext>
            </a:extLst>
          </p:cNvPr>
          <p:cNvSpPr/>
          <p:nvPr/>
        </p:nvSpPr>
        <p:spPr>
          <a:xfrm>
            <a:off x="92527" y="2385508"/>
            <a:ext cx="1758043" cy="142672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FIC plus	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1973CB-5799-0139-98E7-6201BB48B4B7}"/>
              </a:ext>
            </a:extLst>
          </p:cNvPr>
          <p:cNvSpPr/>
          <p:nvPr/>
        </p:nvSpPr>
        <p:spPr>
          <a:xfrm>
            <a:off x="92526" y="3881325"/>
            <a:ext cx="1758043" cy="142672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Complete Immunization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51A283-3A52-26D9-0780-A69F5F55B987}"/>
              </a:ext>
            </a:extLst>
          </p:cNvPr>
          <p:cNvSpPr/>
          <p:nvPr/>
        </p:nvSpPr>
        <p:spPr>
          <a:xfrm>
            <a:off x="1921329" y="3935753"/>
            <a:ext cx="10178144" cy="13178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Child who has received all the vaccines given in the Universal Immunization Programme (UIP) by two years of age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CEE009-A381-7EBC-3A75-C8535ECC49DA}"/>
              </a:ext>
            </a:extLst>
          </p:cNvPr>
          <p:cNvSpPr/>
          <p:nvPr/>
        </p:nvSpPr>
        <p:spPr>
          <a:xfrm>
            <a:off x="92526" y="5377140"/>
            <a:ext cx="1758043" cy="142672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Zero-dose (operational &amp; reporting purpose)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B97C6C-4518-D025-0616-8B7F459990E8}"/>
              </a:ext>
            </a:extLst>
          </p:cNvPr>
          <p:cNvSpPr/>
          <p:nvPr/>
        </p:nvSpPr>
        <p:spPr>
          <a:xfrm>
            <a:off x="1921329" y="5431568"/>
            <a:ext cx="10178144" cy="13178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Child who has not received first dose of pentavalent vaccine by one year of age.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03937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6E77-1708-282C-9F37-E659D577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3135086" cy="6858001"/>
          </a:xfrm>
          <a:solidFill>
            <a:srgbClr val="7030A0"/>
          </a:solidFill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Immunization </a:t>
            </a:r>
            <a:r>
              <a:rPr lang="en-US" sz="4000" b="1" dirty="0" err="1">
                <a:solidFill>
                  <a:schemeClr val="bg1"/>
                </a:solidFill>
              </a:rPr>
              <a:t>programme</a:t>
            </a:r>
            <a:r>
              <a:rPr lang="en-US" sz="4000" b="1" dirty="0">
                <a:solidFill>
                  <a:schemeClr val="bg1"/>
                </a:solidFill>
              </a:rPr>
              <a:t> Component 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8D460F-4E32-9ECF-45AC-5E5E83CAC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3" y="326573"/>
            <a:ext cx="8360230" cy="6531427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VPDs and Management of outbreaks 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VPD Surveillance .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Immunization Schedule.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Planning and Conducting Immunization</a:t>
            </a:r>
          </a:p>
          <a:p>
            <a:pPr marL="1371600" lvl="2" indent="-457200">
              <a:lnSpc>
                <a:spcPct val="80000"/>
              </a:lnSpc>
            </a:pPr>
            <a:r>
              <a:rPr lang="en-US" sz="2400" dirty="0"/>
              <a:t>Preparation of Micro Plans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Vaccine and Other logistics Management</a:t>
            </a:r>
          </a:p>
          <a:p>
            <a:pPr marL="1371600" lvl="2" indent="-457200">
              <a:lnSpc>
                <a:spcPct val="80000"/>
              </a:lnSpc>
            </a:pPr>
            <a:r>
              <a:rPr lang="en-US" sz="2400" dirty="0"/>
              <a:t>Alternate Vaccine Delivery</a:t>
            </a:r>
          </a:p>
          <a:p>
            <a:pPr marL="1371600" lvl="2" indent="-457200">
              <a:lnSpc>
                <a:spcPct val="80000"/>
              </a:lnSpc>
            </a:pPr>
            <a:r>
              <a:rPr lang="en-US" sz="2400" dirty="0"/>
              <a:t>Management of vaccine, Immunization cards etc.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Cold Chain Management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Injection Safety .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Adverse event following immunization .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Records , Reports and Using data for action.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Monitoring &amp;  supportive Supervision.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3200" dirty="0"/>
              <a:t>Demand generation  for improved coverage   </a:t>
            </a:r>
          </a:p>
          <a:p>
            <a:pPr lvl="2"/>
            <a:endParaRPr lang="en-US" sz="28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32855260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36DC6-5345-C107-C741-CC91ABF4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F15A-AC6C-601D-6937-D7C36540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1968"/>
            <a:ext cx="12191999" cy="701337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VPDs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E202AE-518D-4244-EDC4-507401E8B974}"/>
              </a:ext>
            </a:extLst>
          </p:cNvPr>
          <p:cNvSpPr/>
          <p:nvPr/>
        </p:nvSpPr>
        <p:spPr>
          <a:xfrm>
            <a:off x="1959430" y="881042"/>
            <a:ext cx="10178143" cy="288541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1. Poliomyelitis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2. Hepatitis 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3. Measles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4. Rubella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5. Diarrhoea due to Rota virus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6. Japanese Encephalitis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353B87-B0AB-9F07-FC55-7D657B41D1C7}"/>
              </a:ext>
            </a:extLst>
          </p:cNvPr>
          <p:cNvSpPr/>
          <p:nvPr/>
        </p:nvSpPr>
        <p:spPr>
          <a:xfrm>
            <a:off x="1959430" y="3920391"/>
            <a:ext cx="10178144" cy="267858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1.Severe form of childhood Tuberculosis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2. Diphtheria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3. Pertussis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4. Tetanus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5.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Haemophilus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influenzae Type b related diseases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6. Pneumococcus related diseases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3A080-2EDB-1875-3568-1D2BFC444EF6}"/>
              </a:ext>
            </a:extLst>
          </p:cNvPr>
          <p:cNvSpPr/>
          <p:nvPr/>
        </p:nvSpPr>
        <p:spPr>
          <a:xfrm>
            <a:off x="92528" y="989900"/>
            <a:ext cx="1758043" cy="273301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Viral diseases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7B80F5-8374-CF94-68C0-4CC76798775D}"/>
              </a:ext>
            </a:extLst>
          </p:cNvPr>
          <p:cNvSpPr/>
          <p:nvPr/>
        </p:nvSpPr>
        <p:spPr>
          <a:xfrm>
            <a:off x="92528" y="3865965"/>
            <a:ext cx="1758043" cy="273301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Bacterial diseases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752986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AF51B80-8082-3203-8F01-E53F18D8FDE9}"/>
              </a:ext>
            </a:extLst>
          </p:cNvPr>
          <p:cNvSpPr txBox="1">
            <a:spLocks/>
          </p:cNvSpPr>
          <p:nvPr/>
        </p:nvSpPr>
        <p:spPr>
          <a:xfrm>
            <a:off x="53975" y="2733675"/>
            <a:ext cx="12163425" cy="969963"/>
          </a:xfrm>
          <a:prstGeom prst="rect">
            <a:avLst/>
          </a:prstGeom>
          <a:solidFill>
            <a:srgbClr val="7030A0"/>
          </a:solidFill>
          <a:ln w="9525">
            <a:noFill/>
            <a:miter lim="800000"/>
            <a:headEnd/>
            <a:tailEnd/>
          </a:ln>
        </p:spPr>
        <p:txBody>
          <a:bodyPr anchor="ctr">
            <a:normAutofit/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whit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2813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Revised Universal Immunization Schedule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2C156D-9A4E-8A75-D23B-E7C735E5E3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60338"/>
            <a:ext cx="10972800" cy="1143000"/>
          </a:xfrm>
          <a:solidFill>
            <a:srgbClr val="7030A0"/>
          </a:solidFill>
          <a:ln>
            <a:miter lim="800000"/>
            <a:headEnd/>
            <a:tailEnd/>
          </a:ln>
        </p:spPr>
        <p:txBody>
          <a:bodyPr>
            <a:normAutofit/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whit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defTabSz="912813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Sequence , Site and Route of Vaccination 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at birth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6D72A-E175-48B5-4F0F-E31545597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4" y="1513113"/>
            <a:ext cx="10515600" cy="51845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608983-2EB1-5F55-447A-DF7EE972244A}"/>
              </a:ext>
            </a:extLst>
          </p:cNvPr>
          <p:cNvGraphicFramePr>
            <a:graphicFrameLocks noGrp="1"/>
          </p:cNvGraphicFramePr>
          <p:nvPr/>
        </p:nvGraphicFramePr>
        <p:xfrm>
          <a:off x="1161667" y="4105387"/>
          <a:ext cx="2407797" cy="2296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33998">
                  <a:extLst>
                    <a:ext uri="{9D8B030D-6E8A-4147-A177-3AD203B41FA5}">
                      <a16:colId xmlns:a16="http://schemas.microsoft.com/office/drawing/2014/main" val="3892456874"/>
                    </a:ext>
                  </a:extLst>
                </a:gridCol>
                <a:gridCol w="1373799">
                  <a:extLst>
                    <a:ext uri="{9D8B030D-6E8A-4147-A177-3AD203B41FA5}">
                      <a16:colId xmlns:a16="http://schemas.microsoft.com/office/drawing/2014/main" val="42979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Vaccine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Site/Route 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0117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Oral-2drops</a:t>
                      </a:r>
                    </a:p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9184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BCG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Intradermal (0.05/0.1ml)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674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Hep-B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4951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3363EC-E94B-1E6C-7233-F1B59BA89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60338"/>
            <a:ext cx="10972800" cy="1143000"/>
          </a:xfrm>
          <a:solidFill>
            <a:srgbClr val="7030A0"/>
          </a:solidFill>
          <a:ln>
            <a:miter lim="800000"/>
            <a:headEnd/>
            <a:tailEnd/>
          </a:ln>
        </p:spPr>
        <p:txBody>
          <a:bodyPr>
            <a:normAutofit/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whit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defTabSz="912813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Sequence , Site and Route of Vaccination at 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altLang="en-US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 Week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55113D-09A2-DA4D-69AD-0DDB59C72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59" y="1432192"/>
            <a:ext cx="10972800" cy="52654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0560E0-5BB5-A25C-7034-3F3965A54E74}"/>
              </a:ext>
            </a:extLst>
          </p:cNvPr>
          <p:cNvGraphicFramePr>
            <a:graphicFrameLocks noGrp="1"/>
          </p:cNvGraphicFramePr>
          <p:nvPr/>
        </p:nvGraphicFramePr>
        <p:xfrm>
          <a:off x="8697204" y="3730813"/>
          <a:ext cx="2407797" cy="2748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33998">
                  <a:extLst>
                    <a:ext uri="{9D8B030D-6E8A-4147-A177-3AD203B41FA5}">
                      <a16:colId xmlns:a16="http://schemas.microsoft.com/office/drawing/2014/main" val="3892456874"/>
                    </a:ext>
                  </a:extLst>
                </a:gridCol>
                <a:gridCol w="1373799">
                  <a:extLst>
                    <a:ext uri="{9D8B030D-6E8A-4147-A177-3AD203B41FA5}">
                      <a16:colId xmlns:a16="http://schemas.microsoft.com/office/drawing/2014/main" val="42979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Vaccine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Site/Route 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0117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Oral-2drops</a:t>
                      </a:r>
                    </a:p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918418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dirty="0"/>
                        <a:t>Rota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Oral-2ml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674397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dirty="0" err="1"/>
                        <a:t>fIPV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Intradermal-0.1ml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119563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dirty="0"/>
                        <a:t>PCV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96002913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r>
                        <a:rPr lang="en-US" dirty="0"/>
                        <a:t>Hep-B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49518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5842EDB-A921-C7AE-E46A-744396701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440" y="1943585"/>
            <a:ext cx="133350" cy="59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735989-F96A-2BEE-F58A-5D87B6EEDF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60338"/>
            <a:ext cx="10972800" cy="1143000"/>
          </a:xfrm>
          <a:solidFill>
            <a:srgbClr val="7030A0"/>
          </a:solidFill>
          <a:ln>
            <a:miter lim="800000"/>
            <a:headEnd/>
            <a:tailEnd/>
          </a:ln>
        </p:spPr>
        <p:txBody>
          <a:bodyPr>
            <a:normAutofit/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whit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defTabSz="912813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Sequence , Site and Route of Vaccination at 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altLang="en-US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 Week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8406E-F53B-02C4-E0D7-E7DADD972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7445"/>
            <a:ext cx="10515600" cy="51002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A10697-0B1D-984A-21FF-A133A4A4184E}"/>
              </a:ext>
            </a:extLst>
          </p:cNvPr>
          <p:cNvGraphicFramePr>
            <a:graphicFrameLocks noGrp="1"/>
          </p:cNvGraphicFramePr>
          <p:nvPr/>
        </p:nvGraphicFramePr>
        <p:xfrm>
          <a:off x="8565001" y="4147553"/>
          <a:ext cx="2407797" cy="1742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33998">
                  <a:extLst>
                    <a:ext uri="{9D8B030D-6E8A-4147-A177-3AD203B41FA5}">
                      <a16:colId xmlns:a16="http://schemas.microsoft.com/office/drawing/2014/main" val="3892456874"/>
                    </a:ext>
                  </a:extLst>
                </a:gridCol>
                <a:gridCol w="1373799">
                  <a:extLst>
                    <a:ext uri="{9D8B030D-6E8A-4147-A177-3AD203B41FA5}">
                      <a16:colId xmlns:a16="http://schemas.microsoft.com/office/drawing/2014/main" val="42979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Vaccine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Site/Route 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0117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Oral-2drops</a:t>
                      </a:r>
                    </a:p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918418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dirty="0"/>
                        <a:t>Rota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Oral-2ml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6743972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r>
                        <a:rPr lang="en-US" dirty="0"/>
                        <a:t>Hep-B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49518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9F9FE3-4621-3523-DF45-02E05127D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767" y="2351210"/>
            <a:ext cx="133350" cy="59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B24674-7E85-B69F-2BDB-9278DB7E9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60338"/>
            <a:ext cx="10972800" cy="1143000"/>
          </a:xfrm>
          <a:solidFill>
            <a:srgbClr val="7030A0"/>
          </a:solidFill>
          <a:ln>
            <a:miter lim="800000"/>
            <a:headEnd/>
            <a:tailEnd/>
          </a:ln>
        </p:spPr>
        <p:txBody>
          <a:bodyPr>
            <a:normAutofit/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whit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defTabSz="912813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Sequence , Site and Route of Vaccination at 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14</a:t>
            </a:r>
            <a:r>
              <a:rPr lang="en-US" altLang="en-US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 Week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091D0F-D13C-0A96-0C5C-EB92672DD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10" y="1516764"/>
            <a:ext cx="11053590" cy="50172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9649B5-0118-D517-C2B9-7B631BFE4DD8}"/>
              </a:ext>
            </a:extLst>
          </p:cNvPr>
          <p:cNvGraphicFramePr>
            <a:graphicFrameLocks noGrp="1"/>
          </p:cNvGraphicFramePr>
          <p:nvPr/>
        </p:nvGraphicFramePr>
        <p:xfrm>
          <a:off x="8906524" y="3631661"/>
          <a:ext cx="2407797" cy="2748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33998">
                  <a:extLst>
                    <a:ext uri="{9D8B030D-6E8A-4147-A177-3AD203B41FA5}">
                      <a16:colId xmlns:a16="http://schemas.microsoft.com/office/drawing/2014/main" val="3892456874"/>
                    </a:ext>
                  </a:extLst>
                </a:gridCol>
                <a:gridCol w="1373799">
                  <a:extLst>
                    <a:ext uri="{9D8B030D-6E8A-4147-A177-3AD203B41FA5}">
                      <a16:colId xmlns:a16="http://schemas.microsoft.com/office/drawing/2014/main" val="42979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Vaccine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Site/Route 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0117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Oral-2drops</a:t>
                      </a:r>
                    </a:p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918418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dirty="0"/>
                        <a:t>Rota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Oral-2ml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674397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dirty="0" err="1"/>
                        <a:t>fIPV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Intradermal-0.1ml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119563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dirty="0"/>
                        <a:t>PCV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96002913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r>
                        <a:rPr lang="en-US" dirty="0"/>
                        <a:t>Penta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49518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22EBE32-8FD9-E9E9-81DA-986986790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998" y="2097822"/>
            <a:ext cx="133350" cy="59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91E500-1365-9CED-8E76-958304051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60338"/>
            <a:ext cx="10972800" cy="1143000"/>
          </a:xfrm>
          <a:solidFill>
            <a:srgbClr val="7030A0"/>
          </a:solidFill>
          <a:ln>
            <a:miter lim="800000"/>
            <a:headEnd/>
            <a:tailEnd/>
          </a:ln>
        </p:spPr>
        <p:txBody>
          <a:bodyPr>
            <a:normAutofit fontScale="90000"/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whit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defTabSz="912813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Sequence , Site and Route of Vaccination at 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9-11</a:t>
            </a:r>
            <a:r>
              <a:rPr lang="en-US" altLang="en-US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month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889D6B-F6E1-D6B0-039A-8238F7C78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54" y="1338210"/>
            <a:ext cx="10014333" cy="52608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CED222-0445-4263-4EEF-A4311D07907D}"/>
              </a:ext>
            </a:extLst>
          </p:cNvPr>
          <p:cNvGraphicFramePr>
            <a:graphicFrameLocks noGrp="1"/>
          </p:cNvGraphicFramePr>
          <p:nvPr/>
        </p:nvGraphicFramePr>
        <p:xfrm>
          <a:off x="121186" y="4315142"/>
          <a:ext cx="2407797" cy="238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33998">
                  <a:extLst>
                    <a:ext uri="{9D8B030D-6E8A-4147-A177-3AD203B41FA5}">
                      <a16:colId xmlns:a16="http://schemas.microsoft.com/office/drawing/2014/main" val="3892456874"/>
                    </a:ext>
                  </a:extLst>
                </a:gridCol>
                <a:gridCol w="1373799">
                  <a:extLst>
                    <a:ext uri="{9D8B030D-6E8A-4147-A177-3AD203B41FA5}">
                      <a16:colId xmlns:a16="http://schemas.microsoft.com/office/drawing/2014/main" val="42979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Vaccine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Site/Route 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0117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fIPV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Intradermal-0.1ml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918418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dirty="0"/>
                        <a:t>MR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Subcutaneous 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674397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dirty="0"/>
                        <a:t>PCV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96002913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r>
                        <a:rPr lang="en-US" dirty="0"/>
                        <a:t>JE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4951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4BDD30-8A13-A8DF-7A47-17E2D5C6F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60338"/>
            <a:ext cx="10972800" cy="1143000"/>
          </a:xfrm>
          <a:solidFill>
            <a:srgbClr val="7030A0"/>
          </a:solidFill>
          <a:ln>
            <a:miter lim="800000"/>
            <a:headEnd/>
            <a:tailEnd/>
          </a:ln>
        </p:spPr>
        <p:txBody>
          <a:bodyPr>
            <a:noAutofit/>
          </a:bodyPr>
          <a:lstStyle>
            <a:lvl1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prstClr val="whit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defTabSz="912813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en-US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Sequence , Site and Route of Vaccination at </a:t>
            </a:r>
            <a:r>
              <a:rPr lang="en-US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16-23 months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0F400-9D32-4B54-25E3-9A69ACD18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75" y="1437430"/>
            <a:ext cx="10701050" cy="52602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D1A4E1-F7E7-FD41-F7E3-91CF7C0D4CD6}"/>
              </a:ext>
            </a:extLst>
          </p:cNvPr>
          <p:cNvGraphicFramePr>
            <a:graphicFrameLocks noGrp="1"/>
          </p:cNvGraphicFramePr>
          <p:nvPr/>
        </p:nvGraphicFramePr>
        <p:xfrm>
          <a:off x="9038728" y="3321061"/>
          <a:ext cx="2407797" cy="2113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33998">
                  <a:extLst>
                    <a:ext uri="{9D8B030D-6E8A-4147-A177-3AD203B41FA5}">
                      <a16:colId xmlns:a16="http://schemas.microsoft.com/office/drawing/2014/main" val="3892456874"/>
                    </a:ext>
                  </a:extLst>
                </a:gridCol>
                <a:gridCol w="1373799">
                  <a:extLst>
                    <a:ext uri="{9D8B030D-6E8A-4147-A177-3AD203B41FA5}">
                      <a16:colId xmlns:a16="http://schemas.microsoft.com/office/drawing/2014/main" val="42979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Vaccine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Site/Route 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0117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OPV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Oral-2drops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918418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dirty="0"/>
                        <a:t>MR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Subcutaneous 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674397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r>
                        <a:rPr lang="en-US" dirty="0"/>
                        <a:t>DPT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96002913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r>
                        <a:rPr lang="en-US" dirty="0"/>
                        <a:t>JE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IM-0.5ml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4951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AE3001-714A-6110-6420-138060FF6790}"/>
              </a:ext>
            </a:extLst>
          </p:cNvPr>
          <p:cNvGraphicFramePr>
            <a:graphicFrameLocks noGrp="1"/>
          </p:cNvGraphicFramePr>
          <p:nvPr/>
        </p:nvGraphicFramePr>
        <p:xfrm>
          <a:off x="217488" y="990600"/>
          <a:ext cx="11452225" cy="449580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2736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5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Age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Vaccines given 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5-6 years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DPT-Booster 2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10 years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Td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16 years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Td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Pregnant Mother 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Td1, 2 or Td Booster**</a:t>
                      </a:r>
                      <a:endParaRPr lang="en-IN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1213" marR="9121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78" name="TextBox 7">
            <a:extLst>
              <a:ext uri="{FF2B5EF4-FFF2-40B4-BE49-F238E27FC236}">
                <a16:creationId xmlns:a16="http://schemas.microsoft.com/office/drawing/2014/main" id="{96942C04-AD3A-9A1F-E898-5AD744802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" y="5867400"/>
            <a:ext cx="121618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* </a:t>
            </a:r>
            <a:r>
              <a:rPr kumimoji="0" lang="en-IN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 endemic districts only</a:t>
            </a:r>
            <a:r>
              <a:rPr kumimoji="0" lang="en-I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**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one dose if previously vaccinated within 3 years</a:t>
            </a:r>
            <a:endParaRPr kumimoji="0" lang="en-I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753F5A-B9CA-DE23-7796-7D354C5B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57" y="1023258"/>
            <a:ext cx="11343190" cy="3504236"/>
          </a:xfrm>
          <a:prstGeom prst="rect">
            <a:avLst/>
          </a:prstGeom>
        </p:spPr>
      </p:pic>
      <p:pic>
        <p:nvPicPr>
          <p:cNvPr id="3" name="Picture 1">
            <a:extLst>
              <a:ext uri="{FF2B5EF4-FFF2-40B4-BE49-F238E27FC236}">
                <a16:creationId xmlns:a16="http://schemas.microsoft.com/office/drawing/2014/main" id="{0AC0D4AC-2DF6-5685-D881-8FA42F586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873" y="4441398"/>
            <a:ext cx="2841309" cy="2430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08673C6-7CF9-8D42-7D0D-DD5804032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68942" y="4527493"/>
            <a:ext cx="2679938" cy="225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0B02FEBA-E9D0-366E-AEC2-BFC5B528F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35816" y="4443011"/>
            <a:ext cx="2300423" cy="2342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F46A67-6C65-31E7-ACD5-67AFE6256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125640"/>
            <a:ext cx="11756571" cy="897618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Syringe and needle position for Vaccination 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705453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>
            <a:extLst>
              <a:ext uri="{FF2B5EF4-FFF2-40B4-BE49-F238E27FC236}">
                <a16:creationId xmlns:a16="http://schemas.microsoft.com/office/drawing/2014/main" id="{66A25927-C036-4748-96C0-22B47CD03DBD}"/>
              </a:ext>
            </a:extLst>
          </p:cNvPr>
          <p:cNvGrpSpPr/>
          <p:nvPr/>
        </p:nvGrpSpPr>
        <p:grpSpPr>
          <a:xfrm>
            <a:off x="430610" y="1707129"/>
            <a:ext cx="1628539" cy="1421564"/>
            <a:chOff x="821227" y="1991214"/>
            <a:chExt cx="1628539" cy="142156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ACA6F3-698F-40A2-99A9-33B5F2DA7190}"/>
                </a:ext>
              </a:extLst>
            </p:cNvPr>
            <p:cNvSpPr txBox="1"/>
            <p:nvPr/>
          </p:nvSpPr>
          <p:spPr>
            <a:xfrm>
              <a:off x="821227" y="2766447"/>
              <a:ext cx="162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Vaccine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Manufacturer </a:t>
              </a: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BD1C722-F814-4036-82A1-4BEFC3CF8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260" y="1991214"/>
              <a:ext cx="912859" cy="479931"/>
            </a:xfrm>
            <a:custGeom>
              <a:avLst/>
              <a:gdLst>
                <a:gd name="T0" fmla="*/ 369 w 369"/>
                <a:gd name="T1" fmla="*/ 114 h 194"/>
                <a:gd name="T2" fmla="*/ 192 w 369"/>
                <a:gd name="T3" fmla="*/ 0 h 194"/>
                <a:gd name="T4" fmla="*/ 192 w 369"/>
                <a:gd name="T5" fmla="*/ 76 h 194"/>
                <a:gd name="T6" fmla="*/ 76 w 369"/>
                <a:gd name="T7" fmla="*/ 0 h 194"/>
                <a:gd name="T8" fmla="*/ 76 w 369"/>
                <a:gd name="T9" fmla="*/ 85 h 194"/>
                <a:gd name="T10" fmla="*/ 0 w 369"/>
                <a:gd name="T11" fmla="*/ 121 h 194"/>
                <a:gd name="T12" fmla="*/ 69 w 369"/>
                <a:gd name="T13" fmla="*/ 121 h 194"/>
                <a:gd name="T14" fmla="*/ 104 w 369"/>
                <a:gd name="T15" fmla="*/ 194 h 194"/>
                <a:gd name="T16" fmla="*/ 104 w 369"/>
                <a:gd name="T17" fmla="*/ 121 h 194"/>
                <a:gd name="T18" fmla="*/ 152 w 369"/>
                <a:gd name="T19" fmla="*/ 121 h 194"/>
                <a:gd name="T20" fmla="*/ 173 w 369"/>
                <a:gd name="T21" fmla="*/ 194 h 194"/>
                <a:gd name="T22" fmla="*/ 173 w 369"/>
                <a:gd name="T23" fmla="*/ 121 h 194"/>
                <a:gd name="T24" fmla="*/ 218 w 369"/>
                <a:gd name="T25" fmla="*/ 121 h 194"/>
                <a:gd name="T26" fmla="*/ 369 w 369"/>
                <a:gd name="T27" fmla="*/ 11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9" h="194">
                  <a:moveTo>
                    <a:pt x="369" y="114"/>
                  </a:moveTo>
                  <a:lnTo>
                    <a:pt x="192" y="0"/>
                  </a:lnTo>
                  <a:lnTo>
                    <a:pt x="192" y="76"/>
                  </a:lnTo>
                  <a:lnTo>
                    <a:pt x="76" y="0"/>
                  </a:lnTo>
                  <a:lnTo>
                    <a:pt x="76" y="85"/>
                  </a:lnTo>
                  <a:lnTo>
                    <a:pt x="0" y="121"/>
                  </a:lnTo>
                  <a:lnTo>
                    <a:pt x="69" y="121"/>
                  </a:lnTo>
                  <a:lnTo>
                    <a:pt x="104" y="194"/>
                  </a:lnTo>
                  <a:lnTo>
                    <a:pt x="104" y="121"/>
                  </a:lnTo>
                  <a:lnTo>
                    <a:pt x="152" y="121"/>
                  </a:lnTo>
                  <a:lnTo>
                    <a:pt x="173" y="194"/>
                  </a:lnTo>
                  <a:lnTo>
                    <a:pt x="173" y="121"/>
                  </a:lnTo>
                  <a:lnTo>
                    <a:pt x="218" y="121"/>
                  </a:lnTo>
                  <a:lnTo>
                    <a:pt x="369" y="114"/>
                  </a:lnTo>
                  <a:close/>
                </a:path>
              </a:pathLst>
            </a:custGeom>
            <a:solidFill>
              <a:srgbClr val="99B5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4A78D1D-C69C-49A7-B03A-0476C7A37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935" y="1991214"/>
              <a:ext cx="1024183" cy="662998"/>
            </a:xfrm>
            <a:custGeom>
              <a:avLst/>
              <a:gdLst>
                <a:gd name="T0" fmla="*/ 114 w 414"/>
                <a:gd name="T1" fmla="*/ 251 h 268"/>
                <a:gd name="T2" fmla="*/ 45 w 414"/>
                <a:gd name="T3" fmla="*/ 251 h 268"/>
                <a:gd name="T4" fmla="*/ 45 w 414"/>
                <a:gd name="T5" fmla="*/ 121 h 268"/>
                <a:gd name="T6" fmla="*/ 121 w 414"/>
                <a:gd name="T7" fmla="*/ 85 h 268"/>
                <a:gd name="T8" fmla="*/ 0 w 414"/>
                <a:gd name="T9" fmla="*/ 0 h 268"/>
                <a:gd name="T10" fmla="*/ 0 w 414"/>
                <a:gd name="T11" fmla="*/ 268 h 268"/>
                <a:gd name="T12" fmla="*/ 414 w 414"/>
                <a:gd name="T13" fmla="*/ 268 h 268"/>
                <a:gd name="T14" fmla="*/ 286 w 414"/>
                <a:gd name="T15" fmla="*/ 194 h 268"/>
                <a:gd name="T16" fmla="*/ 286 w 414"/>
                <a:gd name="T17" fmla="*/ 121 h 268"/>
                <a:gd name="T18" fmla="*/ 334 w 414"/>
                <a:gd name="T19" fmla="*/ 121 h 268"/>
                <a:gd name="T20" fmla="*/ 334 w 414"/>
                <a:gd name="T21" fmla="*/ 194 h 268"/>
                <a:gd name="T22" fmla="*/ 286 w 414"/>
                <a:gd name="T23" fmla="*/ 194 h 268"/>
                <a:gd name="T24" fmla="*/ 414 w 414"/>
                <a:gd name="T25" fmla="*/ 268 h 268"/>
                <a:gd name="T26" fmla="*/ 414 w 414"/>
                <a:gd name="T27" fmla="*/ 114 h 268"/>
                <a:gd name="T28" fmla="*/ 263 w 414"/>
                <a:gd name="T29" fmla="*/ 121 h 268"/>
                <a:gd name="T30" fmla="*/ 263 w 414"/>
                <a:gd name="T31" fmla="*/ 194 h 268"/>
                <a:gd name="T32" fmla="*/ 218 w 414"/>
                <a:gd name="T33" fmla="*/ 194 h 268"/>
                <a:gd name="T34" fmla="*/ 197 w 414"/>
                <a:gd name="T35" fmla="*/ 121 h 268"/>
                <a:gd name="T36" fmla="*/ 197 w 414"/>
                <a:gd name="T37" fmla="*/ 194 h 268"/>
                <a:gd name="T38" fmla="*/ 149 w 414"/>
                <a:gd name="T39" fmla="*/ 194 h 268"/>
                <a:gd name="T40" fmla="*/ 114 w 414"/>
                <a:gd name="T41" fmla="*/ 121 h 268"/>
                <a:gd name="T42" fmla="*/ 114 w 414"/>
                <a:gd name="T43" fmla="*/ 251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14" h="268">
                  <a:moveTo>
                    <a:pt x="114" y="251"/>
                  </a:moveTo>
                  <a:lnTo>
                    <a:pt x="45" y="251"/>
                  </a:lnTo>
                  <a:lnTo>
                    <a:pt x="45" y="121"/>
                  </a:lnTo>
                  <a:lnTo>
                    <a:pt x="121" y="85"/>
                  </a:lnTo>
                  <a:lnTo>
                    <a:pt x="0" y="0"/>
                  </a:lnTo>
                  <a:lnTo>
                    <a:pt x="0" y="268"/>
                  </a:lnTo>
                  <a:lnTo>
                    <a:pt x="414" y="268"/>
                  </a:lnTo>
                  <a:lnTo>
                    <a:pt x="286" y="194"/>
                  </a:lnTo>
                  <a:lnTo>
                    <a:pt x="286" y="121"/>
                  </a:lnTo>
                  <a:lnTo>
                    <a:pt x="334" y="121"/>
                  </a:lnTo>
                  <a:lnTo>
                    <a:pt x="334" y="194"/>
                  </a:lnTo>
                  <a:lnTo>
                    <a:pt x="286" y="194"/>
                  </a:lnTo>
                  <a:lnTo>
                    <a:pt x="414" y="268"/>
                  </a:lnTo>
                  <a:lnTo>
                    <a:pt x="414" y="114"/>
                  </a:lnTo>
                  <a:lnTo>
                    <a:pt x="263" y="121"/>
                  </a:lnTo>
                  <a:lnTo>
                    <a:pt x="263" y="194"/>
                  </a:lnTo>
                  <a:lnTo>
                    <a:pt x="218" y="194"/>
                  </a:lnTo>
                  <a:lnTo>
                    <a:pt x="197" y="121"/>
                  </a:lnTo>
                  <a:lnTo>
                    <a:pt x="197" y="194"/>
                  </a:lnTo>
                  <a:lnTo>
                    <a:pt x="149" y="194"/>
                  </a:lnTo>
                  <a:lnTo>
                    <a:pt x="114" y="121"/>
                  </a:lnTo>
                  <a:lnTo>
                    <a:pt x="114" y="251"/>
                  </a:lnTo>
                  <a:close/>
                </a:path>
              </a:pathLst>
            </a:custGeom>
            <a:solidFill>
              <a:srgbClr val="99B5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60DFFA2F-C162-488E-9DAD-1EE97B7A2289}"/>
              </a:ext>
            </a:extLst>
          </p:cNvPr>
          <p:cNvGrpSpPr/>
          <p:nvPr/>
        </p:nvGrpSpPr>
        <p:grpSpPr>
          <a:xfrm>
            <a:off x="2095892" y="1660125"/>
            <a:ext cx="1863078" cy="1745567"/>
            <a:chOff x="2486509" y="1944210"/>
            <a:chExt cx="1863078" cy="1745567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F9F923CA-DD6A-4617-9684-A1196760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474" y="2213863"/>
              <a:ext cx="111325" cy="217701"/>
            </a:xfrm>
            <a:custGeom>
              <a:avLst/>
              <a:gdLst>
                <a:gd name="T0" fmla="*/ 0 w 45"/>
                <a:gd name="T1" fmla="*/ 0 h 88"/>
                <a:gd name="T2" fmla="*/ 0 w 45"/>
                <a:gd name="T3" fmla="*/ 28 h 88"/>
                <a:gd name="T4" fmla="*/ 14 w 45"/>
                <a:gd name="T5" fmla="*/ 28 h 88"/>
                <a:gd name="T6" fmla="*/ 14 w 45"/>
                <a:gd name="T7" fmla="*/ 59 h 88"/>
                <a:gd name="T8" fmla="*/ 0 w 45"/>
                <a:gd name="T9" fmla="*/ 59 h 88"/>
                <a:gd name="T10" fmla="*/ 0 w 45"/>
                <a:gd name="T11" fmla="*/ 88 h 88"/>
                <a:gd name="T12" fmla="*/ 45 w 45"/>
                <a:gd name="T13" fmla="*/ 43 h 88"/>
                <a:gd name="T14" fmla="*/ 0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0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59"/>
                  </a:lnTo>
                  <a:lnTo>
                    <a:pt x="0" y="59"/>
                  </a:lnTo>
                  <a:lnTo>
                    <a:pt x="0" y="88"/>
                  </a:lnTo>
                  <a:lnTo>
                    <a:pt x="45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07C98F36-F69B-4E6A-9269-C1D14D486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474" y="2213863"/>
              <a:ext cx="111325" cy="217701"/>
            </a:xfrm>
            <a:custGeom>
              <a:avLst/>
              <a:gdLst>
                <a:gd name="T0" fmla="*/ 0 w 45"/>
                <a:gd name="T1" fmla="*/ 0 h 88"/>
                <a:gd name="T2" fmla="*/ 0 w 45"/>
                <a:gd name="T3" fmla="*/ 28 h 88"/>
                <a:gd name="T4" fmla="*/ 14 w 45"/>
                <a:gd name="T5" fmla="*/ 28 h 88"/>
                <a:gd name="T6" fmla="*/ 14 w 45"/>
                <a:gd name="T7" fmla="*/ 59 h 88"/>
                <a:gd name="T8" fmla="*/ 0 w 45"/>
                <a:gd name="T9" fmla="*/ 59 h 88"/>
                <a:gd name="T10" fmla="*/ 0 w 45"/>
                <a:gd name="T11" fmla="*/ 88 h 88"/>
                <a:gd name="T12" fmla="*/ 45 w 45"/>
                <a:gd name="T13" fmla="*/ 43 h 88"/>
                <a:gd name="T14" fmla="*/ 0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0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59"/>
                  </a:lnTo>
                  <a:lnTo>
                    <a:pt x="0" y="59"/>
                  </a:lnTo>
                  <a:lnTo>
                    <a:pt x="0" y="88"/>
                  </a:lnTo>
                  <a:lnTo>
                    <a:pt x="45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D9F640A1-1478-47DB-9F0D-0442EC81F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509" y="2283131"/>
              <a:ext cx="239966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E2FCE214-7DA6-423D-81B5-D1CCE25E4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509" y="2283131"/>
              <a:ext cx="239966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FE5D9AA9-CABD-481A-AF84-6C9EA552C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474" y="2283131"/>
              <a:ext cx="3463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01B105FD-520B-403A-93D9-F69049CEA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474" y="2283131"/>
              <a:ext cx="3463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 73">
              <a:extLst>
                <a:ext uri="{FF2B5EF4-FFF2-40B4-BE49-F238E27FC236}">
                  <a16:creationId xmlns:a16="http://schemas.microsoft.com/office/drawing/2014/main" id="{01927262-6B0F-421F-BC8E-A40F73103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626" y="1983792"/>
              <a:ext cx="620943" cy="682789"/>
            </a:xfrm>
            <a:custGeom>
              <a:avLst/>
              <a:gdLst>
                <a:gd name="T0" fmla="*/ 101 w 106"/>
                <a:gd name="T1" fmla="*/ 35 h 116"/>
                <a:gd name="T2" fmla="*/ 104 w 106"/>
                <a:gd name="T3" fmla="*/ 32 h 116"/>
                <a:gd name="T4" fmla="*/ 105 w 106"/>
                <a:gd name="T5" fmla="*/ 29 h 116"/>
                <a:gd name="T6" fmla="*/ 106 w 106"/>
                <a:gd name="T7" fmla="*/ 27 h 116"/>
                <a:gd name="T8" fmla="*/ 106 w 106"/>
                <a:gd name="T9" fmla="*/ 24 h 116"/>
                <a:gd name="T10" fmla="*/ 105 w 106"/>
                <a:gd name="T11" fmla="*/ 22 h 116"/>
                <a:gd name="T12" fmla="*/ 103 w 106"/>
                <a:gd name="T13" fmla="*/ 20 h 116"/>
                <a:gd name="T14" fmla="*/ 102 w 106"/>
                <a:gd name="T15" fmla="*/ 20 h 116"/>
                <a:gd name="T16" fmla="*/ 99 w 106"/>
                <a:gd name="T17" fmla="*/ 19 h 116"/>
                <a:gd name="T18" fmla="*/ 95 w 106"/>
                <a:gd name="T19" fmla="*/ 18 h 116"/>
                <a:gd name="T20" fmla="*/ 91 w 106"/>
                <a:gd name="T21" fmla="*/ 18 h 116"/>
                <a:gd name="T22" fmla="*/ 88 w 106"/>
                <a:gd name="T23" fmla="*/ 19 h 116"/>
                <a:gd name="T24" fmla="*/ 84 w 106"/>
                <a:gd name="T25" fmla="*/ 20 h 116"/>
                <a:gd name="T26" fmla="*/ 56 w 106"/>
                <a:gd name="T27" fmla="*/ 31 h 116"/>
                <a:gd name="T28" fmla="*/ 0 w 106"/>
                <a:gd name="T29" fmla="*/ 0 h 116"/>
                <a:gd name="T30" fmla="*/ 53 w 106"/>
                <a:gd name="T31" fmla="*/ 32 h 116"/>
                <a:gd name="T32" fmla="*/ 57 w 106"/>
                <a:gd name="T33" fmla="*/ 49 h 116"/>
                <a:gd name="T34" fmla="*/ 62 w 106"/>
                <a:gd name="T35" fmla="*/ 47 h 116"/>
                <a:gd name="T36" fmla="*/ 40 w 106"/>
                <a:gd name="T37" fmla="*/ 108 h 116"/>
                <a:gd name="T38" fmla="*/ 38 w 106"/>
                <a:gd name="T39" fmla="*/ 116 h 116"/>
                <a:gd name="T40" fmla="*/ 40 w 106"/>
                <a:gd name="T41" fmla="*/ 112 h 116"/>
                <a:gd name="T42" fmla="*/ 63 w 106"/>
                <a:gd name="T43" fmla="*/ 52 h 116"/>
                <a:gd name="T44" fmla="*/ 91 w 106"/>
                <a:gd name="T45" fmla="*/ 41 h 116"/>
                <a:gd name="T46" fmla="*/ 90 w 106"/>
                <a:gd name="T47" fmla="*/ 38 h 116"/>
                <a:gd name="T48" fmla="*/ 64 w 106"/>
                <a:gd name="T49" fmla="*/ 49 h 116"/>
                <a:gd name="T50" fmla="*/ 87 w 106"/>
                <a:gd name="T51" fmla="*/ 37 h 116"/>
                <a:gd name="T52" fmla="*/ 102 w 106"/>
                <a:gd name="T53" fmla="*/ 24 h 116"/>
                <a:gd name="T54" fmla="*/ 102 w 106"/>
                <a:gd name="T55" fmla="*/ 23 h 116"/>
                <a:gd name="T56" fmla="*/ 103 w 106"/>
                <a:gd name="T57" fmla="*/ 24 h 116"/>
                <a:gd name="T58" fmla="*/ 99 w 106"/>
                <a:gd name="T59" fmla="*/ 33 h 116"/>
                <a:gd name="T60" fmla="*/ 98 w 106"/>
                <a:gd name="T61" fmla="*/ 37 h 116"/>
                <a:gd name="T62" fmla="*/ 101 w 106"/>
                <a:gd name="T63" fmla="*/ 3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6" h="116">
                  <a:moveTo>
                    <a:pt x="101" y="35"/>
                  </a:moveTo>
                  <a:cubicBezTo>
                    <a:pt x="104" y="32"/>
                    <a:pt x="104" y="32"/>
                    <a:pt x="104" y="32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6" y="24"/>
                    <a:pt x="106" y="24"/>
                    <a:pt x="106" y="24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1" y="18"/>
                    <a:pt x="91" y="18"/>
                    <a:pt x="91" y="18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7" y="49"/>
                    <a:pt x="57" y="49"/>
                    <a:pt x="57" y="49"/>
                  </a:cubicBezTo>
                  <a:cubicBezTo>
                    <a:pt x="62" y="47"/>
                    <a:pt x="62" y="47"/>
                    <a:pt x="62" y="47"/>
                  </a:cubicBezTo>
                  <a:cubicBezTo>
                    <a:pt x="40" y="108"/>
                    <a:pt x="40" y="108"/>
                    <a:pt x="40" y="108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40" y="112"/>
                    <a:pt x="40" y="112"/>
                    <a:pt x="40" y="11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91" y="41"/>
                    <a:pt x="91" y="41"/>
                    <a:pt x="91" y="41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64" y="49"/>
                    <a:pt x="64" y="49"/>
                    <a:pt x="64" y="49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92" y="34"/>
                    <a:pt x="100" y="31"/>
                    <a:pt x="102" y="24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9"/>
                    <a:pt x="102" y="30"/>
                    <a:pt x="99" y="33"/>
                  </a:cubicBezTo>
                  <a:cubicBezTo>
                    <a:pt x="98" y="37"/>
                    <a:pt x="98" y="37"/>
                    <a:pt x="98" y="37"/>
                  </a:cubicBezTo>
                  <a:lnTo>
                    <a:pt x="101" y="35"/>
                  </a:lnTo>
                  <a:close/>
                </a:path>
              </a:pathLst>
            </a:custGeom>
            <a:solidFill>
              <a:srgbClr val="098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Freeform 74">
              <a:extLst>
                <a:ext uri="{FF2B5EF4-FFF2-40B4-BE49-F238E27FC236}">
                  <a16:creationId xmlns:a16="http://schemas.microsoft.com/office/drawing/2014/main" id="{DDCE8FF7-0763-49D7-94DB-C0C51407F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560" y="2179229"/>
              <a:ext cx="54425" cy="47004"/>
            </a:xfrm>
            <a:custGeom>
              <a:avLst/>
              <a:gdLst>
                <a:gd name="T0" fmla="*/ 0 w 22"/>
                <a:gd name="T1" fmla="*/ 12 h 19"/>
                <a:gd name="T2" fmla="*/ 3 w 22"/>
                <a:gd name="T3" fmla="*/ 19 h 19"/>
                <a:gd name="T4" fmla="*/ 7 w 22"/>
                <a:gd name="T5" fmla="*/ 16 h 19"/>
                <a:gd name="T6" fmla="*/ 19 w 22"/>
                <a:gd name="T7" fmla="*/ 9 h 19"/>
                <a:gd name="T8" fmla="*/ 22 w 22"/>
                <a:gd name="T9" fmla="*/ 0 h 19"/>
                <a:gd name="T10" fmla="*/ 12 w 22"/>
                <a:gd name="T11" fmla="*/ 4 h 19"/>
                <a:gd name="T12" fmla="*/ 5 w 22"/>
                <a:gd name="T13" fmla="*/ 9 h 19"/>
                <a:gd name="T14" fmla="*/ 0 w 22"/>
                <a:gd name="T15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9">
                  <a:moveTo>
                    <a:pt x="0" y="12"/>
                  </a:moveTo>
                  <a:lnTo>
                    <a:pt x="3" y="19"/>
                  </a:lnTo>
                  <a:lnTo>
                    <a:pt x="7" y="16"/>
                  </a:lnTo>
                  <a:lnTo>
                    <a:pt x="19" y="9"/>
                  </a:lnTo>
                  <a:lnTo>
                    <a:pt x="22" y="0"/>
                  </a:lnTo>
                  <a:lnTo>
                    <a:pt x="12" y="4"/>
                  </a:lnTo>
                  <a:lnTo>
                    <a:pt x="5" y="9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98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 75">
              <a:extLst>
                <a:ext uri="{FF2B5EF4-FFF2-40B4-BE49-F238E27FC236}">
                  <a16:creationId xmlns:a16="http://schemas.microsoft.com/office/drawing/2014/main" id="{722E0243-C16E-4FDE-811C-5482290CE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308" y="2236127"/>
              <a:ext cx="200384" cy="153380"/>
            </a:xfrm>
            <a:custGeom>
              <a:avLst/>
              <a:gdLst>
                <a:gd name="T0" fmla="*/ 69 w 81"/>
                <a:gd name="T1" fmla="*/ 0 h 62"/>
                <a:gd name="T2" fmla="*/ 0 w 81"/>
                <a:gd name="T3" fmla="*/ 29 h 62"/>
                <a:gd name="T4" fmla="*/ 3 w 81"/>
                <a:gd name="T5" fmla="*/ 57 h 62"/>
                <a:gd name="T6" fmla="*/ 12 w 81"/>
                <a:gd name="T7" fmla="*/ 53 h 62"/>
                <a:gd name="T8" fmla="*/ 14 w 81"/>
                <a:gd name="T9" fmla="*/ 62 h 62"/>
                <a:gd name="T10" fmla="*/ 81 w 81"/>
                <a:gd name="T11" fmla="*/ 31 h 62"/>
                <a:gd name="T12" fmla="*/ 69 w 81"/>
                <a:gd name="T13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62">
                  <a:moveTo>
                    <a:pt x="69" y="0"/>
                  </a:moveTo>
                  <a:lnTo>
                    <a:pt x="0" y="29"/>
                  </a:lnTo>
                  <a:lnTo>
                    <a:pt x="3" y="57"/>
                  </a:lnTo>
                  <a:lnTo>
                    <a:pt x="12" y="53"/>
                  </a:lnTo>
                  <a:lnTo>
                    <a:pt x="14" y="62"/>
                  </a:lnTo>
                  <a:lnTo>
                    <a:pt x="81" y="31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98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 76">
              <a:extLst>
                <a:ext uri="{FF2B5EF4-FFF2-40B4-BE49-F238E27FC236}">
                  <a16:creationId xmlns:a16="http://schemas.microsoft.com/office/drawing/2014/main" id="{08E45000-88B0-4B72-9BCA-F7400472C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032" y="1944210"/>
              <a:ext cx="514565" cy="757005"/>
            </a:xfrm>
            <a:custGeom>
              <a:avLst/>
              <a:gdLst>
                <a:gd name="T0" fmla="*/ 69 w 208"/>
                <a:gd name="T1" fmla="*/ 7 h 306"/>
                <a:gd name="T2" fmla="*/ 59 w 208"/>
                <a:gd name="T3" fmla="*/ 2 h 306"/>
                <a:gd name="T4" fmla="*/ 52 w 208"/>
                <a:gd name="T5" fmla="*/ 0 h 306"/>
                <a:gd name="T6" fmla="*/ 50 w 208"/>
                <a:gd name="T7" fmla="*/ 0 h 306"/>
                <a:gd name="T8" fmla="*/ 47 w 208"/>
                <a:gd name="T9" fmla="*/ 2 h 306"/>
                <a:gd name="T10" fmla="*/ 36 w 208"/>
                <a:gd name="T11" fmla="*/ 4 h 306"/>
                <a:gd name="T12" fmla="*/ 135 w 208"/>
                <a:gd name="T13" fmla="*/ 118 h 306"/>
                <a:gd name="T14" fmla="*/ 147 w 208"/>
                <a:gd name="T15" fmla="*/ 149 h 306"/>
                <a:gd name="T16" fmla="*/ 147 w 208"/>
                <a:gd name="T17" fmla="*/ 156 h 306"/>
                <a:gd name="T18" fmla="*/ 80 w 208"/>
                <a:gd name="T19" fmla="*/ 180 h 306"/>
                <a:gd name="T20" fmla="*/ 78 w 208"/>
                <a:gd name="T21" fmla="*/ 171 h 306"/>
                <a:gd name="T22" fmla="*/ 54 w 208"/>
                <a:gd name="T23" fmla="*/ 216 h 306"/>
                <a:gd name="T24" fmla="*/ 69 w 208"/>
                <a:gd name="T25" fmla="*/ 175 h 306"/>
                <a:gd name="T26" fmla="*/ 66 w 208"/>
                <a:gd name="T27" fmla="*/ 147 h 306"/>
                <a:gd name="T28" fmla="*/ 24 w 208"/>
                <a:gd name="T29" fmla="*/ 123 h 306"/>
                <a:gd name="T30" fmla="*/ 0 w 208"/>
                <a:gd name="T31" fmla="*/ 133 h 306"/>
                <a:gd name="T32" fmla="*/ 38 w 208"/>
                <a:gd name="T33" fmla="*/ 175 h 306"/>
                <a:gd name="T34" fmla="*/ 33 w 208"/>
                <a:gd name="T35" fmla="*/ 228 h 306"/>
                <a:gd name="T36" fmla="*/ 54 w 208"/>
                <a:gd name="T37" fmla="*/ 221 h 306"/>
                <a:gd name="T38" fmla="*/ 76 w 208"/>
                <a:gd name="T39" fmla="*/ 187 h 306"/>
                <a:gd name="T40" fmla="*/ 147 w 208"/>
                <a:gd name="T41" fmla="*/ 164 h 306"/>
                <a:gd name="T42" fmla="*/ 140 w 208"/>
                <a:gd name="T43" fmla="*/ 306 h 306"/>
                <a:gd name="T44" fmla="*/ 154 w 208"/>
                <a:gd name="T45" fmla="*/ 301 h 306"/>
                <a:gd name="T46" fmla="*/ 159 w 208"/>
                <a:gd name="T47" fmla="*/ 299 h 306"/>
                <a:gd name="T48" fmla="*/ 163 w 208"/>
                <a:gd name="T49" fmla="*/ 292 h 306"/>
                <a:gd name="T50" fmla="*/ 168 w 208"/>
                <a:gd name="T51" fmla="*/ 273 h 306"/>
                <a:gd name="T52" fmla="*/ 208 w 208"/>
                <a:gd name="T53" fmla="*/ 133 h 306"/>
                <a:gd name="T54" fmla="*/ 199 w 208"/>
                <a:gd name="T55" fmla="*/ 92 h 306"/>
                <a:gd name="T56" fmla="*/ 185 w 208"/>
                <a:gd name="T57" fmla="*/ 97 h 306"/>
                <a:gd name="T58" fmla="*/ 73 w 208"/>
                <a:gd name="T59" fmla="*/ 16 h 306"/>
                <a:gd name="T60" fmla="*/ 206 w 208"/>
                <a:gd name="T61" fmla="*/ 90 h 306"/>
                <a:gd name="T62" fmla="*/ 71 w 208"/>
                <a:gd name="T63" fmla="*/ 9 h 306"/>
                <a:gd name="T64" fmla="*/ 69 w 208"/>
                <a:gd name="T65" fmla="*/ 7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8" h="306">
                  <a:moveTo>
                    <a:pt x="69" y="7"/>
                  </a:moveTo>
                  <a:lnTo>
                    <a:pt x="59" y="2"/>
                  </a:lnTo>
                  <a:lnTo>
                    <a:pt x="52" y="0"/>
                  </a:lnTo>
                  <a:lnTo>
                    <a:pt x="50" y="0"/>
                  </a:lnTo>
                  <a:lnTo>
                    <a:pt x="47" y="2"/>
                  </a:lnTo>
                  <a:lnTo>
                    <a:pt x="36" y="4"/>
                  </a:lnTo>
                  <a:lnTo>
                    <a:pt x="135" y="118"/>
                  </a:lnTo>
                  <a:lnTo>
                    <a:pt x="147" y="149"/>
                  </a:lnTo>
                  <a:lnTo>
                    <a:pt x="147" y="156"/>
                  </a:lnTo>
                  <a:lnTo>
                    <a:pt x="80" y="180"/>
                  </a:lnTo>
                  <a:lnTo>
                    <a:pt x="78" y="171"/>
                  </a:lnTo>
                  <a:lnTo>
                    <a:pt x="54" y="216"/>
                  </a:lnTo>
                  <a:lnTo>
                    <a:pt x="69" y="175"/>
                  </a:lnTo>
                  <a:lnTo>
                    <a:pt x="66" y="147"/>
                  </a:lnTo>
                  <a:lnTo>
                    <a:pt x="24" y="123"/>
                  </a:lnTo>
                  <a:lnTo>
                    <a:pt x="0" y="133"/>
                  </a:lnTo>
                  <a:lnTo>
                    <a:pt x="38" y="175"/>
                  </a:lnTo>
                  <a:lnTo>
                    <a:pt x="33" y="228"/>
                  </a:lnTo>
                  <a:lnTo>
                    <a:pt x="54" y="221"/>
                  </a:lnTo>
                  <a:lnTo>
                    <a:pt x="76" y="187"/>
                  </a:lnTo>
                  <a:lnTo>
                    <a:pt x="147" y="164"/>
                  </a:lnTo>
                  <a:lnTo>
                    <a:pt x="140" y="306"/>
                  </a:lnTo>
                  <a:lnTo>
                    <a:pt x="154" y="301"/>
                  </a:lnTo>
                  <a:lnTo>
                    <a:pt x="159" y="299"/>
                  </a:lnTo>
                  <a:lnTo>
                    <a:pt x="163" y="292"/>
                  </a:lnTo>
                  <a:lnTo>
                    <a:pt x="168" y="273"/>
                  </a:lnTo>
                  <a:lnTo>
                    <a:pt x="208" y="133"/>
                  </a:lnTo>
                  <a:lnTo>
                    <a:pt x="199" y="92"/>
                  </a:lnTo>
                  <a:lnTo>
                    <a:pt x="185" y="97"/>
                  </a:lnTo>
                  <a:lnTo>
                    <a:pt x="73" y="16"/>
                  </a:lnTo>
                  <a:lnTo>
                    <a:pt x="206" y="90"/>
                  </a:lnTo>
                  <a:lnTo>
                    <a:pt x="71" y="9"/>
                  </a:lnTo>
                  <a:lnTo>
                    <a:pt x="69" y="7"/>
                  </a:lnTo>
                  <a:close/>
                </a:path>
              </a:pathLst>
            </a:custGeom>
            <a:solidFill>
              <a:srgbClr val="0980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E4F985-FD95-4217-A487-FE1CA39BD6BA}"/>
                </a:ext>
              </a:extLst>
            </p:cNvPr>
            <p:cNvSpPr txBox="1"/>
            <p:nvPr/>
          </p:nvSpPr>
          <p:spPr>
            <a:xfrm>
              <a:off x="2721048" y="2766447"/>
              <a:ext cx="16285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Air Transport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(+2° to 8°C &amp;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-15° to -25°C)</a:t>
              </a:r>
            </a:p>
          </p:txBody>
        </p:sp>
      </p:grpSp>
      <p:grpSp>
        <p:nvGrpSpPr>
          <p:cNvPr id="9" name="Group 20">
            <a:extLst>
              <a:ext uri="{FF2B5EF4-FFF2-40B4-BE49-F238E27FC236}">
                <a16:creationId xmlns:a16="http://schemas.microsoft.com/office/drawing/2014/main" id="{91DA8D0C-667F-4EEC-9A1C-5B6C01C20EB7}"/>
              </a:ext>
            </a:extLst>
          </p:cNvPr>
          <p:cNvGrpSpPr/>
          <p:nvPr/>
        </p:nvGrpSpPr>
        <p:grpSpPr>
          <a:xfrm>
            <a:off x="3869658" y="1707129"/>
            <a:ext cx="2141338" cy="1975562"/>
            <a:chOff x="4260275" y="1991214"/>
            <a:chExt cx="2141338" cy="1975562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E7458EBB-887F-4BCD-95D3-9A483438A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189" y="2213863"/>
              <a:ext cx="111325" cy="217701"/>
            </a:xfrm>
            <a:custGeom>
              <a:avLst/>
              <a:gdLst>
                <a:gd name="T0" fmla="*/ 0 w 45"/>
                <a:gd name="T1" fmla="*/ 0 h 88"/>
                <a:gd name="T2" fmla="*/ 0 w 45"/>
                <a:gd name="T3" fmla="*/ 28 h 88"/>
                <a:gd name="T4" fmla="*/ 14 w 45"/>
                <a:gd name="T5" fmla="*/ 28 h 88"/>
                <a:gd name="T6" fmla="*/ 14 w 45"/>
                <a:gd name="T7" fmla="*/ 59 h 88"/>
                <a:gd name="T8" fmla="*/ 0 w 45"/>
                <a:gd name="T9" fmla="*/ 59 h 88"/>
                <a:gd name="T10" fmla="*/ 0 w 45"/>
                <a:gd name="T11" fmla="*/ 88 h 88"/>
                <a:gd name="T12" fmla="*/ 45 w 45"/>
                <a:gd name="T13" fmla="*/ 43 h 88"/>
                <a:gd name="T14" fmla="*/ 0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0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59"/>
                  </a:lnTo>
                  <a:lnTo>
                    <a:pt x="0" y="59"/>
                  </a:lnTo>
                  <a:lnTo>
                    <a:pt x="0" y="88"/>
                  </a:lnTo>
                  <a:lnTo>
                    <a:pt x="45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F374A536-5624-48E1-96E2-4237F16B2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189" y="2213863"/>
              <a:ext cx="111325" cy="217701"/>
            </a:xfrm>
            <a:custGeom>
              <a:avLst/>
              <a:gdLst>
                <a:gd name="T0" fmla="*/ 0 w 45"/>
                <a:gd name="T1" fmla="*/ 0 h 88"/>
                <a:gd name="T2" fmla="*/ 0 w 45"/>
                <a:gd name="T3" fmla="*/ 28 h 88"/>
                <a:gd name="T4" fmla="*/ 14 w 45"/>
                <a:gd name="T5" fmla="*/ 28 h 88"/>
                <a:gd name="T6" fmla="*/ 14 w 45"/>
                <a:gd name="T7" fmla="*/ 59 h 88"/>
                <a:gd name="T8" fmla="*/ 0 w 45"/>
                <a:gd name="T9" fmla="*/ 59 h 88"/>
                <a:gd name="T10" fmla="*/ 0 w 45"/>
                <a:gd name="T11" fmla="*/ 88 h 88"/>
                <a:gd name="T12" fmla="*/ 45 w 45"/>
                <a:gd name="T13" fmla="*/ 43 h 88"/>
                <a:gd name="T14" fmla="*/ 0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0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59"/>
                  </a:lnTo>
                  <a:lnTo>
                    <a:pt x="0" y="59"/>
                  </a:lnTo>
                  <a:lnTo>
                    <a:pt x="0" y="88"/>
                  </a:lnTo>
                  <a:lnTo>
                    <a:pt x="45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A675C48D-3CC8-4CD4-8FA6-144CB67ED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275" y="2283131"/>
              <a:ext cx="24491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Rectangle 16">
              <a:extLst>
                <a:ext uri="{FF2B5EF4-FFF2-40B4-BE49-F238E27FC236}">
                  <a16:creationId xmlns:a16="http://schemas.microsoft.com/office/drawing/2014/main" id="{6AD13BE0-07D1-4BF8-A9BF-D74F37909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275" y="2283131"/>
              <a:ext cx="24491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Rectangle 17">
              <a:extLst>
                <a:ext uri="{FF2B5EF4-FFF2-40B4-BE49-F238E27FC236}">
                  <a16:creationId xmlns:a16="http://schemas.microsoft.com/office/drawing/2014/main" id="{B96C0E42-3A55-496E-97DE-3879C1870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189" y="2283131"/>
              <a:ext cx="3463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Rectangle 18">
              <a:extLst>
                <a:ext uri="{FF2B5EF4-FFF2-40B4-BE49-F238E27FC236}">
                  <a16:creationId xmlns:a16="http://schemas.microsoft.com/office/drawing/2014/main" id="{02A4124D-BF98-44EC-967F-1E8F9A77E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189" y="2283131"/>
              <a:ext cx="3463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Freeform 77">
              <a:extLst>
                <a:ext uri="{FF2B5EF4-FFF2-40B4-BE49-F238E27FC236}">
                  <a16:creationId xmlns:a16="http://schemas.microsoft.com/office/drawing/2014/main" id="{62FD2259-BB22-4DC2-BF49-95FD0363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8395" y="1991214"/>
              <a:ext cx="435401" cy="188014"/>
            </a:xfrm>
            <a:custGeom>
              <a:avLst/>
              <a:gdLst>
                <a:gd name="T0" fmla="*/ 45 w 176"/>
                <a:gd name="T1" fmla="*/ 2 h 76"/>
                <a:gd name="T2" fmla="*/ 0 w 176"/>
                <a:gd name="T3" fmla="*/ 57 h 76"/>
                <a:gd name="T4" fmla="*/ 131 w 176"/>
                <a:gd name="T5" fmla="*/ 76 h 76"/>
                <a:gd name="T6" fmla="*/ 176 w 176"/>
                <a:gd name="T7" fmla="*/ 0 h 76"/>
                <a:gd name="T8" fmla="*/ 45 w 176"/>
                <a:gd name="T9" fmla="*/ 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" h="76">
                  <a:moveTo>
                    <a:pt x="45" y="2"/>
                  </a:moveTo>
                  <a:lnTo>
                    <a:pt x="0" y="57"/>
                  </a:lnTo>
                  <a:lnTo>
                    <a:pt x="131" y="76"/>
                  </a:lnTo>
                  <a:lnTo>
                    <a:pt x="176" y="0"/>
                  </a:lnTo>
                  <a:lnTo>
                    <a:pt x="45" y="2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Freeform 78">
              <a:extLst>
                <a:ext uri="{FF2B5EF4-FFF2-40B4-BE49-F238E27FC236}">
                  <a16:creationId xmlns:a16="http://schemas.microsoft.com/office/drawing/2014/main" id="{959979CF-74C7-4419-AF47-42CAE5144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120" y="2154490"/>
              <a:ext cx="358712" cy="47004"/>
            </a:xfrm>
            <a:custGeom>
              <a:avLst/>
              <a:gdLst>
                <a:gd name="T0" fmla="*/ 45 w 145"/>
                <a:gd name="T1" fmla="*/ 0 h 19"/>
                <a:gd name="T2" fmla="*/ 0 w 145"/>
                <a:gd name="T3" fmla="*/ 5 h 19"/>
                <a:gd name="T4" fmla="*/ 111 w 145"/>
                <a:gd name="T5" fmla="*/ 19 h 19"/>
                <a:gd name="T6" fmla="*/ 145 w 145"/>
                <a:gd name="T7" fmla="*/ 14 h 19"/>
                <a:gd name="T8" fmla="*/ 45 w 14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9">
                  <a:moveTo>
                    <a:pt x="45" y="0"/>
                  </a:moveTo>
                  <a:lnTo>
                    <a:pt x="0" y="5"/>
                  </a:lnTo>
                  <a:lnTo>
                    <a:pt x="111" y="19"/>
                  </a:lnTo>
                  <a:lnTo>
                    <a:pt x="145" y="1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Freeform 79">
              <a:extLst>
                <a:ext uri="{FF2B5EF4-FFF2-40B4-BE49-F238E27FC236}">
                  <a16:creationId xmlns:a16="http://schemas.microsoft.com/office/drawing/2014/main" id="{52E7F238-8211-401C-8EE6-F3F8508D7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457" y="2208915"/>
              <a:ext cx="603625" cy="445297"/>
            </a:xfrm>
            <a:custGeom>
              <a:avLst/>
              <a:gdLst>
                <a:gd name="T0" fmla="*/ 78 w 244"/>
                <a:gd name="T1" fmla="*/ 68 h 180"/>
                <a:gd name="T2" fmla="*/ 125 w 244"/>
                <a:gd name="T3" fmla="*/ 64 h 180"/>
                <a:gd name="T4" fmla="*/ 128 w 244"/>
                <a:gd name="T5" fmla="*/ 92 h 180"/>
                <a:gd name="T6" fmla="*/ 151 w 244"/>
                <a:gd name="T7" fmla="*/ 102 h 180"/>
                <a:gd name="T8" fmla="*/ 154 w 244"/>
                <a:gd name="T9" fmla="*/ 135 h 180"/>
                <a:gd name="T10" fmla="*/ 111 w 244"/>
                <a:gd name="T11" fmla="*/ 149 h 180"/>
                <a:gd name="T12" fmla="*/ 21 w 244"/>
                <a:gd name="T13" fmla="*/ 116 h 180"/>
                <a:gd name="T14" fmla="*/ 19 w 244"/>
                <a:gd name="T15" fmla="*/ 80 h 180"/>
                <a:gd name="T16" fmla="*/ 21 w 244"/>
                <a:gd name="T17" fmla="*/ 64 h 180"/>
                <a:gd name="T18" fmla="*/ 19 w 244"/>
                <a:gd name="T19" fmla="*/ 33 h 180"/>
                <a:gd name="T20" fmla="*/ 68 w 244"/>
                <a:gd name="T21" fmla="*/ 23 h 180"/>
                <a:gd name="T22" fmla="*/ 83 w 244"/>
                <a:gd name="T23" fmla="*/ 0 h 180"/>
                <a:gd name="T24" fmla="*/ 0 w 244"/>
                <a:gd name="T25" fmla="*/ 9 h 180"/>
                <a:gd name="T26" fmla="*/ 2 w 244"/>
                <a:gd name="T27" fmla="*/ 180 h 180"/>
                <a:gd name="T28" fmla="*/ 244 w 244"/>
                <a:gd name="T29" fmla="*/ 111 h 180"/>
                <a:gd name="T30" fmla="*/ 222 w 244"/>
                <a:gd name="T31" fmla="*/ 45 h 180"/>
                <a:gd name="T32" fmla="*/ 220 w 244"/>
                <a:gd name="T33" fmla="*/ 73 h 180"/>
                <a:gd name="T34" fmla="*/ 187 w 244"/>
                <a:gd name="T35" fmla="*/ 78 h 180"/>
                <a:gd name="T36" fmla="*/ 180 w 244"/>
                <a:gd name="T37" fmla="*/ 52 h 180"/>
                <a:gd name="T38" fmla="*/ 180 w 244"/>
                <a:gd name="T39" fmla="*/ 80 h 180"/>
                <a:gd name="T40" fmla="*/ 135 w 244"/>
                <a:gd name="T41" fmla="*/ 90 h 180"/>
                <a:gd name="T42" fmla="*/ 128 w 244"/>
                <a:gd name="T43" fmla="*/ 45 h 180"/>
                <a:gd name="T44" fmla="*/ 76 w 244"/>
                <a:gd name="T45" fmla="*/ 54 h 180"/>
                <a:gd name="T46" fmla="*/ 76 w 244"/>
                <a:gd name="T47" fmla="*/ 23 h 180"/>
                <a:gd name="T48" fmla="*/ 71 w 244"/>
                <a:gd name="T49" fmla="*/ 104 h 180"/>
                <a:gd name="T50" fmla="*/ 78 w 244"/>
                <a:gd name="T51" fmla="*/ 102 h 180"/>
                <a:gd name="T52" fmla="*/ 78 w 244"/>
                <a:gd name="T53" fmla="*/ 6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4" h="180">
                  <a:moveTo>
                    <a:pt x="78" y="68"/>
                  </a:moveTo>
                  <a:lnTo>
                    <a:pt x="125" y="64"/>
                  </a:lnTo>
                  <a:lnTo>
                    <a:pt x="128" y="92"/>
                  </a:lnTo>
                  <a:lnTo>
                    <a:pt x="151" y="102"/>
                  </a:lnTo>
                  <a:lnTo>
                    <a:pt x="154" y="135"/>
                  </a:lnTo>
                  <a:lnTo>
                    <a:pt x="111" y="149"/>
                  </a:lnTo>
                  <a:lnTo>
                    <a:pt x="21" y="116"/>
                  </a:lnTo>
                  <a:lnTo>
                    <a:pt x="19" y="80"/>
                  </a:lnTo>
                  <a:lnTo>
                    <a:pt x="21" y="64"/>
                  </a:lnTo>
                  <a:lnTo>
                    <a:pt x="19" y="33"/>
                  </a:lnTo>
                  <a:lnTo>
                    <a:pt x="68" y="23"/>
                  </a:lnTo>
                  <a:lnTo>
                    <a:pt x="83" y="0"/>
                  </a:lnTo>
                  <a:lnTo>
                    <a:pt x="0" y="9"/>
                  </a:lnTo>
                  <a:lnTo>
                    <a:pt x="2" y="180"/>
                  </a:lnTo>
                  <a:lnTo>
                    <a:pt x="244" y="111"/>
                  </a:lnTo>
                  <a:lnTo>
                    <a:pt x="222" y="45"/>
                  </a:lnTo>
                  <a:lnTo>
                    <a:pt x="220" y="73"/>
                  </a:lnTo>
                  <a:lnTo>
                    <a:pt x="187" y="78"/>
                  </a:lnTo>
                  <a:lnTo>
                    <a:pt x="180" y="52"/>
                  </a:lnTo>
                  <a:lnTo>
                    <a:pt x="180" y="80"/>
                  </a:lnTo>
                  <a:lnTo>
                    <a:pt x="135" y="90"/>
                  </a:lnTo>
                  <a:lnTo>
                    <a:pt x="128" y="45"/>
                  </a:lnTo>
                  <a:lnTo>
                    <a:pt x="76" y="54"/>
                  </a:lnTo>
                  <a:lnTo>
                    <a:pt x="76" y="23"/>
                  </a:lnTo>
                  <a:lnTo>
                    <a:pt x="71" y="104"/>
                  </a:lnTo>
                  <a:lnTo>
                    <a:pt x="78" y="102"/>
                  </a:lnTo>
                  <a:lnTo>
                    <a:pt x="78" y="68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1" name="Freeform 80">
              <a:extLst>
                <a:ext uri="{FF2B5EF4-FFF2-40B4-BE49-F238E27FC236}">
                  <a16:creationId xmlns:a16="http://schemas.microsoft.com/office/drawing/2014/main" id="{720325D9-F963-4882-913A-756F61AB6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6410" y="2436511"/>
              <a:ext cx="321603" cy="141011"/>
            </a:xfrm>
            <a:custGeom>
              <a:avLst/>
              <a:gdLst>
                <a:gd name="T0" fmla="*/ 130 w 130"/>
                <a:gd name="T1" fmla="*/ 10 h 57"/>
                <a:gd name="T2" fmla="*/ 107 w 130"/>
                <a:gd name="T3" fmla="*/ 0 h 57"/>
                <a:gd name="T4" fmla="*/ 57 w 130"/>
                <a:gd name="T5" fmla="*/ 10 h 57"/>
                <a:gd name="T6" fmla="*/ 50 w 130"/>
                <a:gd name="T7" fmla="*/ 12 h 57"/>
                <a:gd name="T8" fmla="*/ 0 w 130"/>
                <a:gd name="T9" fmla="*/ 24 h 57"/>
                <a:gd name="T10" fmla="*/ 90 w 130"/>
                <a:gd name="T11" fmla="*/ 57 h 57"/>
                <a:gd name="T12" fmla="*/ 90 w 130"/>
                <a:gd name="T13" fmla="*/ 19 h 57"/>
                <a:gd name="T14" fmla="*/ 130 w 130"/>
                <a:gd name="T15" fmla="*/ 1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0" h="57">
                  <a:moveTo>
                    <a:pt x="130" y="10"/>
                  </a:moveTo>
                  <a:lnTo>
                    <a:pt x="107" y="0"/>
                  </a:lnTo>
                  <a:lnTo>
                    <a:pt x="57" y="10"/>
                  </a:lnTo>
                  <a:lnTo>
                    <a:pt x="50" y="12"/>
                  </a:lnTo>
                  <a:lnTo>
                    <a:pt x="0" y="24"/>
                  </a:lnTo>
                  <a:lnTo>
                    <a:pt x="90" y="57"/>
                  </a:lnTo>
                  <a:lnTo>
                    <a:pt x="90" y="19"/>
                  </a:lnTo>
                  <a:lnTo>
                    <a:pt x="130" y="1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Freeform 81">
              <a:extLst>
                <a:ext uri="{FF2B5EF4-FFF2-40B4-BE49-F238E27FC236}">
                  <a16:creationId xmlns:a16="http://schemas.microsoft.com/office/drawing/2014/main" id="{E1397036-DAB5-496F-AB5C-0030823AE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8431" y="2171806"/>
              <a:ext cx="215228" cy="230071"/>
            </a:xfrm>
            <a:custGeom>
              <a:avLst/>
              <a:gdLst>
                <a:gd name="T0" fmla="*/ 45 w 87"/>
                <a:gd name="T1" fmla="*/ 24 h 93"/>
                <a:gd name="T2" fmla="*/ 45 w 87"/>
                <a:gd name="T3" fmla="*/ 50 h 93"/>
                <a:gd name="T4" fmla="*/ 0 w 87"/>
                <a:gd name="T5" fmla="*/ 60 h 93"/>
                <a:gd name="T6" fmla="*/ 0 w 87"/>
                <a:gd name="T7" fmla="*/ 74 h 93"/>
                <a:gd name="T8" fmla="*/ 45 w 87"/>
                <a:gd name="T9" fmla="*/ 67 h 93"/>
                <a:gd name="T10" fmla="*/ 52 w 87"/>
                <a:gd name="T11" fmla="*/ 93 h 93"/>
                <a:gd name="T12" fmla="*/ 52 w 87"/>
                <a:gd name="T13" fmla="*/ 67 h 93"/>
                <a:gd name="T14" fmla="*/ 87 w 87"/>
                <a:gd name="T15" fmla="*/ 60 h 93"/>
                <a:gd name="T16" fmla="*/ 85 w 87"/>
                <a:gd name="T17" fmla="*/ 19 h 93"/>
                <a:gd name="T18" fmla="*/ 85 w 87"/>
                <a:gd name="T19" fmla="*/ 45 h 93"/>
                <a:gd name="T20" fmla="*/ 52 w 87"/>
                <a:gd name="T21" fmla="*/ 50 h 93"/>
                <a:gd name="T22" fmla="*/ 45 w 87"/>
                <a:gd name="T23" fmla="*/ 0 h 93"/>
                <a:gd name="T24" fmla="*/ 45 w 87"/>
                <a:gd name="T25" fmla="*/ 2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93">
                  <a:moveTo>
                    <a:pt x="45" y="24"/>
                  </a:moveTo>
                  <a:lnTo>
                    <a:pt x="45" y="50"/>
                  </a:lnTo>
                  <a:lnTo>
                    <a:pt x="0" y="60"/>
                  </a:lnTo>
                  <a:lnTo>
                    <a:pt x="0" y="74"/>
                  </a:lnTo>
                  <a:lnTo>
                    <a:pt x="45" y="67"/>
                  </a:lnTo>
                  <a:lnTo>
                    <a:pt x="52" y="93"/>
                  </a:lnTo>
                  <a:lnTo>
                    <a:pt x="52" y="67"/>
                  </a:lnTo>
                  <a:lnTo>
                    <a:pt x="87" y="60"/>
                  </a:lnTo>
                  <a:lnTo>
                    <a:pt x="85" y="19"/>
                  </a:lnTo>
                  <a:lnTo>
                    <a:pt x="85" y="45"/>
                  </a:lnTo>
                  <a:lnTo>
                    <a:pt x="52" y="50"/>
                  </a:lnTo>
                  <a:lnTo>
                    <a:pt x="45" y="0"/>
                  </a:lnTo>
                  <a:lnTo>
                    <a:pt x="45" y="24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Freeform 82">
              <a:extLst>
                <a:ext uri="{FF2B5EF4-FFF2-40B4-BE49-F238E27FC236}">
                  <a16:creationId xmlns:a16="http://schemas.microsoft.com/office/drawing/2014/main" id="{66BDBDA3-C176-464E-A123-7CF7463D8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9754" y="2166858"/>
              <a:ext cx="98955" cy="128641"/>
            </a:xfrm>
            <a:custGeom>
              <a:avLst/>
              <a:gdLst>
                <a:gd name="T0" fmla="*/ 7 w 40"/>
                <a:gd name="T1" fmla="*/ 26 h 52"/>
                <a:gd name="T2" fmla="*/ 40 w 40"/>
                <a:gd name="T3" fmla="*/ 21 h 52"/>
                <a:gd name="T4" fmla="*/ 33 w 40"/>
                <a:gd name="T5" fmla="*/ 0 h 52"/>
                <a:gd name="T6" fmla="*/ 0 w 40"/>
                <a:gd name="T7" fmla="*/ 2 h 52"/>
                <a:gd name="T8" fmla="*/ 7 w 40"/>
                <a:gd name="T9" fmla="*/ 52 h 52"/>
                <a:gd name="T10" fmla="*/ 7 w 40"/>
                <a:gd name="T11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52">
                  <a:moveTo>
                    <a:pt x="7" y="26"/>
                  </a:moveTo>
                  <a:lnTo>
                    <a:pt x="40" y="21"/>
                  </a:lnTo>
                  <a:lnTo>
                    <a:pt x="33" y="0"/>
                  </a:lnTo>
                  <a:lnTo>
                    <a:pt x="0" y="2"/>
                  </a:lnTo>
                  <a:lnTo>
                    <a:pt x="7" y="52"/>
                  </a:lnTo>
                  <a:lnTo>
                    <a:pt x="7" y="26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4" name="Freeform 83">
              <a:extLst>
                <a:ext uri="{FF2B5EF4-FFF2-40B4-BE49-F238E27FC236}">
                  <a16:creationId xmlns:a16="http://schemas.microsoft.com/office/drawing/2014/main" id="{6CF2F8AA-3526-48D2-8C56-150F5E735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62" y="2008531"/>
              <a:ext cx="561570" cy="474983"/>
            </a:xfrm>
            <a:custGeom>
              <a:avLst/>
              <a:gdLst>
                <a:gd name="T0" fmla="*/ 116 w 227"/>
                <a:gd name="T1" fmla="*/ 97 h 192"/>
                <a:gd name="T2" fmla="*/ 161 w 227"/>
                <a:gd name="T3" fmla="*/ 90 h 192"/>
                <a:gd name="T4" fmla="*/ 161 w 227"/>
                <a:gd name="T5" fmla="*/ 66 h 192"/>
                <a:gd name="T6" fmla="*/ 156 w 227"/>
                <a:gd name="T7" fmla="*/ 59 h 192"/>
                <a:gd name="T8" fmla="*/ 194 w 227"/>
                <a:gd name="T9" fmla="*/ 64 h 192"/>
                <a:gd name="T10" fmla="*/ 201 w 227"/>
                <a:gd name="T11" fmla="*/ 85 h 192"/>
                <a:gd name="T12" fmla="*/ 203 w 227"/>
                <a:gd name="T13" fmla="*/ 126 h 192"/>
                <a:gd name="T14" fmla="*/ 225 w 227"/>
                <a:gd name="T15" fmla="*/ 192 h 192"/>
                <a:gd name="T16" fmla="*/ 227 w 227"/>
                <a:gd name="T17" fmla="*/ 62 h 192"/>
                <a:gd name="T18" fmla="*/ 227 w 227"/>
                <a:gd name="T19" fmla="*/ 54 h 192"/>
                <a:gd name="T20" fmla="*/ 147 w 227"/>
                <a:gd name="T21" fmla="*/ 45 h 192"/>
                <a:gd name="T22" fmla="*/ 116 w 227"/>
                <a:gd name="T23" fmla="*/ 0 h 192"/>
                <a:gd name="T24" fmla="*/ 64 w 227"/>
                <a:gd name="T25" fmla="*/ 81 h 192"/>
                <a:gd name="T26" fmla="*/ 49 w 227"/>
                <a:gd name="T27" fmla="*/ 104 h 192"/>
                <a:gd name="T28" fmla="*/ 49 w 227"/>
                <a:gd name="T29" fmla="*/ 135 h 192"/>
                <a:gd name="T30" fmla="*/ 2 w 227"/>
                <a:gd name="T31" fmla="*/ 145 h 192"/>
                <a:gd name="T32" fmla="*/ 0 w 227"/>
                <a:gd name="T33" fmla="*/ 161 h 192"/>
                <a:gd name="T34" fmla="*/ 52 w 227"/>
                <a:gd name="T35" fmla="*/ 154 h 192"/>
                <a:gd name="T36" fmla="*/ 52 w 227"/>
                <a:gd name="T37" fmla="*/ 185 h 192"/>
                <a:gd name="T38" fmla="*/ 57 w 227"/>
                <a:gd name="T39" fmla="*/ 104 h 192"/>
                <a:gd name="T40" fmla="*/ 109 w 227"/>
                <a:gd name="T41" fmla="*/ 97 h 192"/>
                <a:gd name="T42" fmla="*/ 109 w 227"/>
                <a:gd name="T43" fmla="*/ 126 h 192"/>
                <a:gd name="T44" fmla="*/ 116 w 227"/>
                <a:gd name="T45" fmla="*/ 171 h 192"/>
                <a:gd name="T46" fmla="*/ 116 w 227"/>
                <a:gd name="T47" fmla="*/ 140 h 192"/>
                <a:gd name="T48" fmla="*/ 116 w 227"/>
                <a:gd name="T49" fmla="*/ 126 h 192"/>
                <a:gd name="T50" fmla="*/ 116 w 227"/>
                <a:gd name="T51" fmla="*/ 97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7" h="192">
                  <a:moveTo>
                    <a:pt x="116" y="97"/>
                  </a:moveTo>
                  <a:lnTo>
                    <a:pt x="161" y="90"/>
                  </a:lnTo>
                  <a:lnTo>
                    <a:pt x="161" y="66"/>
                  </a:lnTo>
                  <a:lnTo>
                    <a:pt x="156" y="59"/>
                  </a:lnTo>
                  <a:lnTo>
                    <a:pt x="194" y="64"/>
                  </a:lnTo>
                  <a:lnTo>
                    <a:pt x="201" y="85"/>
                  </a:lnTo>
                  <a:lnTo>
                    <a:pt x="203" y="126"/>
                  </a:lnTo>
                  <a:lnTo>
                    <a:pt x="225" y="192"/>
                  </a:lnTo>
                  <a:lnTo>
                    <a:pt x="227" y="62"/>
                  </a:lnTo>
                  <a:lnTo>
                    <a:pt x="227" y="54"/>
                  </a:lnTo>
                  <a:lnTo>
                    <a:pt x="147" y="45"/>
                  </a:lnTo>
                  <a:lnTo>
                    <a:pt x="116" y="0"/>
                  </a:lnTo>
                  <a:lnTo>
                    <a:pt x="64" y="81"/>
                  </a:lnTo>
                  <a:lnTo>
                    <a:pt x="49" y="104"/>
                  </a:lnTo>
                  <a:lnTo>
                    <a:pt x="49" y="135"/>
                  </a:lnTo>
                  <a:lnTo>
                    <a:pt x="2" y="145"/>
                  </a:lnTo>
                  <a:lnTo>
                    <a:pt x="0" y="161"/>
                  </a:lnTo>
                  <a:lnTo>
                    <a:pt x="52" y="154"/>
                  </a:lnTo>
                  <a:lnTo>
                    <a:pt x="52" y="185"/>
                  </a:lnTo>
                  <a:lnTo>
                    <a:pt x="57" y="104"/>
                  </a:lnTo>
                  <a:lnTo>
                    <a:pt x="109" y="97"/>
                  </a:lnTo>
                  <a:lnTo>
                    <a:pt x="109" y="126"/>
                  </a:lnTo>
                  <a:lnTo>
                    <a:pt x="116" y="171"/>
                  </a:lnTo>
                  <a:lnTo>
                    <a:pt x="116" y="140"/>
                  </a:lnTo>
                  <a:lnTo>
                    <a:pt x="116" y="126"/>
                  </a:lnTo>
                  <a:lnTo>
                    <a:pt x="116" y="97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Freeform 84">
              <a:extLst>
                <a:ext uri="{FF2B5EF4-FFF2-40B4-BE49-F238E27FC236}">
                  <a16:creationId xmlns:a16="http://schemas.microsoft.com/office/drawing/2014/main" id="{5180E0C6-CD23-4206-9128-D3CDD5F11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115" y="2196545"/>
              <a:ext cx="316656" cy="452719"/>
            </a:xfrm>
            <a:custGeom>
              <a:avLst/>
              <a:gdLst>
                <a:gd name="T0" fmla="*/ 76 w 128"/>
                <a:gd name="T1" fmla="*/ 157 h 183"/>
                <a:gd name="T2" fmla="*/ 128 w 128"/>
                <a:gd name="T3" fmla="*/ 183 h 183"/>
                <a:gd name="T4" fmla="*/ 128 w 128"/>
                <a:gd name="T5" fmla="*/ 14 h 183"/>
                <a:gd name="T6" fmla="*/ 0 w 128"/>
                <a:gd name="T7" fmla="*/ 0 h 183"/>
                <a:gd name="T8" fmla="*/ 5 w 128"/>
                <a:gd name="T9" fmla="*/ 126 h 183"/>
                <a:gd name="T10" fmla="*/ 33 w 128"/>
                <a:gd name="T11" fmla="*/ 45 h 183"/>
                <a:gd name="T12" fmla="*/ 78 w 128"/>
                <a:gd name="T13" fmla="*/ 57 h 183"/>
                <a:gd name="T14" fmla="*/ 76 w 128"/>
                <a:gd name="T15" fmla="*/ 157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8" h="183">
                  <a:moveTo>
                    <a:pt x="76" y="157"/>
                  </a:moveTo>
                  <a:lnTo>
                    <a:pt x="128" y="183"/>
                  </a:lnTo>
                  <a:lnTo>
                    <a:pt x="128" y="14"/>
                  </a:lnTo>
                  <a:lnTo>
                    <a:pt x="0" y="0"/>
                  </a:lnTo>
                  <a:lnTo>
                    <a:pt x="5" y="126"/>
                  </a:lnTo>
                  <a:lnTo>
                    <a:pt x="33" y="45"/>
                  </a:lnTo>
                  <a:lnTo>
                    <a:pt x="78" y="57"/>
                  </a:lnTo>
                  <a:lnTo>
                    <a:pt x="76" y="157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6" name="Freeform 85">
              <a:extLst>
                <a:ext uri="{FF2B5EF4-FFF2-40B4-BE49-F238E27FC236}">
                  <a16:creationId xmlns:a16="http://schemas.microsoft.com/office/drawing/2014/main" id="{69ADCBB6-A9F4-40F8-B0FC-DB808E421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0486" y="2307870"/>
              <a:ext cx="304287" cy="341394"/>
            </a:xfrm>
            <a:custGeom>
              <a:avLst/>
              <a:gdLst>
                <a:gd name="T0" fmla="*/ 31 w 123"/>
                <a:gd name="T1" fmla="*/ 93 h 138"/>
                <a:gd name="T2" fmla="*/ 28 w 123"/>
                <a:gd name="T3" fmla="*/ 0 h 138"/>
                <a:gd name="T4" fmla="*/ 0 w 123"/>
                <a:gd name="T5" fmla="*/ 81 h 138"/>
                <a:gd name="T6" fmla="*/ 123 w 123"/>
                <a:gd name="T7" fmla="*/ 138 h 138"/>
                <a:gd name="T8" fmla="*/ 71 w 123"/>
                <a:gd name="T9" fmla="*/ 112 h 138"/>
                <a:gd name="T10" fmla="*/ 31 w 123"/>
                <a:gd name="T11" fmla="*/ 9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138">
                  <a:moveTo>
                    <a:pt x="31" y="93"/>
                  </a:moveTo>
                  <a:lnTo>
                    <a:pt x="28" y="0"/>
                  </a:lnTo>
                  <a:lnTo>
                    <a:pt x="0" y="81"/>
                  </a:lnTo>
                  <a:lnTo>
                    <a:pt x="123" y="138"/>
                  </a:lnTo>
                  <a:lnTo>
                    <a:pt x="71" y="112"/>
                  </a:lnTo>
                  <a:lnTo>
                    <a:pt x="31" y="93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9F2D168-637F-47E0-A362-3A248299A56B}"/>
                </a:ext>
              </a:extLst>
            </p:cNvPr>
            <p:cNvSpPr txBox="1"/>
            <p:nvPr/>
          </p:nvSpPr>
          <p:spPr>
            <a:xfrm>
              <a:off x="4434434" y="2766447"/>
              <a:ext cx="196717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Primary Store (GMSD &amp;/State)  WIC (+2° to 8°C) &amp; WIF (-15° to -25°C)</a:t>
              </a:r>
            </a:p>
          </p:txBody>
        </p:sp>
      </p:grpSp>
      <p:grpSp>
        <p:nvGrpSpPr>
          <p:cNvPr id="21" name="Group 37">
            <a:extLst>
              <a:ext uri="{FF2B5EF4-FFF2-40B4-BE49-F238E27FC236}">
                <a16:creationId xmlns:a16="http://schemas.microsoft.com/office/drawing/2014/main" id="{1E9EA05A-0678-4FEA-AC9F-4681411013B0}"/>
              </a:ext>
            </a:extLst>
          </p:cNvPr>
          <p:cNvGrpSpPr/>
          <p:nvPr/>
        </p:nvGrpSpPr>
        <p:grpSpPr>
          <a:xfrm>
            <a:off x="5819069" y="1741764"/>
            <a:ext cx="1859645" cy="1940927"/>
            <a:chOff x="6209686" y="2025849"/>
            <a:chExt cx="1859645" cy="1940927"/>
          </a:xfrm>
        </p:grpSpPr>
        <p:sp>
          <p:nvSpPr>
            <p:cNvPr id="39" name="Freeform 19">
              <a:extLst>
                <a:ext uri="{FF2B5EF4-FFF2-40B4-BE49-F238E27FC236}">
                  <a16:creationId xmlns:a16="http://schemas.microsoft.com/office/drawing/2014/main" id="{6043CE4D-A57A-4684-A29E-4F974B5C7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9652" y="2213863"/>
              <a:ext cx="111325" cy="217701"/>
            </a:xfrm>
            <a:custGeom>
              <a:avLst/>
              <a:gdLst>
                <a:gd name="T0" fmla="*/ 0 w 45"/>
                <a:gd name="T1" fmla="*/ 0 h 88"/>
                <a:gd name="T2" fmla="*/ 0 w 45"/>
                <a:gd name="T3" fmla="*/ 28 h 88"/>
                <a:gd name="T4" fmla="*/ 14 w 45"/>
                <a:gd name="T5" fmla="*/ 28 h 88"/>
                <a:gd name="T6" fmla="*/ 14 w 45"/>
                <a:gd name="T7" fmla="*/ 59 h 88"/>
                <a:gd name="T8" fmla="*/ 0 w 45"/>
                <a:gd name="T9" fmla="*/ 59 h 88"/>
                <a:gd name="T10" fmla="*/ 0 w 45"/>
                <a:gd name="T11" fmla="*/ 88 h 88"/>
                <a:gd name="T12" fmla="*/ 45 w 45"/>
                <a:gd name="T13" fmla="*/ 43 h 88"/>
                <a:gd name="T14" fmla="*/ 0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0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59"/>
                  </a:lnTo>
                  <a:lnTo>
                    <a:pt x="0" y="59"/>
                  </a:lnTo>
                  <a:lnTo>
                    <a:pt x="0" y="88"/>
                  </a:lnTo>
                  <a:lnTo>
                    <a:pt x="45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Freeform 20">
              <a:extLst>
                <a:ext uri="{FF2B5EF4-FFF2-40B4-BE49-F238E27FC236}">
                  <a16:creationId xmlns:a16="http://schemas.microsoft.com/office/drawing/2014/main" id="{EB7F6B3B-8F4C-4C92-B400-12BC2ED58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9652" y="2213863"/>
              <a:ext cx="111325" cy="217701"/>
            </a:xfrm>
            <a:custGeom>
              <a:avLst/>
              <a:gdLst>
                <a:gd name="T0" fmla="*/ 0 w 45"/>
                <a:gd name="T1" fmla="*/ 0 h 88"/>
                <a:gd name="T2" fmla="*/ 0 w 45"/>
                <a:gd name="T3" fmla="*/ 28 h 88"/>
                <a:gd name="T4" fmla="*/ 14 w 45"/>
                <a:gd name="T5" fmla="*/ 28 h 88"/>
                <a:gd name="T6" fmla="*/ 14 w 45"/>
                <a:gd name="T7" fmla="*/ 59 h 88"/>
                <a:gd name="T8" fmla="*/ 0 w 45"/>
                <a:gd name="T9" fmla="*/ 59 h 88"/>
                <a:gd name="T10" fmla="*/ 0 w 45"/>
                <a:gd name="T11" fmla="*/ 88 h 88"/>
                <a:gd name="T12" fmla="*/ 45 w 45"/>
                <a:gd name="T13" fmla="*/ 43 h 88"/>
                <a:gd name="T14" fmla="*/ 0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0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59"/>
                  </a:lnTo>
                  <a:lnTo>
                    <a:pt x="0" y="59"/>
                  </a:lnTo>
                  <a:lnTo>
                    <a:pt x="0" y="88"/>
                  </a:lnTo>
                  <a:lnTo>
                    <a:pt x="45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1" name="Rectangle 21">
              <a:extLst>
                <a:ext uri="{FF2B5EF4-FFF2-40B4-BE49-F238E27FC236}">
                  <a16:creationId xmlns:a16="http://schemas.microsoft.com/office/drawing/2014/main" id="{1D753314-1830-4FC3-A383-F61D83B61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9686" y="2283131"/>
              <a:ext cx="239966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" name="Rectangle 22">
              <a:extLst>
                <a:ext uri="{FF2B5EF4-FFF2-40B4-BE49-F238E27FC236}">
                  <a16:creationId xmlns:a16="http://schemas.microsoft.com/office/drawing/2014/main" id="{348E37BA-B9D1-48D0-B8A5-67D2301EC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9686" y="2283131"/>
              <a:ext cx="239966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Rectangle 23">
              <a:extLst>
                <a:ext uri="{FF2B5EF4-FFF2-40B4-BE49-F238E27FC236}">
                  <a16:creationId xmlns:a16="http://schemas.microsoft.com/office/drawing/2014/main" id="{4E7CB038-6219-4B03-ACC0-28C676351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652" y="2283131"/>
              <a:ext cx="3463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" name="Rectangle 24">
              <a:extLst>
                <a:ext uri="{FF2B5EF4-FFF2-40B4-BE49-F238E27FC236}">
                  <a16:creationId xmlns:a16="http://schemas.microsoft.com/office/drawing/2014/main" id="{BCC5F987-113A-454F-80A9-315114A3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652" y="2283131"/>
              <a:ext cx="3463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" name="Freeform 86">
              <a:extLst>
                <a:ext uri="{FF2B5EF4-FFF2-40B4-BE49-F238E27FC236}">
                  <a16:creationId xmlns:a16="http://schemas.microsoft.com/office/drawing/2014/main" id="{0219F7CD-BAAB-4C10-A254-7C5D5BBFE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6621" y="2025849"/>
              <a:ext cx="766900" cy="521988"/>
            </a:xfrm>
            <a:custGeom>
              <a:avLst/>
              <a:gdLst>
                <a:gd name="T0" fmla="*/ 26 w 310"/>
                <a:gd name="T1" fmla="*/ 185 h 211"/>
                <a:gd name="T2" fmla="*/ 26 w 310"/>
                <a:gd name="T3" fmla="*/ 57 h 211"/>
                <a:gd name="T4" fmla="*/ 26 w 310"/>
                <a:gd name="T5" fmla="*/ 45 h 211"/>
                <a:gd name="T6" fmla="*/ 26 w 310"/>
                <a:gd name="T7" fmla="*/ 12 h 211"/>
                <a:gd name="T8" fmla="*/ 296 w 310"/>
                <a:gd name="T9" fmla="*/ 12 h 211"/>
                <a:gd name="T10" fmla="*/ 255 w 310"/>
                <a:gd name="T11" fmla="*/ 45 h 211"/>
                <a:gd name="T12" fmla="*/ 253 w 310"/>
                <a:gd name="T13" fmla="*/ 57 h 211"/>
                <a:gd name="T14" fmla="*/ 253 w 310"/>
                <a:gd name="T15" fmla="*/ 185 h 211"/>
                <a:gd name="T16" fmla="*/ 262 w 310"/>
                <a:gd name="T17" fmla="*/ 185 h 211"/>
                <a:gd name="T18" fmla="*/ 262 w 310"/>
                <a:gd name="T19" fmla="*/ 52 h 211"/>
                <a:gd name="T20" fmla="*/ 300 w 310"/>
                <a:gd name="T21" fmla="*/ 21 h 211"/>
                <a:gd name="T22" fmla="*/ 300 w 310"/>
                <a:gd name="T23" fmla="*/ 55 h 211"/>
                <a:gd name="T24" fmla="*/ 310 w 310"/>
                <a:gd name="T25" fmla="*/ 55 h 211"/>
                <a:gd name="T26" fmla="*/ 310 w 310"/>
                <a:gd name="T27" fmla="*/ 0 h 211"/>
                <a:gd name="T28" fmla="*/ 12 w 310"/>
                <a:gd name="T29" fmla="*/ 0 h 211"/>
                <a:gd name="T30" fmla="*/ 12 w 310"/>
                <a:gd name="T31" fmla="*/ 185 h 211"/>
                <a:gd name="T32" fmla="*/ 0 w 310"/>
                <a:gd name="T33" fmla="*/ 185 h 211"/>
                <a:gd name="T34" fmla="*/ 0 w 310"/>
                <a:gd name="T35" fmla="*/ 211 h 211"/>
                <a:gd name="T36" fmla="*/ 12 w 310"/>
                <a:gd name="T37" fmla="*/ 202 h 211"/>
                <a:gd name="T38" fmla="*/ 12 w 310"/>
                <a:gd name="T39" fmla="*/ 195 h 211"/>
                <a:gd name="T40" fmla="*/ 35 w 310"/>
                <a:gd name="T41" fmla="*/ 195 h 211"/>
                <a:gd name="T42" fmla="*/ 47 w 310"/>
                <a:gd name="T43" fmla="*/ 78 h 211"/>
                <a:gd name="T44" fmla="*/ 92 w 310"/>
                <a:gd name="T45" fmla="*/ 78 h 211"/>
                <a:gd name="T46" fmla="*/ 246 w 310"/>
                <a:gd name="T47" fmla="*/ 66 h 211"/>
                <a:gd name="T48" fmla="*/ 35 w 310"/>
                <a:gd name="T49" fmla="*/ 66 h 211"/>
                <a:gd name="T50" fmla="*/ 35 w 310"/>
                <a:gd name="T51" fmla="*/ 185 h 211"/>
                <a:gd name="T52" fmla="*/ 26 w 310"/>
                <a:gd name="T53" fmla="*/ 18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0" h="211">
                  <a:moveTo>
                    <a:pt x="26" y="185"/>
                  </a:moveTo>
                  <a:lnTo>
                    <a:pt x="26" y="57"/>
                  </a:lnTo>
                  <a:lnTo>
                    <a:pt x="26" y="45"/>
                  </a:lnTo>
                  <a:lnTo>
                    <a:pt x="26" y="12"/>
                  </a:lnTo>
                  <a:lnTo>
                    <a:pt x="296" y="12"/>
                  </a:lnTo>
                  <a:lnTo>
                    <a:pt x="255" y="45"/>
                  </a:lnTo>
                  <a:lnTo>
                    <a:pt x="253" y="57"/>
                  </a:lnTo>
                  <a:lnTo>
                    <a:pt x="253" y="185"/>
                  </a:lnTo>
                  <a:lnTo>
                    <a:pt x="262" y="185"/>
                  </a:lnTo>
                  <a:lnTo>
                    <a:pt x="262" y="52"/>
                  </a:lnTo>
                  <a:lnTo>
                    <a:pt x="300" y="21"/>
                  </a:lnTo>
                  <a:lnTo>
                    <a:pt x="300" y="55"/>
                  </a:lnTo>
                  <a:lnTo>
                    <a:pt x="310" y="55"/>
                  </a:lnTo>
                  <a:lnTo>
                    <a:pt x="310" y="0"/>
                  </a:lnTo>
                  <a:lnTo>
                    <a:pt x="12" y="0"/>
                  </a:lnTo>
                  <a:lnTo>
                    <a:pt x="12" y="185"/>
                  </a:lnTo>
                  <a:lnTo>
                    <a:pt x="0" y="185"/>
                  </a:lnTo>
                  <a:lnTo>
                    <a:pt x="0" y="211"/>
                  </a:lnTo>
                  <a:lnTo>
                    <a:pt x="12" y="202"/>
                  </a:lnTo>
                  <a:lnTo>
                    <a:pt x="12" y="195"/>
                  </a:lnTo>
                  <a:lnTo>
                    <a:pt x="35" y="195"/>
                  </a:lnTo>
                  <a:lnTo>
                    <a:pt x="47" y="78"/>
                  </a:lnTo>
                  <a:lnTo>
                    <a:pt x="92" y="78"/>
                  </a:lnTo>
                  <a:lnTo>
                    <a:pt x="246" y="66"/>
                  </a:lnTo>
                  <a:lnTo>
                    <a:pt x="35" y="66"/>
                  </a:lnTo>
                  <a:lnTo>
                    <a:pt x="35" y="185"/>
                  </a:lnTo>
                  <a:lnTo>
                    <a:pt x="26" y="185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Freeform 87">
              <a:extLst>
                <a:ext uri="{FF2B5EF4-FFF2-40B4-BE49-F238E27FC236}">
                  <a16:creationId xmlns:a16="http://schemas.microsoft.com/office/drawing/2014/main" id="{5A2FBDBE-7F86-4304-B2C0-166FCF987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856" y="2478566"/>
              <a:ext cx="74216" cy="64321"/>
            </a:xfrm>
            <a:custGeom>
              <a:avLst/>
              <a:gdLst>
                <a:gd name="T0" fmla="*/ 30 w 30"/>
                <a:gd name="T1" fmla="*/ 26 h 26"/>
                <a:gd name="T2" fmla="*/ 30 w 30"/>
                <a:gd name="T3" fmla="*/ 0 h 26"/>
                <a:gd name="T4" fmla="*/ 26 w 30"/>
                <a:gd name="T5" fmla="*/ 7 h 26"/>
                <a:gd name="T6" fmla="*/ 26 w 30"/>
                <a:gd name="T7" fmla="*/ 16 h 26"/>
                <a:gd name="T8" fmla="*/ 7 w 30"/>
                <a:gd name="T9" fmla="*/ 16 h 26"/>
                <a:gd name="T10" fmla="*/ 0 w 30"/>
                <a:gd name="T11" fmla="*/ 26 h 26"/>
                <a:gd name="T12" fmla="*/ 30 w 30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6">
                  <a:moveTo>
                    <a:pt x="30" y="26"/>
                  </a:moveTo>
                  <a:lnTo>
                    <a:pt x="30" y="0"/>
                  </a:lnTo>
                  <a:lnTo>
                    <a:pt x="26" y="7"/>
                  </a:lnTo>
                  <a:lnTo>
                    <a:pt x="26" y="16"/>
                  </a:lnTo>
                  <a:lnTo>
                    <a:pt x="7" y="16"/>
                  </a:lnTo>
                  <a:lnTo>
                    <a:pt x="0" y="26"/>
                  </a:lnTo>
                  <a:lnTo>
                    <a:pt x="30" y="26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Freeform 88">
              <a:extLst>
                <a:ext uri="{FF2B5EF4-FFF2-40B4-BE49-F238E27FC236}">
                  <a16:creationId xmlns:a16="http://schemas.microsoft.com/office/drawing/2014/main" id="{6EB07972-5489-4CC3-A9E5-1AEAD02D0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3103" y="2161911"/>
              <a:ext cx="286969" cy="470036"/>
            </a:xfrm>
            <a:custGeom>
              <a:avLst/>
              <a:gdLst>
                <a:gd name="T0" fmla="*/ 12 w 49"/>
                <a:gd name="T1" fmla="*/ 77 h 80"/>
                <a:gd name="T2" fmla="*/ 16 w 49"/>
                <a:gd name="T3" fmla="*/ 78 h 80"/>
                <a:gd name="T4" fmla="*/ 36 w 49"/>
                <a:gd name="T5" fmla="*/ 65 h 80"/>
                <a:gd name="T6" fmla="*/ 39 w 49"/>
                <a:gd name="T7" fmla="*/ 61 h 80"/>
                <a:gd name="T8" fmla="*/ 39 w 49"/>
                <a:gd name="T9" fmla="*/ 57 h 80"/>
                <a:gd name="T10" fmla="*/ 47 w 49"/>
                <a:gd name="T11" fmla="*/ 57 h 80"/>
                <a:gd name="T12" fmla="*/ 49 w 49"/>
                <a:gd name="T13" fmla="*/ 54 h 80"/>
                <a:gd name="T14" fmla="*/ 45 w 49"/>
                <a:gd name="T15" fmla="*/ 54 h 80"/>
                <a:gd name="T16" fmla="*/ 45 w 49"/>
                <a:gd name="T17" fmla="*/ 35 h 80"/>
                <a:gd name="T18" fmla="*/ 44 w 49"/>
                <a:gd name="T19" fmla="*/ 34 h 80"/>
                <a:gd name="T20" fmla="*/ 43 w 49"/>
                <a:gd name="T21" fmla="*/ 32 h 80"/>
                <a:gd name="T22" fmla="*/ 42 w 49"/>
                <a:gd name="T23" fmla="*/ 30 h 80"/>
                <a:gd name="T24" fmla="*/ 40 w 49"/>
                <a:gd name="T25" fmla="*/ 29 h 80"/>
                <a:gd name="T26" fmla="*/ 29 w 49"/>
                <a:gd name="T27" fmla="*/ 29 h 80"/>
                <a:gd name="T28" fmla="*/ 14 w 49"/>
                <a:gd name="T29" fmla="*/ 0 h 80"/>
                <a:gd name="T30" fmla="*/ 0 w 49"/>
                <a:gd name="T31" fmla="*/ 15 h 80"/>
                <a:gd name="T32" fmla="*/ 0 w 49"/>
                <a:gd name="T33" fmla="*/ 36 h 80"/>
                <a:gd name="T34" fmla="*/ 1 w 49"/>
                <a:gd name="T35" fmla="*/ 59 h 80"/>
                <a:gd name="T36" fmla="*/ 5 w 49"/>
                <a:gd name="T37" fmla="*/ 15 h 80"/>
                <a:gd name="T38" fmla="*/ 12 w 49"/>
                <a:gd name="T39" fmla="*/ 7 h 80"/>
                <a:gd name="T40" fmla="*/ 21 w 49"/>
                <a:gd name="T41" fmla="*/ 25 h 80"/>
                <a:gd name="T42" fmla="*/ 12 w 49"/>
                <a:gd name="T43" fmla="*/ 57 h 80"/>
                <a:gd name="T44" fmla="*/ 15 w 49"/>
                <a:gd name="T45" fmla="*/ 54 h 80"/>
                <a:gd name="T46" fmla="*/ 17 w 49"/>
                <a:gd name="T47" fmla="*/ 53 h 80"/>
                <a:gd name="T48" fmla="*/ 22 w 49"/>
                <a:gd name="T49" fmla="*/ 53 h 80"/>
                <a:gd name="T50" fmla="*/ 24 w 49"/>
                <a:gd name="T51" fmla="*/ 54 h 80"/>
                <a:gd name="T52" fmla="*/ 27 w 49"/>
                <a:gd name="T53" fmla="*/ 57 h 80"/>
                <a:gd name="T54" fmla="*/ 28 w 49"/>
                <a:gd name="T55" fmla="*/ 59 h 80"/>
                <a:gd name="T56" fmla="*/ 28 w 49"/>
                <a:gd name="T57" fmla="*/ 64 h 80"/>
                <a:gd name="T58" fmla="*/ 27 w 49"/>
                <a:gd name="T59" fmla="*/ 66 h 80"/>
                <a:gd name="T60" fmla="*/ 25 w 49"/>
                <a:gd name="T61" fmla="*/ 67 h 80"/>
                <a:gd name="T62" fmla="*/ 24 w 49"/>
                <a:gd name="T63" fmla="*/ 69 h 80"/>
                <a:gd name="T64" fmla="*/ 22 w 49"/>
                <a:gd name="T65" fmla="*/ 70 h 80"/>
                <a:gd name="T66" fmla="*/ 17 w 49"/>
                <a:gd name="T67" fmla="*/ 70 h 80"/>
                <a:gd name="T68" fmla="*/ 15 w 49"/>
                <a:gd name="T69" fmla="*/ 69 h 80"/>
                <a:gd name="T70" fmla="*/ 13 w 49"/>
                <a:gd name="T71" fmla="*/ 67 h 80"/>
                <a:gd name="T72" fmla="*/ 12 w 49"/>
                <a:gd name="T73" fmla="*/ 66 h 80"/>
                <a:gd name="T74" fmla="*/ 11 w 49"/>
                <a:gd name="T75" fmla="*/ 64 h 80"/>
                <a:gd name="T76" fmla="*/ 11 w 49"/>
                <a:gd name="T77" fmla="*/ 59 h 80"/>
                <a:gd name="T78" fmla="*/ 7 w 49"/>
                <a:gd name="T79" fmla="*/ 73 h 80"/>
                <a:gd name="T80" fmla="*/ 9 w 49"/>
                <a:gd name="T81" fmla="*/ 75 h 80"/>
                <a:gd name="T82" fmla="*/ 12 w 49"/>
                <a:gd name="T83" fmla="*/ 7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9" h="80">
                  <a:moveTo>
                    <a:pt x="12" y="77"/>
                  </a:moveTo>
                  <a:cubicBezTo>
                    <a:pt x="16" y="78"/>
                    <a:pt x="16" y="78"/>
                    <a:pt x="16" y="78"/>
                  </a:cubicBezTo>
                  <a:cubicBezTo>
                    <a:pt x="25" y="80"/>
                    <a:pt x="34" y="74"/>
                    <a:pt x="36" y="65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2" y="70"/>
                    <a:pt x="22" y="70"/>
                    <a:pt x="22" y="70"/>
                  </a:cubicBezTo>
                  <a:cubicBezTo>
                    <a:pt x="17" y="70"/>
                    <a:pt x="17" y="70"/>
                    <a:pt x="17" y="70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9" y="75"/>
                    <a:pt x="9" y="75"/>
                    <a:pt x="9" y="75"/>
                  </a:cubicBezTo>
                  <a:lnTo>
                    <a:pt x="12" y="77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Freeform 89">
              <a:extLst>
                <a:ext uri="{FF2B5EF4-FFF2-40B4-BE49-F238E27FC236}">
                  <a16:creationId xmlns:a16="http://schemas.microsoft.com/office/drawing/2014/main" id="{54917F7B-376A-4DEE-8183-F99185420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7911" y="2189124"/>
              <a:ext cx="257283" cy="294392"/>
            </a:xfrm>
            <a:custGeom>
              <a:avLst/>
              <a:gdLst>
                <a:gd name="T0" fmla="*/ 42 w 104"/>
                <a:gd name="T1" fmla="*/ 119 h 119"/>
                <a:gd name="T2" fmla="*/ 49 w 104"/>
                <a:gd name="T3" fmla="*/ 119 h 119"/>
                <a:gd name="T4" fmla="*/ 49 w 104"/>
                <a:gd name="T5" fmla="*/ 12 h 119"/>
                <a:gd name="T6" fmla="*/ 92 w 104"/>
                <a:gd name="T7" fmla="*/ 12 h 119"/>
                <a:gd name="T8" fmla="*/ 92 w 104"/>
                <a:gd name="T9" fmla="*/ 119 h 119"/>
                <a:gd name="T10" fmla="*/ 104 w 104"/>
                <a:gd name="T11" fmla="*/ 119 h 119"/>
                <a:gd name="T12" fmla="*/ 104 w 104"/>
                <a:gd name="T13" fmla="*/ 0 h 119"/>
                <a:gd name="T14" fmla="*/ 0 w 104"/>
                <a:gd name="T15" fmla="*/ 12 h 119"/>
                <a:gd name="T16" fmla="*/ 42 w 104"/>
                <a:gd name="T17" fmla="*/ 12 h 119"/>
                <a:gd name="T18" fmla="*/ 42 w 104"/>
                <a:gd name="T19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9">
                  <a:moveTo>
                    <a:pt x="42" y="119"/>
                  </a:moveTo>
                  <a:lnTo>
                    <a:pt x="49" y="119"/>
                  </a:lnTo>
                  <a:lnTo>
                    <a:pt x="49" y="12"/>
                  </a:lnTo>
                  <a:lnTo>
                    <a:pt x="92" y="12"/>
                  </a:lnTo>
                  <a:lnTo>
                    <a:pt x="92" y="119"/>
                  </a:lnTo>
                  <a:lnTo>
                    <a:pt x="104" y="119"/>
                  </a:lnTo>
                  <a:lnTo>
                    <a:pt x="104" y="0"/>
                  </a:lnTo>
                  <a:lnTo>
                    <a:pt x="0" y="12"/>
                  </a:lnTo>
                  <a:lnTo>
                    <a:pt x="42" y="12"/>
                  </a:lnTo>
                  <a:lnTo>
                    <a:pt x="42" y="119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9" name="Freeform 90">
              <a:extLst>
                <a:ext uri="{FF2B5EF4-FFF2-40B4-BE49-F238E27FC236}">
                  <a16:creationId xmlns:a16="http://schemas.microsoft.com/office/drawing/2014/main" id="{81AD4946-7621-4757-B042-9EE57C7B4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217" y="2161911"/>
              <a:ext cx="662998" cy="346342"/>
            </a:xfrm>
            <a:custGeom>
              <a:avLst/>
              <a:gdLst>
                <a:gd name="T0" fmla="*/ 43 w 268"/>
                <a:gd name="T1" fmla="*/ 23 h 140"/>
                <a:gd name="T2" fmla="*/ 43 w 268"/>
                <a:gd name="T3" fmla="*/ 130 h 140"/>
                <a:gd name="T4" fmla="*/ 24 w 268"/>
                <a:gd name="T5" fmla="*/ 140 h 140"/>
                <a:gd name="T6" fmla="*/ 237 w 268"/>
                <a:gd name="T7" fmla="*/ 140 h 140"/>
                <a:gd name="T8" fmla="*/ 234 w 268"/>
                <a:gd name="T9" fmla="*/ 85 h 140"/>
                <a:gd name="T10" fmla="*/ 199 w 268"/>
                <a:gd name="T11" fmla="*/ 85 h 140"/>
                <a:gd name="T12" fmla="*/ 199 w 268"/>
                <a:gd name="T13" fmla="*/ 35 h 140"/>
                <a:gd name="T14" fmla="*/ 234 w 268"/>
                <a:gd name="T15" fmla="*/ 35 h 140"/>
                <a:gd name="T16" fmla="*/ 268 w 268"/>
                <a:gd name="T17" fmla="*/ 0 h 140"/>
                <a:gd name="T18" fmla="*/ 208 w 268"/>
                <a:gd name="T19" fmla="*/ 0 h 140"/>
                <a:gd name="T20" fmla="*/ 187 w 268"/>
                <a:gd name="T21" fmla="*/ 19 h 140"/>
                <a:gd name="T22" fmla="*/ 187 w 268"/>
                <a:gd name="T23" fmla="*/ 130 h 140"/>
                <a:gd name="T24" fmla="*/ 170 w 268"/>
                <a:gd name="T25" fmla="*/ 130 h 140"/>
                <a:gd name="T26" fmla="*/ 161 w 268"/>
                <a:gd name="T27" fmla="*/ 130 h 140"/>
                <a:gd name="T28" fmla="*/ 99 w 268"/>
                <a:gd name="T29" fmla="*/ 130 h 140"/>
                <a:gd name="T30" fmla="*/ 92 w 268"/>
                <a:gd name="T31" fmla="*/ 130 h 140"/>
                <a:gd name="T32" fmla="*/ 50 w 268"/>
                <a:gd name="T33" fmla="*/ 130 h 140"/>
                <a:gd name="T34" fmla="*/ 50 w 268"/>
                <a:gd name="T35" fmla="*/ 23 h 140"/>
                <a:gd name="T36" fmla="*/ 154 w 268"/>
                <a:gd name="T37" fmla="*/ 11 h 140"/>
                <a:gd name="T38" fmla="*/ 0 w 268"/>
                <a:gd name="T39" fmla="*/ 23 h 140"/>
                <a:gd name="T40" fmla="*/ 43 w 268"/>
                <a:gd name="T41" fmla="*/ 23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8" h="140">
                  <a:moveTo>
                    <a:pt x="43" y="23"/>
                  </a:moveTo>
                  <a:lnTo>
                    <a:pt x="43" y="130"/>
                  </a:lnTo>
                  <a:lnTo>
                    <a:pt x="24" y="140"/>
                  </a:lnTo>
                  <a:lnTo>
                    <a:pt x="237" y="140"/>
                  </a:lnTo>
                  <a:lnTo>
                    <a:pt x="234" y="85"/>
                  </a:lnTo>
                  <a:lnTo>
                    <a:pt x="199" y="85"/>
                  </a:lnTo>
                  <a:lnTo>
                    <a:pt x="199" y="35"/>
                  </a:lnTo>
                  <a:lnTo>
                    <a:pt x="234" y="35"/>
                  </a:lnTo>
                  <a:lnTo>
                    <a:pt x="268" y="0"/>
                  </a:lnTo>
                  <a:lnTo>
                    <a:pt x="208" y="0"/>
                  </a:lnTo>
                  <a:lnTo>
                    <a:pt x="187" y="19"/>
                  </a:lnTo>
                  <a:lnTo>
                    <a:pt x="187" y="130"/>
                  </a:lnTo>
                  <a:lnTo>
                    <a:pt x="170" y="130"/>
                  </a:lnTo>
                  <a:lnTo>
                    <a:pt x="161" y="130"/>
                  </a:lnTo>
                  <a:lnTo>
                    <a:pt x="99" y="130"/>
                  </a:lnTo>
                  <a:lnTo>
                    <a:pt x="92" y="130"/>
                  </a:lnTo>
                  <a:lnTo>
                    <a:pt x="50" y="130"/>
                  </a:lnTo>
                  <a:lnTo>
                    <a:pt x="50" y="23"/>
                  </a:lnTo>
                  <a:lnTo>
                    <a:pt x="154" y="11"/>
                  </a:lnTo>
                  <a:lnTo>
                    <a:pt x="0" y="23"/>
                  </a:lnTo>
                  <a:lnTo>
                    <a:pt x="43" y="23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Freeform 91">
              <a:extLst>
                <a:ext uri="{FF2B5EF4-FFF2-40B4-BE49-F238E27FC236}">
                  <a16:creationId xmlns:a16="http://schemas.microsoft.com/office/drawing/2014/main" id="{8DEA0308-714A-4B08-B036-3D89D3265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0942" y="2137172"/>
              <a:ext cx="566517" cy="29686"/>
            </a:xfrm>
            <a:custGeom>
              <a:avLst/>
              <a:gdLst>
                <a:gd name="T0" fmla="*/ 0 w 229"/>
                <a:gd name="T1" fmla="*/ 0 h 12"/>
                <a:gd name="T2" fmla="*/ 0 w 229"/>
                <a:gd name="T3" fmla="*/ 12 h 12"/>
                <a:gd name="T4" fmla="*/ 227 w 229"/>
                <a:gd name="T5" fmla="*/ 12 h 12"/>
                <a:gd name="T6" fmla="*/ 229 w 229"/>
                <a:gd name="T7" fmla="*/ 0 h 12"/>
                <a:gd name="T8" fmla="*/ 0 w 229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" h="12">
                  <a:moveTo>
                    <a:pt x="0" y="0"/>
                  </a:moveTo>
                  <a:lnTo>
                    <a:pt x="0" y="12"/>
                  </a:lnTo>
                  <a:lnTo>
                    <a:pt x="227" y="12"/>
                  </a:lnTo>
                  <a:lnTo>
                    <a:pt x="22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Freeform 92">
              <a:extLst>
                <a:ext uri="{FF2B5EF4-FFF2-40B4-BE49-F238E27FC236}">
                  <a16:creationId xmlns:a16="http://schemas.microsoft.com/office/drawing/2014/main" id="{DE85E236-A23B-43BC-A864-99A05BF97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7631" y="2424141"/>
              <a:ext cx="22266" cy="71743"/>
            </a:xfrm>
            <a:custGeom>
              <a:avLst/>
              <a:gdLst>
                <a:gd name="T0" fmla="*/ 0 w 9"/>
                <a:gd name="T1" fmla="*/ 3 h 29"/>
                <a:gd name="T2" fmla="*/ 0 w 9"/>
                <a:gd name="T3" fmla="*/ 29 h 29"/>
                <a:gd name="T4" fmla="*/ 4 w 9"/>
                <a:gd name="T5" fmla="*/ 24 h 29"/>
                <a:gd name="T6" fmla="*/ 9 w 9"/>
                <a:gd name="T7" fmla="*/ 0 h 29"/>
                <a:gd name="T8" fmla="*/ 0 w 9"/>
                <a:gd name="T9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29">
                  <a:moveTo>
                    <a:pt x="0" y="3"/>
                  </a:moveTo>
                  <a:lnTo>
                    <a:pt x="0" y="29"/>
                  </a:lnTo>
                  <a:lnTo>
                    <a:pt x="4" y="24"/>
                  </a:lnTo>
                  <a:lnTo>
                    <a:pt x="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2" name="Freeform 93">
              <a:extLst>
                <a:ext uri="{FF2B5EF4-FFF2-40B4-BE49-F238E27FC236}">
                  <a16:creationId xmlns:a16="http://schemas.microsoft.com/office/drawing/2014/main" id="{2BF9648F-B2B1-4B59-9C96-5CFD8FB15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6621" y="2218811"/>
              <a:ext cx="930176" cy="423033"/>
            </a:xfrm>
            <a:custGeom>
              <a:avLst/>
              <a:gdLst>
                <a:gd name="T0" fmla="*/ 24 w 159"/>
                <a:gd name="T1" fmla="*/ 49 h 72"/>
                <a:gd name="T2" fmla="*/ 24 w 159"/>
                <a:gd name="T3" fmla="*/ 47 h 72"/>
                <a:gd name="T4" fmla="*/ 24 w 159"/>
                <a:gd name="T5" fmla="*/ 36 h 72"/>
                <a:gd name="T6" fmla="*/ 21 w 159"/>
                <a:gd name="T7" fmla="*/ 38 h 72"/>
                <a:gd name="T8" fmla="*/ 20 w 159"/>
                <a:gd name="T9" fmla="*/ 39 h 72"/>
                <a:gd name="T10" fmla="*/ 20 w 159"/>
                <a:gd name="T11" fmla="*/ 0 h 72"/>
                <a:gd name="T12" fmla="*/ 15 w 159"/>
                <a:gd name="T13" fmla="*/ 49 h 72"/>
                <a:gd name="T14" fmla="*/ 15 w 159"/>
                <a:gd name="T15" fmla="*/ 52 h 72"/>
                <a:gd name="T16" fmla="*/ 5 w 159"/>
                <a:gd name="T17" fmla="*/ 52 h 72"/>
                <a:gd name="T18" fmla="*/ 0 w 159"/>
                <a:gd name="T19" fmla="*/ 56 h 72"/>
                <a:gd name="T20" fmla="*/ 16 w 159"/>
                <a:gd name="T21" fmla="*/ 56 h 72"/>
                <a:gd name="T22" fmla="*/ 17 w 159"/>
                <a:gd name="T23" fmla="*/ 60 h 72"/>
                <a:gd name="T24" fmla="*/ 47 w 159"/>
                <a:gd name="T25" fmla="*/ 59 h 72"/>
                <a:gd name="T26" fmla="*/ 48 w 159"/>
                <a:gd name="T27" fmla="*/ 56 h 72"/>
                <a:gd name="T28" fmla="*/ 141 w 159"/>
                <a:gd name="T29" fmla="*/ 56 h 72"/>
                <a:gd name="T30" fmla="*/ 142 w 159"/>
                <a:gd name="T31" fmla="*/ 60 h 72"/>
                <a:gd name="T32" fmla="*/ 145 w 159"/>
                <a:gd name="T33" fmla="*/ 63 h 72"/>
                <a:gd name="T34" fmla="*/ 149 w 159"/>
                <a:gd name="T35" fmla="*/ 49 h 72"/>
                <a:gd name="T36" fmla="*/ 150 w 159"/>
                <a:gd name="T37" fmla="*/ 47 h 72"/>
                <a:gd name="T38" fmla="*/ 159 w 159"/>
                <a:gd name="T39" fmla="*/ 15 h 72"/>
                <a:gd name="T40" fmla="*/ 143 w 159"/>
                <a:gd name="T41" fmla="*/ 25 h 72"/>
                <a:gd name="T42" fmla="*/ 143 w 159"/>
                <a:gd name="T43" fmla="*/ 5 h 72"/>
                <a:gd name="T44" fmla="*/ 139 w 159"/>
                <a:gd name="T45" fmla="*/ 49 h 72"/>
                <a:gd name="T46" fmla="*/ 139 w 159"/>
                <a:gd name="T47" fmla="*/ 52 h 72"/>
                <a:gd name="T48" fmla="*/ 49 w 159"/>
                <a:gd name="T49" fmla="*/ 52 h 72"/>
                <a:gd name="T50" fmla="*/ 49 w 159"/>
                <a:gd name="T51" fmla="*/ 49 h 72"/>
                <a:gd name="T52" fmla="*/ 57 w 159"/>
                <a:gd name="T53" fmla="*/ 45 h 72"/>
                <a:gd name="T54" fmla="*/ 47 w 159"/>
                <a:gd name="T55" fmla="*/ 45 h 72"/>
                <a:gd name="T56" fmla="*/ 46 w 159"/>
                <a:gd name="T57" fmla="*/ 42 h 72"/>
                <a:gd name="T58" fmla="*/ 43 w 159"/>
                <a:gd name="T59" fmla="*/ 39 h 72"/>
                <a:gd name="T60" fmla="*/ 40 w 159"/>
                <a:gd name="T61" fmla="*/ 37 h 72"/>
                <a:gd name="T62" fmla="*/ 39 w 159"/>
                <a:gd name="T63" fmla="*/ 36 h 72"/>
                <a:gd name="T64" fmla="*/ 39 w 159"/>
                <a:gd name="T65" fmla="*/ 0 h 72"/>
                <a:gd name="T66" fmla="*/ 36 w 159"/>
                <a:gd name="T67" fmla="*/ 0 h 72"/>
                <a:gd name="T68" fmla="*/ 36 w 159"/>
                <a:gd name="T69" fmla="*/ 35 h 72"/>
                <a:gd name="T70" fmla="*/ 35 w 159"/>
                <a:gd name="T71" fmla="*/ 34 h 72"/>
                <a:gd name="T72" fmla="*/ 32 w 159"/>
                <a:gd name="T73" fmla="*/ 34 h 72"/>
                <a:gd name="T74" fmla="*/ 28 w 159"/>
                <a:gd name="T75" fmla="*/ 35 h 72"/>
                <a:gd name="T76" fmla="*/ 26 w 159"/>
                <a:gd name="T77" fmla="*/ 45 h 72"/>
                <a:gd name="T78" fmla="*/ 28 w 159"/>
                <a:gd name="T79" fmla="*/ 44 h 72"/>
                <a:gd name="T80" fmla="*/ 30 w 159"/>
                <a:gd name="T81" fmla="*/ 43 h 72"/>
                <a:gd name="T82" fmla="*/ 34 w 159"/>
                <a:gd name="T83" fmla="*/ 43 h 72"/>
                <a:gd name="T84" fmla="*/ 36 w 159"/>
                <a:gd name="T85" fmla="*/ 44 h 72"/>
                <a:gd name="T86" fmla="*/ 38 w 159"/>
                <a:gd name="T87" fmla="*/ 45 h 72"/>
                <a:gd name="T88" fmla="*/ 40 w 159"/>
                <a:gd name="T89" fmla="*/ 47 h 72"/>
                <a:gd name="T90" fmla="*/ 41 w 159"/>
                <a:gd name="T91" fmla="*/ 49 h 72"/>
                <a:gd name="T92" fmla="*/ 41 w 159"/>
                <a:gd name="T93" fmla="*/ 54 h 72"/>
                <a:gd name="T94" fmla="*/ 40 w 159"/>
                <a:gd name="T95" fmla="*/ 56 h 72"/>
                <a:gd name="T96" fmla="*/ 38 w 159"/>
                <a:gd name="T97" fmla="*/ 57 h 72"/>
                <a:gd name="T98" fmla="*/ 36 w 159"/>
                <a:gd name="T99" fmla="*/ 59 h 72"/>
                <a:gd name="T100" fmla="*/ 34 w 159"/>
                <a:gd name="T101" fmla="*/ 60 h 72"/>
                <a:gd name="T102" fmla="*/ 30 w 159"/>
                <a:gd name="T103" fmla="*/ 60 h 72"/>
                <a:gd name="T104" fmla="*/ 28 w 159"/>
                <a:gd name="T105" fmla="*/ 59 h 72"/>
                <a:gd name="T106" fmla="*/ 26 w 159"/>
                <a:gd name="T107" fmla="*/ 57 h 72"/>
                <a:gd name="T108" fmla="*/ 24 w 159"/>
                <a:gd name="T109" fmla="*/ 56 h 72"/>
                <a:gd name="T110" fmla="*/ 24 w 159"/>
                <a:gd name="T111" fmla="*/ 54 h 72"/>
                <a:gd name="T112" fmla="*/ 24 w 159"/>
                <a:gd name="T113" fmla="*/ 49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9" h="72">
                  <a:moveTo>
                    <a:pt x="24" y="49"/>
                  </a:move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4" y="72"/>
                    <a:pt x="42" y="71"/>
                    <a:pt x="47" y="59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141" y="56"/>
                    <a:pt x="141" y="56"/>
                    <a:pt x="141" y="56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5" y="63"/>
                    <a:pt x="145" y="63"/>
                    <a:pt x="145" y="63"/>
                  </a:cubicBezTo>
                  <a:cubicBezTo>
                    <a:pt x="149" y="49"/>
                    <a:pt x="149" y="49"/>
                    <a:pt x="149" y="49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9" y="15"/>
                    <a:pt x="159" y="15"/>
                    <a:pt x="159" y="15"/>
                  </a:cubicBezTo>
                  <a:cubicBezTo>
                    <a:pt x="143" y="25"/>
                    <a:pt x="143" y="25"/>
                    <a:pt x="143" y="25"/>
                  </a:cubicBezTo>
                  <a:cubicBezTo>
                    <a:pt x="143" y="5"/>
                    <a:pt x="143" y="5"/>
                    <a:pt x="143" y="5"/>
                  </a:cubicBezTo>
                  <a:cubicBezTo>
                    <a:pt x="139" y="49"/>
                    <a:pt x="139" y="49"/>
                    <a:pt x="139" y="49"/>
                  </a:cubicBezTo>
                  <a:cubicBezTo>
                    <a:pt x="139" y="52"/>
                    <a:pt x="139" y="52"/>
                    <a:pt x="139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4" y="60"/>
                    <a:pt x="34" y="60"/>
                    <a:pt x="34" y="60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4"/>
                    <a:pt x="24" y="54"/>
                    <a:pt x="24" y="54"/>
                  </a:cubicBezTo>
                  <a:lnTo>
                    <a:pt x="24" y="49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Freeform 94">
              <a:extLst>
                <a:ext uri="{FF2B5EF4-FFF2-40B4-BE49-F238E27FC236}">
                  <a16:creationId xmlns:a16="http://schemas.microsoft.com/office/drawing/2014/main" id="{C7DE457B-FDBA-438C-A823-ED72688AA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2163" y="2495884"/>
              <a:ext cx="51952" cy="51952"/>
            </a:xfrm>
            <a:custGeom>
              <a:avLst/>
              <a:gdLst>
                <a:gd name="T0" fmla="*/ 21 w 21"/>
                <a:gd name="T1" fmla="*/ 9 h 21"/>
                <a:gd name="T2" fmla="*/ 21 w 21"/>
                <a:gd name="T3" fmla="*/ 7 h 21"/>
                <a:gd name="T4" fmla="*/ 19 w 21"/>
                <a:gd name="T5" fmla="*/ 5 h 21"/>
                <a:gd name="T6" fmla="*/ 16 w 21"/>
                <a:gd name="T7" fmla="*/ 2 h 21"/>
                <a:gd name="T8" fmla="*/ 16 w 21"/>
                <a:gd name="T9" fmla="*/ 0 h 21"/>
                <a:gd name="T10" fmla="*/ 12 w 21"/>
                <a:gd name="T11" fmla="*/ 0 h 21"/>
                <a:gd name="T12" fmla="*/ 7 w 21"/>
                <a:gd name="T13" fmla="*/ 0 h 21"/>
                <a:gd name="T14" fmla="*/ 5 w 21"/>
                <a:gd name="T15" fmla="*/ 0 h 21"/>
                <a:gd name="T16" fmla="*/ 2 w 21"/>
                <a:gd name="T17" fmla="*/ 5 h 21"/>
                <a:gd name="T18" fmla="*/ 0 w 21"/>
                <a:gd name="T19" fmla="*/ 7 h 21"/>
                <a:gd name="T20" fmla="*/ 0 w 21"/>
                <a:gd name="T21" fmla="*/ 12 h 21"/>
                <a:gd name="T22" fmla="*/ 2 w 21"/>
                <a:gd name="T23" fmla="*/ 14 h 21"/>
                <a:gd name="T24" fmla="*/ 2 w 21"/>
                <a:gd name="T25" fmla="*/ 17 h 21"/>
                <a:gd name="T26" fmla="*/ 5 w 21"/>
                <a:gd name="T27" fmla="*/ 19 h 21"/>
                <a:gd name="T28" fmla="*/ 7 w 21"/>
                <a:gd name="T29" fmla="*/ 21 h 21"/>
                <a:gd name="T30" fmla="*/ 12 w 21"/>
                <a:gd name="T31" fmla="*/ 21 h 21"/>
                <a:gd name="T32" fmla="*/ 16 w 21"/>
                <a:gd name="T33" fmla="*/ 19 h 21"/>
                <a:gd name="T34" fmla="*/ 19 w 21"/>
                <a:gd name="T35" fmla="*/ 14 h 21"/>
                <a:gd name="T36" fmla="*/ 21 w 21"/>
                <a:gd name="T37" fmla="*/ 12 h 21"/>
                <a:gd name="T38" fmla="*/ 21 w 21"/>
                <a:gd name="T39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" h="21">
                  <a:moveTo>
                    <a:pt x="21" y="9"/>
                  </a:moveTo>
                  <a:lnTo>
                    <a:pt x="21" y="7"/>
                  </a:lnTo>
                  <a:lnTo>
                    <a:pt x="19" y="5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5" y="19"/>
                  </a:lnTo>
                  <a:lnTo>
                    <a:pt x="7" y="21"/>
                  </a:lnTo>
                  <a:lnTo>
                    <a:pt x="12" y="21"/>
                  </a:lnTo>
                  <a:lnTo>
                    <a:pt x="16" y="19"/>
                  </a:lnTo>
                  <a:lnTo>
                    <a:pt x="19" y="14"/>
                  </a:lnTo>
                  <a:lnTo>
                    <a:pt x="21" y="12"/>
                  </a:lnTo>
                  <a:lnTo>
                    <a:pt x="21" y="9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Freeform 95">
              <a:extLst>
                <a:ext uri="{FF2B5EF4-FFF2-40B4-BE49-F238E27FC236}">
                  <a16:creationId xmlns:a16="http://schemas.microsoft.com/office/drawing/2014/main" id="{A034A762-D69A-4B5E-A485-CCF522863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897" y="2495884"/>
              <a:ext cx="47004" cy="51952"/>
            </a:xfrm>
            <a:custGeom>
              <a:avLst/>
              <a:gdLst>
                <a:gd name="T0" fmla="*/ 19 w 19"/>
                <a:gd name="T1" fmla="*/ 9 h 21"/>
                <a:gd name="T2" fmla="*/ 19 w 19"/>
                <a:gd name="T3" fmla="*/ 7 h 21"/>
                <a:gd name="T4" fmla="*/ 19 w 19"/>
                <a:gd name="T5" fmla="*/ 5 h 21"/>
                <a:gd name="T6" fmla="*/ 17 w 19"/>
                <a:gd name="T7" fmla="*/ 2 h 21"/>
                <a:gd name="T8" fmla="*/ 14 w 19"/>
                <a:gd name="T9" fmla="*/ 0 h 21"/>
                <a:gd name="T10" fmla="*/ 12 w 19"/>
                <a:gd name="T11" fmla="*/ 0 h 21"/>
                <a:gd name="T12" fmla="*/ 7 w 19"/>
                <a:gd name="T13" fmla="*/ 0 h 21"/>
                <a:gd name="T14" fmla="*/ 5 w 19"/>
                <a:gd name="T15" fmla="*/ 0 h 21"/>
                <a:gd name="T16" fmla="*/ 2 w 19"/>
                <a:gd name="T17" fmla="*/ 2 h 21"/>
                <a:gd name="T18" fmla="*/ 0 w 19"/>
                <a:gd name="T19" fmla="*/ 5 h 21"/>
                <a:gd name="T20" fmla="*/ 0 w 19"/>
                <a:gd name="T21" fmla="*/ 7 h 21"/>
                <a:gd name="T22" fmla="*/ 0 w 19"/>
                <a:gd name="T23" fmla="*/ 12 h 21"/>
                <a:gd name="T24" fmla="*/ 0 w 19"/>
                <a:gd name="T25" fmla="*/ 14 h 21"/>
                <a:gd name="T26" fmla="*/ 2 w 19"/>
                <a:gd name="T27" fmla="*/ 17 h 21"/>
                <a:gd name="T28" fmla="*/ 5 w 19"/>
                <a:gd name="T29" fmla="*/ 19 h 21"/>
                <a:gd name="T30" fmla="*/ 7 w 19"/>
                <a:gd name="T31" fmla="*/ 21 h 21"/>
                <a:gd name="T32" fmla="*/ 12 w 19"/>
                <a:gd name="T33" fmla="*/ 21 h 21"/>
                <a:gd name="T34" fmla="*/ 14 w 19"/>
                <a:gd name="T35" fmla="*/ 19 h 21"/>
                <a:gd name="T36" fmla="*/ 19 w 19"/>
                <a:gd name="T37" fmla="*/ 14 h 21"/>
                <a:gd name="T38" fmla="*/ 19 w 19"/>
                <a:gd name="T39" fmla="*/ 12 h 21"/>
                <a:gd name="T40" fmla="*/ 19 w 19"/>
                <a:gd name="T41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21">
                  <a:moveTo>
                    <a:pt x="19" y="9"/>
                  </a:moveTo>
                  <a:lnTo>
                    <a:pt x="19" y="7"/>
                  </a:lnTo>
                  <a:lnTo>
                    <a:pt x="19" y="5"/>
                  </a:lnTo>
                  <a:lnTo>
                    <a:pt x="17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5" y="19"/>
                  </a:lnTo>
                  <a:lnTo>
                    <a:pt x="7" y="21"/>
                  </a:lnTo>
                  <a:lnTo>
                    <a:pt x="12" y="21"/>
                  </a:lnTo>
                  <a:lnTo>
                    <a:pt x="14" y="19"/>
                  </a:lnTo>
                  <a:lnTo>
                    <a:pt x="19" y="14"/>
                  </a:lnTo>
                  <a:lnTo>
                    <a:pt x="19" y="12"/>
                  </a:lnTo>
                  <a:lnTo>
                    <a:pt x="19" y="9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4989B81-1839-436C-84FB-1C2DD638FEC8}"/>
                </a:ext>
              </a:extLst>
            </p:cNvPr>
            <p:cNvSpPr txBox="1"/>
            <p:nvPr/>
          </p:nvSpPr>
          <p:spPr>
            <a:xfrm>
              <a:off x="6440792" y="2766447"/>
              <a:ext cx="162853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Refrigerated / Insulated Van  (+2° to 8°C &amp;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-15° to -25°C)</a:t>
              </a:r>
            </a:p>
          </p:txBody>
        </p:sp>
      </p:grpSp>
      <p:grpSp>
        <p:nvGrpSpPr>
          <p:cNvPr id="38" name="Group 55">
            <a:extLst>
              <a:ext uri="{FF2B5EF4-FFF2-40B4-BE49-F238E27FC236}">
                <a16:creationId xmlns:a16="http://schemas.microsoft.com/office/drawing/2014/main" id="{21AF7848-6BFD-41E5-9398-E1668210532B}"/>
              </a:ext>
            </a:extLst>
          </p:cNvPr>
          <p:cNvGrpSpPr/>
          <p:nvPr/>
        </p:nvGrpSpPr>
        <p:grpSpPr>
          <a:xfrm>
            <a:off x="7662104" y="1699707"/>
            <a:ext cx="2106705" cy="1705985"/>
            <a:chOff x="8052721" y="1983792"/>
            <a:chExt cx="2106705" cy="1705985"/>
          </a:xfrm>
        </p:grpSpPr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56DC40FB-A03B-445D-A466-53B09CB3F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2686" y="2213863"/>
              <a:ext cx="111325" cy="217701"/>
            </a:xfrm>
            <a:custGeom>
              <a:avLst/>
              <a:gdLst>
                <a:gd name="T0" fmla="*/ 0 w 45"/>
                <a:gd name="T1" fmla="*/ 0 h 88"/>
                <a:gd name="T2" fmla="*/ 0 w 45"/>
                <a:gd name="T3" fmla="*/ 28 h 88"/>
                <a:gd name="T4" fmla="*/ 14 w 45"/>
                <a:gd name="T5" fmla="*/ 28 h 88"/>
                <a:gd name="T6" fmla="*/ 14 w 45"/>
                <a:gd name="T7" fmla="*/ 59 h 88"/>
                <a:gd name="T8" fmla="*/ 0 w 45"/>
                <a:gd name="T9" fmla="*/ 59 h 88"/>
                <a:gd name="T10" fmla="*/ 0 w 45"/>
                <a:gd name="T11" fmla="*/ 88 h 88"/>
                <a:gd name="T12" fmla="*/ 45 w 45"/>
                <a:gd name="T13" fmla="*/ 43 h 88"/>
                <a:gd name="T14" fmla="*/ 0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0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59"/>
                  </a:lnTo>
                  <a:lnTo>
                    <a:pt x="0" y="59"/>
                  </a:lnTo>
                  <a:lnTo>
                    <a:pt x="0" y="88"/>
                  </a:lnTo>
                  <a:lnTo>
                    <a:pt x="45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B630B6AF-79AB-4A36-88FD-2742EBCCD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2686" y="2213863"/>
              <a:ext cx="111325" cy="217701"/>
            </a:xfrm>
            <a:custGeom>
              <a:avLst/>
              <a:gdLst>
                <a:gd name="T0" fmla="*/ 0 w 45"/>
                <a:gd name="T1" fmla="*/ 0 h 88"/>
                <a:gd name="T2" fmla="*/ 0 w 45"/>
                <a:gd name="T3" fmla="*/ 28 h 88"/>
                <a:gd name="T4" fmla="*/ 14 w 45"/>
                <a:gd name="T5" fmla="*/ 28 h 88"/>
                <a:gd name="T6" fmla="*/ 14 w 45"/>
                <a:gd name="T7" fmla="*/ 59 h 88"/>
                <a:gd name="T8" fmla="*/ 0 w 45"/>
                <a:gd name="T9" fmla="*/ 59 h 88"/>
                <a:gd name="T10" fmla="*/ 0 w 45"/>
                <a:gd name="T11" fmla="*/ 88 h 88"/>
                <a:gd name="T12" fmla="*/ 45 w 45"/>
                <a:gd name="T13" fmla="*/ 43 h 88"/>
                <a:gd name="T14" fmla="*/ 0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0" y="0"/>
                  </a:moveTo>
                  <a:lnTo>
                    <a:pt x="0" y="28"/>
                  </a:lnTo>
                  <a:lnTo>
                    <a:pt x="14" y="28"/>
                  </a:lnTo>
                  <a:lnTo>
                    <a:pt x="14" y="59"/>
                  </a:lnTo>
                  <a:lnTo>
                    <a:pt x="0" y="59"/>
                  </a:lnTo>
                  <a:lnTo>
                    <a:pt x="0" y="88"/>
                  </a:lnTo>
                  <a:lnTo>
                    <a:pt x="45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Rectangle 27">
              <a:extLst>
                <a:ext uri="{FF2B5EF4-FFF2-40B4-BE49-F238E27FC236}">
                  <a16:creationId xmlns:a16="http://schemas.microsoft.com/office/drawing/2014/main" id="{1A42D1ED-ABB8-4FF4-845A-A267E0973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2721" y="2283131"/>
              <a:ext cx="239966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Rectangle 28">
              <a:extLst>
                <a:ext uri="{FF2B5EF4-FFF2-40B4-BE49-F238E27FC236}">
                  <a16:creationId xmlns:a16="http://schemas.microsoft.com/office/drawing/2014/main" id="{2A8A4085-89E8-47F3-AD6B-8A31DEB83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2721" y="2283131"/>
              <a:ext cx="239966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Rectangle 29">
              <a:extLst>
                <a:ext uri="{FF2B5EF4-FFF2-40B4-BE49-F238E27FC236}">
                  <a16:creationId xmlns:a16="http://schemas.microsoft.com/office/drawing/2014/main" id="{34C4C9B6-5E0B-4E7B-8C8D-78A2DEACF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86" y="2283131"/>
              <a:ext cx="3463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Rectangle 30">
              <a:extLst>
                <a:ext uri="{FF2B5EF4-FFF2-40B4-BE49-F238E27FC236}">
                  <a16:creationId xmlns:a16="http://schemas.microsoft.com/office/drawing/2014/main" id="{89C0E689-A163-47C9-AE7C-4E9E43FBA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86" y="2283131"/>
              <a:ext cx="3463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Freeform 96">
              <a:extLst>
                <a:ext uri="{FF2B5EF4-FFF2-40B4-BE49-F238E27FC236}">
                  <a16:creationId xmlns:a16="http://schemas.microsoft.com/office/drawing/2014/main" id="{D02741D3-68C7-4DF6-B8DF-3296FFF66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1711" y="2278183"/>
              <a:ext cx="356238" cy="111325"/>
            </a:xfrm>
            <a:custGeom>
              <a:avLst/>
              <a:gdLst>
                <a:gd name="T0" fmla="*/ 144 w 144"/>
                <a:gd name="T1" fmla="*/ 0 h 45"/>
                <a:gd name="T2" fmla="*/ 33 w 144"/>
                <a:gd name="T3" fmla="*/ 0 h 45"/>
                <a:gd name="T4" fmla="*/ 0 w 144"/>
                <a:gd name="T5" fmla="*/ 45 h 45"/>
                <a:gd name="T6" fmla="*/ 144 w 144"/>
                <a:gd name="T7" fmla="*/ 45 h 45"/>
                <a:gd name="T8" fmla="*/ 144 w 144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45">
                  <a:moveTo>
                    <a:pt x="144" y="0"/>
                  </a:moveTo>
                  <a:lnTo>
                    <a:pt x="33" y="0"/>
                  </a:lnTo>
                  <a:lnTo>
                    <a:pt x="0" y="45"/>
                  </a:lnTo>
                  <a:lnTo>
                    <a:pt x="144" y="45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4" name="Freeform 97">
              <a:extLst>
                <a:ext uri="{FF2B5EF4-FFF2-40B4-BE49-F238E27FC236}">
                  <a16:creationId xmlns:a16="http://schemas.microsoft.com/office/drawing/2014/main" id="{64A56DF6-57ED-421D-A537-958898421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6346" y="2389507"/>
              <a:ext cx="274601" cy="76691"/>
            </a:xfrm>
            <a:custGeom>
              <a:avLst/>
              <a:gdLst>
                <a:gd name="T0" fmla="*/ 111 w 111"/>
                <a:gd name="T1" fmla="*/ 0 h 31"/>
                <a:gd name="T2" fmla="*/ 0 w 111"/>
                <a:gd name="T3" fmla="*/ 0 h 31"/>
                <a:gd name="T4" fmla="*/ 19 w 111"/>
                <a:gd name="T5" fmla="*/ 31 h 31"/>
                <a:gd name="T6" fmla="*/ 33 w 111"/>
                <a:gd name="T7" fmla="*/ 31 h 31"/>
                <a:gd name="T8" fmla="*/ 111 w 111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31">
                  <a:moveTo>
                    <a:pt x="111" y="0"/>
                  </a:moveTo>
                  <a:lnTo>
                    <a:pt x="0" y="0"/>
                  </a:lnTo>
                  <a:lnTo>
                    <a:pt x="19" y="31"/>
                  </a:lnTo>
                  <a:lnTo>
                    <a:pt x="33" y="31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Freeform 98">
              <a:extLst>
                <a:ext uri="{FF2B5EF4-FFF2-40B4-BE49-F238E27FC236}">
                  <a16:creationId xmlns:a16="http://schemas.microsoft.com/office/drawing/2014/main" id="{848C3DD3-8DDC-43D8-9448-A93AD6561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6346" y="2389507"/>
              <a:ext cx="274601" cy="242439"/>
            </a:xfrm>
            <a:custGeom>
              <a:avLst/>
              <a:gdLst>
                <a:gd name="T0" fmla="*/ 0 w 111"/>
                <a:gd name="T1" fmla="*/ 0 h 98"/>
                <a:gd name="T2" fmla="*/ 0 w 111"/>
                <a:gd name="T3" fmla="*/ 98 h 98"/>
                <a:gd name="T4" fmla="*/ 19 w 111"/>
                <a:gd name="T5" fmla="*/ 67 h 98"/>
                <a:gd name="T6" fmla="*/ 19 w 111"/>
                <a:gd name="T7" fmla="*/ 50 h 98"/>
                <a:gd name="T8" fmla="*/ 33 w 111"/>
                <a:gd name="T9" fmla="*/ 50 h 98"/>
                <a:gd name="T10" fmla="*/ 33 w 111"/>
                <a:gd name="T11" fmla="*/ 67 h 98"/>
                <a:gd name="T12" fmla="*/ 38 w 111"/>
                <a:gd name="T13" fmla="*/ 67 h 98"/>
                <a:gd name="T14" fmla="*/ 38 w 111"/>
                <a:gd name="T15" fmla="*/ 31 h 98"/>
                <a:gd name="T16" fmla="*/ 52 w 111"/>
                <a:gd name="T17" fmla="*/ 31 h 98"/>
                <a:gd name="T18" fmla="*/ 57 w 111"/>
                <a:gd name="T19" fmla="*/ 67 h 98"/>
                <a:gd name="T20" fmla="*/ 57 w 111"/>
                <a:gd name="T21" fmla="*/ 31 h 98"/>
                <a:gd name="T22" fmla="*/ 111 w 111"/>
                <a:gd name="T23" fmla="*/ 0 h 98"/>
                <a:gd name="T24" fmla="*/ 33 w 111"/>
                <a:gd name="T25" fmla="*/ 31 h 98"/>
                <a:gd name="T26" fmla="*/ 33 w 111"/>
                <a:gd name="T27" fmla="*/ 48 h 98"/>
                <a:gd name="T28" fmla="*/ 19 w 111"/>
                <a:gd name="T29" fmla="*/ 48 h 98"/>
                <a:gd name="T30" fmla="*/ 19 w 111"/>
                <a:gd name="T31" fmla="*/ 31 h 98"/>
                <a:gd name="T32" fmla="*/ 0 w 111"/>
                <a:gd name="T33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1" h="98">
                  <a:moveTo>
                    <a:pt x="0" y="0"/>
                  </a:moveTo>
                  <a:lnTo>
                    <a:pt x="0" y="98"/>
                  </a:lnTo>
                  <a:lnTo>
                    <a:pt x="19" y="67"/>
                  </a:lnTo>
                  <a:lnTo>
                    <a:pt x="19" y="50"/>
                  </a:lnTo>
                  <a:lnTo>
                    <a:pt x="33" y="50"/>
                  </a:lnTo>
                  <a:lnTo>
                    <a:pt x="33" y="67"/>
                  </a:lnTo>
                  <a:lnTo>
                    <a:pt x="38" y="67"/>
                  </a:lnTo>
                  <a:lnTo>
                    <a:pt x="38" y="31"/>
                  </a:lnTo>
                  <a:lnTo>
                    <a:pt x="52" y="31"/>
                  </a:lnTo>
                  <a:lnTo>
                    <a:pt x="57" y="67"/>
                  </a:lnTo>
                  <a:lnTo>
                    <a:pt x="57" y="31"/>
                  </a:lnTo>
                  <a:lnTo>
                    <a:pt x="111" y="0"/>
                  </a:lnTo>
                  <a:lnTo>
                    <a:pt x="33" y="31"/>
                  </a:lnTo>
                  <a:lnTo>
                    <a:pt x="33" y="48"/>
                  </a:lnTo>
                  <a:lnTo>
                    <a:pt x="19" y="48"/>
                  </a:lnTo>
                  <a:lnTo>
                    <a:pt x="19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Freeform 99">
              <a:extLst>
                <a:ext uri="{FF2B5EF4-FFF2-40B4-BE49-F238E27FC236}">
                  <a16:creationId xmlns:a16="http://schemas.microsoft.com/office/drawing/2014/main" id="{43865B12-C3DA-435D-A644-D40A3E89A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6346" y="2389507"/>
              <a:ext cx="274601" cy="242439"/>
            </a:xfrm>
            <a:custGeom>
              <a:avLst/>
              <a:gdLst>
                <a:gd name="T0" fmla="*/ 38 w 111"/>
                <a:gd name="T1" fmla="*/ 31 h 98"/>
                <a:gd name="T2" fmla="*/ 38 w 111"/>
                <a:gd name="T3" fmla="*/ 50 h 98"/>
                <a:gd name="T4" fmla="*/ 52 w 111"/>
                <a:gd name="T5" fmla="*/ 50 h 98"/>
                <a:gd name="T6" fmla="*/ 52 w 111"/>
                <a:gd name="T7" fmla="*/ 67 h 98"/>
                <a:gd name="T8" fmla="*/ 19 w 111"/>
                <a:gd name="T9" fmla="*/ 67 h 98"/>
                <a:gd name="T10" fmla="*/ 0 w 111"/>
                <a:gd name="T11" fmla="*/ 98 h 98"/>
                <a:gd name="T12" fmla="*/ 111 w 111"/>
                <a:gd name="T13" fmla="*/ 98 h 98"/>
                <a:gd name="T14" fmla="*/ 111 w 111"/>
                <a:gd name="T15" fmla="*/ 0 h 98"/>
                <a:gd name="T16" fmla="*/ 57 w 111"/>
                <a:gd name="T17" fmla="*/ 31 h 98"/>
                <a:gd name="T18" fmla="*/ 73 w 111"/>
                <a:gd name="T19" fmla="*/ 31 h 98"/>
                <a:gd name="T20" fmla="*/ 73 w 111"/>
                <a:gd name="T21" fmla="*/ 48 h 98"/>
                <a:gd name="T22" fmla="*/ 57 w 111"/>
                <a:gd name="T23" fmla="*/ 48 h 98"/>
                <a:gd name="T24" fmla="*/ 57 w 111"/>
                <a:gd name="T25" fmla="*/ 31 h 98"/>
                <a:gd name="T26" fmla="*/ 57 w 111"/>
                <a:gd name="T27" fmla="*/ 50 h 98"/>
                <a:gd name="T28" fmla="*/ 73 w 111"/>
                <a:gd name="T29" fmla="*/ 50 h 98"/>
                <a:gd name="T30" fmla="*/ 73 w 111"/>
                <a:gd name="T31" fmla="*/ 67 h 98"/>
                <a:gd name="T32" fmla="*/ 57 w 111"/>
                <a:gd name="T33" fmla="*/ 67 h 98"/>
                <a:gd name="T34" fmla="*/ 52 w 111"/>
                <a:gd name="T35" fmla="*/ 31 h 98"/>
                <a:gd name="T36" fmla="*/ 52 w 111"/>
                <a:gd name="T37" fmla="*/ 48 h 98"/>
                <a:gd name="T38" fmla="*/ 38 w 111"/>
                <a:gd name="T39" fmla="*/ 48 h 98"/>
                <a:gd name="T40" fmla="*/ 38 w 111"/>
                <a:gd name="T41" fmla="*/ 3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1" h="98">
                  <a:moveTo>
                    <a:pt x="38" y="31"/>
                  </a:moveTo>
                  <a:lnTo>
                    <a:pt x="38" y="50"/>
                  </a:lnTo>
                  <a:lnTo>
                    <a:pt x="52" y="50"/>
                  </a:lnTo>
                  <a:lnTo>
                    <a:pt x="52" y="67"/>
                  </a:lnTo>
                  <a:lnTo>
                    <a:pt x="19" y="67"/>
                  </a:lnTo>
                  <a:lnTo>
                    <a:pt x="0" y="98"/>
                  </a:lnTo>
                  <a:lnTo>
                    <a:pt x="111" y="98"/>
                  </a:lnTo>
                  <a:lnTo>
                    <a:pt x="111" y="0"/>
                  </a:lnTo>
                  <a:lnTo>
                    <a:pt x="57" y="31"/>
                  </a:lnTo>
                  <a:lnTo>
                    <a:pt x="73" y="31"/>
                  </a:lnTo>
                  <a:lnTo>
                    <a:pt x="73" y="48"/>
                  </a:lnTo>
                  <a:lnTo>
                    <a:pt x="57" y="48"/>
                  </a:lnTo>
                  <a:lnTo>
                    <a:pt x="57" y="31"/>
                  </a:lnTo>
                  <a:lnTo>
                    <a:pt x="57" y="50"/>
                  </a:lnTo>
                  <a:lnTo>
                    <a:pt x="73" y="50"/>
                  </a:lnTo>
                  <a:lnTo>
                    <a:pt x="73" y="67"/>
                  </a:lnTo>
                  <a:lnTo>
                    <a:pt x="57" y="67"/>
                  </a:lnTo>
                  <a:lnTo>
                    <a:pt x="52" y="31"/>
                  </a:lnTo>
                  <a:lnTo>
                    <a:pt x="52" y="48"/>
                  </a:lnTo>
                  <a:lnTo>
                    <a:pt x="38" y="48"/>
                  </a:lnTo>
                  <a:lnTo>
                    <a:pt x="38" y="31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 100">
              <a:extLst>
                <a:ext uri="{FF2B5EF4-FFF2-40B4-BE49-F238E27FC236}">
                  <a16:creationId xmlns:a16="http://schemas.microsoft.com/office/drawing/2014/main" id="{78D609E7-9AAE-4F0B-AA87-DFBEBB86E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2583" y="2513201"/>
              <a:ext cx="94007" cy="145959"/>
            </a:xfrm>
            <a:custGeom>
              <a:avLst/>
              <a:gdLst>
                <a:gd name="T0" fmla="*/ 0 w 38"/>
                <a:gd name="T1" fmla="*/ 14 h 59"/>
                <a:gd name="T2" fmla="*/ 15 w 38"/>
                <a:gd name="T3" fmla="*/ 59 h 59"/>
                <a:gd name="T4" fmla="*/ 15 w 38"/>
                <a:gd name="T5" fmla="*/ 55 h 59"/>
                <a:gd name="T6" fmla="*/ 38 w 38"/>
                <a:gd name="T7" fmla="*/ 55 h 59"/>
                <a:gd name="T8" fmla="*/ 19 w 38"/>
                <a:gd name="T9" fmla="*/ 0 h 59"/>
                <a:gd name="T10" fmla="*/ 19 w 38"/>
                <a:gd name="T11" fmla="*/ 14 h 59"/>
                <a:gd name="T12" fmla="*/ 5 w 38"/>
                <a:gd name="T13" fmla="*/ 14 h 59"/>
                <a:gd name="T14" fmla="*/ 0 w 38"/>
                <a:gd name="T15" fmla="*/ 0 h 59"/>
                <a:gd name="T16" fmla="*/ 0 w 38"/>
                <a:gd name="T17" fmla="*/ 1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59">
                  <a:moveTo>
                    <a:pt x="0" y="14"/>
                  </a:moveTo>
                  <a:lnTo>
                    <a:pt x="15" y="59"/>
                  </a:lnTo>
                  <a:lnTo>
                    <a:pt x="15" y="55"/>
                  </a:lnTo>
                  <a:lnTo>
                    <a:pt x="38" y="55"/>
                  </a:lnTo>
                  <a:lnTo>
                    <a:pt x="19" y="0"/>
                  </a:lnTo>
                  <a:lnTo>
                    <a:pt x="19" y="14"/>
                  </a:lnTo>
                  <a:lnTo>
                    <a:pt x="5" y="14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Freeform 101">
              <a:extLst>
                <a:ext uri="{FF2B5EF4-FFF2-40B4-BE49-F238E27FC236}">
                  <a16:creationId xmlns:a16="http://schemas.microsoft.com/office/drawing/2014/main" id="{8623F97F-BC99-4FB8-81E0-F40A742AA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2548" y="2196545"/>
              <a:ext cx="183067" cy="123694"/>
            </a:xfrm>
            <a:custGeom>
              <a:avLst/>
              <a:gdLst>
                <a:gd name="T0" fmla="*/ 17 w 74"/>
                <a:gd name="T1" fmla="*/ 33 h 50"/>
                <a:gd name="T2" fmla="*/ 17 w 74"/>
                <a:gd name="T3" fmla="*/ 19 h 50"/>
                <a:gd name="T4" fmla="*/ 31 w 74"/>
                <a:gd name="T5" fmla="*/ 19 h 50"/>
                <a:gd name="T6" fmla="*/ 55 w 74"/>
                <a:gd name="T7" fmla="*/ 50 h 50"/>
                <a:gd name="T8" fmla="*/ 55 w 74"/>
                <a:gd name="T9" fmla="*/ 35 h 50"/>
                <a:gd name="T10" fmla="*/ 69 w 74"/>
                <a:gd name="T11" fmla="*/ 35 h 50"/>
                <a:gd name="T12" fmla="*/ 69 w 74"/>
                <a:gd name="T13" fmla="*/ 50 h 50"/>
                <a:gd name="T14" fmla="*/ 74 w 74"/>
                <a:gd name="T15" fmla="*/ 50 h 50"/>
                <a:gd name="T16" fmla="*/ 69 w 74"/>
                <a:gd name="T17" fmla="*/ 14 h 50"/>
                <a:gd name="T18" fmla="*/ 55 w 74"/>
                <a:gd name="T19" fmla="*/ 14 h 50"/>
                <a:gd name="T20" fmla="*/ 55 w 74"/>
                <a:gd name="T21" fmla="*/ 19 h 50"/>
                <a:gd name="T22" fmla="*/ 69 w 74"/>
                <a:gd name="T23" fmla="*/ 19 h 50"/>
                <a:gd name="T24" fmla="*/ 69 w 74"/>
                <a:gd name="T25" fmla="*/ 33 h 50"/>
                <a:gd name="T26" fmla="*/ 55 w 74"/>
                <a:gd name="T27" fmla="*/ 33 h 50"/>
                <a:gd name="T28" fmla="*/ 55 w 74"/>
                <a:gd name="T29" fmla="*/ 19 h 50"/>
                <a:gd name="T30" fmla="*/ 55 w 74"/>
                <a:gd name="T31" fmla="*/ 14 h 50"/>
                <a:gd name="T32" fmla="*/ 55 w 74"/>
                <a:gd name="T33" fmla="*/ 12 h 50"/>
                <a:gd name="T34" fmla="*/ 60 w 74"/>
                <a:gd name="T35" fmla="*/ 5 h 50"/>
                <a:gd name="T36" fmla="*/ 69 w 74"/>
                <a:gd name="T37" fmla="*/ 0 h 50"/>
                <a:gd name="T38" fmla="*/ 29 w 74"/>
                <a:gd name="T39" fmla="*/ 5 h 50"/>
                <a:gd name="T40" fmla="*/ 31 w 74"/>
                <a:gd name="T41" fmla="*/ 14 h 50"/>
                <a:gd name="T42" fmla="*/ 17 w 74"/>
                <a:gd name="T43" fmla="*/ 14 h 50"/>
                <a:gd name="T44" fmla="*/ 17 w 74"/>
                <a:gd name="T45" fmla="*/ 0 h 50"/>
                <a:gd name="T46" fmla="*/ 15 w 74"/>
                <a:gd name="T47" fmla="*/ 0 h 50"/>
                <a:gd name="T48" fmla="*/ 15 w 74"/>
                <a:gd name="T49" fmla="*/ 14 h 50"/>
                <a:gd name="T50" fmla="*/ 0 w 74"/>
                <a:gd name="T51" fmla="*/ 14 h 50"/>
                <a:gd name="T52" fmla="*/ 0 w 74"/>
                <a:gd name="T53" fmla="*/ 19 h 50"/>
                <a:gd name="T54" fmla="*/ 15 w 74"/>
                <a:gd name="T55" fmla="*/ 19 h 50"/>
                <a:gd name="T56" fmla="*/ 15 w 74"/>
                <a:gd name="T57" fmla="*/ 50 h 50"/>
                <a:gd name="T58" fmla="*/ 17 w 74"/>
                <a:gd name="T59" fmla="*/ 50 h 50"/>
                <a:gd name="T60" fmla="*/ 17 w 74"/>
                <a:gd name="T61" fmla="*/ 35 h 50"/>
                <a:gd name="T62" fmla="*/ 31 w 74"/>
                <a:gd name="T63" fmla="*/ 35 h 50"/>
                <a:gd name="T64" fmla="*/ 31 w 74"/>
                <a:gd name="T65" fmla="*/ 33 h 50"/>
                <a:gd name="T66" fmla="*/ 17 w 74"/>
                <a:gd name="T67" fmla="*/ 3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4" h="50">
                  <a:moveTo>
                    <a:pt x="17" y="33"/>
                  </a:moveTo>
                  <a:lnTo>
                    <a:pt x="17" y="19"/>
                  </a:lnTo>
                  <a:lnTo>
                    <a:pt x="31" y="19"/>
                  </a:lnTo>
                  <a:lnTo>
                    <a:pt x="55" y="50"/>
                  </a:lnTo>
                  <a:lnTo>
                    <a:pt x="55" y="35"/>
                  </a:lnTo>
                  <a:lnTo>
                    <a:pt x="69" y="35"/>
                  </a:lnTo>
                  <a:lnTo>
                    <a:pt x="69" y="50"/>
                  </a:lnTo>
                  <a:lnTo>
                    <a:pt x="74" y="50"/>
                  </a:lnTo>
                  <a:lnTo>
                    <a:pt x="69" y="14"/>
                  </a:lnTo>
                  <a:lnTo>
                    <a:pt x="55" y="14"/>
                  </a:lnTo>
                  <a:lnTo>
                    <a:pt x="55" y="19"/>
                  </a:lnTo>
                  <a:lnTo>
                    <a:pt x="69" y="19"/>
                  </a:lnTo>
                  <a:lnTo>
                    <a:pt x="69" y="33"/>
                  </a:lnTo>
                  <a:lnTo>
                    <a:pt x="55" y="33"/>
                  </a:lnTo>
                  <a:lnTo>
                    <a:pt x="55" y="19"/>
                  </a:lnTo>
                  <a:lnTo>
                    <a:pt x="55" y="14"/>
                  </a:lnTo>
                  <a:lnTo>
                    <a:pt x="55" y="12"/>
                  </a:lnTo>
                  <a:lnTo>
                    <a:pt x="60" y="5"/>
                  </a:lnTo>
                  <a:lnTo>
                    <a:pt x="69" y="0"/>
                  </a:lnTo>
                  <a:lnTo>
                    <a:pt x="29" y="5"/>
                  </a:lnTo>
                  <a:lnTo>
                    <a:pt x="31" y="14"/>
                  </a:lnTo>
                  <a:lnTo>
                    <a:pt x="17" y="14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5" y="14"/>
                  </a:lnTo>
                  <a:lnTo>
                    <a:pt x="0" y="14"/>
                  </a:lnTo>
                  <a:lnTo>
                    <a:pt x="0" y="19"/>
                  </a:lnTo>
                  <a:lnTo>
                    <a:pt x="15" y="19"/>
                  </a:lnTo>
                  <a:lnTo>
                    <a:pt x="15" y="50"/>
                  </a:lnTo>
                  <a:lnTo>
                    <a:pt x="17" y="50"/>
                  </a:lnTo>
                  <a:lnTo>
                    <a:pt x="17" y="35"/>
                  </a:lnTo>
                  <a:lnTo>
                    <a:pt x="31" y="35"/>
                  </a:lnTo>
                  <a:lnTo>
                    <a:pt x="31" y="33"/>
                  </a:lnTo>
                  <a:lnTo>
                    <a:pt x="17" y="33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Freeform 102">
              <a:extLst>
                <a:ext uri="{FF2B5EF4-FFF2-40B4-BE49-F238E27FC236}">
                  <a16:creationId xmlns:a16="http://schemas.microsoft.com/office/drawing/2014/main" id="{25513DFB-32D9-4DAA-92B0-9ADADCBF2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1642" y="2226231"/>
              <a:ext cx="549200" cy="432928"/>
            </a:xfrm>
            <a:custGeom>
              <a:avLst/>
              <a:gdLst>
                <a:gd name="T0" fmla="*/ 92 w 222"/>
                <a:gd name="T1" fmla="*/ 21 h 175"/>
                <a:gd name="T2" fmla="*/ 92 w 222"/>
                <a:gd name="T3" fmla="*/ 38 h 175"/>
                <a:gd name="T4" fmla="*/ 61 w 222"/>
                <a:gd name="T5" fmla="*/ 38 h 175"/>
                <a:gd name="T6" fmla="*/ 38 w 222"/>
                <a:gd name="T7" fmla="*/ 23 h 175"/>
                <a:gd name="T8" fmla="*/ 38 w 222"/>
                <a:gd name="T9" fmla="*/ 38 h 175"/>
                <a:gd name="T10" fmla="*/ 24 w 222"/>
                <a:gd name="T11" fmla="*/ 38 h 175"/>
                <a:gd name="T12" fmla="*/ 21 w 222"/>
                <a:gd name="T13" fmla="*/ 23 h 175"/>
                <a:gd name="T14" fmla="*/ 21 w 222"/>
                <a:gd name="T15" fmla="*/ 38 h 175"/>
                <a:gd name="T16" fmla="*/ 7 w 222"/>
                <a:gd name="T17" fmla="*/ 38 h 175"/>
                <a:gd name="T18" fmla="*/ 0 w 222"/>
                <a:gd name="T19" fmla="*/ 83 h 175"/>
                <a:gd name="T20" fmla="*/ 154 w 222"/>
                <a:gd name="T21" fmla="*/ 83 h 175"/>
                <a:gd name="T22" fmla="*/ 154 w 222"/>
                <a:gd name="T23" fmla="*/ 92 h 175"/>
                <a:gd name="T24" fmla="*/ 0 w 222"/>
                <a:gd name="T25" fmla="*/ 92 h 175"/>
                <a:gd name="T26" fmla="*/ 151 w 222"/>
                <a:gd name="T27" fmla="*/ 92 h 175"/>
                <a:gd name="T28" fmla="*/ 151 w 222"/>
                <a:gd name="T29" fmla="*/ 171 h 175"/>
                <a:gd name="T30" fmla="*/ 175 w 222"/>
                <a:gd name="T31" fmla="*/ 171 h 175"/>
                <a:gd name="T32" fmla="*/ 175 w 222"/>
                <a:gd name="T33" fmla="*/ 175 h 175"/>
                <a:gd name="T34" fmla="*/ 222 w 222"/>
                <a:gd name="T35" fmla="*/ 175 h 175"/>
                <a:gd name="T36" fmla="*/ 203 w 222"/>
                <a:gd name="T37" fmla="*/ 116 h 175"/>
                <a:gd name="T38" fmla="*/ 203 w 222"/>
                <a:gd name="T39" fmla="*/ 130 h 175"/>
                <a:gd name="T40" fmla="*/ 189 w 222"/>
                <a:gd name="T41" fmla="*/ 130 h 175"/>
                <a:gd name="T42" fmla="*/ 184 w 222"/>
                <a:gd name="T43" fmla="*/ 116 h 175"/>
                <a:gd name="T44" fmla="*/ 184 w 222"/>
                <a:gd name="T45" fmla="*/ 130 h 175"/>
                <a:gd name="T46" fmla="*/ 170 w 222"/>
                <a:gd name="T47" fmla="*/ 130 h 175"/>
                <a:gd name="T48" fmla="*/ 170 w 222"/>
                <a:gd name="T49" fmla="*/ 2 h 175"/>
                <a:gd name="T50" fmla="*/ 170 w 222"/>
                <a:gd name="T51" fmla="*/ 0 h 175"/>
                <a:gd name="T52" fmla="*/ 149 w 222"/>
                <a:gd name="T53" fmla="*/ 2 h 175"/>
                <a:gd name="T54" fmla="*/ 135 w 222"/>
                <a:gd name="T55" fmla="*/ 2 h 175"/>
                <a:gd name="T56" fmla="*/ 135 w 222"/>
                <a:gd name="T57" fmla="*/ 7 h 175"/>
                <a:gd name="T58" fmla="*/ 149 w 222"/>
                <a:gd name="T59" fmla="*/ 7 h 175"/>
                <a:gd name="T60" fmla="*/ 149 w 222"/>
                <a:gd name="T61" fmla="*/ 38 h 175"/>
                <a:gd name="T62" fmla="*/ 116 w 222"/>
                <a:gd name="T63" fmla="*/ 38 h 175"/>
                <a:gd name="T64" fmla="*/ 92 w 222"/>
                <a:gd name="T65" fmla="*/ 7 h 175"/>
                <a:gd name="T66" fmla="*/ 92 w 222"/>
                <a:gd name="T67" fmla="*/ 21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2" h="175">
                  <a:moveTo>
                    <a:pt x="92" y="21"/>
                  </a:moveTo>
                  <a:lnTo>
                    <a:pt x="92" y="38"/>
                  </a:lnTo>
                  <a:lnTo>
                    <a:pt x="61" y="38"/>
                  </a:lnTo>
                  <a:lnTo>
                    <a:pt x="38" y="23"/>
                  </a:lnTo>
                  <a:lnTo>
                    <a:pt x="38" y="38"/>
                  </a:lnTo>
                  <a:lnTo>
                    <a:pt x="24" y="38"/>
                  </a:lnTo>
                  <a:lnTo>
                    <a:pt x="21" y="23"/>
                  </a:lnTo>
                  <a:lnTo>
                    <a:pt x="21" y="38"/>
                  </a:lnTo>
                  <a:lnTo>
                    <a:pt x="7" y="38"/>
                  </a:lnTo>
                  <a:lnTo>
                    <a:pt x="0" y="83"/>
                  </a:lnTo>
                  <a:lnTo>
                    <a:pt x="154" y="83"/>
                  </a:lnTo>
                  <a:lnTo>
                    <a:pt x="154" y="92"/>
                  </a:lnTo>
                  <a:lnTo>
                    <a:pt x="0" y="92"/>
                  </a:lnTo>
                  <a:lnTo>
                    <a:pt x="151" y="92"/>
                  </a:lnTo>
                  <a:lnTo>
                    <a:pt x="151" y="171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222" y="175"/>
                  </a:lnTo>
                  <a:lnTo>
                    <a:pt x="203" y="116"/>
                  </a:lnTo>
                  <a:lnTo>
                    <a:pt x="203" y="130"/>
                  </a:lnTo>
                  <a:lnTo>
                    <a:pt x="189" y="130"/>
                  </a:lnTo>
                  <a:lnTo>
                    <a:pt x="184" y="116"/>
                  </a:lnTo>
                  <a:lnTo>
                    <a:pt x="184" y="130"/>
                  </a:lnTo>
                  <a:lnTo>
                    <a:pt x="170" y="130"/>
                  </a:lnTo>
                  <a:lnTo>
                    <a:pt x="170" y="2"/>
                  </a:lnTo>
                  <a:lnTo>
                    <a:pt x="170" y="0"/>
                  </a:lnTo>
                  <a:lnTo>
                    <a:pt x="149" y="2"/>
                  </a:lnTo>
                  <a:lnTo>
                    <a:pt x="135" y="2"/>
                  </a:lnTo>
                  <a:lnTo>
                    <a:pt x="135" y="7"/>
                  </a:lnTo>
                  <a:lnTo>
                    <a:pt x="149" y="7"/>
                  </a:lnTo>
                  <a:lnTo>
                    <a:pt x="149" y="38"/>
                  </a:lnTo>
                  <a:lnTo>
                    <a:pt x="116" y="38"/>
                  </a:lnTo>
                  <a:lnTo>
                    <a:pt x="92" y="7"/>
                  </a:lnTo>
                  <a:lnTo>
                    <a:pt x="92" y="21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0" name="Freeform 103">
              <a:extLst>
                <a:ext uri="{FF2B5EF4-FFF2-40B4-BE49-F238E27FC236}">
                  <a16:creationId xmlns:a16="http://schemas.microsoft.com/office/drawing/2014/main" id="{7D491AE5-257F-4A96-A32F-11BC4F803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0945" y="2137172"/>
              <a:ext cx="719897" cy="521988"/>
            </a:xfrm>
            <a:custGeom>
              <a:avLst/>
              <a:gdLst>
                <a:gd name="T0" fmla="*/ 253 w 291"/>
                <a:gd name="T1" fmla="*/ 24 h 211"/>
                <a:gd name="T2" fmla="*/ 268 w 291"/>
                <a:gd name="T3" fmla="*/ 29 h 211"/>
                <a:gd name="T4" fmla="*/ 291 w 291"/>
                <a:gd name="T5" fmla="*/ 211 h 211"/>
                <a:gd name="T6" fmla="*/ 0 w 291"/>
                <a:gd name="T7" fmla="*/ 0 h 211"/>
                <a:gd name="T8" fmla="*/ 33 w 291"/>
                <a:gd name="T9" fmla="*/ 38 h 211"/>
                <a:gd name="T10" fmla="*/ 19 w 291"/>
                <a:gd name="T11" fmla="*/ 43 h 211"/>
                <a:gd name="T12" fmla="*/ 33 w 291"/>
                <a:gd name="T13" fmla="*/ 57 h 211"/>
                <a:gd name="T14" fmla="*/ 19 w 291"/>
                <a:gd name="T15" fmla="*/ 43 h 211"/>
                <a:gd name="T16" fmla="*/ 33 w 291"/>
                <a:gd name="T17" fmla="*/ 135 h 211"/>
                <a:gd name="T18" fmla="*/ 19 w 291"/>
                <a:gd name="T19" fmla="*/ 59 h 211"/>
                <a:gd name="T20" fmla="*/ 38 w 291"/>
                <a:gd name="T21" fmla="*/ 166 h 211"/>
                <a:gd name="T22" fmla="*/ 52 w 291"/>
                <a:gd name="T23" fmla="*/ 152 h 211"/>
                <a:gd name="T24" fmla="*/ 52 w 291"/>
                <a:gd name="T25" fmla="*/ 59 h 211"/>
                <a:gd name="T26" fmla="*/ 38 w 291"/>
                <a:gd name="T27" fmla="*/ 74 h 211"/>
                <a:gd name="T28" fmla="*/ 52 w 291"/>
                <a:gd name="T29" fmla="*/ 150 h 211"/>
                <a:gd name="T30" fmla="*/ 38 w 291"/>
                <a:gd name="T31" fmla="*/ 24 h 211"/>
                <a:gd name="T32" fmla="*/ 104 w 291"/>
                <a:gd name="T33" fmla="*/ 29 h 211"/>
                <a:gd name="T34" fmla="*/ 93 w 291"/>
                <a:gd name="T35" fmla="*/ 38 h 211"/>
                <a:gd name="T36" fmla="*/ 107 w 291"/>
                <a:gd name="T37" fmla="*/ 43 h 211"/>
                <a:gd name="T38" fmla="*/ 93 w 291"/>
                <a:gd name="T39" fmla="*/ 57 h 211"/>
                <a:gd name="T40" fmla="*/ 130 w 291"/>
                <a:gd name="T41" fmla="*/ 74 h 211"/>
                <a:gd name="T42" fmla="*/ 145 w 291"/>
                <a:gd name="T43" fmla="*/ 59 h 211"/>
                <a:gd name="T44" fmla="*/ 130 w 291"/>
                <a:gd name="T45" fmla="*/ 57 h 211"/>
                <a:gd name="T46" fmla="*/ 130 w 291"/>
                <a:gd name="T47" fmla="*/ 38 h 211"/>
                <a:gd name="T48" fmla="*/ 135 w 291"/>
                <a:gd name="T49" fmla="*/ 29 h 211"/>
                <a:gd name="T50" fmla="*/ 149 w 291"/>
                <a:gd name="T51" fmla="*/ 24 h 211"/>
                <a:gd name="T52" fmla="*/ 199 w 291"/>
                <a:gd name="T53" fmla="*/ 24 h 211"/>
                <a:gd name="T54" fmla="*/ 204 w 291"/>
                <a:gd name="T55" fmla="*/ 74 h 211"/>
                <a:gd name="T56" fmla="*/ 218 w 291"/>
                <a:gd name="T57" fmla="*/ 59 h 211"/>
                <a:gd name="T58" fmla="*/ 204 w 291"/>
                <a:gd name="T59" fmla="*/ 57 h 211"/>
                <a:gd name="T60" fmla="*/ 206 w 291"/>
                <a:gd name="T61" fmla="*/ 24 h 211"/>
                <a:gd name="T62" fmla="*/ 218 w 291"/>
                <a:gd name="T63" fmla="*/ 38 h 211"/>
                <a:gd name="T64" fmla="*/ 246 w 291"/>
                <a:gd name="T65" fmla="*/ 29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91" h="211">
                  <a:moveTo>
                    <a:pt x="246" y="29"/>
                  </a:moveTo>
                  <a:lnTo>
                    <a:pt x="253" y="24"/>
                  </a:lnTo>
                  <a:lnTo>
                    <a:pt x="261" y="24"/>
                  </a:lnTo>
                  <a:lnTo>
                    <a:pt x="268" y="29"/>
                  </a:lnTo>
                  <a:lnTo>
                    <a:pt x="272" y="38"/>
                  </a:lnTo>
                  <a:lnTo>
                    <a:pt x="291" y="211"/>
                  </a:lnTo>
                  <a:lnTo>
                    <a:pt x="291" y="0"/>
                  </a:lnTo>
                  <a:lnTo>
                    <a:pt x="0" y="0"/>
                  </a:lnTo>
                  <a:lnTo>
                    <a:pt x="33" y="24"/>
                  </a:lnTo>
                  <a:lnTo>
                    <a:pt x="33" y="38"/>
                  </a:lnTo>
                  <a:lnTo>
                    <a:pt x="19" y="38"/>
                  </a:lnTo>
                  <a:lnTo>
                    <a:pt x="19" y="43"/>
                  </a:lnTo>
                  <a:lnTo>
                    <a:pt x="33" y="43"/>
                  </a:lnTo>
                  <a:lnTo>
                    <a:pt x="33" y="57"/>
                  </a:lnTo>
                  <a:lnTo>
                    <a:pt x="19" y="57"/>
                  </a:lnTo>
                  <a:lnTo>
                    <a:pt x="19" y="43"/>
                  </a:lnTo>
                  <a:lnTo>
                    <a:pt x="19" y="135"/>
                  </a:lnTo>
                  <a:lnTo>
                    <a:pt x="33" y="135"/>
                  </a:lnTo>
                  <a:lnTo>
                    <a:pt x="19" y="74"/>
                  </a:lnTo>
                  <a:lnTo>
                    <a:pt x="19" y="59"/>
                  </a:lnTo>
                  <a:lnTo>
                    <a:pt x="33" y="59"/>
                  </a:lnTo>
                  <a:lnTo>
                    <a:pt x="38" y="166"/>
                  </a:lnTo>
                  <a:lnTo>
                    <a:pt x="38" y="152"/>
                  </a:lnTo>
                  <a:lnTo>
                    <a:pt x="52" y="152"/>
                  </a:lnTo>
                  <a:lnTo>
                    <a:pt x="71" y="207"/>
                  </a:lnTo>
                  <a:lnTo>
                    <a:pt x="52" y="59"/>
                  </a:lnTo>
                  <a:lnTo>
                    <a:pt x="52" y="74"/>
                  </a:lnTo>
                  <a:lnTo>
                    <a:pt x="38" y="74"/>
                  </a:lnTo>
                  <a:lnTo>
                    <a:pt x="52" y="135"/>
                  </a:lnTo>
                  <a:lnTo>
                    <a:pt x="52" y="150"/>
                  </a:lnTo>
                  <a:lnTo>
                    <a:pt x="38" y="150"/>
                  </a:lnTo>
                  <a:lnTo>
                    <a:pt x="38" y="24"/>
                  </a:lnTo>
                  <a:lnTo>
                    <a:pt x="95" y="24"/>
                  </a:lnTo>
                  <a:lnTo>
                    <a:pt x="104" y="29"/>
                  </a:lnTo>
                  <a:lnTo>
                    <a:pt x="107" y="38"/>
                  </a:lnTo>
                  <a:lnTo>
                    <a:pt x="93" y="38"/>
                  </a:lnTo>
                  <a:lnTo>
                    <a:pt x="93" y="43"/>
                  </a:lnTo>
                  <a:lnTo>
                    <a:pt x="107" y="43"/>
                  </a:lnTo>
                  <a:lnTo>
                    <a:pt x="107" y="57"/>
                  </a:lnTo>
                  <a:lnTo>
                    <a:pt x="93" y="57"/>
                  </a:lnTo>
                  <a:lnTo>
                    <a:pt x="107" y="59"/>
                  </a:lnTo>
                  <a:lnTo>
                    <a:pt x="130" y="74"/>
                  </a:lnTo>
                  <a:lnTo>
                    <a:pt x="130" y="59"/>
                  </a:lnTo>
                  <a:lnTo>
                    <a:pt x="145" y="59"/>
                  </a:lnTo>
                  <a:lnTo>
                    <a:pt x="145" y="57"/>
                  </a:lnTo>
                  <a:lnTo>
                    <a:pt x="130" y="57"/>
                  </a:lnTo>
                  <a:lnTo>
                    <a:pt x="130" y="43"/>
                  </a:lnTo>
                  <a:lnTo>
                    <a:pt x="130" y="38"/>
                  </a:lnTo>
                  <a:lnTo>
                    <a:pt x="130" y="36"/>
                  </a:lnTo>
                  <a:lnTo>
                    <a:pt x="135" y="29"/>
                  </a:lnTo>
                  <a:lnTo>
                    <a:pt x="145" y="24"/>
                  </a:lnTo>
                  <a:lnTo>
                    <a:pt x="149" y="24"/>
                  </a:lnTo>
                  <a:lnTo>
                    <a:pt x="159" y="29"/>
                  </a:lnTo>
                  <a:lnTo>
                    <a:pt x="199" y="24"/>
                  </a:lnTo>
                  <a:lnTo>
                    <a:pt x="199" y="38"/>
                  </a:lnTo>
                  <a:lnTo>
                    <a:pt x="204" y="74"/>
                  </a:lnTo>
                  <a:lnTo>
                    <a:pt x="204" y="59"/>
                  </a:lnTo>
                  <a:lnTo>
                    <a:pt x="218" y="59"/>
                  </a:lnTo>
                  <a:lnTo>
                    <a:pt x="218" y="57"/>
                  </a:lnTo>
                  <a:lnTo>
                    <a:pt x="204" y="57"/>
                  </a:lnTo>
                  <a:lnTo>
                    <a:pt x="204" y="24"/>
                  </a:lnTo>
                  <a:lnTo>
                    <a:pt x="206" y="24"/>
                  </a:lnTo>
                  <a:lnTo>
                    <a:pt x="213" y="29"/>
                  </a:lnTo>
                  <a:lnTo>
                    <a:pt x="218" y="38"/>
                  </a:lnTo>
                  <a:lnTo>
                    <a:pt x="239" y="36"/>
                  </a:lnTo>
                  <a:lnTo>
                    <a:pt x="246" y="29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1" name="Freeform 104">
              <a:extLst>
                <a:ext uri="{FF2B5EF4-FFF2-40B4-BE49-F238E27FC236}">
                  <a16:creationId xmlns:a16="http://schemas.microsoft.com/office/drawing/2014/main" id="{56504A2C-497A-4542-9D8A-0E0D08B18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0945" y="2137172"/>
              <a:ext cx="118746" cy="521988"/>
            </a:xfrm>
            <a:custGeom>
              <a:avLst/>
              <a:gdLst>
                <a:gd name="T0" fmla="*/ 19 w 48"/>
                <a:gd name="T1" fmla="*/ 36 h 211"/>
                <a:gd name="T2" fmla="*/ 24 w 48"/>
                <a:gd name="T3" fmla="*/ 29 h 211"/>
                <a:gd name="T4" fmla="*/ 33 w 48"/>
                <a:gd name="T5" fmla="*/ 24 h 211"/>
                <a:gd name="T6" fmla="*/ 0 w 48"/>
                <a:gd name="T7" fmla="*/ 0 h 211"/>
                <a:gd name="T8" fmla="*/ 0 w 48"/>
                <a:gd name="T9" fmla="*/ 211 h 211"/>
                <a:gd name="T10" fmla="*/ 48 w 48"/>
                <a:gd name="T11" fmla="*/ 211 h 211"/>
                <a:gd name="T12" fmla="*/ 33 w 48"/>
                <a:gd name="T13" fmla="*/ 166 h 211"/>
                <a:gd name="T14" fmla="*/ 19 w 48"/>
                <a:gd name="T15" fmla="*/ 166 h 211"/>
                <a:gd name="T16" fmla="*/ 19 w 48"/>
                <a:gd name="T17" fmla="*/ 152 h 211"/>
                <a:gd name="T18" fmla="*/ 33 w 48"/>
                <a:gd name="T19" fmla="*/ 152 h 211"/>
                <a:gd name="T20" fmla="*/ 38 w 48"/>
                <a:gd name="T21" fmla="*/ 166 h 211"/>
                <a:gd name="T22" fmla="*/ 33 w 48"/>
                <a:gd name="T23" fmla="*/ 59 h 211"/>
                <a:gd name="T24" fmla="*/ 33 w 48"/>
                <a:gd name="T25" fmla="*/ 74 h 211"/>
                <a:gd name="T26" fmla="*/ 19 w 48"/>
                <a:gd name="T27" fmla="*/ 74 h 211"/>
                <a:gd name="T28" fmla="*/ 33 w 48"/>
                <a:gd name="T29" fmla="*/ 135 h 211"/>
                <a:gd name="T30" fmla="*/ 33 w 48"/>
                <a:gd name="T31" fmla="*/ 150 h 211"/>
                <a:gd name="T32" fmla="*/ 19 w 48"/>
                <a:gd name="T33" fmla="*/ 150 h 211"/>
                <a:gd name="T34" fmla="*/ 19 w 48"/>
                <a:gd name="T35" fmla="*/ 3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211">
                  <a:moveTo>
                    <a:pt x="19" y="36"/>
                  </a:moveTo>
                  <a:lnTo>
                    <a:pt x="24" y="29"/>
                  </a:lnTo>
                  <a:lnTo>
                    <a:pt x="33" y="24"/>
                  </a:lnTo>
                  <a:lnTo>
                    <a:pt x="0" y="0"/>
                  </a:lnTo>
                  <a:lnTo>
                    <a:pt x="0" y="211"/>
                  </a:lnTo>
                  <a:lnTo>
                    <a:pt x="48" y="211"/>
                  </a:lnTo>
                  <a:lnTo>
                    <a:pt x="33" y="166"/>
                  </a:lnTo>
                  <a:lnTo>
                    <a:pt x="19" y="166"/>
                  </a:lnTo>
                  <a:lnTo>
                    <a:pt x="19" y="152"/>
                  </a:lnTo>
                  <a:lnTo>
                    <a:pt x="33" y="152"/>
                  </a:lnTo>
                  <a:lnTo>
                    <a:pt x="38" y="166"/>
                  </a:lnTo>
                  <a:lnTo>
                    <a:pt x="33" y="59"/>
                  </a:lnTo>
                  <a:lnTo>
                    <a:pt x="33" y="74"/>
                  </a:lnTo>
                  <a:lnTo>
                    <a:pt x="19" y="74"/>
                  </a:lnTo>
                  <a:lnTo>
                    <a:pt x="33" y="135"/>
                  </a:lnTo>
                  <a:lnTo>
                    <a:pt x="33" y="150"/>
                  </a:lnTo>
                  <a:lnTo>
                    <a:pt x="19" y="150"/>
                  </a:lnTo>
                  <a:lnTo>
                    <a:pt x="19" y="36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2" name="Freeform 105">
              <a:extLst>
                <a:ext uri="{FF2B5EF4-FFF2-40B4-BE49-F238E27FC236}">
                  <a16:creationId xmlns:a16="http://schemas.microsoft.com/office/drawing/2014/main" id="{FAB966C0-8315-4D9B-8CCA-7E7EEDA43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4952" y="2196545"/>
              <a:ext cx="34634" cy="47004"/>
            </a:xfrm>
            <a:custGeom>
              <a:avLst/>
              <a:gdLst>
                <a:gd name="T0" fmla="*/ 0 w 14"/>
                <a:gd name="T1" fmla="*/ 14 h 19"/>
                <a:gd name="T2" fmla="*/ 0 w 14"/>
                <a:gd name="T3" fmla="*/ 0 h 19"/>
                <a:gd name="T4" fmla="*/ 0 w 14"/>
                <a:gd name="T5" fmla="*/ 19 h 19"/>
                <a:gd name="T6" fmla="*/ 14 w 14"/>
                <a:gd name="T7" fmla="*/ 19 h 19"/>
                <a:gd name="T8" fmla="*/ 14 w 14"/>
                <a:gd name="T9" fmla="*/ 14 h 19"/>
                <a:gd name="T10" fmla="*/ 0 w 14"/>
                <a:gd name="T11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9">
                  <a:moveTo>
                    <a:pt x="0" y="14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14" y="19"/>
                  </a:lnTo>
                  <a:lnTo>
                    <a:pt x="14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3" name="Freeform 106">
              <a:extLst>
                <a:ext uri="{FF2B5EF4-FFF2-40B4-BE49-F238E27FC236}">
                  <a16:creationId xmlns:a16="http://schemas.microsoft.com/office/drawing/2014/main" id="{276642D6-3027-4A5D-8A3B-061591A01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2201" y="2231179"/>
              <a:ext cx="47004" cy="316656"/>
            </a:xfrm>
            <a:custGeom>
              <a:avLst/>
              <a:gdLst>
                <a:gd name="T0" fmla="*/ 0 w 19"/>
                <a:gd name="T1" fmla="*/ 0 h 128"/>
                <a:gd name="T2" fmla="*/ 0 w 19"/>
                <a:gd name="T3" fmla="*/ 128 h 128"/>
                <a:gd name="T4" fmla="*/ 0 w 19"/>
                <a:gd name="T5" fmla="*/ 114 h 128"/>
                <a:gd name="T6" fmla="*/ 14 w 19"/>
                <a:gd name="T7" fmla="*/ 114 h 128"/>
                <a:gd name="T8" fmla="*/ 19 w 19"/>
                <a:gd name="T9" fmla="*/ 128 h 128"/>
                <a:gd name="T10" fmla="*/ 14 w 19"/>
                <a:gd name="T11" fmla="*/ 21 h 128"/>
                <a:gd name="T12" fmla="*/ 14 w 19"/>
                <a:gd name="T13" fmla="*/ 36 h 128"/>
                <a:gd name="T14" fmla="*/ 0 w 19"/>
                <a:gd name="T15" fmla="*/ 36 h 128"/>
                <a:gd name="T16" fmla="*/ 14 w 19"/>
                <a:gd name="T17" fmla="*/ 97 h 128"/>
                <a:gd name="T18" fmla="*/ 14 w 19"/>
                <a:gd name="T19" fmla="*/ 112 h 128"/>
                <a:gd name="T20" fmla="*/ 0 w 19"/>
                <a:gd name="T21" fmla="*/ 112 h 128"/>
                <a:gd name="T22" fmla="*/ 0 w 19"/>
                <a:gd name="T23" fmla="*/ 5 h 128"/>
                <a:gd name="T24" fmla="*/ 0 w 19"/>
                <a:gd name="T2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128">
                  <a:moveTo>
                    <a:pt x="0" y="0"/>
                  </a:moveTo>
                  <a:lnTo>
                    <a:pt x="0" y="128"/>
                  </a:lnTo>
                  <a:lnTo>
                    <a:pt x="0" y="114"/>
                  </a:lnTo>
                  <a:lnTo>
                    <a:pt x="14" y="114"/>
                  </a:lnTo>
                  <a:lnTo>
                    <a:pt x="19" y="128"/>
                  </a:lnTo>
                  <a:lnTo>
                    <a:pt x="14" y="21"/>
                  </a:lnTo>
                  <a:lnTo>
                    <a:pt x="14" y="36"/>
                  </a:lnTo>
                  <a:lnTo>
                    <a:pt x="0" y="36"/>
                  </a:lnTo>
                  <a:lnTo>
                    <a:pt x="14" y="97"/>
                  </a:lnTo>
                  <a:lnTo>
                    <a:pt x="14" y="112"/>
                  </a:lnTo>
                  <a:lnTo>
                    <a:pt x="0" y="112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4" name="Freeform 107">
              <a:extLst>
                <a:ext uri="{FF2B5EF4-FFF2-40B4-BE49-F238E27FC236}">
                  <a16:creationId xmlns:a16="http://schemas.microsoft.com/office/drawing/2014/main" id="{5A4A9EFE-53F0-4011-A114-CA5663AE0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2201" y="2196545"/>
              <a:ext cx="128641" cy="462615"/>
            </a:xfrm>
            <a:custGeom>
              <a:avLst/>
              <a:gdLst>
                <a:gd name="T0" fmla="*/ 14 w 52"/>
                <a:gd name="T1" fmla="*/ 0 h 187"/>
                <a:gd name="T2" fmla="*/ 14 w 52"/>
                <a:gd name="T3" fmla="*/ 14 h 187"/>
                <a:gd name="T4" fmla="*/ 0 w 52"/>
                <a:gd name="T5" fmla="*/ 14 h 187"/>
                <a:gd name="T6" fmla="*/ 0 w 52"/>
                <a:gd name="T7" fmla="*/ 19 h 187"/>
                <a:gd name="T8" fmla="*/ 14 w 52"/>
                <a:gd name="T9" fmla="*/ 19 h 187"/>
                <a:gd name="T10" fmla="*/ 14 w 52"/>
                <a:gd name="T11" fmla="*/ 33 h 187"/>
                <a:gd name="T12" fmla="*/ 0 w 52"/>
                <a:gd name="T13" fmla="*/ 33 h 187"/>
                <a:gd name="T14" fmla="*/ 0 w 52"/>
                <a:gd name="T15" fmla="*/ 19 h 187"/>
                <a:gd name="T16" fmla="*/ 0 w 52"/>
                <a:gd name="T17" fmla="*/ 111 h 187"/>
                <a:gd name="T18" fmla="*/ 14 w 52"/>
                <a:gd name="T19" fmla="*/ 111 h 187"/>
                <a:gd name="T20" fmla="*/ 0 w 52"/>
                <a:gd name="T21" fmla="*/ 50 h 187"/>
                <a:gd name="T22" fmla="*/ 0 w 52"/>
                <a:gd name="T23" fmla="*/ 35 h 187"/>
                <a:gd name="T24" fmla="*/ 14 w 52"/>
                <a:gd name="T25" fmla="*/ 35 h 187"/>
                <a:gd name="T26" fmla="*/ 19 w 52"/>
                <a:gd name="T27" fmla="*/ 142 h 187"/>
                <a:gd name="T28" fmla="*/ 19 w 52"/>
                <a:gd name="T29" fmla="*/ 128 h 187"/>
                <a:gd name="T30" fmla="*/ 33 w 52"/>
                <a:gd name="T31" fmla="*/ 128 h 187"/>
                <a:gd name="T32" fmla="*/ 52 w 52"/>
                <a:gd name="T33" fmla="*/ 187 h 187"/>
                <a:gd name="T34" fmla="*/ 33 w 52"/>
                <a:gd name="T35" fmla="*/ 35 h 187"/>
                <a:gd name="T36" fmla="*/ 33 w 52"/>
                <a:gd name="T37" fmla="*/ 50 h 187"/>
                <a:gd name="T38" fmla="*/ 19 w 52"/>
                <a:gd name="T39" fmla="*/ 50 h 187"/>
                <a:gd name="T40" fmla="*/ 33 w 52"/>
                <a:gd name="T41" fmla="*/ 111 h 187"/>
                <a:gd name="T42" fmla="*/ 33 w 52"/>
                <a:gd name="T43" fmla="*/ 126 h 187"/>
                <a:gd name="T44" fmla="*/ 19 w 52"/>
                <a:gd name="T45" fmla="*/ 126 h 187"/>
                <a:gd name="T46" fmla="*/ 19 w 52"/>
                <a:gd name="T47" fmla="*/ 0 h 187"/>
                <a:gd name="T48" fmla="*/ 14 w 52"/>
                <a:gd name="T4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2" h="187">
                  <a:moveTo>
                    <a:pt x="14" y="0"/>
                  </a:moveTo>
                  <a:lnTo>
                    <a:pt x="14" y="14"/>
                  </a:lnTo>
                  <a:lnTo>
                    <a:pt x="0" y="14"/>
                  </a:lnTo>
                  <a:lnTo>
                    <a:pt x="0" y="19"/>
                  </a:lnTo>
                  <a:lnTo>
                    <a:pt x="14" y="19"/>
                  </a:lnTo>
                  <a:lnTo>
                    <a:pt x="14" y="33"/>
                  </a:lnTo>
                  <a:lnTo>
                    <a:pt x="0" y="33"/>
                  </a:lnTo>
                  <a:lnTo>
                    <a:pt x="0" y="19"/>
                  </a:lnTo>
                  <a:lnTo>
                    <a:pt x="0" y="111"/>
                  </a:lnTo>
                  <a:lnTo>
                    <a:pt x="14" y="111"/>
                  </a:lnTo>
                  <a:lnTo>
                    <a:pt x="0" y="50"/>
                  </a:lnTo>
                  <a:lnTo>
                    <a:pt x="0" y="35"/>
                  </a:lnTo>
                  <a:lnTo>
                    <a:pt x="14" y="35"/>
                  </a:lnTo>
                  <a:lnTo>
                    <a:pt x="19" y="142"/>
                  </a:lnTo>
                  <a:lnTo>
                    <a:pt x="19" y="128"/>
                  </a:lnTo>
                  <a:lnTo>
                    <a:pt x="33" y="128"/>
                  </a:lnTo>
                  <a:lnTo>
                    <a:pt x="52" y="187"/>
                  </a:lnTo>
                  <a:lnTo>
                    <a:pt x="33" y="35"/>
                  </a:lnTo>
                  <a:lnTo>
                    <a:pt x="33" y="50"/>
                  </a:lnTo>
                  <a:lnTo>
                    <a:pt x="19" y="50"/>
                  </a:lnTo>
                  <a:lnTo>
                    <a:pt x="33" y="111"/>
                  </a:lnTo>
                  <a:lnTo>
                    <a:pt x="33" y="126"/>
                  </a:lnTo>
                  <a:lnTo>
                    <a:pt x="19" y="126"/>
                  </a:lnTo>
                  <a:lnTo>
                    <a:pt x="19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5" name="Freeform 108">
              <a:extLst>
                <a:ext uri="{FF2B5EF4-FFF2-40B4-BE49-F238E27FC236}">
                  <a16:creationId xmlns:a16="http://schemas.microsoft.com/office/drawing/2014/main" id="{1A410567-D5DE-4B1D-8318-E1AAE09DF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9203" y="2196545"/>
              <a:ext cx="81639" cy="462615"/>
            </a:xfrm>
            <a:custGeom>
              <a:avLst/>
              <a:gdLst>
                <a:gd name="T0" fmla="*/ 14 w 33"/>
                <a:gd name="T1" fmla="*/ 14 h 187"/>
                <a:gd name="T2" fmla="*/ 14 w 33"/>
                <a:gd name="T3" fmla="*/ 19 h 187"/>
                <a:gd name="T4" fmla="*/ 14 w 33"/>
                <a:gd name="T5" fmla="*/ 33 h 187"/>
                <a:gd name="T6" fmla="*/ 0 w 33"/>
                <a:gd name="T7" fmla="*/ 33 h 187"/>
                <a:gd name="T8" fmla="*/ 0 w 33"/>
                <a:gd name="T9" fmla="*/ 0 h 187"/>
                <a:gd name="T10" fmla="*/ 0 w 33"/>
                <a:gd name="T11" fmla="*/ 111 h 187"/>
                <a:gd name="T12" fmla="*/ 14 w 33"/>
                <a:gd name="T13" fmla="*/ 111 h 187"/>
                <a:gd name="T14" fmla="*/ 0 w 33"/>
                <a:gd name="T15" fmla="*/ 50 h 187"/>
                <a:gd name="T16" fmla="*/ 0 w 33"/>
                <a:gd name="T17" fmla="*/ 35 h 187"/>
                <a:gd name="T18" fmla="*/ 14 w 33"/>
                <a:gd name="T19" fmla="*/ 35 h 187"/>
                <a:gd name="T20" fmla="*/ 33 w 33"/>
                <a:gd name="T21" fmla="*/ 187 h 187"/>
                <a:gd name="T22" fmla="*/ 14 w 33"/>
                <a:gd name="T23" fmla="*/ 14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" h="187">
                  <a:moveTo>
                    <a:pt x="14" y="14"/>
                  </a:moveTo>
                  <a:lnTo>
                    <a:pt x="14" y="19"/>
                  </a:lnTo>
                  <a:lnTo>
                    <a:pt x="14" y="33"/>
                  </a:lnTo>
                  <a:lnTo>
                    <a:pt x="0" y="33"/>
                  </a:lnTo>
                  <a:lnTo>
                    <a:pt x="0" y="0"/>
                  </a:lnTo>
                  <a:lnTo>
                    <a:pt x="0" y="111"/>
                  </a:lnTo>
                  <a:lnTo>
                    <a:pt x="14" y="111"/>
                  </a:lnTo>
                  <a:lnTo>
                    <a:pt x="0" y="50"/>
                  </a:lnTo>
                  <a:lnTo>
                    <a:pt x="0" y="35"/>
                  </a:lnTo>
                  <a:lnTo>
                    <a:pt x="14" y="35"/>
                  </a:lnTo>
                  <a:lnTo>
                    <a:pt x="33" y="187"/>
                  </a:lnTo>
                  <a:lnTo>
                    <a:pt x="14" y="14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6" name="Freeform 109">
              <a:extLst>
                <a:ext uri="{FF2B5EF4-FFF2-40B4-BE49-F238E27FC236}">
                  <a16:creationId xmlns:a16="http://schemas.microsoft.com/office/drawing/2014/main" id="{0172868E-A05E-453D-83CC-D63DF262B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9203" y="2196545"/>
              <a:ext cx="34634" cy="47004"/>
            </a:xfrm>
            <a:custGeom>
              <a:avLst/>
              <a:gdLst>
                <a:gd name="T0" fmla="*/ 0 w 14"/>
                <a:gd name="T1" fmla="*/ 14 h 19"/>
                <a:gd name="T2" fmla="*/ 0 w 14"/>
                <a:gd name="T3" fmla="*/ 0 h 19"/>
                <a:gd name="T4" fmla="*/ 0 w 14"/>
                <a:gd name="T5" fmla="*/ 19 h 19"/>
                <a:gd name="T6" fmla="*/ 14 w 14"/>
                <a:gd name="T7" fmla="*/ 19 h 19"/>
                <a:gd name="T8" fmla="*/ 14 w 14"/>
                <a:gd name="T9" fmla="*/ 14 h 19"/>
                <a:gd name="T10" fmla="*/ 0 w 14"/>
                <a:gd name="T11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9">
                  <a:moveTo>
                    <a:pt x="0" y="14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14" y="19"/>
                  </a:lnTo>
                  <a:lnTo>
                    <a:pt x="14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7" name="Freeform 110">
              <a:extLst>
                <a:ext uri="{FF2B5EF4-FFF2-40B4-BE49-F238E27FC236}">
                  <a16:creationId xmlns:a16="http://schemas.microsoft.com/office/drawing/2014/main" id="{9881FF40-B614-45E6-ACC0-9326DEAF5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3593" y="2196545"/>
              <a:ext cx="42057" cy="123694"/>
            </a:xfrm>
            <a:custGeom>
              <a:avLst/>
              <a:gdLst>
                <a:gd name="T0" fmla="*/ 3 w 17"/>
                <a:gd name="T1" fmla="*/ 0 h 50"/>
                <a:gd name="T2" fmla="*/ 0 w 17"/>
                <a:gd name="T3" fmla="*/ 0 h 50"/>
                <a:gd name="T4" fmla="*/ 0 w 17"/>
                <a:gd name="T5" fmla="*/ 14 h 50"/>
                <a:gd name="T6" fmla="*/ 3 w 17"/>
                <a:gd name="T7" fmla="*/ 50 h 50"/>
                <a:gd name="T8" fmla="*/ 3 w 17"/>
                <a:gd name="T9" fmla="*/ 35 h 50"/>
                <a:gd name="T10" fmla="*/ 17 w 17"/>
                <a:gd name="T11" fmla="*/ 35 h 50"/>
                <a:gd name="T12" fmla="*/ 3 w 17"/>
                <a:gd name="T13" fmla="*/ 33 h 50"/>
                <a:gd name="T14" fmla="*/ 3 w 17"/>
                <a:gd name="T1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50">
                  <a:moveTo>
                    <a:pt x="3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50"/>
                  </a:lnTo>
                  <a:lnTo>
                    <a:pt x="3" y="35"/>
                  </a:lnTo>
                  <a:lnTo>
                    <a:pt x="17" y="35"/>
                  </a:lnTo>
                  <a:lnTo>
                    <a:pt x="3" y="3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Freeform 111">
              <a:extLst>
                <a:ext uri="{FF2B5EF4-FFF2-40B4-BE49-F238E27FC236}">
                  <a16:creationId xmlns:a16="http://schemas.microsoft.com/office/drawing/2014/main" id="{D631F01B-73B4-4DD3-BAC7-EE51857FB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4952" y="2196545"/>
              <a:ext cx="136064" cy="452719"/>
            </a:xfrm>
            <a:custGeom>
              <a:avLst/>
              <a:gdLst>
                <a:gd name="T0" fmla="*/ 14 w 55"/>
                <a:gd name="T1" fmla="*/ 14 h 183"/>
                <a:gd name="T2" fmla="*/ 14 w 55"/>
                <a:gd name="T3" fmla="*/ 19 h 183"/>
                <a:gd name="T4" fmla="*/ 14 w 55"/>
                <a:gd name="T5" fmla="*/ 33 h 183"/>
                <a:gd name="T6" fmla="*/ 0 w 55"/>
                <a:gd name="T7" fmla="*/ 33 h 183"/>
                <a:gd name="T8" fmla="*/ 0 w 55"/>
                <a:gd name="T9" fmla="*/ 0 h 183"/>
                <a:gd name="T10" fmla="*/ 0 w 55"/>
                <a:gd name="T11" fmla="*/ 111 h 183"/>
                <a:gd name="T12" fmla="*/ 14 w 55"/>
                <a:gd name="T13" fmla="*/ 111 h 183"/>
                <a:gd name="T14" fmla="*/ 0 w 55"/>
                <a:gd name="T15" fmla="*/ 50 h 183"/>
                <a:gd name="T16" fmla="*/ 0 w 55"/>
                <a:gd name="T17" fmla="*/ 35 h 183"/>
                <a:gd name="T18" fmla="*/ 14 w 55"/>
                <a:gd name="T19" fmla="*/ 35 h 183"/>
                <a:gd name="T20" fmla="*/ 33 w 55"/>
                <a:gd name="T21" fmla="*/ 183 h 183"/>
                <a:gd name="T22" fmla="*/ 33 w 55"/>
                <a:gd name="T23" fmla="*/ 104 h 183"/>
                <a:gd name="T24" fmla="*/ 31 w 55"/>
                <a:gd name="T25" fmla="*/ 104 h 183"/>
                <a:gd name="T26" fmla="*/ 31 w 55"/>
                <a:gd name="T27" fmla="*/ 95 h 183"/>
                <a:gd name="T28" fmla="*/ 38 w 55"/>
                <a:gd name="T29" fmla="*/ 50 h 183"/>
                <a:gd name="T30" fmla="*/ 38 w 55"/>
                <a:gd name="T31" fmla="*/ 35 h 183"/>
                <a:gd name="T32" fmla="*/ 52 w 55"/>
                <a:gd name="T33" fmla="*/ 35 h 183"/>
                <a:gd name="T34" fmla="*/ 55 w 55"/>
                <a:gd name="T35" fmla="*/ 50 h 183"/>
                <a:gd name="T36" fmla="*/ 52 w 55"/>
                <a:gd name="T37" fmla="*/ 14 h 183"/>
                <a:gd name="T38" fmla="*/ 36 w 55"/>
                <a:gd name="T39" fmla="*/ 14 h 183"/>
                <a:gd name="T40" fmla="*/ 38 w 55"/>
                <a:gd name="T41" fmla="*/ 19 h 183"/>
                <a:gd name="T42" fmla="*/ 52 w 55"/>
                <a:gd name="T43" fmla="*/ 19 h 183"/>
                <a:gd name="T44" fmla="*/ 52 w 55"/>
                <a:gd name="T45" fmla="*/ 33 h 183"/>
                <a:gd name="T46" fmla="*/ 38 w 55"/>
                <a:gd name="T47" fmla="*/ 33 h 183"/>
                <a:gd name="T48" fmla="*/ 38 w 55"/>
                <a:gd name="T49" fmla="*/ 19 h 183"/>
                <a:gd name="T50" fmla="*/ 36 w 55"/>
                <a:gd name="T51" fmla="*/ 14 h 183"/>
                <a:gd name="T52" fmla="*/ 38 w 55"/>
                <a:gd name="T53" fmla="*/ 12 h 183"/>
                <a:gd name="T54" fmla="*/ 43 w 55"/>
                <a:gd name="T55" fmla="*/ 5 h 183"/>
                <a:gd name="T56" fmla="*/ 52 w 55"/>
                <a:gd name="T57" fmla="*/ 0 h 183"/>
                <a:gd name="T58" fmla="*/ 2 w 55"/>
                <a:gd name="T59" fmla="*/ 0 h 183"/>
                <a:gd name="T60" fmla="*/ 10 w 55"/>
                <a:gd name="T61" fmla="*/ 5 h 183"/>
                <a:gd name="T62" fmla="*/ 14 w 55"/>
                <a:gd name="T63" fmla="*/ 14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" h="183">
                  <a:moveTo>
                    <a:pt x="14" y="14"/>
                  </a:moveTo>
                  <a:lnTo>
                    <a:pt x="14" y="19"/>
                  </a:lnTo>
                  <a:lnTo>
                    <a:pt x="14" y="33"/>
                  </a:lnTo>
                  <a:lnTo>
                    <a:pt x="0" y="33"/>
                  </a:lnTo>
                  <a:lnTo>
                    <a:pt x="0" y="0"/>
                  </a:lnTo>
                  <a:lnTo>
                    <a:pt x="0" y="111"/>
                  </a:lnTo>
                  <a:lnTo>
                    <a:pt x="14" y="111"/>
                  </a:lnTo>
                  <a:lnTo>
                    <a:pt x="0" y="50"/>
                  </a:lnTo>
                  <a:lnTo>
                    <a:pt x="0" y="35"/>
                  </a:lnTo>
                  <a:lnTo>
                    <a:pt x="14" y="35"/>
                  </a:lnTo>
                  <a:lnTo>
                    <a:pt x="33" y="183"/>
                  </a:lnTo>
                  <a:lnTo>
                    <a:pt x="33" y="104"/>
                  </a:lnTo>
                  <a:lnTo>
                    <a:pt x="31" y="104"/>
                  </a:lnTo>
                  <a:lnTo>
                    <a:pt x="31" y="95"/>
                  </a:lnTo>
                  <a:lnTo>
                    <a:pt x="38" y="50"/>
                  </a:lnTo>
                  <a:lnTo>
                    <a:pt x="38" y="35"/>
                  </a:lnTo>
                  <a:lnTo>
                    <a:pt x="52" y="35"/>
                  </a:lnTo>
                  <a:lnTo>
                    <a:pt x="55" y="50"/>
                  </a:lnTo>
                  <a:lnTo>
                    <a:pt x="52" y="14"/>
                  </a:lnTo>
                  <a:lnTo>
                    <a:pt x="36" y="14"/>
                  </a:lnTo>
                  <a:lnTo>
                    <a:pt x="38" y="19"/>
                  </a:lnTo>
                  <a:lnTo>
                    <a:pt x="52" y="19"/>
                  </a:lnTo>
                  <a:lnTo>
                    <a:pt x="52" y="33"/>
                  </a:lnTo>
                  <a:lnTo>
                    <a:pt x="38" y="33"/>
                  </a:lnTo>
                  <a:lnTo>
                    <a:pt x="38" y="19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3" y="5"/>
                  </a:lnTo>
                  <a:lnTo>
                    <a:pt x="52" y="0"/>
                  </a:lnTo>
                  <a:lnTo>
                    <a:pt x="2" y="0"/>
                  </a:lnTo>
                  <a:lnTo>
                    <a:pt x="10" y="5"/>
                  </a:lnTo>
                  <a:lnTo>
                    <a:pt x="14" y="14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9" name="Line 112">
              <a:extLst>
                <a:ext uri="{FF2B5EF4-FFF2-40B4-BE49-F238E27FC236}">
                  <a16:creationId xmlns:a16="http://schemas.microsoft.com/office/drawing/2014/main" id="{EAEC8239-FA25-4E79-92C3-E4AAAE0D9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9657" y="2560205"/>
              <a:ext cx="4948" cy="0"/>
            </a:xfrm>
            <a:prstGeom prst="line">
              <a:avLst/>
            </a:prstGeom>
            <a:noFill/>
            <a:ln w="123825" cap="flat">
              <a:solidFill>
                <a:srgbClr val="EC00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Line 113">
              <a:extLst>
                <a:ext uri="{FF2B5EF4-FFF2-40B4-BE49-F238E27FC236}">
                  <a16:creationId xmlns:a16="http://schemas.microsoft.com/office/drawing/2014/main" id="{D919AF6B-F8CD-4D7A-8889-EDD39976D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5997" y="2649264"/>
              <a:ext cx="737214" cy="0"/>
            </a:xfrm>
            <a:prstGeom prst="line">
              <a:avLst/>
            </a:prstGeom>
            <a:noFill/>
            <a:ln w="14288" cap="flat">
              <a:solidFill>
                <a:srgbClr val="EC00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Line 114">
              <a:extLst>
                <a:ext uri="{FF2B5EF4-FFF2-40B4-BE49-F238E27FC236}">
                  <a16:creationId xmlns:a16="http://schemas.microsoft.com/office/drawing/2014/main" id="{E3CB2900-8992-4981-8E6B-05132B674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89272" y="2641842"/>
              <a:ext cx="410663" cy="0"/>
            </a:xfrm>
            <a:prstGeom prst="line">
              <a:avLst/>
            </a:prstGeom>
            <a:noFill/>
            <a:ln w="7938" cap="flat">
              <a:solidFill>
                <a:srgbClr val="EC00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Freeform 115">
              <a:extLst>
                <a:ext uri="{FF2B5EF4-FFF2-40B4-BE49-F238E27FC236}">
                  <a16:creationId xmlns:a16="http://schemas.microsoft.com/office/drawing/2014/main" id="{84488F57-6445-4EB5-BFC7-4D76243E7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1258" y="1983792"/>
              <a:ext cx="779270" cy="170698"/>
            </a:xfrm>
            <a:custGeom>
              <a:avLst/>
              <a:gdLst>
                <a:gd name="T0" fmla="*/ 315 w 315"/>
                <a:gd name="T1" fmla="*/ 69 h 69"/>
                <a:gd name="T2" fmla="*/ 280 w 315"/>
                <a:gd name="T3" fmla="*/ 0 h 69"/>
                <a:gd name="T4" fmla="*/ 36 w 315"/>
                <a:gd name="T5" fmla="*/ 0 h 69"/>
                <a:gd name="T6" fmla="*/ 0 w 315"/>
                <a:gd name="T7" fmla="*/ 69 h 69"/>
                <a:gd name="T8" fmla="*/ 315 w 315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69">
                  <a:moveTo>
                    <a:pt x="315" y="69"/>
                  </a:moveTo>
                  <a:lnTo>
                    <a:pt x="280" y="0"/>
                  </a:lnTo>
                  <a:lnTo>
                    <a:pt x="36" y="0"/>
                  </a:lnTo>
                  <a:lnTo>
                    <a:pt x="0" y="69"/>
                  </a:lnTo>
                  <a:lnTo>
                    <a:pt x="315" y="69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8549538-103D-4C73-ADB1-D7E1425245A2}"/>
                </a:ext>
              </a:extLst>
            </p:cNvPr>
            <p:cNvSpPr txBox="1"/>
            <p:nvPr/>
          </p:nvSpPr>
          <p:spPr>
            <a:xfrm>
              <a:off x="8234079" y="2766447"/>
              <a:ext cx="19253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State Store 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WIC (+2° to 8°C) &amp;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WIF (-15° to -25°C)</a:t>
              </a:r>
            </a:p>
          </p:txBody>
        </p:sp>
      </p:grpSp>
      <p:grpSp>
        <p:nvGrpSpPr>
          <p:cNvPr id="56" name="Group 83">
            <a:extLst>
              <a:ext uri="{FF2B5EF4-FFF2-40B4-BE49-F238E27FC236}">
                <a16:creationId xmlns:a16="http://schemas.microsoft.com/office/drawing/2014/main" id="{25B681EA-E92C-41E9-9F1B-319586D55FCC}"/>
              </a:ext>
            </a:extLst>
          </p:cNvPr>
          <p:cNvGrpSpPr/>
          <p:nvPr/>
        </p:nvGrpSpPr>
        <p:grpSpPr>
          <a:xfrm>
            <a:off x="9554615" y="1801136"/>
            <a:ext cx="1914864" cy="1604556"/>
            <a:chOff x="9945232" y="2085221"/>
            <a:chExt cx="1914864" cy="1604556"/>
          </a:xfrm>
        </p:grpSpPr>
        <p:grpSp>
          <p:nvGrpSpPr>
            <p:cNvPr id="84" name="Group 84">
              <a:extLst>
                <a:ext uri="{FF2B5EF4-FFF2-40B4-BE49-F238E27FC236}">
                  <a16:creationId xmlns:a16="http://schemas.microsoft.com/office/drawing/2014/main" id="{89E7AF49-B3FA-40B8-BCE5-ABDBA8665D0B}"/>
                </a:ext>
              </a:extLst>
            </p:cNvPr>
            <p:cNvGrpSpPr/>
            <p:nvPr/>
          </p:nvGrpSpPr>
          <p:grpSpPr>
            <a:xfrm>
              <a:off x="9945232" y="2213863"/>
              <a:ext cx="356239" cy="217701"/>
              <a:chOff x="9945232" y="2213863"/>
              <a:chExt cx="356239" cy="217701"/>
            </a:xfrm>
          </p:grpSpPr>
          <p:sp>
            <p:nvSpPr>
              <p:cNvPr id="95" name="Freeform 31">
                <a:extLst>
                  <a:ext uri="{FF2B5EF4-FFF2-40B4-BE49-F238E27FC236}">
                    <a16:creationId xmlns:a16="http://schemas.microsoft.com/office/drawing/2014/main" id="{262D7743-437A-4DF0-BD12-B3679EAC6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0146" y="2213863"/>
                <a:ext cx="111325" cy="217701"/>
              </a:xfrm>
              <a:custGeom>
                <a:avLst/>
                <a:gdLst>
                  <a:gd name="T0" fmla="*/ 0 w 45"/>
                  <a:gd name="T1" fmla="*/ 0 h 88"/>
                  <a:gd name="T2" fmla="*/ 0 w 45"/>
                  <a:gd name="T3" fmla="*/ 28 h 88"/>
                  <a:gd name="T4" fmla="*/ 14 w 45"/>
                  <a:gd name="T5" fmla="*/ 28 h 88"/>
                  <a:gd name="T6" fmla="*/ 14 w 45"/>
                  <a:gd name="T7" fmla="*/ 59 h 88"/>
                  <a:gd name="T8" fmla="*/ 0 w 45"/>
                  <a:gd name="T9" fmla="*/ 59 h 88"/>
                  <a:gd name="T10" fmla="*/ 0 w 45"/>
                  <a:gd name="T11" fmla="*/ 88 h 88"/>
                  <a:gd name="T12" fmla="*/ 45 w 45"/>
                  <a:gd name="T13" fmla="*/ 43 h 88"/>
                  <a:gd name="T14" fmla="*/ 0 w 45"/>
                  <a:gd name="T1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88">
                    <a:moveTo>
                      <a:pt x="0" y="0"/>
                    </a:moveTo>
                    <a:lnTo>
                      <a:pt x="0" y="28"/>
                    </a:lnTo>
                    <a:lnTo>
                      <a:pt x="14" y="28"/>
                    </a:lnTo>
                    <a:lnTo>
                      <a:pt x="14" y="59"/>
                    </a:lnTo>
                    <a:lnTo>
                      <a:pt x="0" y="59"/>
                    </a:lnTo>
                    <a:lnTo>
                      <a:pt x="0" y="88"/>
                    </a:lnTo>
                    <a:lnTo>
                      <a:pt x="45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95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6" name="Freeform 32">
                <a:extLst>
                  <a:ext uri="{FF2B5EF4-FFF2-40B4-BE49-F238E27FC236}">
                    <a16:creationId xmlns:a16="http://schemas.microsoft.com/office/drawing/2014/main" id="{C26AE037-251C-4D75-9D95-AF8B841C0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0146" y="2213863"/>
                <a:ext cx="111325" cy="217701"/>
              </a:xfrm>
              <a:custGeom>
                <a:avLst/>
                <a:gdLst>
                  <a:gd name="T0" fmla="*/ 0 w 45"/>
                  <a:gd name="T1" fmla="*/ 0 h 88"/>
                  <a:gd name="T2" fmla="*/ 0 w 45"/>
                  <a:gd name="T3" fmla="*/ 28 h 88"/>
                  <a:gd name="T4" fmla="*/ 14 w 45"/>
                  <a:gd name="T5" fmla="*/ 28 h 88"/>
                  <a:gd name="T6" fmla="*/ 14 w 45"/>
                  <a:gd name="T7" fmla="*/ 59 h 88"/>
                  <a:gd name="T8" fmla="*/ 0 w 45"/>
                  <a:gd name="T9" fmla="*/ 59 h 88"/>
                  <a:gd name="T10" fmla="*/ 0 w 45"/>
                  <a:gd name="T11" fmla="*/ 88 h 88"/>
                  <a:gd name="T12" fmla="*/ 45 w 45"/>
                  <a:gd name="T13" fmla="*/ 43 h 88"/>
                  <a:gd name="T14" fmla="*/ 0 w 45"/>
                  <a:gd name="T1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88">
                    <a:moveTo>
                      <a:pt x="0" y="0"/>
                    </a:moveTo>
                    <a:lnTo>
                      <a:pt x="0" y="28"/>
                    </a:lnTo>
                    <a:lnTo>
                      <a:pt x="14" y="28"/>
                    </a:lnTo>
                    <a:lnTo>
                      <a:pt x="14" y="59"/>
                    </a:lnTo>
                    <a:lnTo>
                      <a:pt x="0" y="59"/>
                    </a:lnTo>
                    <a:lnTo>
                      <a:pt x="0" y="88"/>
                    </a:lnTo>
                    <a:lnTo>
                      <a:pt x="45" y="4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7" name="Rectangle 33">
                <a:extLst>
                  <a:ext uri="{FF2B5EF4-FFF2-40B4-BE49-F238E27FC236}">
                    <a16:creationId xmlns:a16="http://schemas.microsoft.com/office/drawing/2014/main" id="{635877D4-6068-43B9-99B0-27B29F1A4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5232" y="2283131"/>
                <a:ext cx="244914" cy="76691"/>
              </a:xfrm>
              <a:prstGeom prst="rect">
                <a:avLst/>
              </a:prstGeom>
              <a:solidFill>
                <a:srgbClr val="9395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8" name="Rectangle 34">
                <a:extLst>
                  <a:ext uri="{FF2B5EF4-FFF2-40B4-BE49-F238E27FC236}">
                    <a16:creationId xmlns:a16="http://schemas.microsoft.com/office/drawing/2014/main" id="{38844872-0224-41A2-AFD3-6567ABB8EC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5232" y="2283131"/>
                <a:ext cx="244914" cy="766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9" name="Rectangle 35">
                <a:extLst>
                  <a:ext uri="{FF2B5EF4-FFF2-40B4-BE49-F238E27FC236}">
                    <a16:creationId xmlns:a16="http://schemas.microsoft.com/office/drawing/2014/main" id="{115C2DD4-E4EF-479C-970C-D987965EF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0146" y="2283131"/>
                <a:ext cx="34634" cy="76691"/>
              </a:xfrm>
              <a:prstGeom prst="rect">
                <a:avLst/>
              </a:prstGeom>
              <a:solidFill>
                <a:srgbClr val="9395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0" name="Rectangle 36">
                <a:extLst>
                  <a:ext uri="{FF2B5EF4-FFF2-40B4-BE49-F238E27FC236}">
                    <a16:creationId xmlns:a16="http://schemas.microsoft.com/office/drawing/2014/main" id="{43C02D16-0EB6-4817-9C92-628906FBE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0146" y="2283131"/>
                <a:ext cx="34634" cy="766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6" name="Freeform 116">
              <a:extLst>
                <a:ext uri="{FF2B5EF4-FFF2-40B4-BE49-F238E27FC236}">
                  <a16:creationId xmlns:a16="http://schemas.microsoft.com/office/drawing/2014/main" id="{8E2544D4-7533-4BE8-B4F7-EAE5DDA09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9137" y="2414246"/>
              <a:ext cx="56900" cy="51952"/>
            </a:xfrm>
            <a:custGeom>
              <a:avLst/>
              <a:gdLst>
                <a:gd name="T0" fmla="*/ 23 w 23"/>
                <a:gd name="T1" fmla="*/ 12 h 21"/>
                <a:gd name="T2" fmla="*/ 23 w 23"/>
                <a:gd name="T3" fmla="*/ 7 h 21"/>
                <a:gd name="T4" fmla="*/ 21 w 23"/>
                <a:gd name="T5" fmla="*/ 4 h 21"/>
                <a:gd name="T6" fmla="*/ 19 w 23"/>
                <a:gd name="T7" fmla="*/ 2 h 21"/>
                <a:gd name="T8" fmla="*/ 16 w 23"/>
                <a:gd name="T9" fmla="*/ 0 h 21"/>
                <a:gd name="T10" fmla="*/ 14 w 23"/>
                <a:gd name="T11" fmla="*/ 0 h 21"/>
                <a:gd name="T12" fmla="*/ 7 w 23"/>
                <a:gd name="T13" fmla="*/ 0 h 21"/>
                <a:gd name="T14" fmla="*/ 4 w 23"/>
                <a:gd name="T15" fmla="*/ 0 h 21"/>
                <a:gd name="T16" fmla="*/ 2 w 23"/>
                <a:gd name="T17" fmla="*/ 2 h 21"/>
                <a:gd name="T18" fmla="*/ 0 w 23"/>
                <a:gd name="T19" fmla="*/ 4 h 21"/>
                <a:gd name="T20" fmla="*/ 0 w 23"/>
                <a:gd name="T21" fmla="*/ 7 h 21"/>
                <a:gd name="T22" fmla="*/ 0 w 23"/>
                <a:gd name="T23" fmla="*/ 14 h 21"/>
                <a:gd name="T24" fmla="*/ 0 w 23"/>
                <a:gd name="T25" fmla="*/ 16 h 21"/>
                <a:gd name="T26" fmla="*/ 2 w 23"/>
                <a:gd name="T27" fmla="*/ 19 h 21"/>
                <a:gd name="T28" fmla="*/ 4 w 23"/>
                <a:gd name="T29" fmla="*/ 21 h 21"/>
                <a:gd name="T30" fmla="*/ 7 w 23"/>
                <a:gd name="T31" fmla="*/ 21 h 21"/>
                <a:gd name="T32" fmla="*/ 14 w 23"/>
                <a:gd name="T33" fmla="*/ 21 h 21"/>
                <a:gd name="T34" fmla="*/ 16 w 23"/>
                <a:gd name="T35" fmla="*/ 21 h 21"/>
                <a:gd name="T36" fmla="*/ 19 w 23"/>
                <a:gd name="T37" fmla="*/ 19 h 21"/>
                <a:gd name="T38" fmla="*/ 21 w 23"/>
                <a:gd name="T39" fmla="*/ 16 h 21"/>
                <a:gd name="T40" fmla="*/ 23 w 23"/>
                <a:gd name="T41" fmla="*/ 14 h 21"/>
                <a:gd name="T42" fmla="*/ 23 w 23"/>
                <a:gd name="T43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1">
                  <a:moveTo>
                    <a:pt x="23" y="12"/>
                  </a:moveTo>
                  <a:lnTo>
                    <a:pt x="23" y="7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7" y="21"/>
                  </a:lnTo>
                  <a:lnTo>
                    <a:pt x="14" y="21"/>
                  </a:lnTo>
                  <a:lnTo>
                    <a:pt x="16" y="21"/>
                  </a:lnTo>
                  <a:lnTo>
                    <a:pt x="19" y="19"/>
                  </a:lnTo>
                  <a:lnTo>
                    <a:pt x="21" y="16"/>
                  </a:lnTo>
                  <a:lnTo>
                    <a:pt x="23" y="14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7" name="Freeform 117">
              <a:extLst>
                <a:ext uri="{FF2B5EF4-FFF2-40B4-BE49-F238E27FC236}">
                  <a16:creationId xmlns:a16="http://schemas.microsoft.com/office/drawing/2014/main" id="{D661642F-B015-4108-80B2-020EB7ED5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2657" y="2406825"/>
              <a:ext cx="111325" cy="54425"/>
            </a:xfrm>
            <a:custGeom>
              <a:avLst/>
              <a:gdLst>
                <a:gd name="T0" fmla="*/ 33 w 45"/>
                <a:gd name="T1" fmla="*/ 0 h 22"/>
                <a:gd name="T2" fmla="*/ 33 w 45"/>
                <a:gd name="T3" fmla="*/ 15 h 22"/>
                <a:gd name="T4" fmla="*/ 14 w 45"/>
                <a:gd name="T5" fmla="*/ 15 h 22"/>
                <a:gd name="T6" fmla="*/ 14 w 45"/>
                <a:gd name="T7" fmla="*/ 0 h 22"/>
                <a:gd name="T8" fmla="*/ 0 w 45"/>
                <a:gd name="T9" fmla="*/ 22 h 22"/>
                <a:gd name="T10" fmla="*/ 45 w 45"/>
                <a:gd name="T11" fmla="*/ 22 h 22"/>
                <a:gd name="T12" fmla="*/ 33 w 45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22">
                  <a:moveTo>
                    <a:pt x="33" y="0"/>
                  </a:moveTo>
                  <a:lnTo>
                    <a:pt x="33" y="15"/>
                  </a:lnTo>
                  <a:lnTo>
                    <a:pt x="14" y="15"/>
                  </a:lnTo>
                  <a:lnTo>
                    <a:pt x="14" y="0"/>
                  </a:lnTo>
                  <a:lnTo>
                    <a:pt x="0" y="22"/>
                  </a:lnTo>
                  <a:lnTo>
                    <a:pt x="45" y="22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8" name="Freeform 118">
              <a:extLst>
                <a:ext uri="{FF2B5EF4-FFF2-40B4-BE49-F238E27FC236}">
                  <a16:creationId xmlns:a16="http://schemas.microsoft.com/office/drawing/2014/main" id="{31452EC2-9E4B-4791-AAB1-858B3D363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3039" y="2124803"/>
              <a:ext cx="294392" cy="405715"/>
            </a:xfrm>
            <a:custGeom>
              <a:avLst/>
              <a:gdLst>
                <a:gd name="T0" fmla="*/ 104 w 119"/>
                <a:gd name="T1" fmla="*/ 72 h 164"/>
                <a:gd name="T2" fmla="*/ 104 w 119"/>
                <a:gd name="T3" fmla="*/ 76 h 164"/>
                <a:gd name="T4" fmla="*/ 97 w 119"/>
                <a:gd name="T5" fmla="*/ 76 h 164"/>
                <a:gd name="T6" fmla="*/ 97 w 119"/>
                <a:gd name="T7" fmla="*/ 64 h 164"/>
                <a:gd name="T8" fmla="*/ 95 w 119"/>
                <a:gd name="T9" fmla="*/ 53 h 164"/>
                <a:gd name="T10" fmla="*/ 97 w 119"/>
                <a:gd name="T11" fmla="*/ 3 h 164"/>
                <a:gd name="T12" fmla="*/ 97 w 119"/>
                <a:gd name="T13" fmla="*/ 3 h 164"/>
                <a:gd name="T14" fmla="*/ 97 w 119"/>
                <a:gd name="T15" fmla="*/ 0 h 164"/>
                <a:gd name="T16" fmla="*/ 0 w 119"/>
                <a:gd name="T17" fmla="*/ 164 h 164"/>
                <a:gd name="T18" fmla="*/ 7 w 119"/>
                <a:gd name="T19" fmla="*/ 157 h 164"/>
                <a:gd name="T20" fmla="*/ 12 w 119"/>
                <a:gd name="T21" fmla="*/ 150 h 164"/>
                <a:gd name="T22" fmla="*/ 14 w 119"/>
                <a:gd name="T23" fmla="*/ 140 h 164"/>
                <a:gd name="T24" fmla="*/ 114 w 119"/>
                <a:gd name="T25" fmla="*/ 140 h 164"/>
                <a:gd name="T26" fmla="*/ 114 w 119"/>
                <a:gd name="T27" fmla="*/ 145 h 164"/>
                <a:gd name="T28" fmla="*/ 119 w 119"/>
                <a:gd name="T29" fmla="*/ 152 h 164"/>
                <a:gd name="T30" fmla="*/ 116 w 119"/>
                <a:gd name="T31" fmla="*/ 64 h 164"/>
                <a:gd name="T32" fmla="*/ 116 w 119"/>
                <a:gd name="T33" fmla="*/ 72 h 164"/>
                <a:gd name="T34" fmla="*/ 104 w 119"/>
                <a:gd name="T35" fmla="*/ 7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9" h="164">
                  <a:moveTo>
                    <a:pt x="104" y="72"/>
                  </a:moveTo>
                  <a:lnTo>
                    <a:pt x="104" y="76"/>
                  </a:lnTo>
                  <a:lnTo>
                    <a:pt x="97" y="76"/>
                  </a:lnTo>
                  <a:lnTo>
                    <a:pt x="97" y="64"/>
                  </a:lnTo>
                  <a:lnTo>
                    <a:pt x="95" y="53"/>
                  </a:lnTo>
                  <a:lnTo>
                    <a:pt x="97" y="3"/>
                  </a:lnTo>
                  <a:lnTo>
                    <a:pt x="97" y="3"/>
                  </a:lnTo>
                  <a:lnTo>
                    <a:pt x="97" y="0"/>
                  </a:lnTo>
                  <a:lnTo>
                    <a:pt x="0" y="164"/>
                  </a:lnTo>
                  <a:lnTo>
                    <a:pt x="7" y="157"/>
                  </a:lnTo>
                  <a:lnTo>
                    <a:pt x="12" y="150"/>
                  </a:lnTo>
                  <a:lnTo>
                    <a:pt x="14" y="140"/>
                  </a:lnTo>
                  <a:lnTo>
                    <a:pt x="114" y="140"/>
                  </a:lnTo>
                  <a:lnTo>
                    <a:pt x="114" y="145"/>
                  </a:lnTo>
                  <a:lnTo>
                    <a:pt x="119" y="152"/>
                  </a:lnTo>
                  <a:lnTo>
                    <a:pt x="116" y="64"/>
                  </a:lnTo>
                  <a:lnTo>
                    <a:pt x="116" y="72"/>
                  </a:lnTo>
                  <a:lnTo>
                    <a:pt x="104" y="72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9" name="Freeform 119">
              <a:extLst>
                <a:ext uri="{FF2B5EF4-FFF2-40B4-BE49-F238E27FC236}">
                  <a16:creationId xmlns:a16="http://schemas.microsoft.com/office/drawing/2014/main" id="{0B4090CE-6818-46AC-82E5-7F043DE26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8752" y="2414246"/>
              <a:ext cx="128641" cy="86586"/>
            </a:xfrm>
            <a:custGeom>
              <a:avLst/>
              <a:gdLst>
                <a:gd name="T0" fmla="*/ 12 w 52"/>
                <a:gd name="T1" fmla="*/ 26 h 35"/>
                <a:gd name="T2" fmla="*/ 12 w 52"/>
                <a:gd name="T3" fmla="*/ 9 h 35"/>
                <a:gd name="T4" fmla="*/ 14 w 52"/>
                <a:gd name="T5" fmla="*/ 0 h 35"/>
                <a:gd name="T6" fmla="*/ 0 w 52"/>
                <a:gd name="T7" fmla="*/ 0 h 35"/>
                <a:gd name="T8" fmla="*/ 0 w 52"/>
                <a:gd name="T9" fmla="*/ 35 h 35"/>
                <a:gd name="T10" fmla="*/ 52 w 52"/>
                <a:gd name="T11" fmla="*/ 35 h 35"/>
                <a:gd name="T12" fmla="*/ 33 w 52"/>
                <a:gd name="T13" fmla="*/ 26 h 35"/>
                <a:gd name="T14" fmla="*/ 12 w 52"/>
                <a:gd name="T15" fmla="*/ 26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35">
                  <a:moveTo>
                    <a:pt x="12" y="26"/>
                  </a:moveTo>
                  <a:lnTo>
                    <a:pt x="12" y="9"/>
                  </a:lnTo>
                  <a:lnTo>
                    <a:pt x="14" y="0"/>
                  </a:lnTo>
                  <a:lnTo>
                    <a:pt x="0" y="0"/>
                  </a:lnTo>
                  <a:lnTo>
                    <a:pt x="0" y="35"/>
                  </a:lnTo>
                  <a:lnTo>
                    <a:pt x="52" y="35"/>
                  </a:lnTo>
                  <a:lnTo>
                    <a:pt x="33" y="26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" name="Freeform 120">
              <a:extLst>
                <a:ext uri="{FF2B5EF4-FFF2-40B4-BE49-F238E27FC236}">
                  <a16:creationId xmlns:a16="http://schemas.microsoft.com/office/drawing/2014/main" id="{ABB343D5-1FDE-401F-82CD-ABDC88E38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439" y="2085221"/>
              <a:ext cx="895542" cy="499722"/>
            </a:xfrm>
            <a:custGeom>
              <a:avLst/>
              <a:gdLst>
                <a:gd name="T0" fmla="*/ 105 w 153"/>
                <a:gd name="T1" fmla="*/ 64 h 85"/>
                <a:gd name="T2" fmla="*/ 104 w 153"/>
                <a:gd name="T3" fmla="*/ 60 h 85"/>
                <a:gd name="T4" fmla="*/ 102 w 153"/>
                <a:gd name="T5" fmla="*/ 77 h 85"/>
                <a:gd name="T6" fmla="*/ 140 w 153"/>
                <a:gd name="T7" fmla="*/ 55 h 85"/>
                <a:gd name="T8" fmla="*/ 153 w 153"/>
                <a:gd name="T9" fmla="*/ 64 h 85"/>
                <a:gd name="T10" fmla="*/ 147 w 153"/>
                <a:gd name="T11" fmla="*/ 52 h 85"/>
                <a:gd name="T12" fmla="*/ 149 w 153"/>
                <a:gd name="T13" fmla="*/ 37 h 85"/>
                <a:gd name="T14" fmla="*/ 147 w 153"/>
                <a:gd name="T15" fmla="*/ 33 h 85"/>
                <a:gd name="T16" fmla="*/ 143 w 153"/>
                <a:gd name="T17" fmla="*/ 31 h 85"/>
                <a:gd name="T18" fmla="*/ 124 w 153"/>
                <a:gd name="T19" fmla="*/ 25 h 85"/>
                <a:gd name="T20" fmla="*/ 114 w 153"/>
                <a:gd name="T21" fmla="*/ 5 h 85"/>
                <a:gd name="T22" fmla="*/ 108 w 153"/>
                <a:gd name="T23" fmla="*/ 1 h 85"/>
                <a:gd name="T24" fmla="*/ 3 w 153"/>
                <a:gd name="T25" fmla="*/ 0 h 85"/>
                <a:gd name="T26" fmla="*/ 1 w 153"/>
                <a:gd name="T27" fmla="*/ 56 h 85"/>
                <a:gd name="T28" fmla="*/ 9 w 153"/>
                <a:gd name="T29" fmla="*/ 60 h 85"/>
                <a:gd name="T30" fmla="*/ 17 w 153"/>
                <a:gd name="T31" fmla="*/ 71 h 85"/>
                <a:gd name="T32" fmla="*/ 20 w 153"/>
                <a:gd name="T33" fmla="*/ 75 h 85"/>
                <a:gd name="T34" fmla="*/ 26 w 153"/>
                <a:gd name="T35" fmla="*/ 79 h 85"/>
                <a:gd name="T36" fmla="*/ 34 w 153"/>
                <a:gd name="T37" fmla="*/ 81 h 85"/>
                <a:gd name="T38" fmla="*/ 27 w 153"/>
                <a:gd name="T39" fmla="*/ 68 h 85"/>
                <a:gd name="T40" fmla="*/ 24 w 153"/>
                <a:gd name="T41" fmla="*/ 61 h 85"/>
                <a:gd name="T42" fmla="*/ 25 w 153"/>
                <a:gd name="T43" fmla="*/ 57 h 85"/>
                <a:gd name="T44" fmla="*/ 27 w 153"/>
                <a:gd name="T45" fmla="*/ 53 h 85"/>
                <a:gd name="T46" fmla="*/ 34 w 153"/>
                <a:gd name="T47" fmla="*/ 51 h 85"/>
                <a:gd name="T48" fmla="*/ 43 w 153"/>
                <a:gd name="T49" fmla="*/ 64 h 85"/>
                <a:gd name="T50" fmla="*/ 41 w 153"/>
                <a:gd name="T51" fmla="*/ 68 h 85"/>
                <a:gd name="T52" fmla="*/ 46 w 153"/>
                <a:gd name="T53" fmla="*/ 77 h 85"/>
                <a:gd name="T54" fmla="*/ 88 w 153"/>
                <a:gd name="T55" fmla="*/ 7 h 85"/>
                <a:gd name="T56" fmla="*/ 104 w 153"/>
                <a:gd name="T57" fmla="*/ 7 h 85"/>
                <a:gd name="T58" fmla="*/ 108 w 153"/>
                <a:gd name="T59" fmla="*/ 8 h 85"/>
                <a:gd name="T60" fmla="*/ 110 w 153"/>
                <a:gd name="T61" fmla="*/ 11 h 85"/>
                <a:gd name="T62" fmla="*/ 119 w 153"/>
                <a:gd name="T63" fmla="*/ 29 h 85"/>
                <a:gd name="T64" fmla="*/ 88 w 153"/>
                <a:gd name="T65" fmla="*/ 34 h 85"/>
                <a:gd name="T66" fmla="*/ 97 w 153"/>
                <a:gd name="T67" fmla="*/ 71 h 85"/>
                <a:gd name="T68" fmla="*/ 107 w 153"/>
                <a:gd name="T69" fmla="*/ 54 h 85"/>
                <a:gd name="T70" fmla="*/ 111 w 153"/>
                <a:gd name="T71" fmla="*/ 52 h 85"/>
                <a:gd name="T72" fmla="*/ 115 w 153"/>
                <a:gd name="T73" fmla="*/ 51 h 85"/>
                <a:gd name="T74" fmla="*/ 122 w 153"/>
                <a:gd name="T75" fmla="*/ 54 h 85"/>
                <a:gd name="T76" fmla="*/ 124 w 153"/>
                <a:gd name="T77" fmla="*/ 57 h 85"/>
                <a:gd name="T78" fmla="*/ 124 w 153"/>
                <a:gd name="T79" fmla="*/ 61 h 85"/>
                <a:gd name="T80" fmla="*/ 122 w 153"/>
                <a:gd name="T81" fmla="*/ 68 h 85"/>
                <a:gd name="T82" fmla="*/ 118 w 153"/>
                <a:gd name="T83" fmla="*/ 70 h 85"/>
                <a:gd name="T84" fmla="*/ 114 w 153"/>
                <a:gd name="T85" fmla="*/ 71 h 85"/>
                <a:gd name="T86" fmla="*/ 107 w 153"/>
                <a:gd name="T87" fmla="*/ 68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3" h="85">
                  <a:moveTo>
                    <a:pt x="107" y="68"/>
                  </a:moveTo>
                  <a:cubicBezTo>
                    <a:pt x="105" y="64"/>
                    <a:pt x="105" y="64"/>
                    <a:pt x="105" y="64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14" y="85"/>
                    <a:pt x="131" y="79"/>
                    <a:pt x="134" y="64"/>
                  </a:cubicBezTo>
                  <a:cubicBezTo>
                    <a:pt x="140" y="55"/>
                    <a:pt x="140" y="55"/>
                    <a:pt x="140" y="55"/>
                  </a:cubicBezTo>
                  <a:cubicBezTo>
                    <a:pt x="148" y="55"/>
                    <a:pt x="148" y="55"/>
                    <a:pt x="148" y="55"/>
                  </a:cubicBezTo>
                  <a:cubicBezTo>
                    <a:pt x="153" y="64"/>
                    <a:pt x="153" y="64"/>
                    <a:pt x="153" y="64"/>
                  </a:cubicBezTo>
                  <a:cubicBezTo>
                    <a:pt x="153" y="52"/>
                    <a:pt x="153" y="52"/>
                    <a:pt x="153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9" y="37"/>
                    <a:pt x="149" y="37"/>
                    <a:pt x="149" y="37"/>
                  </a:cubicBezTo>
                  <a:cubicBezTo>
                    <a:pt x="149" y="35"/>
                    <a:pt x="149" y="35"/>
                    <a:pt x="149" y="35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5" y="32"/>
                    <a:pt x="145" y="32"/>
                    <a:pt x="145" y="32"/>
                  </a:cubicBezTo>
                  <a:cubicBezTo>
                    <a:pt x="143" y="31"/>
                    <a:pt x="143" y="31"/>
                    <a:pt x="143" y="31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24" y="25"/>
                    <a:pt x="124" y="25"/>
                    <a:pt x="124" y="25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1" y="3"/>
                    <a:pt x="111" y="3"/>
                    <a:pt x="111" y="3"/>
                  </a:cubicBezTo>
                  <a:cubicBezTo>
                    <a:pt x="108" y="1"/>
                    <a:pt x="108" y="1"/>
                    <a:pt x="108" y="1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41" y="51"/>
                    <a:pt x="46" y="58"/>
                    <a:pt x="43" y="64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1" y="68"/>
                    <a:pt x="41" y="68"/>
                    <a:pt x="41" y="68"/>
                  </a:cubicBezTo>
                  <a:cubicBezTo>
                    <a:pt x="43" y="79"/>
                    <a:pt x="43" y="79"/>
                    <a:pt x="43" y="79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10" y="11"/>
                    <a:pt x="110" y="11"/>
                    <a:pt x="110" y="11"/>
                  </a:cubicBezTo>
                  <a:cubicBezTo>
                    <a:pt x="112" y="14"/>
                    <a:pt x="112" y="14"/>
                    <a:pt x="112" y="14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7" y="71"/>
                    <a:pt x="97" y="71"/>
                    <a:pt x="97" y="71"/>
                  </a:cubicBezTo>
                  <a:cubicBezTo>
                    <a:pt x="105" y="57"/>
                    <a:pt x="105" y="57"/>
                    <a:pt x="105" y="57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11" y="52"/>
                    <a:pt x="111" y="52"/>
                    <a:pt x="111" y="52"/>
                  </a:cubicBezTo>
                  <a:cubicBezTo>
                    <a:pt x="114" y="51"/>
                    <a:pt x="114" y="51"/>
                    <a:pt x="114" y="51"/>
                  </a:cubicBezTo>
                  <a:cubicBezTo>
                    <a:pt x="115" y="51"/>
                    <a:pt x="115" y="51"/>
                    <a:pt x="115" y="51"/>
                  </a:cubicBezTo>
                  <a:cubicBezTo>
                    <a:pt x="118" y="52"/>
                    <a:pt x="118" y="52"/>
                    <a:pt x="118" y="52"/>
                  </a:cubicBezTo>
                  <a:cubicBezTo>
                    <a:pt x="122" y="54"/>
                    <a:pt x="122" y="54"/>
                    <a:pt x="122" y="54"/>
                  </a:cubicBezTo>
                  <a:cubicBezTo>
                    <a:pt x="122" y="54"/>
                    <a:pt x="122" y="54"/>
                    <a:pt x="122" y="54"/>
                  </a:cubicBezTo>
                  <a:cubicBezTo>
                    <a:pt x="124" y="57"/>
                    <a:pt x="124" y="57"/>
                    <a:pt x="124" y="57"/>
                  </a:cubicBezTo>
                  <a:cubicBezTo>
                    <a:pt x="124" y="61"/>
                    <a:pt x="124" y="61"/>
                    <a:pt x="124" y="61"/>
                  </a:cubicBezTo>
                  <a:cubicBezTo>
                    <a:pt x="124" y="61"/>
                    <a:pt x="124" y="61"/>
                    <a:pt x="124" y="61"/>
                  </a:cubicBezTo>
                  <a:cubicBezTo>
                    <a:pt x="123" y="64"/>
                    <a:pt x="123" y="64"/>
                    <a:pt x="123" y="64"/>
                  </a:cubicBezTo>
                  <a:cubicBezTo>
                    <a:pt x="122" y="68"/>
                    <a:pt x="122" y="68"/>
                    <a:pt x="122" y="68"/>
                  </a:cubicBezTo>
                  <a:cubicBezTo>
                    <a:pt x="121" y="68"/>
                    <a:pt x="121" y="68"/>
                    <a:pt x="121" y="6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0" y="70"/>
                    <a:pt x="110" y="70"/>
                    <a:pt x="110" y="70"/>
                  </a:cubicBezTo>
                  <a:lnTo>
                    <a:pt x="107" y="68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" name="Freeform 121">
              <a:extLst>
                <a:ext uri="{FF2B5EF4-FFF2-40B4-BE49-F238E27FC236}">
                  <a16:creationId xmlns:a16="http://schemas.microsoft.com/office/drawing/2014/main" id="{B830CD50-4E83-46C4-95E6-BD5AFF510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7429" y="2419193"/>
              <a:ext cx="47004" cy="98955"/>
            </a:xfrm>
            <a:custGeom>
              <a:avLst/>
              <a:gdLst>
                <a:gd name="T0" fmla="*/ 19 w 19"/>
                <a:gd name="T1" fmla="*/ 0 h 40"/>
                <a:gd name="T2" fmla="*/ 0 w 19"/>
                <a:gd name="T3" fmla="*/ 33 h 40"/>
                <a:gd name="T4" fmla="*/ 4 w 19"/>
                <a:gd name="T5" fmla="*/ 40 h 40"/>
                <a:gd name="T6" fmla="*/ 16 w 19"/>
                <a:gd name="T7" fmla="*/ 7 h 40"/>
                <a:gd name="T8" fmla="*/ 19 w 19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0">
                  <a:moveTo>
                    <a:pt x="19" y="0"/>
                  </a:moveTo>
                  <a:lnTo>
                    <a:pt x="0" y="33"/>
                  </a:lnTo>
                  <a:lnTo>
                    <a:pt x="4" y="40"/>
                  </a:lnTo>
                  <a:lnTo>
                    <a:pt x="16" y="7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" name="Freeform 122">
              <a:extLst>
                <a:ext uri="{FF2B5EF4-FFF2-40B4-BE49-F238E27FC236}">
                  <a16:creationId xmlns:a16="http://schemas.microsoft.com/office/drawing/2014/main" id="{AACA40A1-B6A2-4C90-9448-0AFFB964C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084" y="2483514"/>
              <a:ext cx="76691" cy="76691"/>
            </a:xfrm>
            <a:custGeom>
              <a:avLst/>
              <a:gdLst>
                <a:gd name="T0" fmla="*/ 31 w 31"/>
                <a:gd name="T1" fmla="*/ 26 h 31"/>
                <a:gd name="T2" fmla="*/ 26 w 31"/>
                <a:gd name="T3" fmla="*/ 0 h 31"/>
                <a:gd name="T4" fmla="*/ 19 w 31"/>
                <a:gd name="T5" fmla="*/ 5 h 31"/>
                <a:gd name="T6" fmla="*/ 9 w 31"/>
                <a:gd name="T7" fmla="*/ 7 h 31"/>
                <a:gd name="T8" fmla="*/ 7 w 31"/>
                <a:gd name="T9" fmla="*/ 7 h 31"/>
                <a:gd name="T10" fmla="*/ 0 w 31"/>
                <a:gd name="T11" fmla="*/ 5 h 31"/>
                <a:gd name="T12" fmla="*/ 9 w 31"/>
                <a:gd name="T13" fmla="*/ 31 h 31"/>
                <a:gd name="T14" fmla="*/ 14 w 31"/>
                <a:gd name="T15" fmla="*/ 31 h 31"/>
                <a:gd name="T16" fmla="*/ 21 w 31"/>
                <a:gd name="T17" fmla="*/ 29 h 31"/>
                <a:gd name="T18" fmla="*/ 31 w 31"/>
                <a:gd name="T19" fmla="*/ 2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31" y="26"/>
                  </a:moveTo>
                  <a:lnTo>
                    <a:pt x="26" y="0"/>
                  </a:lnTo>
                  <a:lnTo>
                    <a:pt x="19" y="5"/>
                  </a:lnTo>
                  <a:lnTo>
                    <a:pt x="9" y="7"/>
                  </a:lnTo>
                  <a:lnTo>
                    <a:pt x="7" y="7"/>
                  </a:lnTo>
                  <a:lnTo>
                    <a:pt x="0" y="5"/>
                  </a:lnTo>
                  <a:lnTo>
                    <a:pt x="9" y="31"/>
                  </a:lnTo>
                  <a:lnTo>
                    <a:pt x="14" y="31"/>
                  </a:lnTo>
                  <a:lnTo>
                    <a:pt x="21" y="29"/>
                  </a:lnTo>
                  <a:lnTo>
                    <a:pt x="31" y="26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" name="Freeform 123">
              <a:extLst>
                <a:ext uri="{FF2B5EF4-FFF2-40B4-BE49-F238E27FC236}">
                  <a16:creationId xmlns:a16="http://schemas.microsoft.com/office/drawing/2014/main" id="{3641BF51-3B1B-4B16-81EC-19BDDC18A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6698" y="2414246"/>
              <a:ext cx="59373" cy="51952"/>
            </a:xfrm>
            <a:custGeom>
              <a:avLst/>
              <a:gdLst>
                <a:gd name="T0" fmla="*/ 24 w 24"/>
                <a:gd name="T1" fmla="*/ 12 h 21"/>
                <a:gd name="T2" fmla="*/ 24 w 24"/>
                <a:gd name="T3" fmla="*/ 7 h 21"/>
                <a:gd name="T4" fmla="*/ 24 w 24"/>
                <a:gd name="T5" fmla="*/ 4 h 21"/>
                <a:gd name="T6" fmla="*/ 21 w 24"/>
                <a:gd name="T7" fmla="*/ 2 h 21"/>
                <a:gd name="T8" fmla="*/ 19 w 24"/>
                <a:gd name="T9" fmla="*/ 0 h 21"/>
                <a:gd name="T10" fmla="*/ 17 w 24"/>
                <a:gd name="T11" fmla="*/ 0 h 21"/>
                <a:gd name="T12" fmla="*/ 9 w 24"/>
                <a:gd name="T13" fmla="*/ 0 h 21"/>
                <a:gd name="T14" fmla="*/ 7 w 24"/>
                <a:gd name="T15" fmla="*/ 0 h 21"/>
                <a:gd name="T16" fmla="*/ 5 w 24"/>
                <a:gd name="T17" fmla="*/ 2 h 21"/>
                <a:gd name="T18" fmla="*/ 2 w 24"/>
                <a:gd name="T19" fmla="*/ 4 h 21"/>
                <a:gd name="T20" fmla="*/ 0 w 24"/>
                <a:gd name="T21" fmla="*/ 7 h 21"/>
                <a:gd name="T22" fmla="*/ 0 w 24"/>
                <a:gd name="T23" fmla="*/ 14 h 21"/>
                <a:gd name="T24" fmla="*/ 2 w 24"/>
                <a:gd name="T25" fmla="*/ 16 h 21"/>
                <a:gd name="T26" fmla="*/ 5 w 24"/>
                <a:gd name="T27" fmla="*/ 19 h 21"/>
                <a:gd name="T28" fmla="*/ 7 w 24"/>
                <a:gd name="T29" fmla="*/ 21 h 21"/>
                <a:gd name="T30" fmla="*/ 9 w 24"/>
                <a:gd name="T31" fmla="*/ 21 h 21"/>
                <a:gd name="T32" fmla="*/ 17 w 24"/>
                <a:gd name="T33" fmla="*/ 21 h 21"/>
                <a:gd name="T34" fmla="*/ 19 w 24"/>
                <a:gd name="T35" fmla="*/ 21 h 21"/>
                <a:gd name="T36" fmla="*/ 21 w 24"/>
                <a:gd name="T37" fmla="*/ 19 h 21"/>
                <a:gd name="T38" fmla="*/ 24 w 24"/>
                <a:gd name="T39" fmla="*/ 16 h 21"/>
                <a:gd name="T40" fmla="*/ 24 w 24"/>
                <a:gd name="T41" fmla="*/ 14 h 21"/>
                <a:gd name="T42" fmla="*/ 24 w 24"/>
                <a:gd name="T43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" h="21">
                  <a:moveTo>
                    <a:pt x="24" y="12"/>
                  </a:moveTo>
                  <a:lnTo>
                    <a:pt x="24" y="7"/>
                  </a:lnTo>
                  <a:lnTo>
                    <a:pt x="24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7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5" y="19"/>
                  </a:lnTo>
                  <a:lnTo>
                    <a:pt x="7" y="21"/>
                  </a:lnTo>
                  <a:lnTo>
                    <a:pt x="9" y="21"/>
                  </a:lnTo>
                  <a:lnTo>
                    <a:pt x="17" y="21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4" y="16"/>
                  </a:lnTo>
                  <a:lnTo>
                    <a:pt x="24" y="14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296C7AC-6C63-4277-9A1F-96440D2AF314}"/>
                </a:ext>
              </a:extLst>
            </p:cNvPr>
            <p:cNvSpPr txBox="1"/>
            <p:nvPr/>
          </p:nvSpPr>
          <p:spPr>
            <a:xfrm>
              <a:off x="10231557" y="2766447"/>
              <a:ext cx="16285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Insulated Van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(+2° to 8°C  &amp;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-15° to -25°C)</a:t>
              </a:r>
            </a:p>
          </p:txBody>
        </p:sp>
      </p:grpSp>
      <p:grpSp>
        <p:nvGrpSpPr>
          <p:cNvPr id="85" name="Group 100">
            <a:extLst>
              <a:ext uri="{FF2B5EF4-FFF2-40B4-BE49-F238E27FC236}">
                <a16:creationId xmlns:a16="http://schemas.microsoft.com/office/drawing/2014/main" id="{B0411CC7-6620-4F27-B0BC-1E8C008ECDB2}"/>
              </a:ext>
            </a:extLst>
          </p:cNvPr>
          <p:cNvGrpSpPr/>
          <p:nvPr/>
        </p:nvGrpSpPr>
        <p:grpSpPr>
          <a:xfrm>
            <a:off x="430610" y="4160942"/>
            <a:ext cx="1840926" cy="1371809"/>
            <a:chOff x="821227" y="4205329"/>
            <a:chExt cx="1840926" cy="1371809"/>
          </a:xfrm>
        </p:grpSpPr>
        <p:sp>
          <p:nvSpPr>
            <p:cNvPr id="102" name="Freeform 61">
              <a:extLst>
                <a:ext uri="{FF2B5EF4-FFF2-40B4-BE49-F238E27FC236}">
                  <a16:creationId xmlns:a16="http://schemas.microsoft.com/office/drawing/2014/main" id="{50813033-26E2-4FAB-86AB-CA285A1E5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443" y="4586305"/>
              <a:ext cx="111325" cy="217701"/>
            </a:xfrm>
            <a:custGeom>
              <a:avLst/>
              <a:gdLst>
                <a:gd name="T0" fmla="*/ 45 w 45"/>
                <a:gd name="T1" fmla="*/ 0 h 88"/>
                <a:gd name="T2" fmla="*/ 0 w 45"/>
                <a:gd name="T3" fmla="*/ 43 h 88"/>
                <a:gd name="T4" fmla="*/ 45 w 45"/>
                <a:gd name="T5" fmla="*/ 88 h 88"/>
                <a:gd name="T6" fmla="*/ 45 w 45"/>
                <a:gd name="T7" fmla="*/ 60 h 88"/>
                <a:gd name="T8" fmla="*/ 31 w 45"/>
                <a:gd name="T9" fmla="*/ 60 h 88"/>
                <a:gd name="T10" fmla="*/ 31 w 45"/>
                <a:gd name="T11" fmla="*/ 29 h 88"/>
                <a:gd name="T12" fmla="*/ 45 w 45"/>
                <a:gd name="T13" fmla="*/ 29 h 88"/>
                <a:gd name="T14" fmla="*/ 45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45" y="0"/>
                  </a:moveTo>
                  <a:lnTo>
                    <a:pt x="0" y="43"/>
                  </a:lnTo>
                  <a:lnTo>
                    <a:pt x="45" y="88"/>
                  </a:lnTo>
                  <a:lnTo>
                    <a:pt x="45" y="60"/>
                  </a:lnTo>
                  <a:lnTo>
                    <a:pt x="31" y="60"/>
                  </a:lnTo>
                  <a:lnTo>
                    <a:pt x="31" y="29"/>
                  </a:lnTo>
                  <a:lnTo>
                    <a:pt x="45" y="29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3" name="Freeform 62">
              <a:extLst>
                <a:ext uri="{FF2B5EF4-FFF2-40B4-BE49-F238E27FC236}">
                  <a16:creationId xmlns:a16="http://schemas.microsoft.com/office/drawing/2014/main" id="{444E8FA2-2C88-44E6-84D6-DD284ACAC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443" y="4586305"/>
              <a:ext cx="111325" cy="217701"/>
            </a:xfrm>
            <a:custGeom>
              <a:avLst/>
              <a:gdLst>
                <a:gd name="T0" fmla="*/ 45 w 45"/>
                <a:gd name="T1" fmla="*/ 0 h 88"/>
                <a:gd name="T2" fmla="*/ 0 w 45"/>
                <a:gd name="T3" fmla="*/ 43 h 88"/>
                <a:gd name="T4" fmla="*/ 45 w 45"/>
                <a:gd name="T5" fmla="*/ 88 h 88"/>
                <a:gd name="T6" fmla="*/ 45 w 45"/>
                <a:gd name="T7" fmla="*/ 60 h 88"/>
                <a:gd name="T8" fmla="*/ 31 w 45"/>
                <a:gd name="T9" fmla="*/ 60 h 88"/>
                <a:gd name="T10" fmla="*/ 31 w 45"/>
                <a:gd name="T11" fmla="*/ 29 h 88"/>
                <a:gd name="T12" fmla="*/ 45 w 45"/>
                <a:gd name="T13" fmla="*/ 29 h 88"/>
                <a:gd name="T14" fmla="*/ 45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45" y="0"/>
                  </a:moveTo>
                  <a:lnTo>
                    <a:pt x="0" y="43"/>
                  </a:lnTo>
                  <a:lnTo>
                    <a:pt x="45" y="88"/>
                  </a:lnTo>
                  <a:lnTo>
                    <a:pt x="45" y="60"/>
                  </a:lnTo>
                  <a:lnTo>
                    <a:pt x="31" y="60"/>
                  </a:lnTo>
                  <a:lnTo>
                    <a:pt x="31" y="29"/>
                  </a:lnTo>
                  <a:lnTo>
                    <a:pt x="45" y="29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4" name="Rectangle 63">
              <a:extLst>
                <a:ext uri="{FF2B5EF4-FFF2-40B4-BE49-F238E27FC236}">
                  <a16:creationId xmlns:a16="http://schemas.microsoft.com/office/drawing/2014/main" id="{B1EE917A-211D-47B9-AFD2-93031280D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766" y="4658048"/>
              <a:ext cx="247387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5" name="Rectangle 64">
              <a:extLst>
                <a:ext uri="{FF2B5EF4-FFF2-40B4-BE49-F238E27FC236}">
                  <a16:creationId xmlns:a16="http://schemas.microsoft.com/office/drawing/2014/main" id="{7B515938-9073-418A-8659-6CC067EB8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766" y="4658048"/>
              <a:ext cx="247387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6" name="Rectangle 65">
              <a:extLst>
                <a:ext uri="{FF2B5EF4-FFF2-40B4-BE49-F238E27FC236}">
                  <a16:creationId xmlns:a16="http://schemas.microsoft.com/office/drawing/2014/main" id="{843A7D0F-0303-4666-A780-5183A62FE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132" y="4658048"/>
              <a:ext cx="3463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7" name="Rectangle 66">
              <a:extLst>
                <a:ext uri="{FF2B5EF4-FFF2-40B4-BE49-F238E27FC236}">
                  <a16:creationId xmlns:a16="http://schemas.microsoft.com/office/drawing/2014/main" id="{19FAD6F5-F564-42BA-9BE5-89D42716F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132" y="4658048"/>
              <a:ext cx="3463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8" name="Freeform 124">
              <a:extLst>
                <a:ext uri="{FF2B5EF4-FFF2-40B4-BE49-F238E27FC236}">
                  <a16:creationId xmlns:a16="http://schemas.microsoft.com/office/drawing/2014/main" id="{B3A9C402-706F-4155-9D15-D4FCD2A76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825" y="4487350"/>
              <a:ext cx="252335" cy="499722"/>
            </a:xfrm>
            <a:custGeom>
              <a:avLst/>
              <a:gdLst>
                <a:gd name="T0" fmla="*/ 88 w 102"/>
                <a:gd name="T1" fmla="*/ 169 h 202"/>
                <a:gd name="T2" fmla="*/ 88 w 102"/>
                <a:gd name="T3" fmla="*/ 164 h 202"/>
                <a:gd name="T4" fmla="*/ 86 w 102"/>
                <a:gd name="T5" fmla="*/ 159 h 202"/>
                <a:gd name="T6" fmla="*/ 83 w 102"/>
                <a:gd name="T7" fmla="*/ 152 h 202"/>
                <a:gd name="T8" fmla="*/ 90 w 102"/>
                <a:gd name="T9" fmla="*/ 145 h 202"/>
                <a:gd name="T10" fmla="*/ 95 w 102"/>
                <a:gd name="T11" fmla="*/ 140 h 202"/>
                <a:gd name="T12" fmla="*/ 100 w 102"/>
                <a:gd name="T13" fmla="*/ 138 h 202"/>
                <a:gd name="T14" fmla="*/ 97 w 102"/>
                <a:gd name="T15" fmla="*/ 131 h 202"/>
                <a:gd name="T16" fmla="*/ 102 w 102"/>
                <a:gd name="T17" fmla="*/ 128 h 202"/>
                <a:gd name="T18" fmla="*/ 97 w 102"/>
                <a:gd name="T19" fmla="*/ 119 h 202"/>
                <a:gd name="T20" fmla="*/ 88 w 102"/>
                <a:gd name="T21" fmla="*/ 112 h 202"/>
                <a:gd name="T22" fmla="*/ 83 w 102"/>
                <a:gd name="T23" fmla="*/ 107 h 202"/>
                <a:gd name="T24" fmla="*/ 76 w 102"/>
                <a:gd name="T25" fmla="*/ 102 h 202"/>
                <a:gd name="T26" fmla="*/ 67 w 102"/>
                <a:gd name="T27" fmla="*/ 95 h 202"/>
                <a:gd name="T28" fmla="*/ 60 w 102"/>
                <a:gd name="T29" fmla="*/ 88 h 202"/>
                <a:gd name="T30" fmla="*/ 60 w 102"/>
                <a:gd name="T31" fmla="*/ 81 h 202"/>
                <a:gd name="T32" fmla="*/ 48 w 102"/>
                <a:gd name="T33" fmla="*/ 64 h 202"/>
                <a:gd name="T34" fmla="*/ 31 w 102"/>
                <a:gd name="T35" fmla="*/ 48 h 202"/>
                <a:gd name="T36" fmla="*/ 19 w 102"/>
                <a:gd name="T37" fmla="*/ 36 h 202"/>
                <a:gd name="T38" fmla="*/ 19 w 102"/>
                <a:gd name="T39" fmla="*/ 31 h 202"/>
                <a:gd name="T40" fmla="*/ 15 w 102"/>
                <a:gd name="T41" fmla="*/ 26 h 202"/>
                <a:gd name="T42" fmla="*/ 10 w 102"/>
                <a:gd name="T43" fmla="*/ 19 h 202"/>
                <a:gd name="T44" fmla="*/ 7 w 102"/>
                <a:gd name="T45" fmla="*/ 12 h 202"/>
                <a:gd name="T46" fmla="*/ 5 w 102"/>
                <a:gd name="T47" fmla="*/ 10 h 202"/>
                <a:gd name="T48" fmla="*/ 12 w 102"/>
                <a:gd name="T49" fmla="*/ 7 h 202"/>
                <a:gd name="T50" fmla="*/ 7 w 102"/>
                <a:gd name="T51" fmla="*/ 5 h 202"/>
                <a:gd name="T52" fmla="*/ 3 w 102"/>
                <a:gd name="T53" fmla="*/ 0 h 202"/>
                <a:gd name="T54" fmla="*/ 0 w 102"/>
                <a:gd name="T55" fmla="*/ 10 h 202"/>
                <a:gd name="T56" fmla="*/ 3 w 102"/>
                <a:gd name="T57" fmla="*/ 12 h 202"/>
                <a:gd name="T58" fmla="*/ 81 w 102"/>
                <a:gd name="T59" fmla="*/ 190 h 202"/>
                <a:gd name="T60" fmla="*/ 83 w 102"/>
                <a:gd name="T61" fmla="*/ 181 h 202"/>
                <a:gd name="T62" fmla="*/ 83 w 102"/>
                <a:gd name="T63" fmla="*/ 173 h 202"/>
                <a:gd name="T64" fmla="*/ 88 w 102"/>
                <a:gd name="T65" fmla="*/ 169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2" h="202">
                  <a:moveTo>
                    <a:pt x="88" y="169"/>
                  </a:moveTo>
                  <a:lnTo>
                    <a:pt x="88" y="169"/>
                  </a:lnTo>
                  <a:lnTo>
                    <a:pt x="88" y="166"/>
                  </a:lnTo>
                  <a:lnTo>
                    <a:pt x="88" y="164"/>
                  </a:lnTo>
                  <a:lnTo>
                    <a:pt x="86" y="162"/>
                  </a:lnTo>
                  <a:lnTo>
                    <a:pt x="86" y="159"/>
                  </a:lnTo>
                  <a:lnTo>
                    <a:pt x="83" y="152"/>
                  </a:lnTo>
                  <a:lnTo>
                    <a:pt x="83" y="152"/>
                  </a:lnTo>
                  <a:lnTo>
                    <a:pt x="88" y="147"/>
                  </a:lnTo>
                  <a:lnTo>
                    <a:pt x="90" y="145"/>
                  </a:lnTo>
                  <a:lnTo>
                    <a:pt x="95" y="143"/>
                  </a:lnTo>
                  <a:lnTo>
                    <a:pt x="95" y="140"/>
                  </a:lnTo>
                  <a:lnTo>
                    <a:pt x="100" y="138"/>
                  </a:lnTo>
                  <a:lnTo>
                    <a:pt x="100" y="138"/>
                  </a:lnTo>
                  <a:lnTo>
                    <a:pt x="97" y="133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2" y="128"/>
                  </a:lnTo>
                  <a:lnTo>
                    <a:pt x="102" y="124"/>
                  </a:lnTo>
                  <a:lnTo>
                    <a:pt x="97" y="119"/>
                  </a:lnTo>
                  <a:lnTo>
                    <a:pt x="93" y="116"/>
                  </a:lnTo>
                  <a:lnTo>
                    <a:pt x="88" y="112"/>
                  </a:lnTo>
                  <a:lnTo>
                    <a:pt x="86" y="109"/>
                  </a:lnTo>
                  <a:lnTo>
                    <a:pt x="83" y="107"/>
                  </a:lnTo>
                  <a:lnTo>
                    <a:pt x="78" y="102"/>
                  </a:lnTo>
                  <a:lnTo>
                    <a:pt x="76" y="102"/>
                  </a:lnTo>
                  <a:lnTo>
                    <a:pt x="71" y="97"/>
                  </a:lnTo>
                  <a:lnTo>
                    <a:pt x="67" y="95"/>
                  </a:lnTo>
                  <a:lnTo>
                    <a:pt x="64" y="93"/>
                  </a:lnTo>
                  <a:lnTo>
                    <a:pt x="60" y="88"/>
                  </a:lnTo>
                  <a:lnTo>
                    <a:pt x="60" y="83"/>
                  </a:lnTo>
                  <a:lnTo>
                    <a:pt x="60" y="81"/>
                  </a:lnTo>
                  <a:lnTo>
                    <a:pt x="52" y="71"/>
                  </a:lnTo>
                  <a:lnTo>
                    <a:pt x="48" y="64"/>
                  </a:lnTo>
                  <a:lnTo>
                    <a:pt x="41" y="57"/>
                  </a:lnTo>
                  <a:lnTo>
                    <a:pt x="31" y="48"/>
                  </a:lnTo>
                  <a:lnTo>
                    <a:pt x="24" y="40"/>
                  </a:lnTo>
                  <a:lnTo>
                    <a:pt x="19" y="36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17" y="29"/>
                  </a:lnTo>
                  <a:lnTo>
                    <a:pt x="15" y="26"/>
                  </a:lnTo>
                  <a:lnTo>
                    <a:pt x="12" y="24"/>
                  </a:lnTo>
                  <a:lnTo>
                    <a:pt x="10" y="19"/>
                  </a:lnTo>
                  <a:lnTo>
                    <a:pt x="7" y="14"/>
                  </a:lnTo>
                  <a:lnTo>
                    <a:pt x="7" y="12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7" y="7"/>
                  </a:lnTo>
                  <a:lnTo>
                    <a:pt x="12" y="7"/>
                  </a:lnTo>
                  <a:lnTo>
                    <a:pt x="10" y="5"/>
                  </a:lnTo>
                  <a:lnTo>
                    <a:pt x="7" y="5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81" y="202"/>
                  </a:lnTo>
                  <a:lnTo>
                    <a:pt x="81" y="190"/>
                  </a:lnTo>
                  <a:lnTo>
                    <a:pt x="81" y="183"/>
                  </a:lnTo>
                  <a:lnTo>
                    <a:pt x="83" y="181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6" y="171"/>
                  </a:lnTo>
                  <a:lnTo>
                    <a:pt x="88" y="169"/>
                  </a:lnTo>
                  <a:close/>
                </a:path>
              </a:pathLst>
            </a:custGeom>
            <a:solidFill>
              <a:srgbClr val="9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9" name="Freeform 125">
              <a:extLst>
                <a:ext uri="{FF2B5EF4-FFF2-40B4-BE49-F238E27FC236}">
                  <a16:creationId xmlns:a16="http://schemas.microsoft.com/office/drawing/2014/main" id="{289C1E8C-7322-46E6-B294-96D05E95A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930" y="4405713"/>
              <a:ext cx="210280" cy="581361"/>
            </a:xfrm>
            <a:custGeom>
              <a:avLst/>
              <a:gdLst>
                <a:gd name="T0" fmla="*/ 2 w 85"/>
                <a:gd name="T1" fmla="*/ 7 h 235"/>
                <a:gd name="T2" fmla="*/ 0 w 85"/>
                <a:gd name="T3" fmla="*/ 0 h 235"/>
                <a:gd name="T4" fmla="*/ 0 w 85"/>
                <a:gd name="T5" fmla="*/ 47 h 235"/>
                <a:gd name="T6" fmla="*/ 0 w 85"/>
                <a:gd name="T7" fmla="*/ 45 h 235"/>
                <a:gd name="T8" fmla="*/ 4 w 85"/>
                <a:gd name="T9" fmla="*/ 47 h 235"/>
                <a:gd name="T10" fmla="*/ 85 w 85"/>
                <a:gd name="T11" fmla="*/ 235 h 235"/>
                <a:gd name="T12" fmla="*/ 7 w 85"/>
                <a:gd name="T13" fmla="*/ 45 h 235"/>
                <a:gd name="T14" fmla="*/ 4 w 85"/>
                <a:gd name="T15" fmla="*/ 47 h 235"/>
                <a:gd name="T16" fmla="*/ 4 w 85"/>
                <a:gd name="T17" fmla="*/ 45 h 235"/>
                <a:gd name="T18" fmla="*/ 2 w 85"/>
                <a:gd name="T19" fmla="*/ 43 h 235"/>
                <a:gd name="T20" fmla="*/ 0 w 85"/>
                <a:gd name="T21" fmla="*/ 43 h 235"/>
                <a:gd name="T22" fmla="*/ 0 w 85"/>
                <a:gd name="T23" fmla="*/ 40 h 235"/>
                <a:gd name="T24" fmla="*/ 4 w 85"/>
                <a:gd name="T25" fmla="*/ 43 h 235"/>
                <a:gd name="T26" fmla="*/ 4 w 85"/>
                <a:gd name="T27" fmla="*/ 33 h 235"/>
                <a:gd name="T28" fmla="*/ 2 w 85"/>
                <a:gd name="T29" fmla="*/ 28 h 235"/>
                <a:gd name="T30" fmla="*/ 2 w 85"/>
                <a:gd name="T31" fmla="*/ 28 h 235"/>
                <a:gd name="T32" fmla="*/ 4 w 85"/>
                <a:gd name="T33" fmla="*/ 19 h 235"/>
                <a:gd name="T34" fmla="*/ 4 w 85"/>
                <a:gd name="T35" fmla="*/ 14 h 235"/>
                <a:gd name="T36" fmla="*/ 2 w 85"/>
                <a:gd name="T37" fmla="*/ 9 h 235"/>
                <a:gd name="T38" fmla="*/ 2 w 85"/>
                <a:gd name="T39" fmla="*/ 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" h="235">
                  <a:moveTo>
                    <a:pt x="2" y="7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4" y="47"/>
                  </a:lnTo>
                  <a:lnTo>
                    <a:pt x="85" y="235"/>
                  </a:lnTo>
                  <a:lnTo>
                    <a:pt x="7" y="45"/>
                  </a:lnTo>
                  <a:lnTo>
                    <a:pt x="4" y="47"/>
                  </a:lnTo>
                  <a:lnTo>
                    <a:pt x="4" y="45"/>
                  </a:lnTo>
                  <a:lnTo>
                    <a:pt x="2" y="43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4" y="43"/>
                  </a:lnTo>
                  <a:lnTo>
                    <a:pt x="4" y="33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4" y="19"/>
                  </a:lnTo>
                  <a:lnTo>
                    <a:pt x="4" y="14"/>
                  </a:lnTo>
                  <a:lnTo>
                    <a:pt x="2" y="9"/>
                  </a:lnTo>
                  <a:lnTo>
                    <a:pt x="2" y="7"/>
                  </a:lnTo>
                  <a:close/>
                </a:path>
              </a:pathLst>
            </a:custGeom>
            <a:solidFill>
              <a:srgbClr val="9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0" name="Freeform 126">
              <a:extLst>
                <a:ext uri="{FF2B5EF4-FFF2-40B4-BE49-F238E27FC236}">
                  <a16:creationId xmlns:a16="http://schemas.microsoft.com/office/drawing/2014/main" id="{2FAEBD37-C7F6-44E0-BB56-91952325A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911" y="4653100"/>
              <a:ext cx="4948" cy="51952"/>
            </a:xfrm>
            <a:custGeom>
              <a:avLst/>
              <a:gdLst>
                <a:gd name="T0" fmla="*/ 0 w 2"/>
                <a:gd name="T1" fmla="*/ 2 h 21"/>
                <a:gd name="T2" fmla="*/ 0 w 2"/>
                <a:gd name="T3" fmla="*/ 4 h 21"/>
                <a:gd name="T4" fmla="*/ 0 w 2"/>
                <a:gd name="T5" fmla="*/ 21 h 21"/>
                <a:gd name="T6" fmla="*/ 0 w 2"/>
                <a:gd name="T7" fmla="*/ 14 h 21"/>
                <a:gd name="T8" fmla="*/ 2 w 2"/>
                <a:gd name="T9" fmla="*/ 14 h 21"/>
                <a:gd name="T10" fmla="*/ 2 w 2"/>
                <a:gd name="T11" fmla="*/ 0 h 21"/>
                <a:gd name="T12" fmla="*/ 0 w 2"/>
                <a:gd name="T13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1">
                  <a:moveTo>
                    <a:pt x="0" y="2"/>
                  </a:moveTo>
                  <a:lnTo>
                    <a:pt x="0" y="4"/>
                  </a:lnTo>
                  <a:lnTo>
                    <a:pt x="0" y="21"/>
                  </a:lnTo>
                  <a:lnTo>
                    <a:pt x="0" y="14"/>
                  </a:lnTo>
                  <a:lnTo>
                    <a:pt x="2" y="14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9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1" name="Freeform 127">
              <a:extLst>
                <a:ext uri="{FF2B5EF4-FFF2-40B4-BE49-F238E27FC236}">
                  <a16:creationId xmlns:a16="http://schemas.microsoft.com/office/drawing/2014/main" id="{E548CBF4-E8B1-46E5-A6E9-63B151BC8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277" y="4747108"/>
              <a:ext cx="22266" cy="163276"/>
            </a:xfrm>
            <a:custGeom>
              <a:avLst/>
              <a:gdLst>
                <a:gd name="T0" fmla="*/ 0 w 9"/>
                <a:gd name="T1" fmla="*/ 0 h 66"/>
                <a:gd name="T2" fmla="*/ 4 w 9"/>
                <a:gd name="T3" fmla="*/ 66 h 66"/>
                <a:gd name="T4" fmla="*/ 7 w 9"/>
                <a:gd name="T5" fmla="*/ 64 h 66"/>
                <a:gd name="T6" fmla="*/ 9 w 9"/>
                <a:gd name="T7" fmla="*/ 0 h 66"/>
                <a:gd name="T8" fmla="*/ 0 w 9"/>
                <a:gd name="T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6">
                  <a:moveTo>
                    <a:pt x="0" y="0"/>
                  </a:moveTo>
                  <a:lnTo>
                    <a:pt x="4" y="66"/>
                  </a:lnTo>
                  <a:lnTo>
                    <a:pt x="7" y="64"/>
                  </a:lnTo>
                  <a:lnTo>
                    <a:pt x="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2" name="Freeform 128">
              <a:extLst>
                <a:ext uri="{FF2B5EF4-FFF2-40B4-BE49-F238E27FC236}">
                  <a16:creationId xmlns:a16="http://schemas.microsoft.com/office/drawing/2014/main" id="{53E0CE83-8311-4E96-9142-82C6A201E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602" y="4640730"/>
              <a:ext cx="9895" cy="81639"/>
            </a:xfrm>
            <a:custGeom>
              <a:avLst/>
              <a:gdLst>
                <a:gd name="T0" fmla="*/ 2 w 4"/>
                <a:gd name="T1" fmla="*/ 28 h 33"/>
                <a:gd name="T2" fmla="*/ 2 w 4"/>
                <a:gd name="T3" fmla="*/ 31 h 33"/>
                <a:gd name="T4" fmla="*/ 4 w 4"/>
                <a:gd name="T5" fmla="*/ 33 h 33"/>
                <a:gd name="T6" fmla="*/ 4 w 4"/>
                <a:gd name="T7" fmla="*/ 2 h 33"/>
                <a:gd name="T8" fmla="*/ 4 w 4"/>
                <a:gd name="T9" fmla="*/ 5 h 33"/>
                <a:gd name="T10" fmla="*/ 0 w 4"/>
                <a:gd name="T11" fmla="*/ 0 h 33"/>
                <a:gd name="T12" fmla="*/ 2 w 4"/>
                <a:gd name="T13" fmla="*/ 2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3">
                  <a:moveTo>
                    <a:pt x="2" y="28"/>
                  </a:moveTo>
                  <a:lnTo>
                    <a:pt x="2" y="31"/>
                  </a:lnTo>
                  <a:lnTo>
                    <a:pt x="4" y="33"/>
                  </a:lnTo>
                  <a:lnTo>
                    <a:pt x="4" y="2"/>
                  </a:lnTo>
                  <a:lnTo>
                    <a:pt x="4" y="5"/>
                  </a:lnTo>
                  <a:lnTo>
                    <a:pt x="0" y="0"/>
                  </a:lnTo>
                  <a:lnTo>
                    <a:pt x="2" y="28"/>
                  </a:lnTo>
                  <a:close/>
                </a:path>
              </a:pathLst>
            </a:custGeom>
            <a:solidFill>
              <a:srgbClr val="9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3" name="Freeform 129">
              <a:extLst>
                <a:ext uri="{FF2B5EF4-FFF2-40B4-BE49-F238E27FC236}">
                  <a16:creationId xmlns:a16="http://schemas.microsoft.com/office/drawing/2014/main" id="{914F7705-FEB3-49A2-8DD0-F514BA017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590" y="4615992"/>
              <a:ext cx="69268" cy="94007"/>
            </a:xfrm>
            <a:custGeom>
              <a:avLst/>
              <a:gdLst>
                <a:gd name="T0" fmla="*/ 3 w 12"/>
                <a:gd name="T1" fmla="*/ 12 h 16"/>
                <a:gd name="T2" fmla="*/ 1 w 12"/>
                <a:gd name="T3" fmla="*/ 12 h 16"/>
                <a:gd name="T4" fmla="*/ 0 w 12"/>
                <a:gd name="T5" fmla="*/ 12 h 16"/>
                <a:gd name="T6" fmla="*/ 0 w 12"/>
                <a:gd name="T7" fmla="*/ 13 h 16"/>
                <a:gd name="T8" fmla="*/ 4 w 12"/>
                <a:gd name="T9" fmla="*/ 15 h 16"/>
                <a:gd name="T10" fmla="*/ 7 w 12"/>
                <a:gd name="T11" fmla="*/ 16 h 16"/>
                <a:gd name="T12" fmla="*/ 9 w 12"/>
                <a:gd name="T13" fmla="*/ 16 h 16"/>
                <a:gd name="T14" fmla="*/ 9 w 12"/>
                <a:gd name="T15" fmla="*/ 15 h 16"/>
                <a:gd name="T16" fmla="*/ 10 w 12"/>
                <a:gd name="T17" fmla="*/ 15 h 16"/>
                <a:gd name="T18" fmla="*/ 11 w 12"/>
                <a:gd name="T19" fmla="*/ 15 h 16"/>
                <a:gd name="T20" fmla="*/ 11 w 12"/>
                <a:gd name="T21" fmla="*/ 8 h 16"/>
                <a:gd name="T22" fmla="*/ 11 w 12"/>
                <a:gd name="T23" fmla="*/ 9 h 16"/>
                <a:gd name="T24" fmla="*/ 11 w 12"/>
                <a:gd name="T25" fmla="*/ 7 h 16"/>
                <a:gd name="T26" fmla="*/ 12 w 12"/>
                <a:gd name="T27" fmla="*/ 6 h 16"/>
                <a:gd name="T28" fmla="*/ 11 w 12"/>
                <a:gd name="T29" fmla="*/ 4 h 16"/>
                <a:gd name="T30" fmla="*/ 11 w 12"/>
                <a:gd name="T31" fmla="*/ 5 h 16"/>
                <a:gd name="T32" fmla="*/ 11 w 12"/>
                <a:gd name="T33" fmla="*/ 4 h 16"/>
                <a:gd name="T34" fmla="*/ 10 w 12"/>
                <a:gd name="T35" fmla="*/ 3 h 16"/>
                <a:gd name="T36" fmla="*/ 8 w 12"/>
                <a:gd name="T37" fmla="*/ 1 h 16"/>
                <a:gd name="T38" fmla="*/ 7 w 12"/>
                <a:gd name="T39" fmla="*/ 0 h 16"/>
                <a:gd name="T40" fmla="*/ 6 w 12"/>
                <a:gd name="T41" fmla="*/ 3 h 16"/>
                <a:gd name="T42" fmla="*/ 9 w 12"/>
                <a:gd name="T43" fmla="*/ 9 h 16"/>
                <a:gd name="T44" fmla="*/ 9 w 12"/>
                <a:gd name="T45" fmla="*/ 11 h 16"/>
                <a:gd name="T46" fmla="*/ 7 w 12"/>
                <a:gd name="T47" fmla="*/ 11 h 16"/>
                <a:gd name="T48" fmla="*/ 3 w 12"/>
                <a:gd name="T4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" h="16">
                  <a:moveTo>
                    <a:pt x="3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9"/>
                    <a:pt x="7" y="5"/>
                    <a:pt x="9" y="9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7" y="11"/>
                    <a:pt x="7" y="11"/>
                    <a:pt x="7" y="11"/>
                  </a:cubicBezTo>
                  <a:lnTo>
                    <a:pt x="3" y="12"/>
                  </a:lnTo>
                  <a:close/>
                </a:path>
              </a:pathLst>
            </a:custGeom>
            <a:solidFill>
              <a:srgbClr val="9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4" name="Freeform 130">
              <a:extLst>
                <a:ext uri="{FF2B5EF4-FFF2-40B4-BE49-F238E27FC236}">
                  <a16:creationId xmlns:a16="http://schemas.microsoft.com/office/drawing/2014/main" id="{04292209-B8FA-4C47-A85D-5FD4CB799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987" y="4205329"/>
              <a:ext cx="870803" cy="846064"/>
            </a:xfrm>
            <a:custGeom>
              <a:avLst/>
              <a:gdLst>
                <a:gd name="T0" fmla="*/ 41 w 149"/>
                <a:gd name="T1" fmla="*/ 13 h 144"/>
                <a:gd name="T2" fmla="*/ 33 w 149"/>
                <a:gd name="T3" fmla="*/ 23 h 144"/>
                <a:gd name="T4" fmla="*/ 34 w 149"/>
                <a:gd name="T5" fmla="*/ 31 h 144"/>
                <a:gd name="T6" fmla="*/ 28 w 149"/>
                <a:gd name="T7" fmla="*/ 28 h 144"/>
                <a:gd name="T8" fmla="*/ 17 w 149"/>
                <a:gd name="T9" fmla="*/ 36 h 144"/>
                <a:gd name="T10" fmla="*/ 15 w 149"/>
                <a:gd name="T11" fmla="*/ 42 h 144"/>
                <a:gd name="T12" fmla="*/ 5 w 149"/>
                <a:gd name="T13" fmla="*/ 61 h 144"/>
                <a:gd name="T14" fmla="*/ 3 w 149"/>
                <a:gd name="T15" fmla="*/ 70 h 144"/>
                <a:gd name="T16" fmla="*/ 1 w 149"/>
                <a:gd name="T17" fmla="*/ 116 h 144"/>
                <a:gd name="T18" fmla="*/ 4 w 149"/>
                <a:gd name="T19" fmla="*/ 144 h 144"/>
                <a:gd name="T20" fmla="*/ 144 w 149"/>
                <a:gd name="T21" fmla="*/ 135 h 144"/>
                <a:gd name="T22" fmla="*/ 107 w 149"/>
                <a:gd name="T23" fmla="*/ 55 h 144"/>
                <a:gd name="T24" fmla="*/ 101 w 149"/>
                <a:gd name="T25" fmla="*/ 28 h 144"/>
                <a:gd name="T26" fmla="*/ 94 w 149"/>
                <a:gd name="T27" fmla="*/ 27 h 144"/>
                <a:gd name="T28" fmla="*/ 83 w 149"/>
                <a:gd name="T29" fmla="*/ 28 h 144"/>
                <a:gd name="T30" fmla="*/ 74 w 149"/>
                <a:gd name="T31" fmla="*/ 39 h 144"/>
                <a:gd name="T32" fmla="*/ 72 w 149"/>
                <a:gd name="T33" fmla="*/ 45 h 144"/>
                <a:gd name="T34" fmla="*/ 65 w 149"/>
                <a:gd name="T35" fmla="*/ 51 h 144"/>
                <a:gd name="T36" fmla="*/ 71 w 149"/>
                <a:gd name="T37" fmla="*/ 51 h 144"/>
                <a:gd name="T38" fmla="*/ 73 w 149"/>
                <a:gd name="T39" fmla="*/ 51 h 144"/>
                <a:gd name="T40" fmla="*/ 79 w 149"/>
                <a:gd name="T41" fmla="*/ 58 h 144"/>
                <a:gd name="T42" fmla="*/ 80 w 149"/>
                <a:gd name="T43" fmla="*/ 64 h 144"/>
                <a:gd name="T44" fmla="*/ 86 w 149"/>
                <a:gd name="T45" fmla="*/ 69 h 144"/>
                <a:gd name="T46" fmla="*/ 91 w 149"/>
                <a:gd name="T47" fmla="*/ 72 h 144"/>
                <a:gd name="T48" fmla="*/ 86 w 149"/>
                <a:gd name="T49" fmla="*/ 76 h 144"/>
                <a:gd name="T50" fmla="*/ 82 w 149"/>
                <a:gd name="T51" fmla="*/ 89 h 144"/>
                <a:gd name="T52" fmla="*/ 72 w 149"/>
                <a:gd name="T53" fmla="*/ 86 h 144"/>
                <a:gd name="T54" fmla="*/ 72 w 149"/>
                <a:gd name="T55" fmla="*/ 70 h 144"/>
                <a:gd name="T56" fmla="*/ 74 w 149"/>
                <a:gd name="T57" fmla="*/ 67 h 144"/>
                <a:gd name="T58" fmla="*/ 76 w 149"/>
                <a:gd name="T59" fmla="*/ 64 h 144"/>
                <a:gd name="T60" fmla="*/ 72 w 149"/>
                <a:gd name="T61" fmla="*/ 59 h 144"/>
                <a:gd name="T62" fmla="*/ 65 w 149"/>
                <a:gd name="T63" fmla="*/ 61 h 144"/>
                <a:gd name="T64" fmla="*/ 67 w 149"/>
                <a:gd name="T65" fmla="*/ 65 h 144"/>
                <a:gd name="T66" fmla="*/ 65 w 149"/>
                <a:gd name="T67" fmla="*/ 68 h 144"/>
                <a:gd name="T68" fmla="*/ 67 w 149"/>
                <a:gd name="T69" fmla="*/ 82 h 144"/>
                <a:gd name="T70" fmla="*/ 66 w 149"/>
                <a:gd name="T71" fmla="*/ 85 h 144"/>
                <a:gd name="T72" fmla="*/ 64 w 149"/>
                <a:gd name="T73" fmla="*/ 92 h 144"/>
                <a:gd name="T74" fmla="*/ 74 w 149"/>
                <a:gd name="T75" fmla="*/ 108 h 144"/>
                <a:gd name="T76" fmla="*/ 77 w 149"/>
                <a:gd name="T77" fmla="*/ 108 h 144"/>
                <a:gd name="T78" fmla="*/ 82 w 149"/>
                <a:gd name="T79" fmla="*/ 103 h 144"/>
                <a:gd name="T80" fmla="*/ 100 w 149"/>
                <a:gd name="T81" fmla="*/ 101 h 144"/>
                <a:gd name="T82" fmla="*/ 104 w 149"/>
                <a:gd name="T83" fmla="*/ 104 h 144"/>
                <a:gd name="T84" fmla="*/ 98 w 149"/>
                <a:gd name="T85" fmla="*/ 121 h 144"/>
                <a:gd name="T86" fmla="*/ 106 w 149"/>
                <a:gd name="T87" fmla="*/ 126 h 144"/>
                <a:gd name="T88" fmla="*/ 88 w 149"/>
                <a:gd name="T89" fmla="*/ 123 h 144"/>
                <a:gd name="T90" fmla="*/ 77 w 149"/>
                <a:gd name="T91" fmla="*/ 122 h 144"/>
                <a:gd name="T92" fmla="*/ 62 w 149"/>
                <a:gd name="T93" fmla="*/ 120 h 144"/>
                <a:gd name="T94" fmla="*/ 48 w 149"/>
                <a:gd name="T95" fmla="*/ 94 h 144"/>
                <a:gd name="T96" fmla="*/ 49 w 149"/>
                <a:gd name="T97" fmla="*/ 66 h 144"/>
                <a:gd name="T98" fmla="*/ 47 w 149"/>
                <a:gd name="T99" fmla="*/ 58 h 144"/>
                <a:gd name="T100" fmla="*/ 43 w 149"/>
                <a:gd name="T101" fmla="*/ 50 h 144"/>
                <a:gd name="T102" fmla="*/ 49 w 149"/>
                <a:gd name="T103" fmla="*/ 44 h 144"/>
                <a:gd name="T104" fmla="*/ 58 w 149"/>
                <a:gd name="T105" fmla="*/ 47 h 144"/>
                <a:gd name="T106" fmla="*/ 62 w 149"/>
                <a:gd name="T107" fmla="*/ 45 h 144"/>
                <a:gd name="T108" fmla="*/ 66 w 149"/>
                <a:gd name="T109" fmla="*/ 42 h 144"/>
                <a:gd name="T110" fmla="*/ 69 w 149"/>
                <a:gd name="T111" fmla="*/ 37 h 144"/>
                <a:gd name="T112" fmla="*/ 78 w 149"/>
                <a:gd name="T113" fmla="*/ 26 h 144"/>
                <a:gd name="T114" fmla="*/ 54 w 149"/>
                <a:gd name="T115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9" h="144">
                  <a:moveTo>
                    <a:pt x="51" y="2"/>
                  </a:moveTo>
                  <a:cubicBezTo>
                    <a:pt x="47" y="4"/>
                    <a:pt x="47" y="4"/>
                    <a:pt x="47" y="4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0" y="48"/>
                    <a:pt x="10" y="49"/>
                    <a:pt x="7" y="56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5" y="61"/>
                    <a:pt x="5" y="61"/>
                    <a:pt x="5" y="61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5"/>
                    <a:pt x="4" y="65"/>
                    <a:pt x="4" y="65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2" y="79"/>
                    <a:pt x="2" y="79"/>
                    <a:pt x="2" y="79"/>
                  </a:cubicBezTo>
                  <a:cubicBezTo>
                    <a:pt x="2" y="82"/>
                    <a:pt x="2" y="82"/>
                    <a:pt x="2" y="82"/>
                  </a:cubicBezTo>
                  <a:cubicBezTo>
                    <a:pt x="0" y="93"/>
                    <a:pt x="2" y="105"/>
                    <a:pt x="1" y="116"/>
                  </a:cubicBezTo>
                  <a:cubicBezTo>
                    <a:pt x="1" y="124"/>
                    <a:pt x="1" y="124"/>
                    <a:pt x="1" y="124"/>
                  </a:cubicBezTo>
                  <a:cubicBezTo>
                    <a:pt x="4" y="129"/>
                    <a:pt x="2" y="129"/>
                    <a:pt x="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4" y="140"/>
                    <a:pt x="4" y="140"/>
                    <a:pt x="4" y="140"/>
                  </a:cubicBezTo>
                  <a:cubicBezTo>
                    <a:pt x="4" y="144"/>
                    <a:pt x="4" y="144"/>
                    <a:pt x="4" y="144"/>
                  </a:cubicBezTo>
                  <a:cubicBezTo>
                    <a:pt x="149" y="143"/>
                    <a:pt x="149" y="143"/>
                    <a:pt x="149" y="143"/>
                  </a:cubicBezTo>
                  <a:cubicBezTo>
                    <a:pt x="149" y="143"/>
                    <a:pt x="149" y="143"/>
                    <a:pt x="149" y="143"/>
                  </a:cubicBezTo>
                  <a:cubicBezTo>
                    <a:pt x="148" y="140"/>
                    <a:pt x="148" y="140"/>
                    <a:pt x="148" y="140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43" y="133"/>
                    <a:pt x="143" y="133"/>
                    <a:pt x="143" y="133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08" y="54"/>
                    <a:pt x="108" y="54"/>
                    <a:pt x="108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7" y="55"/>
                    <a:pt x="107" y="55"/>
                    <a:pt x="107" y="55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7" y="27"/>
                    <a:pt x="97" y="27"/>
                    <a:pt x="97" y="27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2" y="27"/>
                    <a:pt x="92" y="27"/>
                    <a:pt x="92" y="27"/>
                  </a:cubicBezTo>
                  <a:cubicBezTo>
                    <a:pt x="91" y="26"/>
                    <a:pt x="91" y="26"/>
                    <a:pt x="91" y="26"/>
                  </a:cubicBezTo>
                  <a:cubicBezTo>
                    <a:pt x="90" y="26"/>
                    <a:pt x="90" y="26"/>
                    <a:pt x="90" y="26"/>
                  </a:cubicBezTo>
                  <a:cubicBezTo>
                    <a:pt x="87" y="26"/>
                    <a:pt x="87" y="26"/>
                    <a:pt x="87" y="26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6" y="37"/>
                    <a:pt x="76" y="37"/>
                    <a:pt x="76" y="37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3"/>
                    <a:pt x="73" y="43"/>
                    <a:pt x="73" y="43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1" y="49"/>
                    <a:pt x="70" y="48"/>
                    <a:pt x="67" y="50"/>
                  </a:cubicBezTo>
                  <a:cubicBezTo>
                    <a:pt x="67" y="50"/>
                    <a:pt x="67" y="50"/>
                    <a:pt x="67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69" y="51"/>
                    <a:pt x="69" y="51"/>
                    <a:pt x="69" y="51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0" y="53"/>
                    <a:pt x="70" y="53"/>
                    <a:pt x="70" y="53"/>
                  </a:cubicBezTo>
                  <a:cubicBezTo>
                    <a:pt x="70" y="53"/>
                    <a:pt x="70" y="53"/>
                    <a:pt x="70" y="53"/>
                  </a:cubicBezTo>
                  <a:cubicBezTo>
                    <a:pt x="71" y="52"/>
                    <a:pt x="71" y="52"/>
                    <a:pt x="71" y="52"/>
                  </a:cubicBezTo>
                  <a:cubicBezTo>
                    <a:pt x="73" y="51"/>
                    <a:pt x="73" y="51"/>
                    <a:pt x="73" y="51"/>
                  </a:cubicBezTo>
                  <a:cubicBezTo>
                    <a:pt x="73" y="51"/>
                    <a:pt x="73" y="51"/>
                    <a:pt x="73" y="51"/>
                  </a:cubicBezTo>
                  <a:cubicBezTo>
                    <a:pt x="73" y="52"/>
                    <a:pt x="73" y="52"/>
                    <a:pt x="73" y="52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61"/>
                    <a:pt x="78" y="61"/>
                    <a:pt x="78" y="61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9" y="63"/>
                    <a:pt x="79" y="63"/>
                    <a:pt x="79" y="63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82" y="66"/>
                    <a:pt x="82" y="66"/>
                    <a:pt x="82" y="66"/>
                  </a:cubicBezTo>
                  <a:cubicBezTo>
                    <a:pt x="84" y="67"/>
                    <a:pt x="84" y="67"/>
                    <a:pt x="84" y="67"/>
                  </a:cubicBezTo>
                  <a:cubicBezTo>
                    <a:pt x="85" y="68"/>
                    <a:pt x="85" y="68"/>
                    <a:pt x="85" y="68"/>
                  </a:cubicBezTo>
                  <a:cubicBezTo>
                    <a:pt x="86" y="69"/>
                    <a:pt x="86" y="69"/>
                    <a:pt x="86" y="69"/>
                  </a:cubicBezTo>
                  <a:cubicBezTo>
                    <a:pt x="89" y="68"/>
                    <a:pt x="89" y="68"/>
                    <a:pt x="89" y="68"/>
                  </a:cubicBezTo>
                  <a:cubicBezTo>
                    <a:pt x="92" y="68"/>
                    <a:pt x="92" y="68"/>
                    <a:pt x="92" y="68"/>
                  </a:cubicBezTo>
                  <a:cubicBezTo>
                    <a:pt x="92" y="68"/>
                    <a:pt x="92" y="68"/>
                    <a:pt x="92" y="68"/>
                  </a:cubicBezTo>
                  <a:cubicBezTo>
                    <a:pt x="91" y="71"/>
                    <a:pt x="91" y="71"/>
                    <a:pt x="91" y="71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1" y="73"/>
                    <a:pt x="91" y="73"/>
                    <a:pt x="91" y="73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0" y="77"/>
                    <a:pt x="90" y="77"/>
                    <a:pt x="90" y="77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86" y="76"/>
                    <a:pt x="86" y="76"/>
                    <a:pt x="86" y="76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83" y="89"/>
                    <a:pt x="83" y="89"/>
                    <a:pt x="83" y="89"/>
                  </a:cubicBezTo>
                  <a:cubicBezTo>
                    <a:pt x="82" y="89"/>
                    <a:pt x="82" y="89"/>
                    <a:pt x="82" y="89"/>
                  </a:cubicBezTo>
                  <a:cubicBezTo>
                    <a:pt x="75" y="89"/>
                    <a:pt x="80" y="88"/>
                    <a:pt x="74" y="91"/>
                  </a:cubicBezTo>
                  <a:cubicBezTo>
                    <a:pt x="73" y="91"/>
                    <a:pt x="73" y="91"/>
                    <a:pt x="73" y="91"/>
                  </a:cubicBezTo>
                  <a:cubicBezTo>
                    <a:pt x="73" y="89"/>
                    <a:pt x="73" y="89"/>
                    <a:pt x="73" y="89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80" y="86"/>
                    <a:pt x="80" y="86"/>
                    <a:pt x="80" y="86"/>
                  </a:cubicBezTo>
                  <a:cubicBezTo>
                    <a:pt x="79" y="74"/>
                    <a:pt x="79" y="74"/>
                    <a:pt x="79" y="74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71"/>
                    <a:pt x="77" y="71"/>
                    <a:pt x="77" y="71"/>
                  </a:cubicBezTo>
                  <a:cubicBezTo>
                    <a:pt x="72" y="70"/>
                    <a:pt x="72" y="70"/>
                    <a:pt x="72" y="70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6" y="67"/>
                    <a:pt x="76" y="67"/>
                    <a:pt x="76" y="67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3"/>
                    <a:pt x="76" y="63"/>
                    <a:pt x="76" y="63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74" y="59"/>
                    <a:pt x="74" y="59"/>
                    <a:pt x="74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2" y="59"/>
                    <a:pt x="72" y="59"/>
                    <a:pt x="72" y="59"/>
                  </a:cubicBezTo>
                  <a:cubicBezTo>
                    <a:pt x="68" y="60"/>
                    <a:pt x="68" y="60"/>
                    <a:pt x="68" y="60"/>
                  </a:cubicBezTo>
                  <a:cubicBezTo>
                    <a:pt x="68" y="61"/>
                    <a:pt x="68" y="61"/>
                    <a:pt x="68" y="61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6" y="61"/>
                    <a:pt x="66" y="61"/>
                    <a:pt x="66" y="61"/>
                  </a:cubicBezTo>
                  <a:cubicBezTo>
                    <a:pt x="65" y="61"/>
                    <a:pt x="65" y="61"/>
                    <a:pt x="65" y="61"/>
                  </a:cubicBezTo>
                  <a:cubicBezTo>
                    <a:pt x="66" y="62"/>
                    <a:pt x="66" y="62"/>
                    <a:pt x="66" y="62"/>
                  </a:cubicBezTo>
                  <a:cubicBezTo>
                    <a:pt x="66" y="63"/>
                    <a:pt x="66" y="63"/>
                    <a:pt x="66" y="63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4" y="65"/>
                    <a:pt x="64" y="65"/>
                    <a:pt x="64" y="65"/>
                  </a:cubicBezTo>
                  <a:cubicBezTo>
                    <a:pt x="62" y="65"/>
                    <a:pt x="62" y="65"/>
                    <a:pt x="62" y="65"/>
                  </a:cubicBezTo>
                  <a:cubicBezTo>
                    <a:pt x="60" y="66"/>
                    <a:pt x="60" y="66"/>
                    <a:pt x="60" y="66"/>
                  </a:cubicBezTo>
                  <a:cubicBezTo>
                    <a:pt x="63" y="67"/>
                    <a:pt x="63" y="67"/>
                    <a:pt x="63" y="67"/>
                  </a:cubicBezTo>
                  <a:cubicBezTo>
                    <a:pt x="65" y="68"/>
                    <a:pt x="65" y="68"/>
                    <a:pt x="65" y="68"/>
                  </a:cubicBezTo>
                  <a:cubicBezTo>
                    <a:pt x="67" y="71"/>
                    <a:pt x="67" y="71"/>
                    <a:pt x="67" y="71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6" y="74"/>
                    <a:pt x="66" y="74"/>
                    <a:pt x="66" y="74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8" y="82"/>
                    <a:pt x="68" y="82"/>
                    <a:pt x="68" y="82"/>
                  </a:cubicBezTo>
                  <a:cubicBezTo>
                    <a:pt x="68" y="83"/>
                    <a:pt x="68" y="83"/>
                    <a:pt x="68" y="83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6" y="85"/>
                    <a:pt x="66" y="85"/>
                    <a:pt x="66" y="85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70" y="89"/>
                    <a:pt x="70" y="89"/>
                    <a:pt x="70" y="89"/>
                  </a:cubicBezTo>
                  <a:cubicBezTo>
                    <a:pt x="70" y="89"/>
                    <a:pt x="70" y="89"/>
                    <a:pt x="70" y="89"/>
                  </a:cubicBezTo>
                  <a:cubicBezTo>
                    <a:pt x="69" y="91"/>
                    <a:pt x="69" y="91"/>
                    <a:pt x="69" y="91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8" y="115"/>
                    <a:pt x="70" y="113"/>
                    <a:pt x="74" y="108"/>
                  </a:cubicBezTo>
                  <a:cubicBezTo>
                    <a:pt x="75" y="106"/>
                    <a:pt x="75" y="106"/>
                    <a:pt x="75" y="106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4" y="111"/>
                    <a:pt x="74" y="111"/>
                    <a:pt x="74" y="111"/>
                  </a:cubicBezTo>
                  <a:cubicBezTo>
                    <a:pt x="75" y="111"/>
                    <a:pt x="75" y="111"/>
                    <a:pt x="75" y="111"/>
                  </a:cubicBezTo>
                  <a:cubicBezTo>
                    <a:pt x="77" y="110"/>
                    <a:pt x="77" y="110"/>
                    <a:pt x="77" y="110"/>
                  </a:cubicBezTo>
                  <a:cubicBezTo>
                    <a:pt x="77" y="110"/>
                    <a:pt x="77" y="110"/>
                    <a:pt x="77" y="110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8" y="104"/>
                    <a:pt x="78" y="104"/>
                    <a:pt x="78" y="104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7" y="102"/>
                    <a:pt x="77" y="102"/>
                    <a:pt x="77" y="102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82" y="103"/>
                    <a:pt x="82" y="103"/>
                    <a:pt x="82" y="103"/>
                  </a:cubicBezTo>
                  <a:cubicBezTo>
                    <a:pt x="86" y="105"/>
                    <a:pt x="90" y="105"/>
                    <a:pt x="94" y="103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98" y="102"/>
                    <a:pt x="98" y="102"/>
                    <a:pt x="98" y="102"/>
                  </a:cubicBezTo>
                  <a:cubicBezTo>
                    <a:pt x="99" y="101"/>
                    <a:pt x="99" y="101"/>
                    <a:pt x="99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1" y="102"/>
                    <a:pt x="101" y="102"/>
                    <a:pt x="101" y="102"/>
                  </a:cubicBezTo>
                  <a:cubicBezTo>
                    <a:pt x="101" y="102"/>
                    <a:pt x="101" y="102"/>
                    <a:pt x="101" y="102"/>
                  </a:cubicBezTo>
                  <a:cubicBezTo>
                    <a:pt x="102" y="103"/>
                    <a:pt x="102" y="103"/>
                    <a:pt x="102" y="103"/>
                  </a:cubicBezTo>
                  <a:cubicBezTo>
                    <a:pt x="103" y="103"/>
                    <a:pt x="103" y="103"/>
                    <a:pt x="103" y="103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99" y="110"/>
                    <a:pt x="99" y="115"/>
                    <a:pt x="96" y="119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7" y="120"/>
                    <a:pt x="97" y="120"/>
                    <a:pt x="97" y="120"/>
                  </a:cubicBezTo>
                  <a:cubicBezTo>
                    <a:pt x="98" y="121"/>
                    <a:pt x="98" y="121"/>
                    <a:pt x="98" y="121"/>
                  </a:cubicBezTo>
                  <a:cubicBezTo>
                    <a:pt x="102" y="121"/>
                    <a:pt x="102" y="121"/>
                    <a:pt x="102" y="121"/>
                  </a:cubicBezTo>
                  <a:cubicBezTo>
                    <a:pt x="106" y="122"/>
                    <a:pt x="106" y="122"/>
                    <a:pt x="106" y="122"/>
                  </a:cubicBezTo>
                  <a:cubicBezTo>
                    <a:pt x="106" y="122"/>
                    <a:pt x="106" y="122"/>
                    <a:pt x="106" y="122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6" y="126"/>
                    <a:pt x="106" y="126"/>
                    <a:pt x="106" y="126"/>
                  </a:cubicBezTo>
                  <a:cubicBezTo>
                    <a:pt x="106" y="127"/>
                    <a:pt x="106" y="127"/>
                    <a:pt x="106" y="127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02" y="127"/>
                    <a:pt x="102" y="127"/>
                    <a:pt x="102" y="127"/>
                  </a:cubicBezTo>
                  <a:cubicBezTo>
                    <a:pt x="98" y="126"/>
                    <a:pt x="93" y="124"/>
                    <a:pt x="88" y="123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1" y="123"/>
                    <a:pt x="81" y="123"/>
                    <a:pt x="81" y="123"/>
                  </a:cubicBezTo>
                  <a:cubicBezTo>
                    <a:pt x="79" y="123"/>
                    <a:pt x="79" y="123"/>
                    <a:pt x="79" y="123"/>
                  </a:cubicBezTo>
                  <a:cubicBezTo>
                    <a:pt x="77" y="122"/>
                    <a:pt x="77" y="122"/>
                    <a:pt x="77" y="122"/>
                  </a:cubicBezTo>
                  <a:cubicBezTo>
                    <a:pt x="77" y="122"/>
                    <a:pt x="77" y="122"/>
                    <a:pt x="77" y="122"/>
                  </a:cubicBezTo>
                  <a:cubicBezTo>
                    <a:pt x="74" y="122"/>
                    <a:pt x="74" y="122"/>
                    <a:pt x="74" y="122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3" y="121"/>
                    <a:pt x="63" y="121"/>
                    <a:pt x="63" y="121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57" y="92"/>
                    <a:pt x="57" y="92"/>
                    <a:pt x="57" y="92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48" y="94"/>
                    <a:pt x="48" y="94"/>
                    <a:pt x="48" y="94"/>
                  </a:cubicBezTo>
                  <a:cubicBezTo>
                    <a:pt x="48" y="94"/>
                    <a:pt x="48" y="94"/>
                    <a:pt x="48" y="94"/>
                  </a:cubicBezTo>
                  <a:cubicBezTo>
                    <a:pt x="51" y="87"/>
                    <a:pt x="47" y="79"/>
                    <a:pt x="50" y="72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48" y="62"/>
                    <a:pt x="48" y="62"/>
                    <a:pt x="48" y="62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1" y="46"/>
                    <a:pt x="61" y="46"/>
                    <a:pt x="61" y="46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7" y="43"/>
                    <a:pt x="67" y="43"/>
                    <a:pt x="67" y="43"/>
                  </a:cubicBezTo>
                  <a:cubicBezTo>
                    <a:pt x="68" y="43"/>
                    <a:pt x="68" y="43"/>
                    <a:pt x="68" y="43"/>
                  </a:cubicBezTo>
                  <a:cubicBezTo>
                    <a:pt x="68" y="43"/>
                    <a:pt x="68" y="43"/>
                    <a:pt x="68" y="43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9" y="37"/>
                    <a:pt x="69" y="37"/>
                    <a:pt x="69" y="37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75" y="32"/>
                    <a:pt x="75" y="32"/>
                    <a:pt x="75" y="32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8" y="26"/>
                    <a:pt x="78" y="26"/>
                    <a:pt x="78" y="26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6" y="12"/>
                    <a:pt x="76" y="12"/>
                    <a:pt x="76" y="12"/>
                  </a:cubicBezTo>
                  <a:cubicBezTo>
                    <a:pt x="71" y="3"/>
                    <a:pt x="64" y="0"/>
                    <a:pt x="54" y="1"/>
                  </a:cubicBezTo>
                  <a:cubicBezTo>
                    <a:pt x="54" y="1"/>
                    <a:pt x="54" y="1"/>
                    <a:pt x="54" y="1"/>
                  </a:cubicBezTo>
                  <a:lnTo>
                    <a:pt x="51" y="2"/>
                  </a:lnTo>
                  <a:close/>
                </a:path>
              </a:pathLst>
            </a:custGeom>
            <a:solidFill>
              <a:srgbClr val="9FC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FDB49C1-5C9E-448A-819D-B85838F04963}"/>
                </a:ext>
              </a:extLst>
            </p:cNvPr>
            <p:cNvSpPr txBox="1"/>
            <p:nvPr/>
          </p:nvSpPr>
          <p:spPr>
            <a:xfrm>
              <a:off x="821227" y="5207806"/>
              <a:ext cx="1628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PW &amp; Child </a:t>
              </a:r>
            </a:p>
          </p:txBody>
        </p:sp>
      </p:grpSp>
      <p:grpSp>
        <p:nvGrpSpPr>
          <p:cNvPr id="101" name="Group 115">
            <a:extLst>
              <a:ext uri="{FF2B5EF4-FFF2-40B4-BE49-F238E27FC236}">
                <a16:creationId xmlns:a16="http://schemas.microsoft.com/office/drawing/2014/main" id="{D5D408B8-8C94-4A6C-946E-B1C2D9DA4A69}"/>
              </a:ext>
            </a:extLst>
          </p:cNvPr>
          <p:cNvGrpSpPr/>
          <p:nvPr/>
        </p:nvGrpSpPr>
        <p:grpSpPr>
          <a:xfrm>
            <a:off x="2330431" y="4173312"/>
            <a:ext cx="1895466" cy="1636438"/>
            <a:chOff x="2721048" y="4217699"/>
            <a:chExt cx="1895466" cy="1636438"/>
          </a:xfrm>
        </p:grpSpPr>
        <p:sp>
          <p:nvSpPr>
            <p:cNvPr id="117" name="Freeform 55">
              <a:extLst>
                <a:ext uri="{FF2B5EF4-FFF2-40B4-BE49-F238E27FC236}">
                  <a16:creationId xmlns:a16="http://schemas.microsoft.com/office/drawing/2014/main" id="{9A56D518-B2D7-4267-ADC3-187072E1A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275" y="4586305"/>
              <a:ext cx="111325" cy="217701"/>
            </a:xfrm>
            <a:custGeom>
              <a:avLst/>
              <a:gdLst>
                <a:gd name="T0" fmla="*/ 45 w 45"/>
                <a:gd name="T1" fmla="*/ 0 h 88"/>
                <a:gd name="T2" fmla="*/ 0 w 45"/>
                <a:gd name="T3" fmla="*/ 43 h 88"/>
                <a:gd name="T4" fmla="*/ 45 w 45"/>
                <a:gd name="T5" fmla="*/ 88 h 88"/>
                <a:gd name="T6" fmla="*/ 45 w 45"/>
                <a:gd name="T7" fmla="*/ 60 h 88"/>
                <a:gd name="T8" fmla="*/ 30 w 45"/>
                <a:gd name="T9" fmla="*/ 60 h 88"/>
                <a:gd name="T10" fmla="*/ 30 w 45"/>
                <a:gd name="T11" fmla="*/ 29 h 88"/>
                <a:gd name="T12" fmla="*/ 45 w 45"/>
                <a:gd name="T13" fmla="*/ 29 h 88"/>
                <a:gd name="T14" fmla="*/ 45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45" y="0"/>
                  </a:moveTo>
                  <a:lnTo>
                    <a:pt x="0" y="43"/>
                  </a:lnTo>
                  <a:lnTo>
                    <a:pt x="45" y="88"/>
                  </a:lnTo>
                  <a:lnTo>
                    <a:pt x="45" y="60"/>
                  </a:lnTo>
                  <a:lnTo>
                    <a:pt x="30" y="60"/>
                  </a:lnTo>
                  <a:lnTo>
                    <a:pt x="30" y="29"/>
                  </a:lnTo>
                  <a:lnTo>
                    <a:pt x="45" y="29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8" name="Freeform 56">
              <a:extLst>
                <a:ext uri="{FF2B5EF4-FFF2-40B4-BE49-F238E27FC236}">
                  <a16:creationId xmlns:a16="http://schemas.microsoft.com/office/drawing/2014/main" id="{9D0DF58C-95BC-4123-9223-952518071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275" y="4586305"/>
              <a:ext cx="111325" cy="217701"/>
            </a:xfrm>
            <a:custGeom>
              <a:avLst/>
              <a:gdLst>
                <a:gd name="T0" fmla="*/ 45 w 45"/>
                <a:gd name="T1" fmla="*/ 0 h 88"/>
                <a:gd name="T2" fmla="*/ 0 w 45"/>
                <a:gd name="T3" fmla="*/ 43 h 88"/>
                <a:gd name="T4" fmla="*/ 45 w 45"/>
                <a:gd name="T5" fmla="*/ 88 h 88"/>
                <a:gd name="T6" fmla="*/ 45 w 45"/>
                <a:gd name="T7" fmla="*/ 60 h 88"/>
                <a:gd name="T8" fmla="*/ 30 w 45"/>
                <a:gd name="T9" fmla="*/ 60 h 88"/>
                <a:gd name="T10" fmla="*/ 30 w 45"/>
                <a:gd name="T11" fmla="*/ 29 h 88"/>
                <a:gd name="T12" fmla="*/ 45 w 45"/>
                <a:gd name="T13" fmla="*/ 29 h 88"/>
                <a:gd name="T14" fmla="*/ 45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45" y="0"/>
                  </a:moveTo>
                  <a:lnTo>
                    <a:pt x="0" y="43"/>
                  </a:lnTo>
                  <a:lnTo>
                    <a:pt x="45" y="88"/>
                  </a:lnTo>
                  <a:lnTo>
                    <a:pt x="45" y="60"/>
                  </a:lnTo>
                  <a:lnTo>
                    <a:pt x="30" y="60"/>
                  </a:lnTo>
                  <a:lnTo>
                    <a:pt x="30" y="29"/>
                  </a:lnTo>
                  <a:lnTo>
                    <a:pt x="45" y="29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9" name="Rectangle 57">
              <a:extLst>
                <a:ext uri="{FF2B5EF4-FFF2-40B4-BE49-F238E27FC236}">
                  <a16:creationId xmlns:a16="http://schemas.microsoft.com/office/drawing/2014/main" id="{D5FB4568-367D-4F73-8B16-70769CCBD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600" y="4658048"/>
              <a:ext cx="24491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0" name="Rectangle 58">
              <a:extLst>
                <a:ext uri="{FF2B5EF4-FFF2-40B4-BE49-F238E27FC236}">
                  <a16:creationId xmlns:a16="http://schemas.microsoft.com/office/drawing/2014/main" id="{E0BA1DE6-6372-4FE7-8359-B58A4D6B3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600" y="4658048"/>
              <a:ext cx="24491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1" name="Rectangle 59">
              <a:extLst>
                <a:ext uri="{FF2B5EF4-FFF2-40B4-BE49-F238E27FC236}">
                  <a16:creationId xmlns:a16="http://schemas.microsoft.com/office/drawing/2014/main" id="{4462BB47-5160-493D-B594-CF0FEE21A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491" y="4658048"/>
              <a:ext cx="37109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2" name="Rectangle 60">
              <a:extLst>
                <a:ext uri="{FF2B5EF4-FFF2-40B4-BE49-F238E27FC236}">
                  <a16:creationId xmlns:a16="http://schemas.microsoft.com/office/drawing/2014/main" id="{A75A7328-D1A4-4206-A8E1-898D81BC6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4491" y="4658048"/>
              <a:ext cx="37109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3" name="Freeform 131">
              <a:extLst>
                <a:ext uri="{FF2B5EF4-FFF2-40B4-BE49-F238E27FC236}">
                  <a16:creationId xmlns:a16="http://schemas.microsoft.com/office/drawing/2014/main" id="{95FA2F43-9B88-4EC2-BE69-AB0B8133A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058" y="4774319"/>
              <a:ext cx="98955" cy="160802"/>
            </a:xfrm>
            <a:custGeom>
              <a:avLst/>
              <a:gdLst>
                <a:gd name="T0" fmla="*/ 33 w 40"/>
                <a:gd name="T1" fmla="*/ 19 h 65"/>
                <a:gd name="T2" fmla="*/ 21 w 40"/>
                <a:gd name="T3" fmla="*/ 24 h 65"/>
                <a:gd name="T4" fmla="*/ 21 w 40"/>
                <a:gd name="T5" fmla="*/ 5 h 65"/>
                <a:gd name="T6" fmla="*/ 16 w 40"/>
                <a:gd name="T7" fmla="*/ 5 h 65"/>
                <a:gd name="T8" fmla="*/ 16 w 40"/>
                <a:gd name="T9" fmla="*/ 29 h 65"/>
                <a:gd name="T10" fmla="*/ 9 w 40"/>
                <a:gd name="T11" fmla="*/ 34 h 65"/>
                <a:gd name="T12" fmla="*/ 4 w 40"/>
                <a:gd name="T13" fmla="*/ 8 h 65"/>
                <a:gd name="T14" fmla="*/ 0 w 40"/>
                <a:gd name="T15" fmla="*/ 0 h 65"/>
                <a:gd name="T16" fmla="*/ 2 w 40"/>
                <a:gd name="T17" fmla="*/ 65 h 65"/>
                <a:gd name="T18" fmla="*/ 40 w 40"/>
                <a:gd name="T19" fmla="*/ 55 h 65"/>
                <a:gd name="T20" fmla="*/ 9 w 40"/>
                <a:gd name="T21" fmla="*/ 57 h 65"/>
                <a:gd name="T22" fmla="*/ 9 w 40"/>
                <a:gd name="T23" fmla="*/ 41 h 65"/>
                <a:gd name="T24" fmla="*/ 16 w 40"/>
                <a:gd name="T25" fmla="*/ 38 h 65"/>
                <a:gd name="T26" fmla="*/ 18 w 40"/>
                <a:gd name="T27" fmla="*/ 55 h 65"/>
                <a:gd name="T28" fmla="*/ 21 w 40"/>
                <a:gd name="T29" fmla="*/ 34 h 65"/>
                <a:gd name="T30" fmla="*/ 35 w 40"/>
                <a:gd name="T31" fmla="*/ 29 h 65"/>
                <a:gd name="T32" fmla="*/ 33 w 40"/>
                <a:gd name="T33" fmla="*/ 1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" h="65">
                  <a:moveTo>
                    <a:pt x="33" y="19"/>
                  </a:moveTo>
                  <a:lnTo>
                    <a:pt x="21" y="24"/>
                  </a:lnTo>
                  <a:lnTo>
                    <a:pt x="21" y="5"/>
                  </a:lnTo>
                  <a:lnTo>
                    <a:pt x="16" y="5"/>
                  </a:lnTo>
                  <a:lnTo>
                    <a:pt x="16" y="29"/>
                  </a:lnTo>
                  <a:lnTo>
                    <a:pt x="9" y="34"/>
                  </a:lnTo>
                  <a:lnTo>
                    <a:pt x="4" y="8"/>
                  </a:lnTo>
                  <a:lnTo>
                    <a:pt x="0" y="0"/>
                  </a:lnTo>
                  <a:lnTo>
                    <a:pt x="2" y="65"/>
                  </a:lnTo>
                  <a:lnTo>
                    <a:pt x="40" y="55"/>
                  </a:lnTo>
                  <a:lnTo>
                    <a:pt x="9" y="57"/>
                  </a:lnTo>
                  <a:lnTo>
                    <a:pt x="9" y="41"/>
                  </a:lnTo>
                  <a:lnTo>
                    <a:pt x="16" y="38"/>
                  </a:lnTo>
                  <a:lnTo>
                    <a:pt x="18" y="55"/>
                  </a:lnTo>
                  <a:lnTo>
                    <a:pt x="21" y="34"/>
                  </a:lnTo>
                  <a:lnTo>
                    <a:pt x="35" y="29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4" name="Freeform 132">
              <a:extLst>
                <a:ext uri="{FF2B5EF4-FFF2-40B4-BE49-F238E27FC236}">
                  <a16:creationId xmlns:a16="http://schemas.microsoft.com/office/drawing/2014/main" id="{5E07008B-0EDD-40EC-81B4-67A64E5CA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602" y="4722369"/>
              <a:ext cx="81639" cy="158328"/>
            </a:xfrm>
            <a:custGeom>
              <a:avLst/>
              <a:gdLst>
                <a:gd name="T0" fmla="*/ 0 w 33"/>
                <a:gd name="T1" fmla="*/ 0 h 64"/>
                <a:gd name="T2" fmla="*/ 3 w 33"/>
                <a:gd name="T3" fmla="*/ 64 h 64"/>
                <a:gd name="T4" fmla="*/ 7 w 33"/>
                <a:gd name="T5" fmla="*/ 57 h 64"/>
                <a:gd name="T6" fmla="*/ 7 w 33"/>
                <a:gd name="T7" fmla="*/ 38 h 64"/>
                <a:gd name="T8" fmla="*/ 17 w 33"/>
                <a:gd name="T9" fmla="*/ 38 h 64"/>
                <a:gd name="T10" fmla="*/ 17 w 33"/>
                <a:gd name="T11" fmla="*/ 55 h 64"/>
                <a:gd name="T12" fmla="*/ 22 w 33"/>
                <a:gd name="T13" fmla="*/ 52 h 64"/>
                <a:gd name="T14" fmla="*/ 22 w 33"/>
                <a:gd name="T15" fmla="*/ 36 h 64"/>
                <a:gd name="T16" fmla="*/ 33 w 33"/>
                <a:gd name="T17" fmla="*/ 31 h 64"/>
                <a:gd name="T18" fmla="*/ 31 w 33"/>
                <a:gd name="T19" fmla="*/ 2 h 64"/>
                <a:gd name="T20" fmla="*/ 31 w 33"/>
                <a:gd name="T21" fmla="*/ 24 h 64"/>
                <a:gd name="T22" fmla="*/ 22 w 33"/>
                <a:gd name="T23" fmla="*/ 26 h 64"/>
                <a:gd name="T24" fmla="*/ 19 w 33"/>
                <a:gd name="T25" fmla="*/ 5 h 64"/>
                <a:gd name="T26" fmla="*/ 14 w 33"/>
                <a:gd name="T27" fmla="*/ 5 h 64"/>
                <a:gd name="T28" fmla="*/ 17 w 33"/>
                <a:gd name="T29" fmla="*/ 29 h 64"/>
                <a:gd name="T30" fmla="*/ 5 w 33"/>
                <a:gd name="T31" fmla="*/ 31 h 64"/>
                <a:gd name="T32" fmla="*/ 5 w 33"/>
                <a:gd name="T33" fmla="*/ 7 h 64"/>
                <a:gd name="T34" fmla="*/ 0 w 33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64">
                  <a:moveTo>
                    <a:pt x="0" y="0"/>
                  </a:moveTo>
                  <a:lnTo>
                    <a:pt x="3" y="64"/>
                  </a:lnTo>
                  <a:lnTo>
                    <a:pt x="7" y="57"/>
                  </a:lnTo>
                  <a:lnTo>
                    <a:pt x="7" y="38"/>
                  </a:lnTo>
                  <a:lnTo>
                    <a:pt x="17" y="38"/>
                  </a:lnTo>
                  <a:lnTo>
                    <a:pt x="17" y="55"/>
                  </a:lnTo>
                  <a:lnTo>
                    <a:pt x="22" y="52"/>
                  </a:lnTo>
                  <a:lnTo>
                    <a:pt x="22" y="36"/>
                  </a:lnTo>
                  <a:lnTo>
                    <a:pt x="33" y="31"/>
                  </a:lnTo>
                  <a:lnTo>
                    <a:pt x="31" y="2"/>
                  </a:lnTo>
                  <a:lnTo>
                    <a:pt x="31" y="24"/>
                  </a:lnTo>
                  <a:lnTo>
                    <a:pt x="22" y="26"/>
                  </a:lnTo>
                  <a:lnTo>
                    <a:pt x="19" y="5"/>
                  </a:lnTo>
                  <a:lnTo>
                    <a:pt x="14" y="5"/>
                  </a:lnTo>
                  <a:lnTo>
                    <a:pt x="17" y="29"/>
                  </a:lnTo>
                  <a:lnTo>
                    <a:pt x="5" y="31"/>
                  </a:lnTo>
                  <a:lnTo>
                    <a:pt x="5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5" name="Freeform 133">
              <a:extLst>
                <a:ext uri="{FF2B5EF4-FFF2-40B4-BE49-F238E27FC236}">
                  <a16:creationId xmlns:a16="http://schemas.microsoft.com/office/drawing/2014/main" id="{B86F0E71-59C7-4C5B-AB62-702C783CC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602" y="4700103"/>
              <a:ext cx="94007" cy="180593"/>
            </a:xfrm>
            <a:custGeom>
              <a:avLst/>
              <a:gdLst>
                <a:gd name="T0" fmla="*/ 38 w 38"/>
                <a:gd name="T1" fmla="*/ 0 h 73"/>
                <a:gd name="T2" fmla="*/ 0 w 38"/>
                <a:gd name="T3" fmla="*/ 9 h 73"/>
                <a:gd name="T4" fmla="*/ 5 w 38"/>
                <a:gd name="T5" fmla="*/ 16 h 73"/>
                <a:gd name="T6" fmla="*/ 14 w 38"/>
                <a:gd name="T7" fmla="*/ 14 h 73"/>
                <a:gd name="T8" fmla="*/ 19 w 38"/>
                <a:gd name="T9" fmla="*/ 14 h 73"/>
                <a:gd name="T10" fmla="*/ 31 w 38"/>
                <a:gd name="T11" fmla="*/ 11 h 73"/>
                <a:gd name="T12" fmla="*/ 33 w 38"/>
                <a:gd name="T13" fmla="*/ 40 h 73"/>
                <a:gd name="T14" fmla="*/ 31 w 38"/>
                <a:gd name="T15" fmla="*/ 59 h 73"/>
                <a:gd name="T16" fmla="*/ 22 w 38"/>
                <a:gd name="T17" fmla="*/ 61 h 73"/>
                <a:gd name="T18" fmla="*/ 17 w 38"/>
                <a:gd name="T19" fmla="*/ 64 h 73"/>
                <a:gd name="T20" fmla="*/ 7 w 38"/>
                <a:gd name="T21" fmla="*/ 66 h 73"/>
                <a:gd name="T22" fmla="*/ 3 w 38"/>
                <a:gd name="T23" fmla="*/ 73 h 73"/>
                <a:gd name="T24" fmla="*/ 38 w 38"/>
                <a:gd name="T25" fmla="*/ 68 h 73"/>
                <a:gd name="T26" fmla="*/ 38 w 38"/>
                <a:gd name="T2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" h="73">
                  <a:moveTo>
                    <a:pt x="38" y="0"/>
                  </a:moveTo>
                  <a:lnTo>
                    <a:pt x="0" y="9"/>
                  </a:lnTo>
                  <a:lnTo>
                    <a:pt x="5" y="16"/>
                  </a:lnTo>
                  <a:lnTo>
                    <a:pt x="14" y="14"/>
                  </a:lnTo>
                  <a:lnTo>
                    <a:pt x="19" y="14"/>
                  </a:lnTo>
                  <a:lnTo>
                    <a:pt x="31" y="11"/>
                  </a:lnTo>
                  <a:lnTo>
                    <a:pt x="33" y="40"/>
                  </a:lnTo>
                  <a:lnTo>
                    <a:pt x="31" y="59"/>
                  </a:lnTo>
                  <a:lnTo>
                    <a:pt x="22" y="61"/>
                  </a:lnTo>
                  <a:lnTo>
                    <a:pt x="17" y="64"/>
                  </a:lnTo>
                  <a:lnTo>
                    <a:pt x="7" y="66"/>
                  </a:lnTo>
                  <a:lnTo>
                    <a:pt x="3" y="73"/>
                  </a:lnTo>
                  <a:lnTo>
                    <a:pt x="38" y="6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6" name="Freeform 134">
              <a:extLst>
                <a:ext uri="{FF2B5EF4-FFF2-40B4-BE49-F238E27FC236}">
                  <a16:creationId xmlns:a16="http://schemas.microsoft.com/office/drawing/2014/main" id="{66E957A1-CBD2-4321-8B20-0A45A5594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364" y="4286967"/>
              <a:ext cx="168223" cy="158328"/>
            </a:xfrm>
            <a:custGeom>
              <a:avLst/>
              <a:gdLst>
                <a:gd name="T0" fmla="*/ 21 w 68"/>
                <a:gd name="T1" fmla="*/ 64 h 64"/>
                <a:gd name="T2" fmla="*/ 68 w 68"/>
                <a:gd name="T3" fmla="*/ 36 h 64"/>
                <a:gd name="T4" fmla="*/ 28 w 68"/>
                <a:gd name="T5" fmla="*/ 7 h 64"/>
                <a:gd name="T6" fmla="*/ 12 w 68"/>
                <a:gd name="T7" fmla="*/ 0 h 64"/>
                <a:gd name="T8" fmla="*/ 0 w 68"/>
                <a:gd name="T9" fmla="*/ 57 h 64"/>
                <a:gd name="T10" fmla="*/ 21 w 68"/>
                <a:gd name="T11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64">
                  <a:moveTo>
                    <a:pt x="21" y="64"/>
                  </a:moveTo>
                  <a:lnTo>
                    <a:pt x="68" y="36"/>
                  </a:lnTo>
                  <a:lnTo>
                    <a:pt x="28" y="7"/>
                  </a:lnTo>
                  <a:lnTo>
                    <a:pt x="12" y="0"/>
                  </a:lnTo>
                  <a:lnTo>
                    <a:pt x="0" y="57"/>
                  </a:lnTo>
                  <a:lnTo>
                    <a:pt x="21" y="64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7" name="Freeform 135">
              <a:extLst>
                <a:ext uri="{FF2B5EF4-FFF2-40B4-BE49-F238E27FC236}">
                  <a16:creationId xmlns:a16="http://schemas.microsoft.com/office/drawing/2014/main" id="{625769B1-B435-41ED-9902-9AE25FF81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590" y="4700103"/>
              <a:ext cx="128641" cy="244914"/>
            </a:xfrm>
            <a:custGeom>
              <a:avLst/>
              <a:gdLst>
                <a:gd name="T0" fmla="*/ 43 w 52"/>
                <a:gd name="T1" fmla="*/ 26 h 99"/>
                <a:gd name="T2" fmla="*/ 31 w 52"/>
                <a:gd name="T3" fmla="*/ 45 h 99"/>
                <a:gd name="T4" fmla="*/ 31 w 52"/>
                <a:gd name="T5" fmla="*/ 54 h 99"/>
                <a:gd name="T6" fmla="*/ 38 w 52"/>
                <a:gd name="T7" fmla="*/ 54 h 99"/>
                <a:gd name="T8" fmla="*/ 41 w 52"/>
                <a:gd name="T9" fmla="*/ 57 h 99"/>
                <a:gd name="T10" fmla="*/ 41 w 52"/>
                <a:gd name="T11" fmla="*/ 68 h 99"/>
                <a:gd name="T12" fmla="*/ 38 w 52"/>
                <a:gd name="T13" fmla="*/ 71 h 99"/>
                <a:gd name="T14" fmla="*/ 48 w 52"/>
                <a:gd name="T15" fmla="*/ 90 h 99"/>
                <a:gd name="T16" fmla="*/ 52 w 52"/>
                <a:gd name="T17" fmla="*/ 0 h 99"/>
                <a:gd name="T18" fmla="*/ 0 w 52"/>
                <a:gd name="T19" fmla="*/ 9 h 99"/>
                <a:gd name="T20" fmla="*/ 12 w 52"/>
                <a:gd name="T21" fmla="*/ 99 h 99"/>
                <a:gd name="T22" fmla="*/ 17 w 52"/>
                <a:gd name="T23" fmla="*/ 33 h 99"/>
                <a:gd name="T24" fmla="*/ 26 w 52"/>
                <a:gd name="T25" fmla="*/ 16 h 99"/>
                <a:gd name="T26" fmla="*/ 43 w 52"/>
                <a:gd name="T27" fmla="*/ 26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99">
                  <a:moveTo>
                    <a:pt x="43" y="26"/>
                  </a:moveTo>
                  <a:lnTo>
                    <a:pt x="31" y="45"/>
                  </a:lnTo>
                  <a:lnTo>
                    <a:pt x="31" y="54"/>
                  </a:lnTo>
                  <a:lnTo>
                    <a:pt x="38" y="54"/>
                  </a:lnTo>
                  <a:lnTo>
                    <a:pt x="41" y="57"/>
                  </a:lnTo>
                  <a:lnTo>
                    <a:pt x="41" y="68"/>
                  </a:lnTo>
                  <a:lnTo>
                    <a:pt x="38" y="71"/>
                  </a:lnTo>
                  <a:lnTo>
                    <a:pt x="48" y="90"/>
                  </a:lnTo>
                  <a:lnTo>
                    <a:pt x="52" y="0"/>
                  </a:lnTo>
                  <a:lnTo>
                    <a:pt x="0" y="9"/>
                  </a:lnTo>
                  <a:lnTo>
                    <a:pt x="12" y="99"/>
                  </a:lnTo>
                  <a:lnTo>
                    <a:pt x="17" y="33"/>
                  </a:lnTo>
                  <a:lnTo>
                    <a:pt x="26" y="16"/>
                  </a:lnTo>
                  <a:lnTo>
                    <a:pt x="43" y="26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8" name="Freeform 136">
              <a:extLst>
                <a:ext uri="{FF2B5EF4-FFF2-40B4-BE49-F238E27FC236}">
                  <a16:creationId xmlns:a16="http://schemas.microsoft.com/office/drawing/2014/main" id="{82874DD3-32C3-4B9C-A43C-77FC00A71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054" y="4435400"/>
              <a:ext cx="415610" cy="593729"/>
            </a:xfrm>
            <a:custGeom>
              <a:avLst/>
              <a:gdLst>
                <a:gd name="T0" fmla="*/ 94 w 168"/>
                <a:gd name="T1" fmla="*/ 178 h 240"/>
                <a:gd name="T2" fmla="*/ 87 w 168"/>
                <a:gd name="T3" fmla="*/ 178 h 240"/>
                <a:gd name="T4" fmla="*/ 85 w 168"/>
                <a:gd name="T5" fmla="*/ 175 h 240"/>
                <a:gd name="T6" fmla="*/ 85 w 168"/>
                <a:gd name="T7" fmla="*/ 164 h 240"/>
                <a:gd name="T8" fmla="*/ 87 w 168"/>
                <a:gd name="T9" fmla="*/ 161 h 240"/>
                <a:gd name="T10" fmla="*/ 87 w 168"/>
                <a:gd name="T11" fmla="*/ 152 h 240"/>
                <a:gd name="T12" fmla="*/ 73 w 168"/>
                <a:gd name="T13" fmla="*/ 140 h 240"/>
                <a:gd name="T14" fmla="*/ 68 w 168"/>
                <a:gd name="T15" fmla="*/ 206 h 240"/>
                <a:gd name="T16" fmla="*/ 14 w 168"/>
                <a:gd name="T17" fmla="*/ 221 h 240"/>
                <a:gd name="T18" fmla="*/ 14 w 168"/>
                <a:gd name="T19" fmla="*/ 97 h 240"/>
                <a:gd name="T20" fmla="*/ 85 w 168"/>
                <a:gd name="T21" fmla="*/ 14 h 240"/>
                <a:gd name="T22" fmla="*/ 158 w 168"/>
                <a:gd name="T23" fmla="*/ 76 h 240"/>
                <a:gd name="T24" fmla="*/ 168 w 168"/>
                <a:gd name="T25" fmla="*/ 64 h 240"/>
                <a:gd name="T26" fmla="*/ 82 w 168"/>
                <a:gd name="T27" fmla="*/ 0 h 240"/>
                <a:gd name="T28" fmla="*/ 2 w 168"/>
                <a:gd name="T29" fmla="*/ 107 h 240"/>
                <a:gd name="T30" fmla="*/ 4 w 168"/>
                <a:gd name="T31" fmla="*/ 225 h 240"/>
                <a:gd name="T32" fmla="*/ 0 w 168"/>
                <a:gd name="T33" fmla="*/ 240 h 240"/>
                <a:gd name="T34" fmla="*/ 165 w 168"/>
                <a:gd name="T35" fmla="*/ 197 h 240"/>
                <a:gd name="T36" fmla="*/ 156 w 168"/>
                <a:gd name="T37" fmla="*/ 185 h 240"/>
                <a:gd name="T38" fmla="*/ 104 w 168"/>
                <a:gd name="T39" fmla="*/ 197 h 240"/>
                <a:gd name="T40" fmla="*/ 94 w 168"/>
                <a:gd name="T41" fmla="*/ 17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240">
                  <a:moveTo>
                    <a:pt x="94" y="178"/>
                  </a:moveTo>
                  <a:lnTo>
                    <a:pt x="87" y="178"/>
                  </a:lnTo>
                  <a:lnTo>
                    <a:pt x="85" y="175"/>
                  </a:lnTo>
                  <a:lnTo>
                    <a:pt x="85" y="164"/>
                  </a:lnTo>
                  <a:lnTo>
                    <a:pt x="87" y="161"/>
                  </a:lnTo>
                  <a:lnTo>
                    <a:pt x="87" y="152"/>
                  </a:lnTo>
                  <a:lnTo>
                    <a:pt x="73" y="140"/>
                  </a:lnTo>
                  <a:lnTo>
                    <a:pt x="68" y="206"/>
                  </a:lnTo>
                  <a:lnTo>
                    <a:pt x="14" y="221"/>
                  </a:lnTo>
                  <a:lnTo>
                    <a:pt x="14" y="97"/>
                  </a:lnTo>
                  <a:lnTo>
                    <a:pt x="85" y="14"/>
                  </a:lnTo>
                  <a:lnTo>
                    <a:pt x="158" y="76"/>
                  </a:lnTo>
                  <a:lnTo>
                    <a:pt x="168" y="64"/>
                  </a:lnTo>
                  <a:lnTo>
                    <a:pt x="82" y="0"/>
                  </a:lnTo>
                  <a:lnTo>
                    <a:pt x="2" y="107"/>
                  </a:lnTo>
                  <a:lnTo>
                    <a:pt x="4" y="225"/>
                  </a:lnTo>
                  <a:lnTo>
                    <a:pt x="0" y="240"/>
                  </a:lnTo>
                  <a:lnTo>
                    <a:pt x="165" y="197"/>
                  </a:lnTo>
                  <a:lnTo>
                    <a:pt x="156" y="185"/>
                  </a:lnTo>
                  <a:lnTo>
                    <a:pt x="104" y="197"/>
                  </a:lnTo>
                  <a:lnTo>
                    <a:pt x="94" y="178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9" name="Freeform 137">
              <a:extLst>
                <a:ext uri="{FF2B5EF4-FFF2-40B4-BE49-F238E27FC236}">
                  <a16:creationId xmlns:a16="http://schemas.microsoft.com/office/drawing/2014/main" id="{3842961C-AEE0-4071-9B08-B975D17C0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029" y="4217699"/>
              <a:ext cx="791639" cy="811430"/>
            </a:xfrm>
            <a:custGeom>
              <a:avLst/>
              <a:gdLst>
                <a:gd name="T0" fmla="*/ 24 w 320"/>
                <a:gd name="T1" fmla="*/ 242 h 328"/>
                <a:gd name="T2" fmla="*/ 24 w 320"/>
                <a:gd name="T3" fmla="*/ 126 h 328"/>
                <a:gd name="T4" fmla="*/ 135 w 320"/>
                <a:gd name="T5" fmla="*/ 195 h 328"/>
                <a:gd name="T6" fmla="*/ 215 w 320"/>
                <a:gd name="T7" fmla="*/ 88 h 328"/>
                <a:gd name="T8" fmla="*/ 130 w 320"/>
                <a:gd name="T9" fmla="*/ 178 h 328"/>
                <a:gd name="T10" fmla="*/ 17 w 320"/>
                <a:gd name="T11" fmla="*/ 109 h 328"/>
                <a:gd name="T12" fmla="*/ 99 w 320"/>
                <a:gd name="T13" fmla="*/ 16 h 328"/>
                <a:gd name="T14" fmla="*/ 114 w 320"/>
                <a:gd name="T15" fmla="*/ 21 h 328"/>
                <a:gd name="T16" fmla="*/ 99 w 320"/>
                <a:gd name="T17" fmla="*/ 24 h 328"/>
                <a:gd name="T18" fmla="*/ 102 w 320"/>
                <a:gd name="T19" fmla="*/ 85 h 328"/>
                <a:gd name="T20" fmla="*/ 114 w 320"/>
                <a:gd name="T21" fmla="*/ 28 h 328"/>
                <a:gd name="T22" fmla="*/ 147 w 320"/>
                <a:gd name="T23" fmla="*/ 16 h 328"/>
                <a:gd name="T24" fmla="*/ 163 w 320"/>
                <a:gd name="T25" fmla="*/ 26 h 328"/>
                <a:gd name="T26" fmla="*/ 130 w 320"/>
                <a:gd name="T27" fmla="*/ 35 h 328"/>
                <a:gd name="T28" fmla="*/ 170 w 320"/>
                <a:gd name="T29" fmla="*/ 64 h 328"/>
                <a:gd name="T30" fmla="*/ 170 w 320"/>
                <a:gd name="T31" fmla="*/ 50 h 328"/>
                <a:gd name="T32" fmla="*/ 220 w 320"/>
                <a:gd name="T33" fmla="*/ 71 h 328"/>
                <a:gd name="T34" fmla="*/ 305 w 320"/>
                <a:gd name="T35" fmla="*/ 142 h 328"/>
                <a:gd name="T36" fmla="*/ 301 w 320"/>
                <a:gd name="T37" fmla="*/ 152 h 328"/>
                <a:gd name="T38" fmla="*/ 291 w 320"/>
                <a:gd name="T39" fmla="*/ 164 h 328"/>
                <a:gd name="T40" fmla="*/ 289 w 320"/>
                <a:gd name="T41" fmla="*/ 273 h 328"/>
                <a:gd name="T42" fmla="*/ 298 w 320"/>
                <a:gd name="T43" fmla="*/ 285 h 328"/>
                <a:gd name="T44" fmla="*/ 305 w 320"/>
                <a:gd name="T45" fmla="*/ 164 h 328"/>
                <a:gd name="T46" fmla="*/ 310 w 320"/>
                <a:gd name="T47" fmla="*/ 166 h 328"/>
                <a:gd name="T48" fmla="*/ 320 w 320"/>
                <a:gd name="T49" fmla="*/ 138 h 328"/>
                <a:gd name="T50" fmla="*/ 227 w 320"/>
                <a:gd name="T51" fmla="*/ 59 h 328"/>
                <a:gd name="T52" fmla="*/ 170 w 320"/>
                <a:gd name="T53" fmla="*/ 33 h 328"/>
                <a:gd name="T54" fmla="*/ 170 w 320"/>
                <a:gd name="T55" fmla="*/ 21 h 328"/>
                <a:gd name="T56" fmla="*/ 152 w 320"/>
                <a:gd name="T57" fmla="*/ 9 h 328"/>
                <a:gd name="T58" fmla="*/ 126 w 320"/>
                <a:gd name="T59" fmla="*/ 16 h 328"/>
                <a:gd name="T60" fmla="*/ 95 w 320"/>
                <a:gd name="T61" fmla="*/ 0 h 328"/>
                <a:gd name="T62" fmla="*/ 0 w 320"/>
                <a:gd name="T63" fmla="*/ 111 h 328"/>
                <a:gd name="T64" fmla="*/ 14 w 320"/>
                <a:gd name="T65" fmla="*/ 123 h 328"/>
                <a:gd name="T66" fmla="*/ 10 w 320"/>
                <a:gd name="T67" fmla="*/ 254 h 328"/>
                <a:gd name="T68" fmla="*/ 133 w 320"/>
                <a:gd name="T69" fmla="*/ 328 h 328"/>
                <a:gd name="T70" fmla="*/ 137 w 320"/>
                <a:gd name="T71" fmla="*/ 313 h 328"/>
                <a:gd name="T72" fmla="*/ 24 w 320"/>
                <a:gd name="T73" fmla="*/ 242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20" h="328">
                  <a:moveTo>
                    <a:pt x="24" y="242"/>
                  </a:moveTo>
                  <a:lnTo>
                    <a:pt x="24" y="126"/>
                  </a:lnTo>
                  <a:lnTo>
                    <a:pt x="135" y="195"/>
                  </a:lnTo>
                  <a:lnTo>
                    <a:pt x="215" y="88"/>
                  </a:lnTo>
                  <a:lnTo>
                    <a:pt x="130" y="178"/>
                  </a:lnTo>
                  <a:lnTo>
                    <a:pt x="17" y="109"/>
                  </a:lnTo>
                  <a:lnTo>
                    <a:pt x="99" y="16"/>
                  </a:lnTo>
                  <a:lnTo>
                    <a:pt x="114" y="21"/>
                  </a:lnTo>
                  <a:lnTo>
                    <a:pt x="99" y="24"/>
                  </a:lnTo>
                  <a:lnTo>
                    <a:pt x="102" y="85"/>
                  </a:lnTo>
                  <a:lnTo>
                    <a:pt x="114" y="28"/>
                  </a:lnTo>
                  <a:lnTo>
                    <a:pt x="147" y="16"/>
                  </a:lnTo>
                  <a:lnTo>
                    <a:pt x="163" y="26"/>
                  </a:lnTo>
                  <a:lnTo>
                    <a:pt x="130" y="35"/>
                  </a:lnTo>
                  <a:lnTo>
                    <a:pt x="170" y="64"/>
                  </a:lnTo>
                  <a:lnTo>
                    <a:pt x="170" y="50"/>
                  </a:lnTo>
                  <a:lnTo>
                    <a:pt x="220" y="71"/>
                  </a:lnTo>
                  <a:lnTo>
                    <a:pt x="305" y="142"/>
                  </a:lnTo>
                  <a:lnTo>
                    <a:pt x="301" y="152"/>
                  </a:lnTo>
                  <a:lnTo>
                    <a:pt x="291" y="164"/>
                  </a:lnTo>
                  <a:lnTo>
                    <a:pt x="289" y="273"/>
                  </a:lnTo>
                  <a:lnTo>
                    <a:pt x="298" y="285"/>
                  </a:lnTo>
                  <a:lnTo>
                    <a:pt x="305" y="164"/>
                  </a:lnTo>
                  <a:lnTo>
                    <a:pt x="310" y="166"/>
                  </a:lnTo>
                  <a:lnTo>
                    <a:pt x="320" y="138"/>
                  </a:lnTo>
                  <a:lnTo>
                    <a:pt x="227" y="59"/>
                  </a:lnTo>
                  <a:lnTo>
                    <a:pt x="170" y="33"/>
                  </a:lnTo>
                  <a:lnTo>
                    <a:pt x="170" y="21"/>
                  </a:lnTo>
                  <a:lnTo>
                    <a:pt x="152" y="9"/>
                  </a:lnTo>
                  <a:lnTo>
                    <a:pt x="126" y="16"/>
                  </a:lnTo>
                  <a:lnTo>
                    <a:pt x="95" y="0"/>
                  </a:lnTo>
                  <a:lnTo>
                    <a:pt x="0" y="111"/>
                  </a:lnTo>
                  <a:lnTo>
                    <a:pt x="14" y="123"/>
                  </a:lnTo>
                  <a:lnTo>
                    <a:pt x="10" y="254"/>
                  </a:lnTo>
                  <a:lnTo>
                    <a:pt x="133" y="328"/>
                  </a:lnTo>
                  <a:lnTo>
                    <a:pt x="137" y="313"/>
                  </a:lnTo>
                  <a:lnTo>
                    <a:pt x="24" y="242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0" name="Freeform 138">
              <a:extLst>
                <a:ext uri="{FF2B5EF4-FFF2-40B4-BE49-F238E27FC236}">
                  <a16:creationId xmlns:a16="http://schemas.microsoft.com/office/drawing/2014/main" id="{96F831BD-A91A-473B-A205-FD76CF977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058" y="4747108"/>
              <a:ext cx="98955" cy="168223"/>
            </a:xfrm>
            <a:custGeom>
              <a:avLst/>
              <a:gdLst>
                <a:gd name="T0" fmla="*/ 9 w 40"/>
                <a:gd name="T1" fmla="*/ 68 h 68"/>
                <a:gd name="T2" fmla="*/ 40 w 40"/>
                <a:gd name="T3" fmla="*/ 66 h 68"/>
                <a:gd name="T4" fmla="*/ 35 w 40"/>
                <a:gd name="T5" fmla="*/ 0 h 68"/>
                <a:gd name="T6" fmla="*/ 0 w 40"/>
                <a:gd name="T7" fmla="*/ 11 h 68"/>
                <a:gd name="T8" fmla="*/ 4 w 40"/>
                <a:gd name="T9" fmla="*/ 19 h 68"/>
                <a:gd name="T10" fmla="*/ 16 w 40"/>
                <a:gd name="T11" fmla="*/ 16 h 68"/>
                <a:gd name="T12" fmla="*/ 21 w 40"/>
                <a:gd name="T13" fmla="*/ 16 h 68"/>
                <a:gd name="T14" fmla="*/ 30 w 40"/>
                <a:gd name="T15" fmla="*/ 9 h 68"/>
                <a:gd name="T16" fmla="*/ 33 w 40"/>
                <a:gd name="T17" fmla="*/ 30 h 68"/>
                <a:gd name="T18" fmla="*/ 35 w 40"/>
                <a:gd name="T19" fmla="*/ 40 h 68"/>
                <a:gd name="T20" fmla="*/ 35 w 40"/>
                <a:gd name="T21" fmla="*/ 59 h 68"/>
                <a:gd name="T22" fmla="*/ 26 w 40"/>
                <a:gd name="T23" fmla="*/ 61 h 68"/>
                <a:gd name="T24" fmla="*/ 21 w 40"/>
                <a:gd name="T25" fmla="*/ 45 h 68"/>
                <a:gd name="T26" fmla="*/ 18 w 40"/>
                <a:gd name="T27" fmla="*/ 66 h 68"/>
                <a:gd name="T28" fmla="*/ 9 w 40"/>
                <a:gd name="T2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" h="68">
                  <a:moveTo>
                    <a:pt x="9" y="68"/>
                  </a:moveTo>
                  <a:lnTo>
                    <a:pt x="40" y="66"/>
                  </a:lnTo>
                  <a:lnTo>
                    <a:pt x="35" y="0"/>
                  </a:lnTo>
                  <a:lnTo>
                    <a:pt x="0" y="11"/>
                  </a:lnTo>
                  <a:lnTo>
                    <a:pt x="4" y="19"/>
                  </a:lnTo>
                  <a:lnTo>
                    <a:pt x="16" y="16"/>
                  </a:lnTo>
                  <a:lnTo>
                    <a:pt x="21" y="16"/>
                  </a:lnTo>
                  <a:lnTo>
                    <a:pt x="30" y="9"/>
                  </a:lnTo>
                  <a:lnTo>
                    <a:pt x="33" y="30"/>
                  </a:lnTo>
                  <a:lnTo>
                    <a:pt x="35" y="40"/>
                  </a:lnTo>
                  <a:lnTo>
                    <a:pt x="35" y="59"/>
                  </a:lnTo>
                  <a:lnTo>
                    <a:pt x="26" y="61"/>
                  </a:lnTo>
                  <a:lnTo>
                    <a:pt x="21" y="45"/>
                  </a:lnTo>
                  <a:lnTo>
                    <a:pt x="18" y="66"/>
                  </a:lnTo>
                  <a:lnTo>
                    <a:pt x="9" y="68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1" name="Freeform 139">
              <a:extLst>
                <a:ext uri="{FF2B5EF4-FFF2-40B4-BE49-F238E27FC236}">
                  <a16:creationId xmlns:a16="http://schemas.microsoft.com/office/drawing/2014/main" id="{2D473BDE-8038-45FF-8B1C-B099531D6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353" y="4662996"/>
              <a:ext cx="89059" cy="178119"/>
            </a:xfrm>
            <a:custGeom>
              <a:avLst/>
              <a:gdLst>
                <a:gd name="T0" fmla="*/ 17 w 36"/>
                <a:gd name="T1" fmla="*/ 36 h 72"/>
                <a:gd name="T2" fmla="*/ 24 w 36"/>
                <a:gd name="T3" fmla="*/ 41 h 72"/>
                <a:gd name="T4" fmla="*/ 28 w 36"/>
                <a:gd name="T5" fmla="*/ 72 h 72"/>
                <a:gd name="T6" fmla="*/ 36 w 36"/>
                <a:gd name="T7" fmla="*/ 3 h 72"/>
                <a:gd name="T8" fmla="*/ 12 w 36"/>
                <a:gd name="T9" fmla="*/ 0 h 72"/>
                <a:gd name="T10" fmla="*/ 10 w 36"/>
                <a:gd name="T11" fmla="*/ 19 h 72"/>
                <a:gd name="T12" fmla="*/ 0 w 36"/>
                <a:gd name="T13" fmla="*/ 15 h 72"/>
                <a:gd name="T14" fmla="*/ 0 w 36"/>
                <a:gd name="T15" fmla="*/ 48 h 72"/>
                <a:gd name="T16" fmla="*/ 0 w 36"/>
                <a:gd name="T17" fmla="*/ 26 h 72"/>
                <a:gd name="T18" fmla="*/ 10 w 36"/>
                <a:gd name="T19" fmla="*/ 31 h 72"/>
                <a:gd name="T20" fmla="*/ 10 w 36"/>
                <a:gd name="T21" fmla="*/ 53 h 72"/>
                <a:gd name="T22" fmla="*/ 14 w 36"/>
                <a:gd name="T23" fmla="*/ 57 h 72"/>
                <a:gd name="T24" fmla="*/ 17 w 36"/>
                <a:gd name="T25" fmla="*/ 5 h 72"/>
                <a:gd name="T26" fmla="*/ 28 w 36"/>
                <a:gd name="T27" fmla="*/ 12 h 72"/>
                <a:gd name="T28" fmla="*/ 24 w 36"/>
                <a:gd name="T29" fmla="*/ 34 h 72"/>
                <a:gd name="T30" fmla="*/ 17 w 36"/>
                <a:gd name="T3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6" h="72">
                  <a:moveTo>
                    <a:pt x="17" y="36"/>
                  </a:moveTo>
                  <a:lnTo>
                    <a:pt x="24" y="41"/>
                  </a:lnTo>
                  <a:lnTo>
                    <a:pt x="28" y="72"/>
                  </a:lnTo>
                  <a:lnTo>
                    <a:pt x="36" y="3"/>
                  </a:lnTo>
                  <a:lnTo>
                    <a:pt x="12" y="0"/>
                  </a:lnTo>
                  <a:lnTo>
                    <a:pt x="10" y="19"/>
                  </a:lnTo>
                  <a:lnTo>
                    <a:pt x="0" y="15"/>
                  </a:lnTo>
                  <a:lnTo>
                    <a:pt x="0" y="48"/>
                  </a:lnTo>
                  <a:lnTo>
                    <a:pt x="0" y="26"/>
                  </a:lnTo>
                  <a:lnTo>
                    <a:pt x="10" y="31"/>
                  </a:lnTo>
                  <a:lnTo>
                    <a:pt x="10" y="53"/>
                  </a:lnTo>
                  <a:lnTo>
                    <a:pt x="14" y="57"/>
                  </a:lnTo>
                  <a:lnTo>
                    <a:pt x="17" y="5"/>
                  </a:lnTo>
                  <a:lnTo>
                    <a:pt x="28" y="12"/>
                  </a:lnTo>
                  <a:lnTo>
                    <a:pt x="24" y="34"/>
                  </a:lnTo>
                  <a:lnTo>
                    <a:pt x="17" y="36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2" name="Freeform 140">
              <a:extLst>
                <a:ext uri="{FF2B5EF4-FFF2-40B4-BE49-F238E27FC236}">
                  <a16:creationId xmlns:a16="http://schemas.microsoft.com/office/drawing/2014/main" id="{0F40B5A9-3496-488A-87EC-7F1A19C66C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5987" y="4675364"/>
              <a:ext cx="24739" cy="128641"/>
            </a:xfrm>
            <a:custGeom>
              <a:avLst/>
              <a:gdLst>
                <a:gd name="T0" fmla="*/ 0 w 10"/>
                <a:gd name="T1" fmla="*/ 52 h 52"/>
                <a:gd name="T2" fmla="*/ 3 w 10"/>
                <a:gd name="T3" fmla="*/ 31 h 52"/>
                <a:gd name="T4" fmla="*/ 10 w 10"/>
                <a:gd name="T5" fmla="*/ 29 h 52"/>
                <a:gd name="T6" fmla="*/ 3 w 10"/>
                <a:gd name="T7" fmla="*/ 24 h 52"/>
                <a:gd name="T8" fmla="*/ 0 w 10"/>
                <a:gd name="T9" fmla="*/ 52 h 52"/>
                <a:gd name="T10" fmla="*/ 3 w 10"/>
                <a:gd name="T11" fmla="*/ 24 h 52"/>
                <a:gd name="T12" fmla="*/ 3 w 10"/>
                <a:gd name="T13" fmla="*/ 24 h 52"/>
                <a:gd name="T14" fmla="*/ 3 w 10"/>
                <a:gd name="T15" fmla="*/ 0 h 52"/>
                <a:gd name="T16" fmla="*/ 3 w 10"/>
                <a:gd name="T17" fmla="*/ 2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52">
                  <a:moveTo>
                    <a:pt x="0" y="52"/>
                  </a:moveTo>
                  <a:lnTo>
                    <a:pt x="3" y="31"/>
                  </a:lnTo>
                  <a:lnTo>
                    <a:pt x="10" y="29"/>
                  </a:lnTo>
                  <a:lnTo>
                    <a:pt x="3" y="24"/>
                  </a:lnTo>
                  <a:lnTo>
                    <a:pt x="0" y="52"/>
                  </a:lnTo>
                  <a:close/>
                  <a:moveTo>
                    <a:pt x="3" y="24"/>
                  </a:moveTo>
                  <a:lnTo>
                    <a:pt x="3" y="24"/>
                  </a:lnTo>
                  <a:lnTo>
                    <a:pt x="3" y="0"/>
                  </a:lnTo>
                  <a:lnTo>
                    <a:pt x="3" y="24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3" name="Freeform 141">
              <a:extLst>
                <a:ext uri="{FF2B5EF4-FFF2-40B4-BE49-F238E27FC236}">
                  <a16:creationId xmlns:a16="http://schemas.microsoft.com/office/drawing/2014/main" id="{B1D2B1C9-DA4F-407F-BEC9-8D44AC9AF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9089" y="4606096"/>
              <a:ext cx="111325" cy="235019"/>
            </a:xfrm>
            <a:custGeom>
              <a:avLst/>
              <a:gdLst>
                <a:gd name="T0" fmla="*/ 37 w 45"/>
                <a:gd name="T1" fmla="*/ 95 h 95"/>
                <a:gd name="T2" fmla="*/ 33 w 45"/>
                <a:gd name="T3" fmla="*/ 64 h 95"/>
                <a:gd name="T4" fmla="*/ 33 w 45"/>
                <a:gd name="T5" fmla="*/ 85 h 95"/>
                <a:gd name="T6" fmla="*/ 23 w 45"/>
                <a:gd name="T7" fmla="*/ 80 h 95"/>
                <a:gd name="T8" fmla="*/ 19 w 45"/>
                <a:gd name="T9" fmla="*/ 76 h 95"/>
                <a:gd name="T10" fmla="*/ 9 w 45"/>
                <a:gd name="T11" fmla="*/ 71 h 95"/>
                <a:gd name="T12" fmla="*/ 9 w 45"/>
                <a:gd name="T13" fmla="*/ 38 h 95"/>
                <a:gd name="T14" fmla="*/ 11 w 45"/>
                <a:gd name="T15" fmla="*/ 16 h 95"/>
                <a:gd name="T16" fmla="*/ 21 w 45"/>
                <a:gd name="T17" fmla="*/ 23 h 95"/>
                <a:gd name="T18" fmla="*/ 45 w 45"/>
                <a:gd name="T19" fmla="*/ 26 h 95"/>
                <a:gd name="T20" fmla="*/ 4 w 45"/>
                <a:gd name="T21" fmla="*/ 0 h 95"/>
                <a:gd name="T22" fmla="*/ 0 w 45"/>
                <a:gd name="T23" fmla="*/ 76 h 95"/>
                <a:gd name="T24" fmla="*/ 37 w 45"/>
                <a:gd name="T2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95">
                  <a:moveTo>
                    <a:pt x="37" y="95"/>
                  </a:moveTo>
                  <a:lnTo>
                    <a:pt x="33" y="64"/>
                  </a:lnTo>
                  <a:lnTo>
                    <a:pt x="33" y="85"/>
                  </a:lnTo>
                  <a:lnTo>
                    <a:pt x="23" y="80"/>
                  </a:lnTo>
                  <a:lnTo>
                    <a:pt x="19" y="76"/>
                  </a:lnTo>
                  <a:lnTo>
                    <a:pt x="9" y="71"/>
                  </a:lnTo>
                  <a:lnTo>
                    <a:pt x="9" y="38"/>
                  </a:lnTo>
                  <a:lnTo>
                    <a:pt x="11" y="16"/>
                  </a:lnTo>
                  <a:lnTo>
                    <a:pt x="21" y="23"/>
                  </a:lnTo>
                  <a:lnTo>
                    <a:pt x="45" y="26"/>
                  </a:lnTo>
                  <a:lnTo>
                    <a:pt x="4" y="0"/>
                  </a:lnTo>
                  <a:lnTo>
                    <a:pt x="0" y="76"/>
                  </a:lnTo>
                  <a:lnTo>
                    <a:pt x="37" y="95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4" name="Freeform 142">
              <a:extLst>
                <a:ext uri="{FF2B5EF4-FFF2-40B4-BE49-F238E27FC236}">
                  <a16:creationId xmlns:a16="http://schemas.microsoft.com/office/drawing/2014/main" id="{D0BA8E6A-803F-4602-9D2A-FCEB8748B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730" y="4734737"/>
              <a:ext cx="81639" cy="175646"/>
            </a:xfrm>
            <a:custGeom>
              <a:avLst/>
              <a:gdLst>
                <a:gd name="T0" fmla="*/ 0 w 33"/>
                <a:gd name="T1" fmla="*/ 50 h 71"/>
                <a:gd name="T2" fmla="*/ 2 w 33"/>
                <a:gd name="T3" fmla="*/ 26 h 71"/>
                <a:gd name="T4" fmla="*/ 11 w 33"/>
                <a:gd name="T5" fmla="*/ 31 h 71"/>
                <a:gd name="T6" fmla="*/ 14 w 33"/>
                <a:gd name="T7" fmla="*/ 57 h 71"/>
                <a:gd name="T8" fmla="*/ 19 w 33"/>
                <a:gd name="T9" fmla="*/ 38 h 71"/>
                <a:gd name="T10" fmla="*/ 19 w 33"/>
                <a:gd name="T11" fmla="*/ 31 h 71"/>
                <a:gd name="T12" fmla="*/ 19 w 33"/>
                <a:gd name="T13" fmla="*/ 7 h 71"/>
                <a:gd name="T14" fmla="*/ 28 w 33"/>
                <a:gd name="T15" fmla="*/ 7 h 71"/>
                <a:gd name="T16" fmla="*/ 26 w 33"/>
                <a:gd name="T17" fmla="*/ 62 h 71"/>
                <a:gd name="T18" fmla="*/ 14 w 33"/>
                <a:gd name="T19" fmla="*/ 57 h 71"/>
                <a:gd name="T20" fmla="*/ 33 w 33"/>
                <a:gd name="T21" fmla="*/ 71 h 71"/>
                <a:gd name="T22" fmla="*/ 33 w 33"/>
                <a:gd name="T23" fmla="*/ 2 h 71"/>
                <a:gd name="T24" fmla="*/ 14 w 33"/>
                <a:gd name="T25" fmla="*/ 0 h 71"/>
                <a:gd name="T26" fmla="*/ 11 w 33"/>
                <a:gd name="T27" fmla="*/ 21 h 71"/>
                <a:gd name="T28" fmla="*/ 2 w 33"/>
                <a:gd name="T29" fmla="*/ 16 h 71"/>
                <a:gd name="T30" fmla="*/ 0 w 33"/>
                <a:gd name="T31" fmla="*/ 5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71">
                  <a:moveTo>
                    <a:pt x="0" y="50"/>
                  </a:moveTo>
                  <a:lnTo>
                    <a:pt x="2" y="26"/>
                  </a:lnTo>
                  <a:lnTo>
                    <a:pt x="11" y="31"/>
                  </a:lnTo>
                  <a:lnTo>
                    <a:pt x="14" y="57"/>
                  </a:lnTo>
                  <a:lnTo>
                    <a:pt x="19" y="38"/>
                  </a:lnTo>
                  <a:lnTo>
                    <a:pt x="19" y="31"/>
                  </a:lnTo>
                  <a:lnTo>
                    <a:pt x="19" y="7"/>
                  </a:lnTo>
                  <a:lnTo>
                    <a:pt x="28" y="7"/>
                  </a:lnTo>
                  <a:lnTo>
                    <a:pt x="26" y="62"/>
                  </a:lnTo>
                  <a:lnTo>
                    <a:pt x="14" y="57"/>
                  </a:lnTo>
                  <a:lnTo>
                    <a:pt x="33" y="71"/>
                  </a:lnTo>
                  <a:lnTo>
                    <a:pt x="33" y="2"/>
                  </a:lnTo>
                  <a:lnTo>
                    <a:pt x="14" y="0"/>
                  </a:lnTo>
                  <a:lnTo>
                    <a:pt x="11" y="21"/>
                  </a:lnTo>
                  <a:lnTo>
                    <a:pt x="2" y="16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5" name="Freeform 143">
              <a:extLst>
                <a:ext uri="{FF2B5EF4-FFF2-40B4-BE49-F238E27FC236}">
                  <a16:creationId xmlns:a16="http://schemas.microsoft.com/office/drawing/2014/main" id="{795C2865-4C71-408A-9C50-3D6BD3D88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733" y="4752055"/>
              <a:ext cx="22266" cy="136064"/>
            </a:xfrm>
            <a:custGeom>
              <a:avLst/>
              <a:gdLst>
                <a:gd name="T0" fmla="*/ 7 w 9"/>
                <a:gd name="T1" fmla="*/ 28 h 55"/>
                <a:gd name="T2" fmla="*/ 0 w 9"/>
                <a:gd name="T3" fmla="*/ 24 h 55"/>
                <a:gd name="T4" fmla="*/ 0 w 9"/>
                <a:gd name="T5" fmla="*/ 31 h 55"/>
                <a:gd name="T6" fmla="*/ 7 w 9"/>
                <a:gd name="T7" fmla="*/ 36 h 55"/>
                <a:gd name="T8" fmla="*/ 7 w 9"/>
                <a:gd name="T9" fmla="*/ 55 h 55"/>
                <a:gd name="T10" fmla="*/ 9 w 9"/>
                <a:gd name="T11" fmla="*/ 0 h 55"/>
                <a:gd name="T12" fmla="*/ 7 w 9"/>
                <a:gd name="T13" fmla="*/ 2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5">
                  <a:moveTo>
                    <a:pt x="7" y="28"/>
                  </a:moveTo>
                  <a:lnTo>
                    <a:pt x="0" y="24"/>
                  </a:lnTo>
                  <a:lnTo>
                    <a:pt x="0" y="31"/>
                  </a:lnTo>
                  <a:lnTo>
                    <a:pt x="7" y="36"/>
                  </a:lnTo>
                  <a:lnTo>
                    <a:pt x="7" y="55"/>
                  </a:lnTo>
                  <a:lnTo>
                    <a:pt x="9" y="0"/>
                  </a:lnTo>
                  <a:lnTo>
                    <a:pt x="7" y="28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6" name="Freeform 144">
              <a:extLst>
                <a:ext uri="{FF2B5EF4-FFF2-40B4-BE49-F238E27FC236}">
                  <a16:creationId xmlns:a16="http://schemas.microsoft.com/office/drawing/2014/main" id="{912B5080-FB5F-4897-B563-59D6F7B22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360" y="4680312"/>
              <a:ext cx="94007" cy="230071"/>
            </a:xfrm>
            <a:custGeom>
              <a:avLst/>
              <a:gdLst>
                <a:gd name="T0" fmla="*/ 5 w 38"/>
                <a:gd name="T1" fmla="*/ 72 h 93"/>
                <a:gd name="T2" fmla="*/ 7 w 38"/>
                <a:gd name="T3" fmla="*/ 38 h 93"/>
                <a:gd name="T4" fmla="*/ 9 w 38"/>
                <a:gd name="T5" fmla="*/ 15 h 93"/>
                <a:gd name="T6" fmla="*/ 19 w 38"/>
                <a:gd name="T7" fmla="*/ 22 h 93"/>
                <a:gd name="T8" fmla="*/ 38 w 38"/>
                <a:gd name="T9" fmla="*/ 24 h 93"/>
                <a:gd name="T10" fmla="*/ 2 w 38"/>
                <a:gd name="T11" fmla="*/ 0 h 93"/>
                <a:gd name="T12" fmla="*/ 0 w 38"/>
                <a:gd name="T13" fmla="*/ 74 h 93"/>
                <a:gd name="T14" fmla="*/ 38 w 38"/>
                <a:gd name="T15" fmla="*/ 93 h 93"/>
                <a:gd name="T16" fmla="*/ 19 w 38"/>
                <a:gd name="T17" fmla="*/ 79 h 93"/>
                <a:gd name="T18" fmla="*/ 16 w 38"/>
                <a:gd name="T19" fmla="*/ 53 h 93"/>
                <a:gd name="T20" fmla="*/ 14 w 38"/>
                <a:gd name="T21" fmla="*/ 74 h 93"/>
                <a:gd name="T22" fmla="*/ 5 w 38"/>
                <a:gd name="T23" fmla="*/ 7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" h="93">
                  <a:moveTo>
                    <a:pt x="5" y="72"/>
                  </a:moveTo>
                  <a:lnTo>
                    <a:pt x="7" y="38"/>
                  </a:lnTo>
                  <a:lnTo>
                    <a:pt x="9" y="15"/>
                  </a:lnTo>
                  <a:lnTo>
                    <a:pt x="19" y="22"/>
                  </a:lnTo>
                  <a:lnTo>
                    <a:pt x="38" y="24"/>
                  </a:lnTo>
                  <a:lnTo>
                    <a:pt x="2" y="0"/>
                  </a:lnTo>
                  <a:lnTo>
                    <a:pt x="0" y="74"/>
                  </a:lnTo>
                  <a:lnTo>
                    <a:pt x="38" y="93"/>
                  </a:lnTo>
                  <a:lnTo>
                    <a:pt x="19" y="79"/>
                  </a:lnTo>
                  <a:lnTo>
                    <a:pt x="16" y="53"/>
                  </a:lnTo>
                  <a:lnTo>
                    <a:pt x="14" y="74"/>
                  </a:lnTo>
                  <a:lnTo>
                    <a:pt x="5" y="72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4FEB07E4-FEBC-4A38-98BE-6FE2984A34C4}"/>
                </a:ext>
              </a:extLst>
            </p:cNvPr>
            <p:cNvSpPr txBox="1"/>
            <p:nvPr/>
          </p:nvSpPr>
          <p:spPr>
            <a:xfrm>
              <a:off x="2721048" y="5207806"/>
              <a:ext cx="162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Sub-Centre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Session Sites </a:t>
              </a:r>
            </a:p>
          </p:txBody>
        </p:sp>
      </p:grpSp>
      <p:grpSp>
        <p:nvGrpSpPr>
          <p:cNvPr id="116" name="Group 137">
            <a:extLst>
              <a:ext uri="{FF2B5EF4-FFF2-40B4-BE49-F238E27FC236}">
                <a16:creationId xmlns:a16="http://schemas.microsoft.com/office/drawing/2014/main" id="{635E384B-6B7F-4B31-A1CA-B4396340FCB6}"/>
              </a:ext>
            </a:extLst>
          </p:cNvPr>
          <p:cNvGrpSpPr/>
          <p:nvPr/>
        </p:nvGrpSpPr>
        <p:grpSpPr>
          <a:xfrm>
            <a:off x="4185864" y="4353904"/>
            <a:ext cx="1826166" cy="1455846"/>
            <a:chOff x="4576481" y="4398291"/>
            <a:chExt cx="1826166" cy="1455846"/>
          </a:xfrm>
        </p:grpSpPr>
        <p:sp>
          <p:nvSpPr>
            <p:cNvPr id="139" name="Freeform 49">
              <a:extLst>
                <a:ext uri="{FF2B5EF4-FFF2-40B4-BE49-F238E27FC236}">
                  <a16:creationId xmlns:a16="http://schemas.microsoft.com/office/drawing/2014/main" id="{712D802B-95D9-45E5-8A09-88398D680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410" y="4586305"/>
              <a:ext cx="108850" cy="217701"/>
            </a:xfrm>
            <a:custGeom>
              <a:avLst/>
              <a:gdLst>
                <a:gd name="T0" fmla="*/ 44 w 44"/>
                <a:gd name="T1" fmla="*/ 0 h 88"/>
                <a:gd name="T2" fmla="*/ 0 w 44"/>
                <a:gd name="T3" fmla="*/ 43 h 88"/>
                <a:gd name="T4" fmla="*/ 44 w 44"/>
                <a:gd name="T5" fmla="*/ 88 h 88"/>
                <a:gd name="T6" fmla="*/ 44 w 44"/>
                <a:gd name="T7" fmla="*/ 60 h 88"/>
                <a:gd name="T8" fmla="*/ 30 w 44"/>
                <a:gd name="T9" fmla="*/ 60 h 88"/>
                <a:gd name="T10" fmla="*/ 30 w 44"/>
                <a:gd name="T11" fmla="*/ 29 h 88"/>
                <a:gd name="T12" fmla="*/ 44 w 44"/>
                <a:gd name="T13" fmla="*/ 29 h 88"/>
                <a:gd name="T14" fmla="*/ 44 w 44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88">
                  <a:moveTo>
                    <a:pt x="44" y="0"/>
                  </a:moveTo>
                  <a:lnTo>
                    <a:pt x="0" y="43"/>
                  </a:lnTo>
                  <a:lnTo>
                    <a:pt x="44" y="88"/>
                  </a:lnTo>
                  <a:lnTo>
                    <a:pt x="44" y="60"/>
                  </a:lnTo>
                  <a:lnTo>
                    <a:pt x="30" y="60"/>
                  </a:lnTo>
                  <a:lnTo>
                    <a:pt x="30" y="29"/>
                  </a:lnTo>
                  <a:lnTo>
                    <a:pt x="44" y="29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0" name="Freeform 50">
              <a:extLst>
                <a:ext uri="{FF2B5EF4-FFF2-40B4-BE49-F238E27FC236}">
                  <a16:creationId xmlns:a16="http://schemas.microsoft.com/office/drawing/2014/main" id="{BE01ACD6-AC40-4E60-9923-C12122321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410" y="4586305"/>
              <a:ext cx="108850" cy="217701"/>
            </a:xfrm>
            <a:custGeom>
              <a:avLst/>
              <a:gdLst>
                <a:gd name="T0" fmla="*/ 44 w 44"/>
                <a:gd name="T1" fmla="*/ 0 h 88"/>
                <a:gd name="T2" fmla="*/ 0 w 44"/>
                <a:gd name="T3" fmla="*/ 43 h 88"/>
                <a:gd name="T4" fmla="*/ 44 w 44"/>
                <a:gd name="T5" fmla="*/ 88 h 88"/>
                <a:gd name="T6" fmla="*/ 44 w 44"/>
                <a:gd name="T7" fmla="*/ 60 h 88"/>
                <a:gd name="T8" fmla="*/ 30 w 44"/>
                <a:gd name="T9" fmla="*/ 60 h 88"/>
                <a:gd name="T10" fmla="*/ 30 w 44"/>
                <a:gd name="T11" fmla="*/ 29 h 88"/>
                <a:gd name="T12" fmla="*/ 44 w 44"/>
                <a:gd name="T13" fmla="*/ 29 h 88"/>
                <a:gd name="T14" fmla="*/ 44 w 44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88">
                  <a:moveTo>
                    <a:pt x="44" y="0"/>
                  </a:moveTo>
                  <a:lnTo>
                    <a:pt x="0" y="43"/>
                  </a:lnTo>
                  <a:lnTo>
                    <a:pt x="44" y="88"/>
                  </a:lnTo>
                  <a:lnTo>
                    <a:pt x="44" y="60"/>
                  </a:lnTo>
                  <a:lnTo>
                    <a:pt x="30" y="60"/>
                  </a:lnTo>
                  <a:lnTo>
                    <a:pt x="30" y="29"/>
                  </a:lnTo>
                  <a:lnTo>
                    <a:pt x="44" y="29"/>
                  </a:lnTo>
                  <a:lnTo>
                    <a:pt x="4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1" name="Rectangle 51">
              <a:extLst>
                <a:ext uri="{FF2B5EF4-FFF2-40B4-BE49-F238E27FC236}">
                  <a16:creationId xmlns:a16="http://schemas.microsoft.com/office/drawing/2014/main" id="{7E9A6BE7-697C-4954-A146-72E00ECE5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5260" y="4658048"/>
              <a:ext cx="247387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2" name="Rectangle 52">
              <a:extLst>
                <a:ext uri="{FF2B5EF4-FFF2-40B4-BE49-F238E27FC236}">
                  <a16:creationId xmlns:a16="http://schemas.microsoft.com/office/drawing/2014/main" id="{AD5AA8D6-1A83-4161-A461-2DB37F4A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5260" y="4658048"/>
              <a:ext cx="247387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3" name="Rectangle 53">
              <a:extLst>
                <a:ext uri="{FF2B5EF4-FFF2-40B4-BE49-F238E27FC236}">
                  <a16:creationId xmlns:a16="http://schemas.microsoft.com/office/drawing/2014/main" id="{C9D2F89E-64DD-4B67-8CE0-F5416AAE1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0626" y="4658048"/>
              <a:ext cx="3463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4" name="Rectangle 54">
              <a:extLst>
                <a:ext uri="{FF2B5EF4-FFF2-40B4-BE49-F238E27FC236}">
                  <a16:creationId xmlns:a16="http://schemas.microsoft.com/office/drawing/2014/main" id="{DBB9B554-3AC4-420B-ABA0-EFF88A78A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0626" y="4658048"/>
              <a:ext cx="3463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5" name="Freeform 145">
              <a:extLst>
                <a:ext uri="{FF2B5EF4-FFF2-40B4-BE49-F238E27FC236}">
                  <a16:creationId xmlns:a16="http://schemas.microsoft.com/office/drawing/2014/main" id="{FBF78D7D-37C4-479C-A70E-A2B410FC6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7488" y="4427977"/>
              <a:ext cx="643207" cy="559095"/>
            </a:xfrm>
            <a:custGeom>
              <a:avLst/>
              <a:gdLst>
                <a:gd name="T0" fmla="*/ 14 w 260"/>
                <a:gd name="T1" fmla="*/ 19 h 226"/>
                <a:gd name="T2" fmla="*/ 19 w 260"/>
                <a:gd name="T3" fmla="*/ 15 h 226"/>
                <a:gd name="T4" fmla="*/ 24 w 260"/>
                <a:gd name="T5" fmla="*/ 15 h 226"/>
                <a:gd name="T6" fmla="*/ 237 w 260"/>
                <a:gd name="T7" fmla="*/ 12 h 226"/>
                <a:gd name="T8" fmla="*/ 241 w 260"/>
                <a:gd name="T9" fmla="*/ 12 h 226"/>
                <a:gd name="T10" fmla="*/ 246 w 260"/>
                <a:gd name="T11" fmla="*/ 17 h 226"/>
                <a:gd name="T12" fmla="*/ 246 w 260"/>
                <a:gd name="T13" fmla="*/ 22 h 226"/>
                <a:gd name="T14" fmla="*/ 248 w 260"/>
                <a:gd name="T15" fmla="*/ 205 h 226"/>
                <a:gd name="T16" fmla="*/ 248 w 260"/>
                <a:gd name="T17" fmla="*/ 209 h 226"/>
                <a:gd name="T18" fmla="*/ 253 w 260"/>
                <a:gd name="T19" fmla="*/ 224 h 226"/>
                <a:gd name="T20" fmla="*/ 260 w 260"/>
                <a:gd name="T21" fmla="*/ 216 h 226"/>
                <a:gd name="T22" fmla="*/ 260 w 260"/>
                <a:gd name="T23" fmla="*/ 207 h 226"/>
                <a:gd name="T24" fmla="*/ 260 w 260"/>
                <a:gd name="T25" fmla="*/ 5 h 226"/>
                <a:gd name="T26" fmla="*/ 255 w 260"/>
                <a:gd name="T27" fmla="*/ 0 h 226"/>
                <a:gd name="T28" fmla="*/ 5 w 260"/>
                <a:gd name="T29" fmla="*/ 0 h 226"/>
                <a:gd name="T30" fmla="*/ 0 w 260"/>
                <a:gd name="T31" fmla="*/ 5 h 226"/>
                <a:gd name="T32" fmla="*/ 0 w 260"/>
                <a:gd name="T33" fmla="*/ 205 h 226"/>
                <a:gd name="T34" fmla="*/ 2 w 260"/>
                <a:gd name="T35" fmla="*/ 214 h 226"/>
                <a:gd name="T36" fmla="*/ 7 w 260"/>
                <a:gd name="T37" fmla="*/ 221 h 226"/>
                <a:gd name="T38" fmla="*/ 16 w 260"/>
                <a:gd name="T39" fmla="*/ 226 h 226"/>
                <a:gd name="T40" fmla="*/ 26 w 260"/>
                <a:gd name="T41" fmla="*/ 226 h 226"/>
                <a:gd name="T42" fmla="*/ 40 w 260"/>
                <a:gd name="T43" fmla="*/ 214 h 226"/>
                <a:gd name="T44" fmla="*/ 26 w 260"/>
                <a:gd name="T45" fmla="*/ 214 h 226"/>
                <a:gd name="T46" fmla="*/ 16 w 260"/>
                <a:gd name="T47" fmla="*/ 212 h 226"/>
                <a:gd name="T48" fmla="*/ 14 w 260"/>
                <a:gd name="T49" fmla="*/ 205 h 226"/>
                <a:gd name="T50" fmla="*/ 14 w 260"/>
                <a:gd name="T51" fmla="*/ 24 h 226"/>
                <a:gd name="T52" fmla="*/ 14 w 260"/>
                <a:gd name="T53" fmla="*/ 19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" h="226">
                  <a:moveTo>
                    <a:pt x="14" y="19"/>
                  </a:moveTo>
                  <a:lnTo>
                    <a:pt x="19" y="15"/>
                  </a:lnTo>
                  <a:lnTo>
                    <a:pt x="24" y="15"/>
                  </a:lnTo>
                  <a:lnTo>
                    <a:pt x="237" y="12"/>
                  </a:lnTo>
                  <a:lnTo>
                    <a:pt x="241" y="12"/>
                  </a:lnTo>
                  <a:lnTo>
                    <a:pt x="246" y="17"/>
                  </a:lnTo>
                  <a:lnTo>
                    <a:pt x="246" y="22"/>
                  </a:lnTo>
                  <a:lnTo>
                    <a:pt x="248" y="205"/>
                  </a:lnTo>
                  <a:lnTo>
                    <a:pt x="248" y="209"/>
                  </a:lnTo>
                  <a:lnTo>
                    <a:pt x="253" y="224"/>
                  </a:lnTo>
                  <a:lnTo>
                    <a:pt x="260" y="216"/>
                  </a:lnTo>
                  <a:lnTo>
                    <a:pt x="260" y="207"/>
                  </a:lnTo>
                  <a:lnTo>
                    <a:pt x="260" y="5"/>
                  </a:lnTo>
                  <a:lnTo>
                    <a:pt x="255" y="0"/>
                  </a:lnTo>
                  <a:lnTo>
                    <a:pt x="5" y="0"/>
                  </a:lnTo>
                  <a:lnTo>
                    <a:pt x="0" y="5"/>
                  </a:lnTo>
                  <a:lnTo>
                    <a:pt x="0" y="205"/>
                  </a:lnTo>
                  <a:lnTo>
                    <a:pt x="2" y="214"/>
                  </a:lnTo>
                  <a:lnTo>
                    <a:pt x="7" y="221"/>
                  </a:lnTo>
                  <a:lnTo>
                    <a:pt x="16" y="226"/>
                  </a:lnTo>
                  <a:lnTo>
                    <a:pt x="26" y="226"/>
                  </a:lnTo>
                  <a:lnTo>
                    <a:pt x="40" y="214"/>
                  </a:lnTo>
                  <a:lnTo>
                    <a:pt x="26" y="214"/>
                  </a:lnTo>
                  <a:lnTo>
                    <a:pt x="16" y="212"/>
                  </a:lnTo>
                  <a:lnTo>
                    <a:pt x="14" y="205"/>
                  </a:lnTo>
                  <a:lnTo>
                    <a:pt x="14" y="24"/>
                  </a:lnTo>
                  <a:lnTo>
                    <a:pt x="14" y="19"/>
                  </a:lnTo>
                  <a:close/>
                </a:path>
              </a:pathLst>
            </a:custGeom>
            <a:solidFill>
              <a:srgbClr val="0089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6" name="Freeform 146">
              <a:extLst>
                <a:ext uri="{FF2B5EF4-FFF2-40B4-BE49-F238E27FC236}">
                  <a16:creationId xmlns:a16="http://schemas.microsoft.com/office/drawing/2014/main" id="{94F092D5-8D17-42D6-BA39-F3A4B6DB0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1809" y="4945017"/>
              <a:ext cx="561570" cy="42057"/>
            </a:xfrm>
            <a:custGeom>
              <a:avLst/>
              <a:gdLst>
                <a:gd name="T0" fmla="*/ 220 w 227"/>
                <a:gd name="T1" fmla="*/ 17 h 17"/>
                <a:gd name="T2" fmla="*/ 227 w 227"/>
                <a:gd name="T3" fmla="*/ 15 h 17"/>
                <a:gd name="T4" fmla="*/ 222 w 227"/>
                <a:gd name="T5" fmla="*/ 0 h 17"/>
                <a:gd name="T6" fmla="*/ 218 w 227"/>
                <a:gd name="T7" fmla="*/ 5 h 17"/>
                <a:gd name="T8" fmla="*/ 211 w 227"/>
                <a:gd name="T9" fmla="*/ 5 h 17"/>
                <a:gd name="T10" fmla="*/ 14 w 227"/>
                <a:gd name="T11" fmla="*/ 5 h 17"/>
                <a:gd name="T12" fmla="*/ 14 w 227"/>
                <a:gd name="T13" fmla="*/ 5 h 17"/>
                <a:gd name="T14" fmla="*/ 0 w 227"/>
                <a:gd name="T15" fmla="*/ 17 h 17"/>
                <a:gd name="T16" fmla="*/ 220 w 227"/>
                <a:gd name="T17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17">
                  <a:moveTo>
                    <a:pt x="220" y="17"/>
                  </a:moveTo>
                  <a:lnTo>
                    <a:pt x="227" y="15"/>
                  </a:lnTo>
                  <a:lnTo>
                    <a:pt x="222" y="0"/>
                  </a:lnTo>
                  <a:lnTo>
                    <a:pt x="218" y="5"/>
                  </a:lnTo>
                  <a:lnTo>
                    <a:pt x="211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0" y="17"/>
                  </a:lnTo>
                  <a:lnTo>
                    <a:pt x="220" y="17"/>
                  </a:lnTo>
                  <a:close/>
                </a:path>
              </a:pathLst>
            </a:custGeom>
            <a:solidFill>
              <a:srgbClr val="0089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7" name="Freeform 147">
              <a:extLst>
                <a:ext uri="{FF2B5EF4-FFF2-40B4-BE49-F238E27FC236}">
                  <a16:creationId xmlns:a16="http://schemas.microsoft.com/office/drawing/2014/main" id="{71495DB1-4A45-4E18-8C6E-540814197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8082" y="4615992"/>
              <a:ext cx="282021" cy="170698"/>
            </a:xfrm>
            <a:custGeom>
              <a:avLst/>
              <a:gdLst>
                <a:gd name="T0" fmla="*/ 14 w 114"/>
                <a:gd name="T1" fmla="*/ 0 h 69"/>
                <a:gd name="T2" fmla="*/ 100 w 114"/>
                <a:gd name="T3" fmla="*/ 0 h 69"/>
                <a:gd name="T4" fmla="*/ 109 w 114"/>
                <a:gd name="T5" fmla="*/ 5 h 69"/>
                <a:gd name="T6" fmla="*/ 114 w 114"/>
                <a:gd name="T7" fmla="*/ 12 h 69"/>
                <a:gd name="T8" fmla="*/ 114 w 114"/>
                <a:gd name="T9" fmla="*/ 55 h 69"/>
                <a:gd name="T10" fmla="*/ 111 w 114"/>
                <a:gd name="T11" fmla="*/ 64 h 69"/>
                <a:gd name="T12" fmla="*/ 102 w 114"/>
                <a:gd name="T13" fmla="*/ 69 h 69"/>
                <a:gd name="T14" fmla="*/ 14 w 114"/>
                <a:gd name="T15" fmla="*/ 69 h 69"/>
                <a:gd name="T16" fmla="*/ 5 w 114"/>
                <a:gd name="T17" fmla="*/ 64 h 69"/>
                <a:gd name="T18" fmla="*/ 0 w 114"/>
                <a:gd name="T19" fmla="*/ 57 h 69"/>
                <a:gd name="T20" fmla="*/ 0 w 114"/>
                <a:gd name="T21" fmla="*/ 15 h 69"/>
                <a:gd name="T22" fmla="*/ 5 w 114"/>
                <a:gd name="T23" fmla="*/ 5 h 69"/>
                <a:gd name="T24" fmla="*/ 14 w 114"/>
                <a:gd name="T25" fmla="*/ 0 h 69"/>
                <a:gd name="T26" fmla="*/ 14 w 114"/>
                <a:gd name="T27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4" h="69">
                  <a:moveTo>
                    <a:pt x="14" y="0"/>
                  </a:moveTo>
                  <a:lnTo>
                    <a:pt x="100" y="0"/>
                  </a:lnTo>
                  <a:lnTo>
                    <a:pt x="109" y="5"/>
                  </a:lnTo>
                  <a:lnTo>
                    <a:pt x="114" y="12"/>
                  </a:lnTo>
                  <a:lnTo>
                    <a:pt x="114" y="55"/>
                  </a:lnTo>
                  <a:lnTo>
                    <a:pt x="111" y="64"/>
                  </a:lnTo>
                  <a:lnTo>
                    <a:pt x="102" y="69"/>
                  </a:lnTo>
                  <a:lnTo>
                    <a:pt x="14" y="69"/>
                  </a:lnTo>
                  <a:lnTo>
                    <a:pt x="5" y="64"/>
                  </a:lnTo>
                  <a:lnTo>
                    <a:pt x="0" y="57"/>
                  </a:lnTo>
                  <a:lnTo>
                    <a:pt x="0" y="15"/>
                  </a:lnTo>
                  <a:lnTo>
                    <a:pt x="5" y="5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0163" cap="rnd">
              <a:solidFill>
                <a:srgbClr val="0089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8" name="Freeform 148">
              <a:extLst>
                <a:ext uri="{FF2B5EF4-FFF2-40B4-BE49-F238E27FC236}">
                  <a16:creationId xmlns:a16="http://schemas.microsoft.com/office/drawing/2014/main" id="{79FBF332-3170-4F5C-BB0E-95F1BDDDF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123" y="4398291"/>
              <a:ext cx="732266" cy="536831"/>
            </a:xfrm>
            <a:custGeom>
              <a:avLst/>
              <a:gdLst>
                <a:gd name="T0" fmla="*/ 2 w 125"/>
                <a:gd name="T1" fmla="*/ 5 h 91"/>
                <a:gd name="T2" fmla="*/ 5 w 125"/>
                <a:gd name="T3" fmla="*/ 5 h 91"/>
                <a:gd name="T4" fmla="*/ 8 w 125"/>
                <a:gd name="T5" fmla="*/ 5 h 91"/>
                <a:gd name="T6" fmla="*/ 55 w 125"/>
                <a:gd name="T7" fmla="*/ 5 h 91"/>
                <a:gd name="T8" fmla="*/ 63 w 125"/>
                <a:gd name="T9" fmla="*/ 5 h 91"/>
                <a:gd name="T10" fmla="*/ 101 w 125"/>
                <a:gd name="T11" fmla="*/ 6 h 91"/>
                <a:gd name="T12" fmla="*/ 104 w 125"/>
                <a:gd name="T13" fmla="*/ 6 h 91"/>
                <a:gd name="T14" fmla="*/ 104 w 125"/>
                <a:gd name="T15" fmla="*/ 6 h 91"/>
                <a:gd name="T16" fmla="*/ 105 w 125"/>
                <a:gd name="T17" fmla="*/ 8 h 91"/>
                <a:gd name="T18" fmla="*/ 106 w 125"/>
                <a:gd name="T19" fmla="*/ 11 h 91"/>
                <a:gd name="T20" fmla="*/ 106 w 125"/>
                <a:gd name="T21" fmla="*/ 16 h 91"/>
                <a:gd name="T22" fmla="*/ 106 w 125"/>
                <a:gd name="T23" fmla="*/ 52 h 91"/>
                <a:gd name="T24" fmla="*/ 106 w 125"/>
                <a:gd name="T25" fmla="*/ 48 h 91"/>
                <a:gd name="T26" fmla="*/ 109 w 125"/>
                <a:gd name="T27" fmla="*/ 15 h 91"/>
                <a:gd name="T28" fmla="*/ 109 w 125"/>
                <a:gd name="T29" fmla="*/ 12 h 91"/>
                <a:gd name="T30" fmla="*/ 111 w 125"/>
                <a:gd name="T31" fmla="*/ 14 h 91"/>
                <a:gd name="T32" fmla="*/ 112 w 125"/>
                <a:gd name="T33" fmla="*/ 17 h 91"/>
                <a:gd name="T34" fmla="*/ 123 w 125"/>
                <a:gd name="T35" fmla="*/ 66 h 91"/>
                <a:gd name="T36" fmla="*/ 124 w 125"/>
                <a:gd name="T37" fmla="*/ 70 h 91"/>
                <a:gd name="T38" fmla="*/ 123 w 125"/>
                <a:gd name="T39" fmla="*/ 74 h 91"/>
                <a:gd name="T40" fmla="*/ 123 w 125"/>
                <a:gd name="T41" fmla="*/ 78 h 91"/>
                <a:gd name="T42" fmla="*/ 122 w 125"/>
                <a:gd name="T43" fmla="*/ 80 h 91"/>
                <a:gd name="T44" fmla="*/ 121 w 125"/>
                <a:gd name="T45" fmla="*/ 82 h 91"/>
                <a:gd name="T46" fmla="*/ 120 w 125"/>
                <a:gd name="T47" fmla="*/ 83 h 91"/>
                <a:gd name="T48" fmla="*/ 117 w 125"/>
                <a:gd name="T49" fmla="*/ 83 h 91"/>
                <a:gd name="T50" fmla="*/ 115 w 125"/>
                <a:gd name="T51" fmla="*/ 82 h 91"/>
                <a:gd name="T52" fmla="*/ 114 w 125"/>
                <a:gd name="T53" fmla="*/ 81 h 91"/>
                <a:gd name="T54" fmla="*/ 111 w 125"/>
                <a:gd name="T55" fmla="*/ 78 h 91"/>
                <a:gd name="T56" fmla="*/ 109 w 125"/>
                <a:gd name="T57" fmla="*/ 75 h 91"/>
                <a:gd name="T58" fmla="*/ 107 w 125"/>
                <a:gd name="T59" fmla="*/ 71 h 91"/>
                <a:gd name="T60" fmla="*/ 107 w 125"/>
                <a:gd name="T61" fmla="*/ 68 h 91"/>
                <a:gd name="T62" fmla="*/ 106 w 125"/>
                <a:gd name="T63" fmla="*/ 64 h 91"/>
                <a:gd name="T64" fmla="*/ 106 w 125"/>
                <a:gd name="T65" fmla="*/ 60 h 91"/>
                <a:gd name="T66" fmla="*/ 106 w 125"/>
                <a:gd name="T67" fmla="*/ 75 h 91"/>
                <a:gd name="T68" fmla="*/ 108 w 125"/>
                <a:gd name="T69" fmla="*/ 80 h 91"/>
                <a:gd name="T70" fmla="*/ 110 w 125"/>
                <a:gd name="T71" fmla="*/ 83 h 91"/>
                <a:gd name="T72" fmla="*/ 124 w 125"/>
                <a:gd name="T73" fmla="*/ 77 h 91"/>
                <a:gd name="T74" fmla="*/ 125 w 125"/>
                <a:gd name="T75" fmla="*/ 74 h 91"/>
                <a:gd name="T76" fmla="*/ 125 w 125"/>
                <a:gd name="T77" fmla="*/ 70 h 91"/>
                <a:gd name="T78" fmla="*/ 121 w 125"/>
                <a:gd name="T79" fmla="*/ 32 h 91"/>
                <a:gd name="T80" fmla="*/ 120 w 125"/>
                <a:gd name="T81" fmla="*/ 28 h 91"/>
                <a:gd name="T82" fmla="*/ 120 w 125"/>
                <a:gd name="T83" fmla="*/ 25 h 91"/>
                <a:gd name="T84" fmla="*/ 119 w 125"/>
                <a:gd name="T85" fmla="*/ 21 h 91"/>
                <a:gd name="T86" fmla="*/ 117 w 125"/>
                <a:gd name="T87" fmla="*/ 18 h 91"/>
                <a:gd name="T88" fmla="*/ 89 w 125"/>
                <a:gd name="T89" fmla="*/ 1 h 91"/>
                <a:gd name="T90" fmla="*/ 83 w 125"/>
                <a:gd name="T91" fmla="*/ 1 h 91"/>
                <a:gd name="T92" fmla="*/ 77 w 125"/>
                <a:gd name="T93" fmla="*/ 1 h 91"/>
                <a:gd name="T94" fmla="*/ 17 w 125"/>
                <a:gd name="T95" fmla="*/ 4 h 91"/>
                <a:gd name="T96" fmla="*/ 11 w 125"/>
                <a:gd name="T97" fmla="*/ 4 h 91"/>
                <a:gd name="T98" fmla="*/ 6 w 125"/>
                <a:gd name="T99" fmla="*/ 5 h 91"/>
                <a:gd name="T100" fmla="*/ 0 w 125"/>
                <a:gd name="T101" fmla="*/ 5 h 91"/>
                <a:gd name="T102" fmla="*/ 2 w 125"/>
                <a:gd name="T103" fmla="*/ 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5" h="91">
                  <a:moveTo>
                    <a:pt x="2" y="5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24" y="6"/>
                    <a:pt x="39" y="5"/>
                    <a:pt x="55" y="5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76" y="5"/>
                    <a:pt x="88" y="4"/>
                    <a:pt x="101" y="6"/>
                  </a:cubicBezTo>
                  <a:cubicBezTo>
                    <a:pt x="104" y="6"/>
                    <a:pt x="104" y="6"/>
                    <a:pt x="104" y="6"/>
                  </a:cubicBezTo>
                  <a:cubicBezTo>
                    <a:pt x="104" y="6"/>
                    <a:pt x="104" y="6"/>
                    <a:pt x="104" y="6"/>
                  </a:cubicBezTo>
                  <a:cubicBezTo>
                    <a:pt x="105" y="8"/>
                    <a:pt x="105" y="8"/>
                    <a:pt x="105" y="8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106" y="52"/>
                    <a:pt x="106" y="52"/>
                    <a:pt x="106" y="52"/>
                  </a:cubicBezTo>
                  <a:cubicBezTo>
                    <a:pt x="106" y="48"/>
                    <a:pt x="106" y="48"/>
                    <a:pt x="106" y="48"/>
                  </a:cubicBezTo>
                  <a:cubicBezTo>
                    <a:pt x="106" y="37"/>
                    <a:pt x="108" y="26"/>
                    <a:pt x="109" y="15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9" y="31"/>
                    <a:pt x="122" y="50"/>
                    <a:pt x="123" y="66"/>
                  </a:cubicBezTo>
                  <a:cubicBezTo>
                    <a:pt x="124" y="70"/>
                    <a:pt x="124" y="70"/>
                    <a:pt x="124" y="70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2" y="80"/>
                    <a:pt x="122" y="80"/>
                    <a:pt x="122" y="80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117" y="83"/>
                    <a:pt x="117" y="83"/>
                    <a:pt x="117" y="83"/>
                  </a:cubicBezTo>
                  <a:cubicBezTo>
                    <a:pt x="115" y="82"/>
                    <a:pt x="115" y="82"/>
                    <a:pt x="115" y="82"/>
                  </a:cubicBezTo>
                  <a:cubicBezTo>
                    <a:pt x="114" y="81"/>
                    <a:pt x="114" y="81"/>
                    <a:pt x="114" y="81"/>
                  </a:cubicBezTo>
                  <a:cubicBezTo>
                    <a:pt x="111" y="78"/>
                    <a:pt x="111" y="78"/>
                    <a:pt x="111" y="78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1"/>
                    <a:pt x="107" y="71"/>
                    <a:pt x="107" y="71"/>
                  </a:cubicBezTo>
                  <a:cubicBezTo>
                    <a:pt x="107" y="68"/>
                    <a:pt x="107" y="68"/>
                    <a:pt x="107" y="68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6" y="60"/>
                    <a:pt x="106" y="60"/>
                    <a:pt x="106" y="60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08" y="80"/>
                    <a:pt x="108" y="80"/>
                    <a:pt x="108" y="80"/>
                  </a:cubicBezTo>
                  <a:cubicBezTo>
                    <a:pt x="110" y="83"/>
                    <a:pt x="110" y="83"/>
                    <a:pt x="110" y="83"/>
                  </a:cubicBezTo>
                  <a:cubicBezTo>
                    <a:pt x="115" y="91"/>
                    <a:pt x="123" y="85"/>
                    <a:pt x="124" y="77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5" y="58"/>
                    <a:pt x="125" y="45"/>
                    <a:pt x="121" y="32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19" y="21"/>
                    <a:pt x="119" y="21"/>
                    <a:pt x="119" y="21"/>
                  </a:cubicBezTo>
                  <a:cubicBezTo>
                    <a:pt x="117" y="18"/>
                    <a:pt x="117" y="18"/>
                    <a:pt x="117" y="18"/>
                  </a:cubicBezTo>
                  <a:cubicBezTo>
                    <a:pt x="114" y="6"/>
                    <a:pt x="100" y="3"/>
                    <a:pt x="89" y="1"/>
                  </a:cubicBezTo>
                  <a:cubicBezTo>
                    <a:pt x="83" y="1"/>
                    <a:pt x="83" y="1"/>
                    <a:pt x="83" y="1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57" y="0"/>
                    <a:pt x="37" y="3"/>
                    <a:pt x="17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0" y="5"/>
                    <a:pt x="0" y="5"/>
                    <a:pt x="0" y="5"/>
                  </a:cubicBezTo>
                  <a:lnTo>
                    <a:pt x="2" y="5"/>
                  </a:lnTo>
                  <a:close/>
                </a:path>
              </a:pathLst>
            </a:custGeom>
            <a:solidFill>
              <a:srgbClr val="0089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9" name="Freeform 149">
              <a:extLst>
                <a:ext uri="{FF2B5EF4-FFF2-40B4-BE49-F238E27FC236}">
                  <a16:creationId xmlns:a16="http://schemas.microsoft.com/office/drawing/2014/main" id="{EAA9248E-7978-4F19-A65C-22B79D898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8326" y="4492298"/>
              <a:ext cx="24739" cy="348817"/>
            </a:xfrm>
            <a:custGeom>
              <a:avLst/>
              <a:gdLst>
                <a:gd name="T0" fmla="*/ 3 w 4"/>
                <a:gd name="T1" fmla="*/ 14 h 59"/>
                <a:gd name="T2" fmla="*/ 3 w 4"/>
                <a:gd name="T3" fmla="*/ 17 h 59"/>
                <a:gd name="T4" fmla="*/ 3 w 4"/>
                <a:gd name="T5" fmla="*/ 58 h 59"/>
                <a:gd name="T6" fmla="*/ 4 w 4"/>
                <a:gd name="T7" fmla="*/ 59 h 59"/>
                <a:gd name="T8" fmla="*/ 4 w 4"/>
                <a:gd name="T9" fmla="*/ 36 h 59"/>
                <a:gd name="T10" fmla="*/ 4 w 4"/>
                <a:gd name="T11" fmla="*/ 0 h 59"/>
                <a:gd name="T12" fmla="*/ 4 w 4"/>
                <a:gd name="T13" fmla="*/ 4 h 59"/>
                <a:gd name="T14" fmla="*/ 3 w 4"/>
                <a:gd name="T15" fmla="*/ 8 h 59"/>
                <a:gd name="T16" fmla="*/ 3 w 4"/>
                <a:gd name="T17" fmla="*/ 11 h 59"/>
                <a:gd name="T18" fmla="*/ 3 w 4"/>
                <a:gd name="T19" fmla="*/ 1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9">
                  <a:moveTo>
                    <a:pt x="3" y="14"/>
                  </a:moveTo>
                  <a:cubicBezTo>
                    <a:pt x="3" y="17"/>
                    <a:pt x="3" y="17"/>
                    <a:pt x="3" y="17"/>
                  </a:cubicBezTo>
                  <a:cubicBezTo>
                    <a:pt x="3" y="30"/>
                    <a:pt x="0" y="46"/>
                    <a:pt x="3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11"/>
                    <a:pt x="3" y="11"/>
                    <a:pt x="3" y="11"/>
                  </a:cubicBezTo>
                  <a:lnTo>
                    <a:pt x="3" y="14"/>
                  </a:lnTo>
                  <a:close/>
                </a:path>
              </a:pathLst>
            </a:custGeom>
            <a:solidFill>
              <a:srgbClr val="0089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0" name="Freeform 150">
              <a:extLst>
                <a:ext uri="{FF2B5EF4-FFF2-40B4-BE49-F238E27FC236}">
                  <a16:creationId xmlns:a16="http://schemas.microsoft.com/office/drawing/2014/main" id="{A4CD47DA-7DE6-4081-8295-73DE85D66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127" y="4474982"/>
              <a:ext cx="514565" cy="465088"/>
            </a:xfrm>
            <a:custGeom>
              <a:avLst/>
              <a:gdLst>
                <a:gd name="T0" fmla="*/ 201 w 208"/>
                <a:gd name="T1" fmla="*/ 5 h 188"/>
                <a:gd name="T2" fmla="*/ 206 w 208"/>
                <a:gd name="T3" fmla="*/ 12 h 188"/>
                <a:gd name="T4" fmla="*/ 206 w 208"/>
                <a:gd name="T5" fmla="*/ 169 h 188"/>
                <a:gd name="T6" fmla="*/ 206 w 208"/>
                <a:gd name="T7" fmla="*/ 169 h 188"/>
                <a:gd name="T8" fmla="*/ 199 w 208"/>
                <a:gd name="T9" fmla="*/ 178 h 188"/>
                <a:gd name="T10" fmla="*/ 192 w 208"/>
                <a:gd name="T11" fmla="*/ 183 h 188"/>
                <a:gd name="T12" fmla="*/ 21 w 208"/>
                <a:gd name="T13" fmla="*/ 183 h 188"/>
                <a:gd name="T14" fmla="*/ 9 w 208"/>
                <a:gd name="T15" fmla="*/ 181 h 188"/>
                <a:gd name="T16" fmla="*/ 2 w 208"/>
                <a:gd name="T17" fmla="*/ 176 h 188"/>
                <a:gd name="T18" fmla="*/ 0 w 208"/>
                <a:gd name="T19" fmla="*/ 169 h 188"/>
                <a:gd name="T20" fmla="*/ 7 w 208"/>
                <a:gd name="T21" fmla="*/ 186 h 188"/>
                <a:gd name="T22" fmla="*/ 17 w 208"/>
                <a:gd name="T23" fmla="*/ 188 h 188"/>
                <a:gd name="T24" fmla="*/ 196 w 208"/>
                <a:gd name="T25" fmla="*/ 188 h 188"/>
                <a:gd name="T26" fmla="*/ 201 w 208"/>
                <a:gd name="T27" fmla="*/ 186 h 188"/>
                <a:gd name="T28" fmla="*/ 208 w 208"/>
                <a:gd name="T29" fmla="*/ 178 h 188"/>
                <a:gd name="T30" fmla="*/ 208 w 208"/>
                <a:gd name="T31" fmla="*/ 171 h 188"/>
                <a:gd name="T32" fmla="*/ 208 w 208"/>
                <a:gd name="T33" fmla="*/ 5 h 188"/>
                <a:gd name="T34" fmla="*/ 206 w 208"/>
                <a:gd name="T35" fmla="*/ 0 h 188"/>
                <a:gd name="T36" fmla="*/ 5 w 208"/>
                <a:gd name="T37" fmla="*/ 0 h 188"/>
                <a:gd name="T38" fmla="*/ 5 w 208"/>
                <a:gd name="T39" fmla="*/ 5 h 188"/>
                <a:gd name="T40" fmla="*/ 201 w 208"/>
                <a:gd name="T41" fmla="*/ 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8" h="188">
                  <a:moveTo>
                    <a:pt x="201" y="5"/>
                  </a:moveTo>
                  <a:lnTo>
                    <a:pt x="206" y="12"/>
                  </a:lnTo>
                  <a:lnTo>
                    <a:pt x="206" y="169"/>
                  </a:lnTo>
                  <a:lnTo>
                    <a:pt x="206" y="169"/>
                  </a:lnTo>
                  <a:lnTo>
                    <a:pt x="199" y="178"/>
                  </a:lnTo>
                  <a:lnTo>
                    <a:pt x="192" y="183"/>
                  </a:lnTo>
                  <a:lnTo>
                    <a:pt x="21" y="183"/>
                  </a:lnTo>
                  <a:lnTo>
                    <a:pt x="9" y="181"/>
                  </a:lnTo>
                  <a:lnTo>
                    <a:pt x="2" y="176"/>
                  </a:lnTo>
                  <a:lnTo>
                    <a:pt x="0" y="169"/>
                  </a:lnTo>
                  <a:lnTo>
                    <a:pt x="7" y="186"/>
                  </a:lnTo>
                  <a:lnTo>
                    <a:pt x="17" y="188"/>
                  </a:lnTo>
                  <a:lnTo>
                    <a:pt x="196" y="188"/>
                  </a:lnTo>
                  <a:lnTo>
                    <a:pt x="201" y="186"/>
                  </a:lnTo>
                  <a:lnTo>
                    <a:pt x="208" y="178"/>
                  </a:lnTo>
                  <a:lnTo>
                    <a:pt x="208" y="171"/>
                  </a:lnTo>
                  <a:lnTo>
                    <a:pt x="208" y="5"/>
                  </a:lnTo>
                  <a:lnTo>
                    <a:pt x="206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201" y="5"/>
                  </a:lnTo>
                  <a:close/>
                </a:path>
              </a:pathLst>
            </a:custGeom>
            <a:solidFill>
              <a:srgbClr val="0089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1" name="Freeform 151">
              <a:extLst>
                <a:ext uri="{FF2B5EF4-FFF2-40B4-BE49-F238E27FC236}">
                  <a16:creationId xmlns:a16="http://schemas.microsoft.com/office/drawing/2014/main" id="{5B30E1C8-040F-4BDF-8B1B-F11CBA9D2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757" y="4474982"/>
              <a:ext cx="24739" cy="460140"/>
            </a:xfrm>
            <a:custGeom>
              <a:avLst/>
              <a:gdLst>
                <a:gd name="T0" fmla="*/ 0 w 10"/>
                <a:gd name="T1" fmla="*/ 10 h 186"/>
                <a:gd name="T2" fmla="*/ 0 w 10"/>
                <a:gd name="T3" fmla="*/ 171 h 186"/>
                <a:gd name="T4" fmla="*/ 3 w 10"/>
                <a:gd name="T5" fmla="*/ 178 h 186"/>
                <a:gd name="T6" fmla="*/ 10 w 10"/>
                <a:gd name="T7" fmla="*/ 186 h 186"/>
                <a:gd name="T8" fmla="*/ 3 w 10"/>
                <a:gd name="T9" fmla="*/ 169 h 186"/>
                <a:gd name="T10" fmla="*/ 3 w 10"/>
                <a:gd name="T11" fmla="*/ 17 h 186"/>
                <a:gd name="T12" fmla="*/ 3 w 10"/>
                <a:gd name="T13" fmla="*/ 12 h 186"/>
                <a:gd name="T14" fmla="*/ 10 w 10"/>
                <a:gd name="T15" fmla="*/ 5 h 186"/>
                <a:gd name="T16" fmla="*/ 10 w 10"/>
                <a:gd name="T17" fmla="*/ 0 h 186"/>
                <a:gd name="T18" fmla="*/ 3 w 10"/>
                <a:gd name="T19" fmla="*/ 0 h 186"/>
                <a:gd name="T20" fmla="*/ 0 w 10"/>
                <a:gd name="T21" fmla="*/ 5 h 186"/>
                <a:gd name="T22" fmla="*/ 0 w 10"/>
                <a:gd name="T23" fmla="*/ 1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186">
                  <a:moveTo>
                    <a:pt x="0" y="10"/>
                  </a:moveTo>
                  <a:lnTo>
                    <a:pt x="0" y="171"/>
                  </a:lnTo>
                  <a:lnTo>
                    <a:pt x="3" y="178"/>
                  </a:lnTo>
                  <a:lnTo>
                    <a:pt x="10" y="186"/>
                  </a:lnTo>
                  <a:lnTo>
                    <a:pt x="3" y="169"/>
                  </a:lnTo>
                  <a:lnTo>
                    <a:pt x="3" y="17"/>
                  </a:lnTo>
                  <a:lnTo>
                    <a:pt x="3" y="12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89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2" name="Freeform 152">
              <a:extLst>
                <a:ext uri="{FF2B5EF4-FFF2-40B4-BE49-F238E27FC236}">
                  <a16:creationId xmlns:a16="http://schemas.microsoft.com/office/drawing/2014/main" id="{44F6E90A-17D0-497D-B2BA-053A3E01E0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2716" y="4645678"/>
              <a:ext cx="217701" cy="106377"/>
            </a:xfrm>
            <a:custGeom>
              <a:avLst/>
              <a:gdLst>
                <a:gd name="T0" fmla="*/ 5 w 88"/>
                <a:gd name="T1" fmla="*/ 12 h 43"/>
                <a:gd name="T2" fmla="*/ 3 w 88"/>
                <a:gd name="T3" fmla="*/ 14 h 43"/>
                <a:gd name="T4" fmla="*/ 0 w 88"/>
                <a:gd name="T5" fmla="*/ 17 h 43"/>
                <a:gd name="T6" fmla="*/ 3 w 88"/>
                <a:gd name="T7" fmla="*/ 22 h 43"/>
                <a:gd name="T8" fmla="*/ 3 w 88"/>
                <a:gd name="T9" fmla="*/ 26 h 43"/>
                <a:gd name="T10" fmla="*/ 8 w 88"/>
                <a:gd name="T11" fmla="*/ 31 h 43"/>
                <a:gd name="T12" fmla="*/ 10 w 88"/>
                <a:gd name="T13" fmla="*/ 36 h 43"/>
                <a:gd name="T14" fmla="*/ 12 w 88"/>
                <a:gd name="T15" fmla="*/ 36 h 43"/>
                <a:gd name="T16" fmla="*/ 19 w 88"/>
                <a:gd name="T17" fmla="*/ 38 h 43"/>
                <a:gd name="T18" fmla="*/ 19 w 88"/>
                <a:gd name="T19" fmla="*/ 36 h 43"/>
                <a:gd name="T20" fmla="*/ 26 w 88"/>
                <a:gd name="T21" fmla="*/ 31 h 43"/>
                <a:gd name="T22" fmla="*/ 26 w 88"/>
                <a:gd name="T23" fmla="*/ 17 h 43"/>
                <a:gd name="T24" fmla="*/ 22 w 88"/>
                <a:gd name="T25" fmla="*/ 10 h 43"/>
                <a:gd name="T26" fmla="*/ 12 w 88"/>
                <a:gd name="T27" fmla="*/ 10 h 43"/>
                <a:gd name="T28" fmla="*/ 10 w 88"/>
                <a:gd name="T29" fmla="*/ 10 h 43"/>
                <a:gd name="T30" fmla="*/ 67 w 88"/>
                <a:gd name="T31" fmla="*/ 43 h 43"/>
                <a:gd name="T32" fmla="*/ 74 w 88"/>
                <a:gd name="T33" fmla="*/ 41 h 43"/>
                <a:gd name="T34" fmla="*/ 79 w 88"/>
                <a:gd name="T35" fmla="*/ 41 h 43"/>
                <a:gd name="T36" fmla="*/ 50 w 88"/>
                <a:gd name="T37" fmla="*/ 43 h 43"/>
                <a:gd name="T38" fmla="*/ 55 w 88"/>
                <a:gd name="T39" fmla="*/ 43 h 43"/>
                <a:gd name="T40" fmla="*/ 29 w 88"/>
                <a:gd name="T41" fmla="*/ 41 h 43"/>
                <a:gd name="T42" fmla="*/ 34 w 88"/>
                <a:gd name="T43" fmla="*/ 41 h 43"/>
                <a:gd name="T44" fmla="*/ 62 w 88"/>
                <a:gd name="T45" fmla="*/ 22 h 43"/>
                <a:gd name="T46" fmla="*/ 88 w 88"/>
                <a:gd name="T47" fmla="*/ 22 h 43"/>
                <a:gd name="T48" fmla="*/ 24 w 88"/>
                <a:gd name="T49" fmla="*/ 0 h 43"/>
                <a:gd name="T50" fmla="*/ 26 w 88"/>
                <a:gd name="T51" fmla="*/ 5 h 43"/>
                <a:gd name="T52" fmla="*/ 26 w 88"/>
                <a:gd name="T53" fmla="*/ 3 h 43"/>
                <a:gd name="T54" fmla="*/ 31 w 88"/>
                <a:gd name="T55" fmla="*/ 0 h 43"/>
                <a:gd name="T56" fmla="*/ 34 w 88"/>
                <a:gd name="T57" fmla="*/ 5 h 43"/>
                <a:gd name="T58" fmla="*/ 36 w 88"/>
                <a:gd name="T59" fmla="*/ 5 h 43"/>
                <a:gd name="T60" fmla="*/ 38 w 88"/>
                <a:gd name="T61" fmla="*/ 5 h 43"/>
                <a:gd name="T62" fmla="*/ 41 w 88"/>
                <a:gd name="T63" fmla="*/ 0 h 43"/>
                <a:gd name="T64" fmla="*/ 43 w 88"/>
                <a:gd name="T65" fmla="*/ 0 h 43"/>
                <a:gd name="T66" fmla="*/ 48 w 88"/>
                <a:gd name="T67" fmla="*/ 0 h 43"/>
                <a:gd name="T68" fmla="*/ 48 w 88"/>
                <a:gd name="T69" fmla="*/ 3 h 43"/>
                <a:gd name="T70" fmla="*/ 57 w 88"/>
                <a:gd name="T71" fmla="*/ 3 h 43"/>
                <a:gd name="T72" fmla="*/ 62 w 88"/>
                <a:gd name="T73" fmla="*/ 3 h 43"/>
                <a:gd name="T74" fmla="*/ 64 w 88"/>
                <a:gd name="T7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8" h="43">
                  <a:moveTo>
                    <a:pt x="5" y="12"/>
                  </a:moveTo>
                  <a:lnTo>
                    <a:pt x="3" y="14"/>
                  </a:lnTo>
                  <a:lnTo>
                    <a:pt x="0" y="17"/>
                  </a:lnTo>
                  <a:lnTo>
                    <a:pt x="3" y="22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10" y="36"/>
                  </a:lnTo>
                  <a:lnTo>
                    <a:pt x="12" y="36"/>
                  </a:lnTo>
                  <a:lnTo>
                    <a:pt x="19" y="38"/>
                  </a:lnTo>
                  <a:lnTo>
                    <a:pt x="19" y="36"/>
                  </a:lnTo>
                  <a:lnTo>
                    <a:pt x="26" y="31"/>
                  </a:lnTo>
                  <a:lnTo>
                    <a:pt x="26" y="17"/>
                  </a:lnTo>
                  <a:lnTo>
                    <a:pt x="22" y="10"/>
                  </a:lnTo>
                  <a:lnTo>
                    <a:pt x="12" y="10"/>
                  </a:lnTo>
                  <a:lnTo>
                    <a:pt x="10" y="10"/>
                  </a:lnTo>
                  <a:moveTo>
                    <a:pt x="67" y="43"/>
                  </a:moveTo>
                  <a:lnTo>
                    <a:pt x="74" y="41"/>
                  </a:lnTo>
                  <a:lnTo>
                    <a:pt x="79" y="41"/>
                  </a:lnTo>
                  <a:moveTo>
                    <a:pt x="50" y="43"/>
                  </a:moveTo>
                  <a:lnTo>
                    <a:pt x="55" y="43"/>
                  </a:lnTo>
                  <a:moveTo>
                    <a:pt x="29" y="41"/>
                  </a:moveTo>
                  <a:lnTo>
                    <a:pt x="34" y="41"/>
                  </a:lnTo>
                  <a:moveTo>
                    <a:pt x="62" y="22"/>
                  </a:moveTo>
                  <a:lnTo>
                    <a:pt x="88" y="22"/>
                  </a:lnTo>
                  <a:moveTo>
                    <a:pt x="24" y="0"/>
                  </a:moveTo>
                  <a:lnTo>
                    <a:pt x="26" y="5"/>
                  </a:lnTo>
                  <a:lnTo>
                    <a:pt x="26" y="3"/>
                  </a:lnTo>
                  <a:lnTo>
                    <a:pt x="31" y="0"/>
                  </a:lnTo>
                  <a:lnTo>
                    <a:pt x="34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8" y="0"/>
                  </a:lnTo>
                  <a:lnTo>
                    <a:pt x="48" y="3"/>
                  </a:lnTo>
                  <a:lnTo>
                    <a:pt x="57" y="3"/>
                  </a:lnTo>
                  <a:lnTo>
                    <a:pt x="62" y="3"/>
                  </a:lnTo>
                  <a:lnTo>
                    <a:pt x="64" y="0"/>
                  </a:lnTo>
                </a:path>
              </a:pathLst>
            </a:custGeom>
            <a:noFill/>
            <a:ln w="30163" cap="flat">
              <a:solidFill>
                <a:srgbClr val="0089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0FB337F0-793F-48F1-BB91-2DA1FE68B797}"/>
                </a:ext>
              </a:extLst>
            </p:cNvPr>
            <p:cNvSpPr txBox="1"/>
            <p:nvPr/>
          </p:nvSpPr>
          <p:spPr>
            <a:xfrm>
              <a:off x="4576481" y="5207806"/>
              <a:ext cx="162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Vaccine Carrier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(+2° to 8°C)</a:t>
              </a:r>
            </a:p>
          </p:txBody>
        </p:sp>
      </p:grpSp>
      <p:grpSp>
        <p:nvGrpSpPr>
          <p:cNvPr id="138" name="Group 153">
            <a:extLst>
              <a:ext uri="{FF2B5EF4-FFF2-40B4-BE49-F238E27FC236}">
                <a16:creationId xmlns:a16="http://schemas.microsoft.com/office/drawing/2014/main" id="{5F0A8AF4-8850-4342-8D05-A17C4EB4A4BA}"/>
              </a:ext>
            </a:extLst>
          </p:cNvPr>
          <p:cNvGrpSpPr/>
          <p:nvPr/>
        </p:nvGrpSpPr>
        <p:grpSpPr>
          <a:xfrm>
            <a:off x="5756643" y="4348956"/>
            <a:ext cx="2283385" cy="1737793"/>
            <a:chOff x="6147260" y="4393343"/>
            <a:chExt cx="2283385" cy="1737793"/>
          </a:xfrm>
        </p:grpSpPr>
        <p:sp>
          <p:nvSpPr>
            <p:cNvPr id="155" name="Freeform 43">
              <a:extLst>
                <a:ext uri="{FF2B5EF4-FFF2-40B4-BE49-F238E27FC236}">
                  <a16:creationId xmlns:a16="http://schemas.microsoft.com/office/drawing/2014/main" id="{EA2D23A8-E569-45A9-9654-EF7FC4609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2721" y="4586305"/>
              <a:ext cx="106377" cy="217701"/>
            </a:xfrm>
            <a:custGeom>
              <a:avLst/>
              <a:gdLst>
                <a:gd name="T0" fmla="*/ 43 w 43"/>
                <a:gd name="T1" fmla="*/ 0 h 88"/>
                <a:gd name="T2" fmla="*/ 0 w 43"/>
                <a:gd name="T3" fmla="*/ 43 h 88"/>
                <a:gd name="T4" fmla="*/ 43 w 43"/>
                <a:gd name="T5" fmla="*/ 88 h 88"/>
                <a:gd name="T6" fmla="*/ 43 w 43"/>
                <a:gd name="T7" fmla="*/ 60 h 88"/>
                <a:gd name="T8" fmla="*/ 31 w 43"/>
                <a:gd name="T9" fmla="*/ 60 h 88"/>
                <a:gd name="T10" fmla="*/ 31 w 43"/>
                <a:gd name="T11" fmla="*/ 29 h 88"/>
                <a:gd name="T12" fmla="*/ 43 w 43"/>
                <a:gd name="T13" fmla="*/ 29 h 88"/>
                <a:gd name="T14" fmla="*/ 43 w 43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88">
                  <a:moveTo>
                    <a:pt x="43" y="0"/>
                  </a:moveTo>
                  <a:lnTo>
                    <a:pt x="0" y="43"/>
                  </a:lnTo>
                  <a:lnTo>
                    <a:pt x="43" y="88"/>
                  </a:lnTo>
                  <a:lnTo>
                    <a:pt x="43" y="60"/>
                  </a:lnTo>
                  <a:lnTo>
                    <a:pt x="31" y="60"/>
                  </a:lnTo>
                  <a:lnTo>
                    <a:pt x="31" y="29"/>
                  </a:lnTo>
                  <a:lnTo>
                    <a:pt x="43" y="29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6" name="Freeform 44">
              <a:extLst>
                <a:ext uri="{FF2B5EF4-FFF2-40B4-BE49-F238E27FC236}">
                  <a16:creationId xmlns:a16="http://schemas.microsoft.com/office/drawing/2014/main" id="{0E858379-8314-424E-90B0-0A7313FC0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2721" y="4586305"/>
              <a:ext cx="106377" cy="217701"/>
            </a:xfrm>
            <a:custGeom>
              <a:avLst/>
              <a:gdLst>
                <a:gd name="T0" fmla="*/ 43 w 43"/>
                <a:gd name="T1" fmla="*/ 0 h 88"/>
                <a:gd name="T2" fmla="*/ 0 w 43"/>
                <a:gd name="T3" fmla="*/ 43 h 88"/>
                <a:gd name="T4" fmla="*/ 43 w 43"/>
                <a:gd name="T5" fmla="*/ 88 h 88"/>
                <a:gd name="T6" fmla="*/ 43 w 43"/>
                <a:gd name="T7" fmla="*/ 60 h 88"/>
                <a:gd name="T8" fmla="*/ 31 w 43"/>
                <a:gd name="T9" fmla="*/ 60 h 88"/>
                <a:gd name="T10" fmla="*/ 31 w 43"/>
                <a:gd name="T11" fmla="*/ 29 h 88"/>
                <a:gd name="T12" fmla="*/ 43 w 43"/>
                <a:gd name="T13" fmla="*/ 29 h 88"/>
                <a:gd name="T14" fmla="*/ 43 w 43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88">
                  <a:moveTo>
                    <a:pt x="43" y="0"/>
                  </a:moveTo>
                  <a:lnTo>
                    <a:pt x="0" y="43"/>
                  </a:lnTo>
                  <a:lnTo>
                    <a:pt x="43" y="88"/>
                  </a:lnTo>
                  <a:lnTo>
                    <a:pt x="43" y="60"/>
                  </a:lnTo>
                  <a:lnTo>
                    <a:pt x="31" y="60"/>
                  </a:lnTo>
                  <a:lnTo>
                    <a:pt x="31" y="29"/>
                  </a:lnTo>
                  <a:lnTo>
                    <a:pt x="43" y="29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7" name="Rectangle 45">
              <a:extLst>
                <a:ext uri="{FF2B5EF4-FFF2-40B4-BE49-F238E27FC236}">
                  <a16:creationId xmlns:a16="http://schemas.microsoft.com/office/drawing/2014/main" id="{14E04B58-7E82-4FF8-8D9C-3A2A8AED0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9097" y="4658048"/>
              <a:ext cx="24491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8" name="Rectangle 46">
              <a:extLst>
                <a:ext uri="{FF2B5EF4-FFF2-40B4-BE49-F238E27FC236}">
                  <a16:creationId xmlns:a16="http://schemas.microsoft.com/office/drawing/2014/main" id="{7804F348-6FBC-4990-A8F0-8CF1EF4D9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9097" y="4658048"/>
              <a:ext cx="24491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9" name="Rectangle 47">
              <a:extLst>
                <a:ext uri="{FF2B5EF4-FFF2-40B4-BE49-F238E27FC236}">
                  <a16:creationId xmlns:a16="http://schemas.microsoft.com/office/drawing/2014/main" id="{D7D9EC1D-5B6A-4731-B729-299B1E154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9410" y="4658048"/>
              <a:ext cx="29686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0" name="Rectangle 48">
              <a:extLst>
                <a:ext uri="{FF2B5EF4-FFF2-40B4-BE49-F238E27FC236}">
                  <a16:creationId xmlns:a16="http://schemas.microsoft.com/office/drawing/2014/main" id="{85B8E906-077A-4C81-8186-DE4E1C2B9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9410" y="4658048"/>
              <a:ext cx="29686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1" name="Freeform 153">
              <a:extLst>
                <a:ext uri="{FF2B5EF4-FFF2-40B4-BE49-F238E27FC236}">
                  <a16:creationId xmlns:a16="http://schemas.microsoft.com/office/drawing/2014/main" id="{BC31308D-D4FD-4CFE-AF3F-1BA2D8542F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6517" y="4564041"/>
              <a:ext cx="462615" cy="435401"/>
            </a:xfrm>
            <a:custGeom>
              <a:avLst/>
              <a:gdLst>
                <a:gd name="T0" fmla="*/ 0 w 187"/>
                <a:gd name="T1" fmla="*/ 50 h 176"/>
                <a:gd name="T2" fmla="*/ 0 w 187"/>
                <a:gd name="T3" fmla="*/ 45 h 176"/>
                <a:gd name="T4" fmla="*/ 12 w 187"/>
                <a:gd name="T5" fmla="*/ 0 h 176"/>
                <a:gd name="T6" fmla="*/ 14 w 187"/>
                <a:gd name="T7" fmla="*/ 5 h 176"/>
                <a:gd name="T8" fmla="*/ 0 w 187"/>
                <a:gd name="T9" fmla="*/ 50 h 176"/>
                <a:gd name="T10" fmla="*/ 16 w 187"/>
                <a:gd name="T11" fmla="*/ 55 h 176"/>
                <a:gd name="T12" fmla="*/ 14 w 187"/>
                <a:gd name="T13" fmla="*/ 166 h 176"/>
                <a:gd name="T14" fmla="*/ 0 w 187"/>
                <a:gd name="T15" fmla="*/ 154 h 176"/>
                <a:gd name="T16" fmla="*/ 0 w 187"/>
                <a:gd name="T17" fmla="*/ 55 h 176"/>
                <a:gd name="T18" fmla="*/ 16 w 187"/>
                <a:gd name="T19" fmla="*/ 55 h 176"/>
                <a:gd name="T20" fmla="*/ 187 w 187"/>
                <a:gd name="T21" fmla="*/ 57 h 176"/>
                <a:gd name="T22" fmla="*/ 16 w 187"/>
                <a:gd name="T23" fmla="*/ 57 h 176"/>
                <a:gd name="T24" fmla="*/ 16 w 187"/>
                <a:gd name="T25" fmla="*/ 169 h 176"/>
                <a:gd name="T26" fmla="*/ 187 w 187"/>
                <a:gd name="T27" fmla="*/ 159 h 176"/>
                <a:gd name="T28" fmla="*/ 187 w 187"/>
                <a:gd name="T29" fmla="*/ 57 h 176"/>
                <a:gd name="T30" fmla="*/ 170 w 187"/>
                <a:gd name="T31" fmla="*/ 161 h 176"/>
                <a:gd name="T32" fmla="*/ 170 w 187"/>
                <a:gd name="T33" fmla="*/ 169 h 176"/>
                <a:gd name="T34" fmla="*/ 177 w 187"/>
                <a:gd name="T35" fmla="*/ 169 h 176"/>
                <a:gd name="T36" fmla="*/ 177 w 187"/>
                <a:gd name="T37" fmla="*/ 161 h 176"/>
                <a:gd name="T38" fmla="*/ 170 w 187"/>
                <a:gd name="T39" fmla="*/ 161 h 176"/>
                <a:gd name="T40" fmla="*/ 33 w 187"/>
                <a:gd name="T41" fmla="*/ 169 h 176"/>
                <a:gd name="T42" fmla="*/ 33 w 187"/>
                <a:gd name="T43" fmla="*/ 176 h 176"/>
                <a:gd name="T44" fmla="*/ 26 w 187"/>
                <a:gd name="T45" fmla="*/ 176 h 176"/>
                <a:gd name="T46" fmla="*/ 26 w 187"/>
                <a:gd name="T47" fmla="*/ 169 h 176"/>
                <a:gd name="T48" fmla="*/ 33 w 187"/>
                <a:gd name="T49" fmla="*/ 16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7" h="176">
                  <a:moveTo>
                    <a:pt x="0" y="50"/>
                  </a:moveTo>
                  <a:lnTo>
                    <a:pt x="0" y="45"/>
                  </a:lnTo>
                  <a:lnTo>
                    <a:pt x="12" y="0"/>
                  </a:lnTo>
                  <a:lnTo>
                    <a:pt x="14" y="5"/>
                  </a:lnTo>
                  <a:lnTo>
                    <a:pt x="0" y="50"/>
                  </a:lnTo>
                  <a:close/>
                  <a:moveTo>
                    <a:pt x="16" y="55"/>
                  </a:moveTo>
                  <a:lnTo>
                    <a:pt x="14" y="166"/>
                  </a:lnTo>
                  <a:lnTo>
                    <a:pt x="0" y="154"/>
                  </a:lnTo>
                  <a:lnTo>
                    <a:pt x="0" y="55"/>
                  </a:lnTo>
                  <a:lnTo>
                    <a:pt x="16" y="55"/>
                  </a:lnTo>
                  <a:close/>
                  <a:moveTo>
                    <a:pt x="187" y="57"/>
                  </a:moveTo>
                  <a:lnTo>
                    <a:pt x="16" y="57"/>
                  </a:lnTo>
                  <a:lnTo>
                    <a:pt x="16" y="169"/>
                  </a:lnTo>
                  <a:lnTo>
                    <a:pt x="187" y="159"/>
                  </a:lnTo>
                  <a:lnTo>
                    <a:pt x="187" y="57"/>
                  </a:lnTo>
                  <a:close/>
                  <a:moveTo>
                    <a:pt x="170" y="161"/>
                  </a:moveTo>
                  <a:lnTo>
                    <a:pt x="170" y="169"/>
                  </a:lnTo>
                  <a:lnTo>
                    <a:pt x="177" y="169"/>
                  </a:lnTo>
                  <a:lnTo>
                    <a:pt x="177" y="161"/>
                  </a:lnTo>
                  <a:lnTo>
                    <a:pt x="170" y="161"/>
                  </a:lnTo>
                  <a:close/>
                  <a:moveTo>
                    <a:pt x="33" y="169"/>
                  </a:moveTo>
                  <a:lnTo>
                    <a:pt x="33" y="176"/>
                  </a:lnTo>
                  <a:lnTo>
                    <a:pt x="26" y="176"/>
                  </a:lnTo>
                  <a:lnTo>
                    <a:pt x="26" y="169"/>
                  </a:lnTo>
                  <a:lnTo>
                    <a:pt x="33" y="169"/>
                  </a:lnTo>
                  <a:close/>
                </a:path>
              </a:pathLst>
            </a:custGeom>
            <a:noFill/>
            <a:ln w="14288" cap="rnd">
              <a:solidFill>
                <a:srgbClr val="0089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2" name="Freeform 154">
              <a:extLst>
                <a:ext uri="{FF2B5EF4-FFF2-40B4-BE49-F238E27FC236}">
                  <a16:creationId xmlns:a16="http://schemas.microsoft.com/office/drawing/2014/main" id="{3194A06D-1EAE-40E5-A5C0-BFB651910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1151" y="4564041"/>
              <a:ext cx="415610" cy="22266"/>
            </a:xfrm>
            <a:custGeom>
              <a:avLst/>
              <a:gdLst>
                <a:gd name="T0" fmla="*/ 0 w 168"/>
                <a:gd name="T1" fmla="*/ 0 h 9"/>
                <a:gd name="T2" fmla="*/ 2 w 168"/>
                <a:gd name="T3" fmla="*/ 5 h 9"/>
                <a:gd name="T4" fmla="*/ 168 w 168"/>
                <a:gd name="T5" fmla="*/ 9 h 9"/>
                <a:gd name="T6" fmla="*/ 168 w 168"/>
                <a:gd name="T7" fmla="*/ 7 h 9"/>
                <a:gd name="T8" fmla="*/ 0 w 16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9">
                  <a:moveTo>
                    <a:pt x="0" y="0"/>
                  </a:moveTo>
                  <a:lnTo>
                    <a:pt x="2" y="5"/>
                  </a:lnTo>
                  <a:lnTo>
                    <a:pt x="168" y="9"/>
                  </a:lnTo>
                  <a:lnTo>
                    <a:pt x="168" y="7"/>
                  </a:lnTo>
                  <a:lnTo>
                    <a:pt x="0" y="0"/>
                  </a:lnTo>
                </a:path>
              </a:pathLst>
            </a:custGeom>
            <a:noFill/>
            <a:ln w="14288" cap="flat">
              <a:solidFill>
                <a:srgbClr val="0089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3" name="Freeform 155">
              <a:extLst>
                <a:ext uri="{FF2B5EF4-FFF2-40B4-BE49-F238E27FC236}">
                  <a16:creationId xmlns:a16="http://schemas.microsoft.com/office/drawing/2014/main" id="{93477088-8921-4A77-AC9A-5C15B24E49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2927" y="4393343"/>
              <a:ext cx="1288888" cy="606099"/>
            </a:xfrm>
            <a:custGeom>
              <a:avLst/>
              <a:gdLst>
                <a:gd name="T0" fmla="*/ 2 w 521"/>
                <a:gd name="T1" fmla="*/ 76 h 245"/>
                <a:gd name="T2" fmla="*/ 305 w 521"/>
                <a:gd name="T3" fmla="*/ 71 h 245"/>
                <a:gd name="T4" fmla="*/ 289 w 521"/>
                <a:gd name="T5" fmla="*/ 86 h 245"/>
                <a:gd name="T6" fmla="*/ 47 w 521"/>
                <a:gd name="T7" fmla="*/ 64 h 245"/>
                <a:gd name="T8" fmla="*/ 289 w 521"/>
                <a:gd name="T9" fmla="*/ 86 h 245"/>
                <a:gd name="T10" fmla="*/ 19 w 521"/>
                <a:gd name="T11" fmla="*/ 226 h 245"/>
                <a:gd name="T12" fmla="*/ 12 w 521"/>
                <a:gd name="T13" fmla="*/ 221 h 245"/>
                <a:gd name="T14" fmla="*/ 275 w 521"/>
                <a:gd name="T15" fmla="*/ 238 h 245"/>
                <a:gd name="T16" fmla="*/ 282 w 521"/>
                <a:gd name="T17" fmla="*/ 245 h 245"/>
                <a:gd name="T18" fmla="*/ 275 w 521"/>
                <a:gd name="T19" fmla="*/ 238 h 245"/>
                <a:gd name="T20" fmla="*/ 62 w 521"/>
                <a:gd name="T21" fmla="*/ 62 h 245"/>
                <a:gd name="T22" fmla="*/ 73 w 521"/>
                <a:gd name="T23" fmla="*/ 57 h 245"/>
                <a:gd name="T24" fmla="*/ 286 w 521"/>
                <a:gd name="T25" fmla="*/ 64 h 245"/>
                <a:gd name="T26" fmla="*/ 301 w 521"/>
                <a:gd name="T27" fmla="*/ 71 h 245"/>
                <a:gd name="T28" fmla="*/ 286 w 521"/>
                <a:gd name="T29" fmla="*/ 64 h 245"/>
                <a:gd name="T30" fmla="*/ 308 w 521"/>
                <a:gd name="T31" fmla="*/ 50 h 245"/>
                <a:gd name="T32" fmla="*/ 294 w 521"/>
                <a:gd name="T33" fmla="*/ 17 h 245"/>
                <a:gd name="T34" fmla="*/ 5 w 521"/>
                <a:gd name="T35" fmla="*/ 7 h 245"/>
                <a:gd name="T36" fmla="*/ 294 w 521"/>
                <a:gd name="T37" fmla="*/ 7 h 245"/>
                <a:gd name="T38" fmla="*/ 5 w 521"/>
                <a:gd name="T39" fmla="*/ 7 h 245"/>
                <a:gd name="T40" fmla="*/ 291 w 521"/>
                <a:gd name="T41" fmla="*/ 17 h 245"/>
                <a:gd name="T42" fmla="*/ 45 w 521"/>
                <a:gd name="T43" fmla="*/ 55 h 245"/>
                <a:gd name="T44" fmla="*/ 310 w 521"/>
                <a:gd name="T45" fmla="*/ 71 h 245"/>
                <a:gd name="T46" fmla="*/ 291 w 521"/>
                <a:gd name="T47" fmla="*/ 238 h 245"/>
                <a:gd name="T48" fmla="*/ 310 w 521"/>
                <a:gd name="T49" fmla="*/ 71 h 245"/>
                <a:gd name="T50" fmla="*/ 5 w 521"/>
                <a:gd name="T51" fmla="*/ 216 h 245"/>
                <a:gd name="T52" fmla="*/ 291 w 521"/>
                <a:gd name="T53" fmla="*/ 93 h 245"/>
                <a:gd name="T54" fmla="*/ 357 w 521"/>
                <a:gd name="T55" fmla="*/ 121 h 245"/>
                <a:gd name="T56" fmla="*/ 350 w 521"/>
                <a:gd name="T57" fmla="*/ 124 h 245"/>
                <a:gd name="T58" fmla="*/ 357 w 521"/>
                <a:gd name="T59" fmla="*/ 121 h 245"/>
                <a:gd name="T60" fmla="*/ 478 w 521"/>
                <a:gd name="T61" fmla="*/ 124 h 245"/>
                <a:gd name="T62" fmla="*/ 483 w 521"/>
                <a:gd name="T63" fmla="*/ 121 h 245"/>
                <a:gd name="T64" fmla="*/ 521 w 521"/>
                <a:gd name="T65" fmla="*/ 81 h 245"/>
                <a:gd name="T66" fmla="*/ 343 w 521"/>
                <a:gd name="T67" fmla="*/ 121 h 245"/>
                <a:gd name="T68" fmla="*/ 492 w 521"/>
                <a:gd name="T69" fmla="*/ 12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1" h="245">
                  <a:moveTo>
                    <a:pt x="47" y="62"/>
                  </a:moveTo>
                  <a:lnTo>
                    <a:pt x="2" y="76"/>
                  </a:lnTo>
                  <a:lnTo>
                    <a:pt x="291" y="88"/>
                  </a:lnTo>
                  <a:lnTo>
                    <a:pt x="305" y="71"/>
                  </a:lnTo>
                  <a:lnTo>
                    <a:pt x="47" y="62"/>
                  </a:lnTo>
                  <a:close/>
                  <a:moveTo>
                    <a:pt x="289" y="86"/>
                  </a:moveTo>
                  <a:lnTo>
                    <a:pt x="19" y="74"/>
                  </a:lnTo>
                  <a:lnTo>
                    <a:pt x="47" y="64"/>
                  </a:lnTo>
                  <a:lnTo>
                    <a:pt x="301" y="74"/>
                  </a:lnTo>
                  <a:lnTo>
                    <a:pt x="289" y="86"/>
                  </a:lnTo>
                  <a:close/>
                  <a:moveTo>
                    <a:pt x="24" y="221"/>
                  </a:moveTo>
                  <a:lnTo>
                    <a:pt x="19" y="226"/>
                  </a:lnTo>
                  <a:lnTo>
                    <a:pt x="12" y="223"/>
                  </a:lnTo>
                  <a:lnTo>
                    <a:pt x="12" y="221"/>
                  </a:lnTo>
                  <a:lnTo>
                    <a:pt x="24" y="221"/>
                  </a:lnTo>
                  <a:close/>
                  <a:moveTo>
                    <a:pt x="275" y="238"/>
                  </a:moveTo>
                  <a:lnTo>
                    <a:pt x="275" y="242"/>
                  </a:lnTo>
                  <a:lnTo>
                    <a:pt x="282" y="245"/>
                  </a:lnTo>
                  <a:lnTo>
                    <a:pt x="282" y="238"/>
                  </a:lnTo>
                  <a:lnTo>
                    <a:pt x="275" y="238"/>
                  </a:lnTo>
                  <a:close/>
                  <a:moveTo>
                    <a:pt x="62" y="57"/>
                  </a:moveTo>
                  <a:lnTo>
                    <a:pt x="62" y="62"/>
                  </a:lnTo>
                  <a:lnTo>
                    <a:pt x="71" y="62"/>
                  </a:lnTo>
                  <a:lnTo>
                    <a:pt x="73" y="57"/>
                  </a:lnTo>
                  <a:lnTo>
                    <a:pt x="62" y="57"/>
                  </a:lnTo>
                  <a:close/>
                  <a:moveTo>
                    <a:pt x="286" y="64"/>
                  </a:moveTo>
                  <a:lnTo>
                    <a:pt x="286" y="71"/>
                  </a:lnTo>
                  <a:lnTo>
                    <a:pt x="301" y="71"/>
                  </a:lnTo>
                  <a:lnTo>
                    <a:pt x="301" y="64"/>
                  </a:lnTo>
                  <a:lnTo>
                    <a:pt x="286" y="64"/>
                  </a:lnTo>
                  <a:close/>
                  <a:moveTo>
                    <a:pt x="310" y="59"/>
                  </a:moveTo>
                  <a:lnTo>
                    <a:pt x="308" y="50"/>
                  </a:lnTo>
                  <a:lnTo>
                    <a:pt x="294" y="7"/>
                  </a:lnTo>
                  <a:lnTo>
                    <a:pt x="294" y="17"/>
                  </a:lnTo>
                  <a:lnTo>
                    <a:pt x="310" y="59"/>
                  </a:lnTo>
                  <a:close/>
                  <a:moveTo>
                    <a:pt x="5" y="7"/>
                  </a:moveTo>
                  <a:lnTo>
                    <a:pt x="5" y="0"/>
                  </a:lnTo>
                  <a:lnTo>
                    <a:pt x="294" y="7"/>
                  </a:lnTo>
                  <a:lnTo>
                    <a:pt x="294" y="12"/>
                  </a:lnTo>
                  <a:lnTo>
                    <a:pt x="5" y="7"/>
                  </a:lnTo>
                  <a:close/>
                  <a:moveTo>
                    <a:pt x="5" y="10"/>
                  </a:moveTo>
                  <a:lnTo>
                    <a:pt x="291" y="17"/>
                  </a:lnTo>
                  <a:lnTo>
                    <a:pt x="310" y="67"/>
                  </a:lnTo>
                  <a:lnTo>
                    <a:pt x="45" y="55"/>
                  </a:lnTo>
                  <a:lnTo>
                    <a:pt x="5" y="10"/>
                  </a:lnTo>
                  <a:close/>
                  <a:moveTo>
                    <a:pt x="310" y="71"/>
                  </a:moveTo>
                  <a:lnTo>
                    <a:pt x="294" y="90"/>
                  </a:lnTo>
                  <a:lnTo>
                    <a:pt x="291" y="238"/>
                  </a:lnTo>
                  <a:lnTo>
                    <a:pt x="310" y="202"/>
                  </a:lnTo>
                  <a:lnTo>
                    <a:pt x="310" y="71"/>
                  </a:lnTo>
                  <a:close/>
                  <a:moveTo>
                    <a:pt x="0" y="81"/>
                  </a:moveTo>
                  <a:lnTo>
                    <a:pt x="5" y="216"/>
                  </a:lnTo>
                  <a:lnTo>
                    <a:pt x="286" y="235"/>
                  </a:lnTo>
                  <a:lnTo>
                    <a:pt x="291" y="93"/>
                  </a:lnTo>
                  <a:lnTo>
                    <a:pt x="0" y="81"/>
                  </a:lnTo>
                  <a:close/>
                  <a:moveTo>
                    <a:pt x="357" y="121"/>
                  </a:moveTo>
                  <a:lnTo>
                    <a:pt x="357" y="124"/>
                  </a:lnTo>
                  <a:lnTo>
                    <a:pt x="350" y="124"/>
                  </a:lnTo>
                  <a:lnTo>
                    <a:pt x="350" y="119"/>
                  </a:lnTo>
                  <a:lnTo>
                    <a:pt x="357" y="121"/>
                  </a:lnTo>
                  <a:close/>
                  <a:moveTo>
                    <a:pt x="483" y="124"/>
                  </a:moveTo>
                  <a:lnTo>
                    <a:pt x="478" y="124"/>
                  </a:lnTo>
                  <a:lnTo>
                    <a:pt x="478" y="121"/>
                  </a:lnTo>
                  <a:lnTo>
                    <a:pt x="483" y="121"/>
                  </a:lnTo>
                  <a:lnTo>
                    <a:pt x="483" y="124"/>
                  </a:lnTo>
                  <a:close/>
                  <a:moveTo>
                    <a:pt x="521" y="81"/>
                  </a:moveTo>
                  <a:lnTo>
                    <a:pt x="357" y="78"/>
                  </a:lnTo>
                  <a:lnTo>
                    <a:pt x="343" y="121"/>
                  </a:lnTo>
                  <a:lnTo>
                    <a:pt x="483" y="121"/>
                  </a:lnTo>
                  <a:lnTo>
                    <a:pt x="492" y="121"/>
                  </a:lnTo>
                  <a:lnTo>
                    <a:pt x="521" y="81"/>
                  </a:lnTo>
                  <a:close/>
                </a:path>
              </a:pathLst>
            </a:custGeom>
            <a:noFill/>
            <a:ln w="14288" cap="rnd">
              <a:solidFill>
                <a:srgbClr val="0089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4" name="Freeform 156">
              <a:extLst>
                <a:ext uri="{FF2B5EF4-FFF2-40B4-BE49-F238E27FC236}">
                  <a16:creationId xmlns:a16="http://schemas.microsoft.com/office/drawing/2014/main" id="{65425659-55CA-487F-956F-37FBC076E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9930" y="4645678"/>
              <a:ext cx="608572" cy="289444"/>
            </a:xfrm>
            <a:custGeom>
              <a:avLst/>
              <a:gdLst>
                <a:gd name="T0" fmla="*/ 0 w 246"/>
                <a:gd name="T1" fmla="*/ 0 h 117"/>
                <a:gd name="T2" fmla="*/ 2 w 246"/>
                <a:gd name="T3" fmla="*/ 100 h 117"/>
                <a:gd name="T4" fmla="*/ 244 w 246"/>
                <a:gd name="T5" fmla="*/ 117 h 117"/>
                <a:gd name="T6" fmla="*/ 246 w 246"/>
                <a:gd name="T7" fmla="*/ 12 h 117"/>
                <a:gd name="T8" fmla="*/ 0 w 24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117">
                  <a:moveTo>
                    <a:pt x="0" y="0"/>
                  </a:moveTo>
                  <a:lnTo>
                    <a:pt x="2" y="100"/>
                  </a:lnTo>
                  <a:lnTo>
                    <a:pt x="244" y="117"/>
                  </a:lnTo>
                  <a:lnTo>
                    <a:pt x="246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9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5" name="Freeform 157">
              <a:extLst>
                <a:ext uri="{FF2B5EF4-FFF2-40B4-BE49-F238E27FC236}">
                  <a16:creationId xmlns:a16="http://schemas.microsoft.com/office/drawing/2014/main" id="{614EBF4F-5665-490C-8AA5-328090CAE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3103" y="4747108"/>
              <a:ext cx="341394" cy="188014"/>
            </a:xfrm>
            <a:custGeom>
              <a:avLst/>
              <a:gdLst>
                <a:gd name="T0" fmla="*/ 0 w 138"/>
                <a:gd name="T1" fmla="*/ 2 h 76"/>
                <a:gd name="T2" fmla="*/ 0 w 138"/>
                <a:gd name="T3" fmla="*/ 76 h 76"/>
                <a:gd name="T4" fmla="*/ 138 w 138"/>
                <a:gd name="T5" fmla="*/ 73 h 76"/>
                <a:gd name="T6" fmla="*/ 135 w 138"/>
                <a:gd name="T7" fmla="*/ 0 h 76"/>
                <a:gd name="T8" fmla="*/ 0 w 138"/>
                <a:gd name="T9" fmla="*/ 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76">
                  <a:moveTo>
                    <a:pt x="0" y="2"/>
                  </a:moveTo>
                  <a:lnTo>
                    <a:pt x="0" y="76"/>
                  </a:lnTo>
                  <a:lnTo>
                    <a:pt x="138" y="73"/>
                  </a:lnTo>
                  <a:lnTo>
                    <a:pt x="13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89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0A66347-19E0-4810-85CD-9AB1CF91FBAD}"/>
                </a:ext>
              </a:extLst>
            </p:cNvPr>
            <p:cNvSpPr txBox="1"/>
            <p:nvPr/>
          </p:nvSpPr>
          <p:spPr>
            <a:xfrm>
              <a:off x="6147260" y="5207806"/>
              <a:ext cx="228338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Primary Health Centre 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ILR +2° to 8°C &amp; 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All Vaccines in ILR</a:t>
              </a:r>
            </a:p>
          </p:txBody>
        </p:sp>
      </p:grpSp>
      <p:grpSp>
        <p:nvGrpSpPr>
          <p:cNvPr id="154" name="Group 166">
            <a:extLst>
              <a:ext uri="{FF2B5EF4-FFF2-40B4-BE49-F238E27FC236}">
                <a16:creationId xmlns:a16="http://schemas.microsoft.com/office/drawing/2014/main" id="{831C7A6A-9373-4DE7-9C8C-180A5B994DAC}"/>
              </a:ext>
            </a:extLst>
          </p:cNvPr>
          <p:cNvGrpSpPr/>
          <p:nvPr/>
        </p:nvGrpSpPr>
        <p:grpSpPr>
          <a:xfrm>
            <a:off x="7985507" y="4425647"/>
            <a:ext cx="1925347" cy="1384103"/>
            <a:chOff x="8376124" y="4470034"/>
            <a:chExt cx="1925347" cy="1384103"/>
          </a:xfrm>
        </p:grpSpPr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FF9D656A-2DB8-4072-8D6C-65E0057CC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5232" y="4586305"/>
              <a:ext cx="111325" cy="217701"/>
            </a:xfrm>
            <a:custGeom>
              <a:avLst/>
              <a:gdLst>
                <a:gd name="T0" fmla="*/ 45 w 45"/>
                <a:gd name="T1" fmla="*/ 0 h 88"/>
                <a:gd name="T2" fmla="*/ 0 w 45"/>
                <a:gd name="T3" fmla="*/ 43 h 88"/>
                <a:gd name="T4" fmla="*/ 45 w 45"/>
                <a:gd name="T5" fmla="*/ 88 h 88"/>
                <a:gd name="T6" fmla="*/ 45 w 45"/>
                <a:gd name="T7" fmla="*/ 60 h 88"/>
                <a:gd name="T8" fmla="*/ 30 w 45"/>
                <a:gd name="T9" fmla="*/ 60 h 88"/>
                <a:gd name="T10" fmla="*/ 30 w 45"/>
                <a:gd name="T11" fmla="*/ 29 h 88"/>
                <a:gd name="T12" fmla="*/ 45 w 45"/>
                <a:gd name="T13" fmla="*/ 29 h 88"/>
                <a:gd name="T14" fmla="*/ 45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45" y="0"/>
                  </a:moveTo>
                  <a:lnTo>
                    <a:pt x="0" y="43"/>
                  </a:lnTo>
                  <a:lnTo>
                    <a:pt x="45" y="88"/>
                  </a:lnTo>
                  <a:lnTo>
                    <a:pt x="45" y="60"/>
                  </a:lnTo>
                  <a:lnTo>
                    <a:pt x="30" y="60"/>
                  </a:lnTo>
                  <a:lnTo>
                    <a:pt x="30" y="29"/>
                  </a:lnTo>
                  <a:lnTo>
                    <a:pt x="45" y="29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B2204FE-5C7F-4462-A17F-D415E8F1B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5232" y="4586305"/>
              <a:ext cx="111325" cy="217701"/>
            </a:xfrm>
            <a:custGeom>
              <a:avLst/>
              <a:gdLst>
                <a:gd name="T0" fmla="*/ 45 w 45"/>
                <a:gd name="T1" fmla="*/ 0 h 88"/>
                <a:gd name="T2" fmla="*/ 0 w 45"/>
                <a:gd name="T3" fmla="*/ 43 h 88"/>
                <a:gd name="T4" fmla="*/ 45 w 45"/>
                <a:gd name="T5" fmla="*/ 88 h 88"/>
                <a:gd name="T6" fmla="*/ 45 w 45"/>
                <a:gd name="T7" fmla="*/ 60 h 88"/>
                <a:gd name="T8" fmla="*/ 30 w 45"/>
                <a:gd name="T9" fmla="*/ 60 h 88"/>
                <a:gd name="T10" fmla="*/ 30 w 45"/>
                <a:gd name="T11" fmla="*/ 29 h 88"/>
                <a:gd name="T12" fmla="*/ 45 w 45"/>
                <a:gd name="T13" fmla="*/ 29 h 88"/>
                <a:gd name="T14" fmla="*/ 45 w 45"/>
                <a:gd name="T1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88">
                  <a:moveTo>
                    <a:pt x="45" y="0"/>
                  </a:moveTo>
                  <a:lnTo>
                    <a:pt x="0" y="43"/>
                  </a:lnTo>
                  <a:lnTo>
                    <a:pt x="45" y="88"/>
                  </a:lnTo>
                  <a:lnTo>
                    <a:pt x="45" y="60"/>
                  </a:lnTo>
                  <a:lnTo>
                    <a:pt x="30" y="60"/>
                  </a:lnTo>
                  <a:lnTo>
                    <a:pt x="30" y="29"/>
                  </a:lnTo>
                  <a:lnTo>
                    <a:pt x="45" y="29"/>
                  </a:lnTo>
                  <a:lnTo>
                    <a:pt x="4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0" name="Rectangle 39">
              <a:extLst>
                <a:ext uri="{FF2B5EF4-FFF2-40B4-BE49-F238E27FC236}">
                  <a16:creationId xmlns:a16="http://schemas.microsoft.com/office/drawing/2014/main" id="{29E8EC62-5400-46D9-839A-BDEF8CDC1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6557" y="4658048"/>
              <a:ext cx="244914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1" name="Rectangle 40">
              <a:extLst>
                <a:ext uri="{FF2B5EF4-FFF2-40B4-BE49-F238E27FC236}">
                  <a16:creationId xmlns:a16="http://schemas.microsoft.com/office/drawing/2014/main" id="{FAB68FBF-776A-4E53-ACEF-6BAA993EA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6557" y="4658048"/>
              <a:ext cx="244914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2" name="Rectangle 41">
              <a:extLst>
                <a:ext uri="{FF2B5EF4-FFF2-40B4-BE49-F238E27FC236}">
                  <a16:creationId xmlns:a16="http://schemas.microsoft.com/office/drawing/2014/main" id="{B557029F-561E-44A0-92A0-4399D134F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9448" y="4658048"/>
              <a:ext cx="37109" cy="76691"/>
            </a:xfrm>
            <a:prstGeom prst="rect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3" name="Rectangle 42">
              <a:extLst>
                <a:ext uri="{FF2B5EF4-FFF2-40B4-BE49-F238E27FC236}">
                  <a16:creationId xmlns:a16="http://schemas.microsoft.com/office/drawing/2014/main" id="{F76F665F-257A-4967-83A7-4E11534E1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9448" y="4658048"/>
              <a:ext cx="37109" cy="76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4" name="Freeform 167">
              <a:extLst>
                <a:ext uri="{FF2B5EF4-FFF2-40B4-BE49-F238E27FC236}">
                  <a16:creationId xmlns:a16="http://schemas.microsoft.com/office/drawing/2014/main" id="{8EF8222A-0E1C-459A-B9E6-73772B2A7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8925" y="4781742"/>
              <a:ext cx="64321" cy="51952"/>
            </a:xfrm>
            <a:custGeom>
              <a:avLst/>
              <a:gdLst>
                <a:gd name="T0" fmla="*/ 0 w 26"/>
                <a:gd name="T1" fmla="*/ 12 h 21"/>
                <a:gd name="T2" fmla="*/ 0 w 26"/>
                <a:gd name="T3" fmla="*/ 7 h 21"/>
                <a:gd name="T4" fmla="*/ 2 w 26"/>
                <a:gd name="T5" fmla="*/ 5 h 21"/>
                <a:gd name="T6" fmla="*/ 5 w 26"/>
                <a:gd name="T7" fmla="*/ 2 h 21"/>
                <a:gd name="T8" fmla="*/ 7 w 26"/>
                <a:gd name="T9" fmla="*/ 0 h 21"/>
                <a:gd name="T10" fmla="*/ 9 w 26"/>
                <a:gd name="T11" fmla="*/ 0 h 21"/>
                <a:gd name="T12" fmla="*/ 17 w 26"/>
                <a:gd name="T13" fmla="*/ 0 h 21"/>
                <a:gd name="T14" fmla="*/ 19 w 26"/>
                <a:gd name="T15" fmla="*/ 0 h 21"/>
                <a:gd name="T16" fmla="*/ 21 w 26"/>
                <a:gd name="T17" fmla="*/ 2 h 21"/>
                <a:gd name="T18" fmla="*/ 24 w 26"/>
                <a:gd name="T19" fmla="*/ 5 h 21"/>
                <a:gd name="T20" fmla="*/ 26 w 26"/>
                <a:gd name="T21" fmla="*/ 7 h 21"/>
                <a:gd name="T22" fmla="*/ 26 w 26"/>
                <a:gd name="T23" fmla="*/ 14 h 21"/>
                <a:gd name="T24" fmla="*/ 24 w 26"/>
                <a:gd name="T25" fmla="*/ 16 h 21"/>
                <a:gd name="T26" fmla="*/ 21 w 26"/>
                <a:gd name="T27" fmla="*/ 19 h 21"/>
                <a:gd name="T28" fmla="*/ 19 w 26"/>
                <a:gd name="T29" fmla="*/ 21 h 21"/>
                <a:gd name="T30" fmla="*/ 17 w 26"/>
                <a:gd name="T31" fmla="*/ 21 h 21"/>
                <a:gd name="T32" fmla="*/ 9 w 26"/>
                <a:gd name="T33" fmla="*/ 21 h 21"/>
                <a:gd name="T34" fmla="*/ 7 w 26"/>
                <a:gd name="T35" fmla="*/ 21 h 21"/>
                <a:gd name="T36" fmla="*/ 5 w 26"/>
                <a:gd name="T37" fmla="*/ 19 h 21"/>
                <a:gd name="T38" fmla="*/ 2 w 26"/>
                <a:gd name="T39" fmla="*/ 16 h 21"/>
                <a:gd name="T40" fmla="*/ 0 w 26"/>
                <a:gd name="T41" fmla="*/ 14 h 21"/>
                <a:gd name="T42" fmla="*/ 0 w 26"/>
                <a:gd name="T43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21">
                  <a:moveTo>
                    <a:pt x="0" y="12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5" y="2"/>
                  </a:lnTo>
                  <a:lnTo>
                    <a:pt x="7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5"/>
                  </a:lnTo>
                  <a:lnTo>
                    <a:pt x="26" y="7"/>
                  </a:lnTo>
                  <a:lnTo>
                    <a:pt x="26" y="14"/>
                  </a:lnTo>
                  <a:lnTo>
                    <a:pt x="24" y="16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17" y="21"/>
                  </a:lnTo>
                  <a:lnTo>
                    <a:pt x="9" y="21"/>
                  </a:lnTo>
                  <a:lnTo>
                    <a:pt x="7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5" name="Freeform 168">
              <a:extLst>
                <a:ext uri="{FF2B5EF4-FFF2-40B4-BE49-F238E27FC236}">
                  <a16:creationId xmlns:a16="http://schemas.microsoft.com/office/drawing/2014/main" id="{D3C8BE31-9D3C-4FA1-BA4E-432037331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6032" y="4774319"/>
              <a:ext cx="111325" cy="54425"/>
            </a:xfrm>
            <a:custGeom>
              <a:avLst/>
              <a:gdLst>
                <a:gd name="T0" fmla="*/ 12 w 45"/>
                <a:gd name="T1" fmla="*/ 0 h 22"/>
                <a:gd name="T2" fmla="*/ 12 w 45"/>
                <a:gd name="T3" fmla="*/ 15 h 22"/>
                <a:gd name="T4" fmla="*/ 31 w 45"/>
                <a:gd name="T5" fmla="*/ 15 h 22"/>
                <a:gd name="T6" fmla="*/ 31 w 45"/>
                <a:gd name="T7" fmla="*/ 0 h 22"/>
                <a:gd name="T8" fmla="*/ 45 w 45"/>
                <a:gd name="T9" fmla="*/ 22 h 22"/>
                <a:gd name="T10" fmla="*/ 0 w 45"/>
                <a:gd name="T11" fmla="*/ 22 h 22"/>
                <a:gd name="T12" fmla="*/ 12 w 45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22">
                  <a:moveTo>
                    <a:pt x="12" y="0"/>
                  </a:moveTo>
                  <a:lnTo>
                    <a:pt x="12" y="15"/>
                  </a:lnTo>
                  <a:lnTo>
                    <a:pt x="31" y="15"/>
                  </a:lnTo>
                  <a:lnTo>
                    <a:pt x="31" y="0"/>
                  </a:lnTo>
                  <a:lnTo>
                    <a:pt x="45" y="22"/>
                  </a:lnTo>
                  <a:lnTo>
                    <a:pt x="0" y="2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6" name="Freeform 169">
              <a:extLst>
                <a:ext uri="{FF2B5EF4-FFF2-40B4-BE49-F238E27FC236}">
                  <a16:creationId xmlns:a16="http://schemas.microsoft.com/office/drawing/2014/main" id="{A4AE4303-FF02-446D-8813-179AAE5B2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2583" y="4512089"/>
              <a:ext cx="299339" cy="380976"/>
            </a:xfrm>
            <a:custGeom>
              <a:avLst/>
              <a:gdLst>
                <a:gd name="T0" fmla="*/ 15 w 121"/>
                <a:gd name="T1" fmla="*/ 66 h 154"/>
                <a:gd name="T2" fmla="*/ 15 w 121"/>
                <a:gd name="T3" fmla="*/ 71 h 154"/>
                <a:gd name="T4" fmla="*/ 22 w 121"/>
                <a:gd name="T5" fmla="*/ 71 h 154"/>
                <a:gd name="T6" fmla="*/ 22 w 121"/>
                <a:gd name="T7" fmla="*/ 59 h 154"/>
                <a:gd name="T8" fmla="*/ 24 w 121"/>
                <a:gd name="T9" fmla="*/ 47 h 154"/>
                <a:gd name="T10" fmla="*/ 24 w 121"/>
                <a:gd name="T11" fmla="*/ 2 h 154"/>
                <a:gd name="T12" fmla="*/ 24 w 121"/>
                <a:gd name="T13" fmla="*/ 0 h 154"/>
                <a:gd name="T14" fmla="*/ 24 w 121"/>
                <a:gd name="T15" fmla="*/ 2 h 154"/>
                <a:gd name="T16" fmla="*/ 121 w 121"/>
                <a:gd name="T17" fmla="*/ 154 h 154"/>
                <a:gd name="T18" fmla="*/ 114 w 121"/>
                <a:gd name="T19" fmla="*/ 149 h 154"/>
                <a:gd name="T20" fmla="*/ 109 w 121"/>
                <a:gd name="T21" fmla="*/ 142 h 154"/>
                <a:gd name="T22" fmla="*/ 107 w 121"/>
                <a:gd name="T23" fmla="*/ 133 h 154"/>
                <a:gd name="T24" fmla="*/ 5 w 121"/>
                <a:gd name="T25" fmla="*/ 133 h 154"/>
                <a:gd name="T26" fmla="*/ 5 w 121"/>
                <a:gd name="T27" fmla="*/ 135 h 154"/>
                <a:gd name="T28" fmla="*/ 0 w 121"/>
                <a:gd name="T29" fmla="*/ 144 h 154"/>
                <a:gd name="T30" fmla="*/ 3 w 121"/>
                <a:gd name="T31" fmla="*/ 59 h 154"/>
                <a:gd name="T32" fmla="*/ 3 w 121"/>
                <a:gd name="T33" fmla="*/ 66 h 154"/>
                <a:gd name="T34" fmla="*/ 15 w 121"/>
                <a:gd name="T35" fmla="*/ 6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" h="154">
                  <a:moveTo>
                    <a:pt x="15" y="66"/>
                  </a:moveTo>
                  <a:lnTo>
                    <a:pt x="15" y="71"/>
                  </a:lnTo>
                  <a:lnTo>
                    <a:pt x="22" y="71"/>
                  </a:lnTo>
                  <a:lnTo>
                    <a:pt x="22" y="59"/>
                  </a:lnTo>
                  <a:lnTo>
                    <a:pt x="24" y="47"/>
                  </a:lnTo>
                  <a:lnTo>
                    <a:pt x="24" y="2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121" y="154"/>
                  </a:lnTo>
                  <a:lnTo>
                    <a:pt x="114" y="149"/>
                  </a:lnTo>
                  <a:lnTo>
                    <a:pt x="109" y="142"/>
                  </a:lnTo>
                  <a:lnTo>
                    <a:pt x="107" y="133"/>
                  </a:lnTo>
                  <a:lnTo>
                    <a:pt x="5" y="133"/>
                  </a:lnTo>
                  <a:lnTo>
                    <a:pt x="5" y="135"/>
                  </a:lnTo>
                  <a:lnTo>
                    <a:pt x="0" y="144"/>
                  </a:lnTo>
                  <a:lnTo>
                    <a:pt x="3" y="59"/>
                  </a:lnTo>
                  <a:lnTo>
                    <a:pt x="3" y="66"/>
                  </a:lnTo>
                  <a:lnTo>
                    <a:pt x="15" y="66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7" name="Freeform 170">
              <a:extLst>
                <a:ext uri="{FF2B5EF4-FFF2-40B4-BE49-F238E27FC236}">
                  <a16:creationId xmlns:a16="http://schemas.microsoft.com/office/drawing/2014/main" id="{4A76A6BC-405A-444A-95B6-5C9139AB8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2514" y="4781742"/>
              <a:ext cx="131116" cy="86586"/>
            </a:xfrm>
            <a:custGeom>
              <a:avLst/>
              <a:gdLst>
                <a:gd name="T0" fmla="*/ 41 w 53"/>
                <a:gd name="T1" fmla="*/ 26 h 35"/>
                <a:gd name="T2" fmla="*/ 41 w 53"/>
                <a:gd name="T3" fmla="*/ 9 h 35"/>
                <a:gd name="T4" fmla="*/ 36 w 53"/>
                <a:gd name="T5" fmla="*/ 0 h 35"/>
                <a:gd name="T6" fmla="*/ 53 w 53"/>
                <a:gd name="T7" fmla="*/ 0 h 35"/>
                <a:gd name="T8" fmla="*/ 53 w 53"/>
                <a:gd name="T9" fmla="*/ 35 h 35"/>
                <a:gd name="T10" fmla="*/ 0 w 53"/>
                <a:gd name="T11" fmla="*/ 35 h 35"/>
                <a:gd name="T12" fmla="*/ 17 w 53"/>
                <a:gd name="T13" fmla="*/ 26 h 35"/>
                <a:gd name="T14" fmla="*/ 41 w 53"/>
                <a:gd name="T15" fmla="*/ 26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" h="35">
                  <a:moveTo>
                    <a:pt x="41" y="26"/>
                  </a:moveTo>
                  <a:lnTo>
                    <a:pt x="41" y="9"/>
                  </a:lnTo>
                  <a:lnTo>
                    <a:pt x="36" y="0"/>
                  </a:lnTo>
                  <a:lnTo>
                    <a:pt x="53" y="0"/>
                  </a:lnTo>
                  <a:lnTo>
                    <a:pt x="53" y="35"/>
                  </a:lnTo>
                  <a:lnTo>
                    <a:pt x="0" y="35"/>
                  </a:lnTo>
                  <a:lnTo>
                    <a:pt x="17" y="26"/>
                  </a:lnTo>
                  <a:lnTo>
                    <a:pt x="41" y="26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8" name="Freeform 171">
              <a:extLst>
                <a:ext uri="{FF2B5EF4-FFF2-40B4-BE49-F238E27FC236}">
                  <a16:creationId xmlns:a16="http://schemas.microsoft.com/office/drawing/2014/main" id="{2CE921C5-EBD4-40A7-9F4D-B4A814077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6032" y="4470034"/>
              <a:ext cx="907912" cy="474983"/>
            </a:xfrm>
            <a:custGeom>
              <a:avLst/>
              <a:gdLst>
                <a:gd name="T0" fmla="*/ 48 w 155"/>
                <a:gd name="T1" fmla="*/ 61 h 81"/>
                <a:gd name="T2" fmla="*/ 49 w 155"/>
                <a:gd name="T3" fmla="*/ 57 h 81"/>
                <a:gd name="T4" fmla="*/ 51 w 155"/>
                <a:gd name="T5" fmla="*/ 73 h 81"/>
                <a:gd name="T6" fmla="*/ 13 w 155"/>
                <a:gd name="T7" fmla="*/ 52 h 81"/>
                <a:gd name="T8" fmla="*/ 0 w 155"/>
                <a:gd name="T9" fmla="*/ 61 h 81"/>
                <a:gd name="T10" fmla="*/ 6 w 155"/>
                <a:gd name="T11" fmla="*/ 50 h 81"/>
                <a:gd name="T12" fmla="*/ 3 w 155"/>
                <a:gd name="T13" fmla="*/ 35 h 81"/>
                <a:gd name="T14" fmla="*/ 6 w 155"/>
                <a:gd name="T15" fmla="*/ 32 h 81"/>
                <a:gd name="T16" fmla="*/ 9 w 155"/>
                <a:gd name="T17" fmla="*/ 29 h 81"/>
                <a:gd name="T18" fmla="*/ 29 w 155"/>
                <a:gd name="T19" fmla="*/ 24 h 81"/>
                <a:gd name="T20" fmla="*/ 39 w 155"/>
                <a:gd name="T21" fmla="*/ 5 h 81"/>
                <a:gd name="T22" fmla="*/ 46 w 155"/>
                <a:gd name="T23" fmla="*/ 1 h 81"/>
                <a:gd name="T24" fmla="*/ 152 w 155"/>
                <a:gd name="T25" fmla="*/ 0 h 81"/>
                <a:gd name="T26" fmla="*/ 153 w 155"/>
                <a:gd name="T27" fmla="*/ 53 h 81"/>
                <a:gd name="T28" fmla="*/ 145 w 155"/>
                <a:gd name="T29" fmla="*/ 57 h 81"/>
                <a:gd name="T30" fmla="*/ 138 w 155"/>
                <a:gd name="T31" fmla="*/ 68 h 81"/>
                <a:gd name="T32" fmla="*/ 135 w 155"/>
                <a:gd name="T33" fmla="*/ 72 h 81"/>
                <a:gd name="T34" fmla="*/ 128 w 155"/>
                <a:gd name="T35" fmla="*/ 76 h 81"/>
                <a:gd name="T36" fmla="*/ 121 w 155"/>
                <a:gd name="T37" fmla="*/ 77 h 81"/>
                <a:gd name="T38" fmla="*/ 128 w 155"/>
                <a:gd name="T39" fmla="*/ 64 h 81"/>
                <a:gd name="T40" fmla="*/ 131 w 155"/>
                <a:gd name="T41" fmla="*/ 58 h 81"/>
                <a:gd name="T42" fmla="*/ 130 w 155"/>
                <a:gd name="T43" fmla="*/ 54 h 81"/>
                <a:gd name="T44" fmla="*/ 128 w 155"/>
                <a:gd name="T45" fmla="*/ 51 h 81"/>
                <a:gd name="T46" fmla="*/ 121 w 155"/>
                <a:gd name="T47" fmla="*/ 48 h 81"/>
                <a:gd name="T48" fmla="*/ 111 w 155"/>
                <a:gd name="T49" fmla="*/ 61 h 81"/>
                <a:gd name="T50" fmla="*/ 114 w 155"/>
                <a:gd name="T51" fmla="*/ 65 h 81"/>
                <a:gd name="T52" fmla="*/ 108 w 155"/>
                <a:gd name="T53" fmla="*/ 73 h 81"/>
                <a:gd name="T54" fmla="*/ 66 w 155"/>
                <a:gd name="T55" fmla="*/ 7 h 81"/>
                <a:gd name="T56" fmla="*/ 49 w 155"/>
                <a:gd name="T57" fmla="*/ 6 h 81"/>
                <a:gd name="T58" fmla="*/ 46 w 155"/>
                <a:gd name="T59" fmla="*/ 7 h 81"/>
                <a:gd name="T60" fmla="*/ 43 w 155"/>
                <a:gd name="T61" fmla="*/ 10 h 81"/>
                <a:gd name="T62" fmla="*/ 34 w 155"/>
                <a:gd name="T63" fmla="*/ 27 h 81"/>
                <a:gd name="T64" fmla="*/ 65 w 155"/>
                <a:gd name="T65" fmla="*/ 32 h 81"/>
                <a:gd name="T66" fmla="*/ 56 w 155"/>
                <a:gd name="T67" fmla="*/ 68 h 81"/>
                <a:gd name="T68" fmla="*/ 46 w 155"/>
                <a:gd name="T69" fmla="*/ 51 h 81"/>
                <a:gd name="T70" fmla="*/ 43 w 155"/>
                <a:gd name="T71" fmla="*/ 49 h 81"/>
                <a:gd name="T72" fmla="*/ 39 w 155"/>
                <a:gd name="T73" fmla="*/ 48 h 81"/>
                <a:gd name="T74" fmla="*/ 32 w 155"/>
                <a:gd name="T75" fmla="*/ 51 h 81"/>
                <a:gd name="T76" fmla="*/ 29 w 155"/>
                <a:gd name="T77" fmla="*/ 54 h 81"/>
                <a:gd name="T78" fmla="*/ 29 w 155"/>
                <a:gd name="T79" fmla="*/ 58 h 81"/>
                <a:gd name="T80" fmla="*/ 32 w 155"/>
                <a:gd name="T81" fmla="*/ 64 h 81"/>
                <a:gd name="T82" fmla="*/ 35 w 155"/>
                <a:gd name="T83" fmla="*/ 67 h 81"/>
                <a:gd name="T84" fmla="*/ 39 w 155"/>
                <a:gd name="T85" fmla="*/ 67 h 81"/>
                <a:gd name="T86" fmla="*/ 46 w 155"/>
                <a:gd name="T87" fmla="*/ 64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5" h="81">
                  <a:moveTo>
                    <a:pt x="46" y="64"/>
                  </a:moveTo>
                  <a:cubicBezTo>
                    <a:pt x="48" y="61"/>
                    <a:pt x="48" y="61"/>
                    <a:pt x="48" y="61"/>
                  </a:cubicBezTo>
                  <a:cubicBezTo>
                    <a:pt x="49" y="58"/>
                    <a:pt x="49" y="58"/>
                    <a:pt x="49" y="58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54" y="71"/>
                    <a:pt x="54" y="71"/>
                    <a:pt x="54" y="71"/>
                  </a:cubicBezTo>
                  <a:cubicBezTo>
                    <a:pt x="51" y="73"/>
                    <a:pt x="51" y="73"/>
                    <a:pt x="51" y="73"/>
                  </a:cubicBezTo>
                  <a:cubicBezTo>
                    <a:pt x="39" y="81"/>
                    <a:pt x="22" y="76"/>
                    <a:pt x="19" y="61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29" y="24"/>
                    <a:pt x="29" y="24"/>
                    <a:pt x="29" y="2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3" y="1"/>
                    <a:pt x="153" y="1"/>
                    <a:pt x="153" y="1"/>
                  </a:cubicBezTo>
                  <a:cubicBezTo>
                    <a:pt x="153" y="53"/>
                    <a:pt x="153" y="53"/>
                    <a:pt x="153" y="53"/>
                  </a:cubicBezTo>
                  <a:cubicBezTo>
                    <a:pt x="155" y="57"/>
                    <a:pt x="155" y="57"/>
                    <a:pt x="155" y="57"/>
                  </a:cubicBezTo>
                  <a:cubicBezTo>
                    <a:pt x="145" y="57"/>
                    <a:pt x="145" y="57"/>
                    <a:pt x="145" y="57"/>
                  </a:cubicBezTo>
                  <a:cubicBezTo>
                    <a:pt x="145" y="64"/>
                    <a:pt x="145" y="64"/>
                    <a:pt x="145" y="64"/>
                  </a:cubicBezTo>
                  <a:cubicBezTo>
                    <a:pt x="138" y="68"/>
                    <a:pt x="138" y="68"/>
                    <a:pt x="138" y="68"/>
                  </a:cubicBezTo>
                  <a:cubicBezTo>
                    <a:pt x="138" y="69"/>
                    <a:pt x="138" y="69"/>
                    <a:pt x="138" y="69"/>
                  </a:cubicBezTo>
                  <a:cubicBezTo>
                    <a:pt x="135" y="72"/>
                    <a:pt x="135" y="72"/>
                    <a:pt x="135" y="72"/>
                  </a:cubicBezTo>
                  <a:cubicBezTo>
                    <a:pt x="132" y="74"/>
                    <a:pt x="132" y="74"/>
                    <a:pt x="132" y="74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1" y="77"/>
                    <a:pt x="121" y="77"/>
                    <a:pt x="121" y="77"/>
                  </a:cubicBezTo>
                  <a:cubicBezTo>
                    <a:pt x="124" y="67"/>
                    <a:pt x="124" y="67"/>
                    <a:pt x="124" y="67"/>
                  </a:cubicBezTo>
                  <a:cubicBezTo>
                    <a:pt x="128" y="64"/>
                    <a:pt x="128" y="64"/>
                    <a:pt x="128" y="64"/>
                  </a:cubicBezTo>
                  <a:cubicBezTo>
                    <a:pt x="130" y="61"/>
                    <a:pt x="130" y="61"/>
                    <a:pt x="130" y="61"/>
                  </a:cubicBezTo>
                  <a:cubicBezTo>
                    <a:pt x="131" y="58"/>
                    <a:pt x="131" y="58"/>
                    <a:pt x="131" y="58"/>
                  </a:cubicBezTo>
                  <a:cubicBezTo>
                    <a:pt x="131" y="58"/>
                    <a:pt x="131" y="58"/>
                    <a:pt x="131" y="58"/>
                  </a:cubicBezTo>
                  <a:cubicBezTo>
                    <a:pt x="130" y="54"/>
                    <a:pt x="130" y="54"/>
                    <a:pt x="130" y="54"/>
                  </a:cubicBezTo>
                  <a:cubicBezTo>
                    <a:pt x="128" y="51"/>
                    <a:pt x="128" y="51"/>
                    <a:pt x="128" y="51"/>
                  </a:cubicBezTo>
                  <a:cubicBezTo>
                    <a:pt x="128" y="51"/>
                    <a:pt x="128" y="51"/>
                    <a:pt x="128" y="51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1" y="48"/>
                    <a:pt x="121" y="48"/>
                    <a:pt x="121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13" y="49"/>
                    <a:pt x="108" y="55"/>
                    <a:pt x="111" y="61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114" y="65"/>
                    <a:pt x="114" y="65"/>
                    <a:pt x="114" y="65"/>
                  </a:cubicBezTo>
                  <a:cubicBezTo>
                    <a:pt x="111" y="75"/>
                    <a:pt x="111" y="75"/>
                    <a:pt x="111" y="75"/>
                  </a:cubicBezTo>
                  <a:cubicBezTo>
                    <a:pt x="108" y="73"/>
                    <a:pt x="108" y="73"/>
                    <a:pt x="108" y="73"/>
                  </a:cubicBezTo>
                  <a:cubicBezTo>
                    <a:pt x="107" y="72"/>
                    <a:pt x="107" y="72"/>
                    <a:pt x="107" y="72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66" y="27"/>
                    <a:pt x="66" y="27"/>
                    <a:pt x="66" y="27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57" y="32"/>
                    <a:pt x="57" y="32"/>
                    <a:pt x="57" y="32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3" y="67"/>
                    <a:pt x="43" y="67"/>
                    <a:pt x="43" y="67"/>
                  </a:cubicBezTo>
                  <a:lnTo>
                    <a:pt x="46" y="64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9" name="Freeform 172">
              <a:extLst>
                <a:ext uri="{FF2B5EF4-FFF2-40B4-BE49-F238E27FC236}">
                  <a16:creationId xmlns:a16="http://schemas.microsoft.com/office/drawing/2014/main" id="{759600A1-00F6-424D-896D-11B8F44C9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5579" y="4786689"/>
              <a:ext cx="47004" cy="101430"/>
            </a:xfrm>
            <a:custGeom>
              <a:avLst/>
              <a:gdLst>
                <a:gd name="T0" fmla="*/ 0 w 19"/>
                <a:gd name="T1" fmla="*/ 0 h 41"/>
                <a:gd name="T2" fmla="*/ 19 w 19"/>
                <a:gd name="T3" fmla="*/ 33 h 41"/>
                <a:gd name="T4" fmla="*/ 15 w 19"/>
                <a:gd name="T5" fmla="*/ 41 h 41"/>
                <a:gd name="T6" fmla="*/ 3 w 19"/>
                <a:gd name="T7" fmla="*/ 7 h 41"/>
                <a:gd name="T8" fmla="*/ 0 w 19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1">
                  <a:moveTo>
                    <a:pt x="0" y="0"/>
                  </a:moveTo>
                  <a:lnTo>
                    <a:pt x="19" y="33"/>
                  </a:lnTo>
                  <a:lnTo>
                    <a:pt x="15" y="41"/>
                  </a:lnTo>
                  <a:lnTo>
                    <a:pt x="3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0" name="Freeform 173">
              <a:extLst>
                <a:ext uri="{FF2B5EF4-FFF2-40B4-BE49-F238E27FC236}">
                  <a16:creationId xmlns:a16="http://schemas.microsoft.com/office/drawing/2014/main" id="{36C35F33-C6AF-4F05-96FE-18014C521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6659" y="4851010"/>
              <a:ext cx="74216" cy="71743"/>
            </a:xfrm>
            <a:custGeom>
              <a:avLst/>
              <a:gdLst>
                <a:gd name="T0" fmla="*/ 0 w 30"/>
                <a:gd name="T1" fmla="*/ 24 h 29"/>
                <a:gd name="T2" fmla="*/ 7 w 30"/>
                <a:gd name="T3" fmla="*/ 0 h 29"/>
                <a:gd name="T4" fmla="*/ 14 w 30"/>
                <a:gd name="T5" fmla="*/ 5 h 29"/>
                <a:gd name="T6" fmla="*/ 23 w 30"/>
                <a:gd name="T7" fmla="*/ 5 h 29"/>
                <a:gd name="T8" fmla="*/ 23 w 30"/>
                <a:gd name="T9" fmla="*/ 5 h 29"/>
                <a:gd name="T10" fmla="*/ 30 w 30"/>
                <a:gd name="T11" fmla="*/ 5 h 29"/>
                <a:gd name="T12" fmla="*/ 23 w 30"/>
                <a:gd name="T13" fmla="*/ 29 h 29"/>
                <a:gd name="T14" fmla="*/ 18 w 30"/>
                <a:gd name="T15" fmla="*/ 29 h 29"/>
                <a:gd name="T16" fmla="*/ 9 w 30"/>
                <a:gd name="T17" fmla="*/ 26 h 29"/>
                <a:gd name="T18" fmla="*/ 0 w 30"/>
                <a:gd name="T19" fmla="*/ 2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29">
                  <a:moveTo>
                    <a:pt x="0" y="24"/>
                  </a:moveTo>
                  <a:lnTo>
                    <a:pt x="7" y="0"/>
                  </a:lnTo>
                  <a:lnTo>
                    <a:pt x="14" y="5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30" y="5"/>
                  </a:lnTo>
                  <a:lnTo>
                    <a:pt x="23" y="29"/>
                  </a:lnTo>
                  <a:lnTo>
                    <a:pt x="18" y="29"/>
                  </a:lnTo>
                  <a:lnTo>
                    <a:pt x="9" y="26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1" name="Freeform 174">
              <a:extLst>
                <a:ext uri="{FF2B5EF4-FFF2-40B4-BE49-F238E27FC236}">
                  <a16:creationId xmlns:a16="http://schemas.microsoft.com/office/drawing/2014/main" id="{8EBDE63E-CF2E-4C17-8F87-C8CB0395E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3942" y="4781742"/>
              <a:ext cx="59373" cy="51952"/>
            </a:xfrm>
            <a:custGeom>
              <a:avLst/>
              <a:gdLst>
                <a:gd name="T0" fmla="*/ 0 w 24"/>
                <a:gd name="T1" fmla="*/ 12 h 21"/>
                <a:gd name="T2" fmla="*/ 0 w 24"/>
                <a:gd name="T3" fmla="*/ 7 h 21"/>
                <a:gd name="T4" fmla="*/ 0 w 24"/>
                <a:gd name="T5" fmla="*/ 5 h 21"/>
                <a:gd name="T6" fmla="*/ 3 w 24"/>
                <a:gd name="T7" fmla="*/ 2 h 21"/>
                <a:gd name="T8" fmla="*/ 5 w 24"/>
                <a:gd name="T9" fmla="*/ 0 h 21"/>
                <a:gd name="T10" fmla="*/ 10 w 24"/>
                <a:gd name="T11" fmla="*/ 0 h 21"/>
                <a:gd name="T12" fmla="*/ 15 w 24"/>
                <a:gd name="T13" fmla="*/ 0 h 21"/>
                <a:gd name="T14" fmla="*/ 19 w 24"/>
                <a:gd name="T15" fmla="*/ 0 h 21"/>
                <a:gd name="T16" fmla="*/ 22 w 24"/>
                <a:gd name="T17" fmla="*/ 2 h 21"/>
                <a:gd name="T18" fmla="*/ 22 w 24"/>
                <a:gd name="T19" fmla="*/ 5 h 21"/>
                <a:gd name="T20" fmla="*/ 24 w 24"/>
                <a:gd name="T21" fmla="*/ 7 h 21"/>
                <a:gd name="T22" fmla="*/ 24 w 24"/>
                <a:gd name="T23" fmla="*/ 14 h 21"/>
                <a:gd name="T24" fmla="*/ 22 w 24"/>
                <a:gd name="T25" fmla="*/ 16 h 21"/>
                <a:gd name="T26" fmla="*/ 22 w 24"/>
                <a:gd name="T27" fmla="*/ 19 h 21"/>
                <a:gd name="T28" fmla="*/ 19 w 24"/>
                <a:gd name="T29" fmla="*/ 21 h 21"/>
                <a:gd name="T30" fmla="*/ 15 w 24"/>
                <a:gd name="T31" fmla="*/ 21 h 21"/>
                <a:gd name="T32" fmla="*/ 10 w 24"/>
                <a:gd name="T33" fmla="*/ 21 h 21"/>
                <a:gd name="T34" fmla="*/ 5 w 24"/>
                <a:gd name="T35" fmla="*/ 21 h 21"/>
                <a:gd name="T36" fmla="*/ 3 w 24"/>
                <a:gd name="T37" fmla="*/ 19 h 21"/>
                <a:gd name="T38" fmla="*/ 0 w 24"/>
                <a:gd name="T39" fmla="*/ 16 h 21"/>
                <a:gd name="T40" fmla="*/ 0 w 24"/>
                <a:gd name="T41" fmla="*/ 14 h 21"/>
                <a:gd name="T42" fmla="*/ 0 w 24"/>
                <a:gd name="T43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" h="21">
                  <a:moveTo>
                    <a:pt x="0" y="12"/>
                  </a:moveTo>
                  <a:lnTo>
                    <a:pt x="0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2" y="19"/>
                  </a:lnTo>
                  <a:lnTo>
                    <a:pt x="19" y="21"/>
                  </a:lnTo>
                  <a:lnTo>
                    <a:pt x="15" y="21"/>
                  </a:lnTo>
                  <a:lnTo>
                    <a:pt x="10" y="21"/>
                  </a:lnTo>
                  <a:lnTo>
                    <a:pt x="5" y="21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2A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9725C07A-CFE5-4071-9C59-1B9FF046534B}"/>
                </a:ext>
              </a:extLst>
            </p:cNvPr>
            <p:cNvSpPr txBox="1"/>
            <p:nvPr/>
          </p:nvSpPr>
          <p:spPr>
            <a:xfrm>
              <a:off x="8376124" y="5207806"/>
              <a:ext cx="1628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Insulated Van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(+2° to 8°C)</a:t>
              </a:r>
            </a:p>
          </p:txBody>
        </p:sp>
      </p:grpSp>
      <p:grpSp>
        <p:nvGrpSpPr>
          <p:cNvPr id="167" name="Group 182">
            <a:extLst>
              <a:ext uri="{FF2B5EF4-FFF2-40B4-BE49-F238E27FC236}">
                <a16:creationId xmlns:a16="http://schemas.microsoft.com/office/drawing/2014/main" id="{7758323A-1F08-4AE3-807C-46A76CF185FF}"/>
              </a:ext>
            </a:extLst>
          </p:cNvPr>
          <p:cNvGrpSpPr/>
          <p:nvPr/>
        </p:nvGrpSpPr>
        <p:grpSpPr>
          <a:xfrm>
            <a:off x="9490230" y="3793550"/>
            <a:ext cx="2166151" cy="2302077"/>
            <a:chOff x="9880847" y="3837937"/>
            <a:chExt cx="2166151" cy="2302077"/>
          </a:xfrm>
        </p:grpSpPr>
        <p:sp>
          <p:nvSpPr>
            <p:cNvPr id="184" name="Freeform 158">
              <a:extLst>
                <a:ext uri="{FF2B5EF4-FFF2-40B4-BE49-F238E27FC236}">
                  <a16:creationId xmlns:a16="http://schemas.microsoft.com/office/drawing/2014/main" id="{DD20B889-B675-46B8-9306-1EA837395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6453" y="4363657"/>
              <a:ext cx="432928" cy="188014"/>
            </a:xfrm>
            <a:custGeom>
              <a:avLst/>
              <a:gdLst>
                <a:gd name="T0" fmla="*/ 45 w 175"/>
                <a:gd name="T1" fmla="*/ 3 h 76"/>
                <a:gd name="T2" fmla="*/ 0 w 175"/>
                <a:gd name="T3" fmla="*/ 57 h 76"/>
                <a:gd name="T4" fmla="*/ 128 w 175"/>
                <a:gd name="T5" fmla="*/ 76 h 76"/>
                <a:gd name="T6" fmla="*/ 175 w 175"/>
                <a:gd name="T7" fmla="*/ 0 h 76"/>
                <a:gd name="T8" fmla="*/ 45 w 175"/>
                <a:gd name="T9" fmla="*/ 3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76">
                  <a:moveTo>
                    <a:pt x="45" y="3"/>
                  </a:moveTo>
                  <a:lnTo>
                    <a:pt x="0" y="57"/>
                  </a:lnTo>
                  <a:lnTo>
                    <a:pt x="128" y="76"/>
                  </a:lnTo>
                  <a:lnTo>
                    <a:pt x="175" y="0"/>
                  </a:lnTo>
                  <a:lnTo>
                    <a:pt x="45" y="3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5" name="Freeform 159">
              <a:extLst>
                <a:ext uri="{FF2B5EF4-FFF2-40B4-BE49-F238E27FC236}">
                  <a16:creationId xmlns:a16="http://schemas.microsoft.com/office/drawing/2014/main" id="{E50AEF7F-8761-4562-87EE-B794E6CDF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704" y="4521984"/>
              <a:ext cx="358712" cy="47004"/>
            </a:xfrm>
            <a:custGeom>
              <a:avLst/>
              <a:gdLst>
                <a:gd name="T0" fmla="*/ 43 w 145"/>
                <a:gd name="T1" fmla="*/ 0 h 19"/>
                <a:gd name="T2" fmla="*/ 0 w 145"/>
                <a:gd name="T3" fmla="*/ 5 h 19"/>
                <a:gd name="T4" fmla="*/ 109 w 145"/>
                <a:gd name="T5" fmla="*/ 19 h 19"/>
                <a:gd name="T6" fmla="*/ 145 w 145"/>
                <a:gd name="T7" fmla="*/ 17 h 19"/>
                <a:gd name="T8" fmla="*/ 43 w 14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5" h="19">
                  <a:moveTo>
                    <a:pt x="43" y="0"/>
                  </a:moveTo>
                  <a:lnTo>
                    <a:pt x="0" y="5"/>
                  </a:lnTo>
                  <a:lnTo>
                    <a:pt x="109" y="19"/>
                  </a:lnTo>
                  <a:lnTo>
                    <a:pt x="145" y="17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6" name="Freeform 160">
              <a:extLst>
                <a:ext uri="{FF2B5EF4-FFF2-40B4-BE49-F238E27FC236}">
                  <a16:creationId xmlns:a16="http://schemas.microsoft.com/office/drawing/2014/main" id="{F4131804-C7CA-415E-99D9-C14D0950A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0042" y="4576410"/>
              <a:ext cx="598677" cy="452719"/>
            </a:xfrm>
            <a:custGeom>
              <a:avLst/>
              <a:gdLst>
                <a:gd name="T0" fmla="*/ 76 w 242"/>
                <a:gd name="T1" fmla="*/ 71 h 183"/>
                <a:gd name="T2" fmla="*/ 126 w 242"/>
                <a:gd name="T3" fmla="*/ 64 h 183"/>
                <a:gd name="T4" fmla="*/ 126 w 242"/>
                <a:gd name="T5" fmla="*/ 95 h 183"/>
                <a:gd name="T6" fmla="*/ 152 w 242"/>
                <a:gd name="T7" fmla="*/ 104 h 183"/>
                <a:gd name="T8" fmla="*/ 152 w 242"/>
                <a:gd name="T9" fmla="*/ 137 h 183"/>
                <a:gd name="T10" fmla="*/ 109 w 242"/>
                <a:gd name="T11" fmla="*/ 152 h 183"/>
                <a:gd name="T12" fmla="*/ 19 w 242"/>
                <a:gd name="T13" fmla="*/ 118 h 183"/>
                <a:gd name="T14" fmla="*/ 19 w 242"/>
                <a:gd name="T15" fmla="*/ 33 h 183"/>
                <a:gd name="T16" fmla="*/ 69 w 242"/>
                <a:gd name="T17" fmla="*/ 26 h 183"/>
                <a:gd name="T18" fmla="*/ 81 w 242"/>
                <a:gd name="T19" fmla="*/ 0 h 183"/>
                <a:gd name="T20" fmla="*/ 0 w 242"/>
                <a:gd name="T21" fmla="*/ 12 h 183"/>
                <a:gd name="T22" fmla="*/ 0 w 242"/>
                <a:gd name="T23" fmla="*/ 183 h 183"/>
                <a:gd name="T24" fmla="*/ 242 w 242"/>
                <a:gd name="T25" fmla="*/ 114 h 183"/>
                <a:gd name="T26" fmla="*/ 220 w 242"/>
                <a:gd name="T27" fmla="*/ 47 h 183"/>
                <a:gd name="T28" fmla="*/ 220 w 242"/>
                <a:gd name="T29" fmla="*/ 76 h 183"/>
                <a:gd name="T30" fmla="*/ 187 w 242"/>
                <a:gd name="T31" fmla="*/ 80 h 183"/>
                <a:gd name="T32" fmla="*/ 180 w 242"/>
                <a:gd name="T33" fmla="*/ 54 h 183"/>
                <a:gd name="T34" fmla="*/ 180 w 242"/>
                <a:gd name="T35" fmla="*/ 83 h 183"/>
                <a:gd name="T36" fmla="*/ 135 w 242"/>
                <a:gd name="T37" fmla="*/ 92 h 183"/>
                <a:gd name="T38" fmla="*/ 126 w 242"/>
                <a:gd name="T39" fmla="*/ 47 h 183"/>
                <a:gd name="T40" fmla="*/ 76 w 242"/>
                <a:gd name="T41" fmla="*/ 57 h 183"/>
                <a:gd name="T42" fmla="*/ 76 w 242"/>
                <a:gd name="T43" fmla="*/ 26 h 183"/>
                <a:gd name="T44" fmla="*/ 69 w 242"/>
                <a:gd name="T45" fmla="*/ 107 h 183"/>
                <a:gd name="T46" fmla="*/ 76 w 242"/>
                <a:gd name="T47" fmla="*/ 104 h 183"/>
                <a:gd name="T48" fmla="*/ 76 w 242"/>
                <a:gd name="T49" fmla="*/ 71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2" h="183">
                  <a:moveTo>
                    <a:pt x="76" y="71"/>
                  </a:moveTo>
                  <a:lnTo>
                    <a:pt x="126" y="64"/>
                  </a:lnTo>
                  <a:lnTo>
                    <a:pt x="126" y="95"/>
                  </a:lnTo>
                  <a:lnTo>
                    <a:pt x="152" y="104"/>
                  </a:lnTo>
                  <a:lnTo>
                    <a:pt x="152" y="137"/>
                  </a:lnTo>
                  <a:lnTo>
                    <a:pt x="109" y="152"/>
                  </a:lnTo>
                  <a:lnTo>
                    <a:pt x="19" y="118"/>
                  </a:lnTo>
                  <a:lnTo>
                    <a:pt x="19" y="33"/>
                  </a:lnTo>
                  <a:lnTo>
                    <a:pt x="69" y="26"/>
                  </a:lnTo>
                  <a:lnTo>
                    <a:pt x="81" y="0"/>
                  </a:lnTo>
                  <a:lnTo>
                    <a:pt x="0" y="12"/>
                  </a:lnTo>
                  <a:lnTo>
                    <a:pt x="0" y="183"/>
                  </a:lnTo>
                  <a:lnTo>
                    <a:pt x="242" y="114"/>
                  </a:lnTo>
                  <a:lnTo>
                    <a:pt x="220" y="47"/>
                  </a:lnTo>
                  <a:lnTo>
                    <a:pt x="220" y="76"/>
                  </a:lnTo>
                  <a:lnTo>
                    <a:pt x="187" y="80"/>
                  </a:lnTo>
                  <a:lnTo>
                    <a:pt x="180" y="54"/>
                  </a:lnTo>
                  <a:lnTo>
                    <a:pt x="180" y="83"/>
                  </a:lnTo>
                  <a:lnTo>
                    <a:pt x="135" y="92"/>
                  </a:lnTo>
                  <a:lnTo>
                    <a:pt x="126" y="47"/>
                  </a:lnTo>
                  <a:lnTo>
                    <a:pt x="76" y="57"/>
                  </a:lnTo>
                  <a:lnTo>
                    <a:pt x="76" y="26"/>
                  </a:lnTo>
                  <a:lnTo>
                    <a:pt x="69" y="107"/>
                  </a:lnTo>
                  <a:lnTo>
                    <a:pt x="76" y="104"/>
                  </a:lnTo>
                  <a:lnTo>
                    <a:pt x="76" y="71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7" name="Freeform 161">
              <a:extLst>
                <a:ext uri="{FF2B5EF4-FFF2-40B4-BE49-F238E27FC236}">
                  <a16:creationId xmlns:a16="http://schemas.microsoft.com/office/drawing/2014/main" id="{E0C5E4E3-A713-41F6-A4C9-1A2D89C20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7046" y="4811428"/>
              <a:ext cx="329026" cy="141011"/>
            </a:xfrm>
            <a:custGeom>
              <a:avLst/>
              <a:gdLst>
                <a:gd name="T0" fmla="*/ 133 w 133"/>
                <a:gd name="T1" fmla="*/ 9 h 57"/>
                <a:gd name="T2" fmla="*/ 107 w 133"/>
                <a:gd name="T3" fmla="*/ 0 h 57"/>
                <a:gd name="T4" fmla="*/ 57 w 133"/>
                <a:gd name="T5" fmla="*/ 9 h 57"/>
                <a:gd name="T6" fmla="*/ 50 w 133"/>
                <a:gd name="T7" fmla="*/ 12 h 57"/>
                <a:gd name="T8" fmla="*/ 0 w 133"/>
                <a:gd name="T9" fmla="*/ 23 h 57"/>
                <a:gd name="T10" fmla="*/ 90 w 133"/>
                <a:gd name="T11" fmla="*/ 57 h 57"/>
                <a:gd name="T12" fmla="*/ 90 w 133"/>
                <a:gd name="T13" fmla="*/ 16 h 57"/>
                <a:gd name="T14" fmla="*/ 133 w 133"/>
                <a:gd name="T15" fmla="*/ 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57">
                  <a:moveTo>
                    <a:pt x="133" y="9"/>
                  </a:moveTo>
                  <a:lnTo>
                    <a:pt x="107" y="0"/>
                  </a:lnTo>
                  <a:lnTo>
                    <a:pt x="57" y="9"/>
                  </a:lnTo>
                  <a:lnTo>
                    <a:pt x="50" y="12"/>
                  </a:lnTo>
                  <a:lnTo>
                    <a:pt x="0" y="23"/>
                  </a:lnTo>
                  <a:lnTo>
                    <a:pt x="90" y="57"/>
                  </a:lnTo>
                  <a:lnTo>
                    <a:pt x="90" y="16"/>
                  </a:lnTo>
                  <a:lnTo>
                    <a:pt x="133" y="9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8" name="Freeform 162">
              <a:extLst>
                <a:ext uri="{FF2B5EF4-FFF2-40B4-BE49-F238E27FC236}">
                  <a16:creationId xmlns:a16="http://schemas.microsoft.com/office/drawing/2014/main" id="{5F23E856-2DA4-4874-883F-62412A645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4015" y="4546723"/>
              <a:ext cx="210280" cy="227596"/>
            </a:xfrm>
            <a:custGeom>
              <a:avLst/>
              <a:gdLst>
                <a:gd name="T0" fmla="*/ 43 w 85"/>
                <a:gd name="T1" fmla="*/ 24 h 92"/>
                <a:gd name="T2" fmla="*/ 43 w 85"/>
                <a:gd name="T3" fmla="*/ 50 h 92"/>
                <a:gd name="T4" fmla="*/ 0 w 85"/>
                <a:gd name="T5" fmla="*/ 57 h 92"/>
                <a:gd name="T6" fmla="*/ 0 w 85"/>
                <a:gd name="T7" fmla="*/ 73 h 92"/>
                <a:gd name="T8" fmla="*/ 45 w 85"/>
                <a:gd name="T9" fmla="*/ 66 h 92"/>
                <a:gd name="T10" fmla="*/ 52 w 85"/>
                <a:gd name="T11" fmla="*/ 92 h 92"/>
                <a:gd name="T12" fmla="*/ 52 w 85"/>
                <a:gd name="T13" fmla="*/ 66 h 92"/>
                <a:gd name="T14" fmla="*/ 85 w 85"/>
                <a:gd name="T15" fmla="*/ 59 h 92"/>
                <a:gd name="T16" fmla="*/ 85 w 85"/>
                <a:gd name="T17" fmla="*/ 19 h 92"/>
                <a:gd name="T18" fmla="*/ 83 w 85"/>
                <a:gd name="T19" fmla="*/ 43 h 92"/>
                <a:gd name="T20" fmla="*/ 50 w 85"/>
                <a:gd name="T21" fmla="*/ 50 h 92"/>
                <a:gd name="T22" fmla="*/ 45 w 85"/>
                <a:gd name="T23" fmla="*/ 0 h 92"/>
                <a:gd name="T24" fmla="*/ 43 w 85"/>
                <a:gd name="T25" fmla="*/ 2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92">
                  <a:moveTo>
                    <a:pt x="43" y="24"/>
                  </a:moveTo>
                  <a:lnTo>
                    <a:pt x="43" y="50"/>
                  </a:lnTo>
                  <a:lnTo>
                    <a:pt x="0" y="57"/>
                  </a:lnTo>
                  <a:lnTo>
                    <a:pt x="0" y="73"/>
                  </a:lnTo>
                  <a:lnTo>
                    <a:pt x="45" y="66"/>
                  </a:lnTo>
                  <a:lnTo>
                    <a:pt x="52" y="92"/>
                  </a:lnTo>
                  <a:lnTo>
                    <a:pt x="52" y="66"/>
                  </a:lnTo>
                  <a:lnTo>
                    <a:pt x="85" y="59"/>
                  </a:lnTo>
                  <a:lnTo>
                    <a:pt x="85" y="19"/>
                  </a:lnTo>
                  <a:lnTo>
                    <a:pt x="83" y="43"/>
                  </a:lnTo>
                  <a:lnTo>
                    <a:pt x="50" y="50"/>
                  </a:lnTo>
                  <a:lnTo>
                    <a:pt x="45" y="0"/>
                  </a:lnTo>
                  <a:lnTo>
                    <a:pt x="43" y="24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9" name="Freeform 163">
              <a:extLst>
                <a:ext uri="{FF2B5EF4-FFF2-40B4-BE49-F238E27FC236}">
                  <a16:creationId xmlns:a16="http://schemas.microsoft.com/office/drawing/2014/main" id="{6CBF9F3C-0C2E-4E55-96F4-F5199995D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5339" y="4539302"/>
              <a:ext cx="98955" cy="131116"/>
            </a:xfrm>
            <a:custGeom>
              <a:avLst/>
              <a:gdLst>
                <a:gd name="T0" fmla="*/ 7 w 40"/>
                <a:gd name="T1" fmla="*/ 27 h 53"/>
                <a:gd name="T2" fmla="*/ 40 w 40"/>
                <a:gd name="T3" fmla="*/ 22 h 53"/>
                <a:gd name="T4" fmla="*/ 31 w 40"/>
                <a:gd name="T5" fmla="*/ 0 h 53"/>
                <a:gd name="T6" fmla="*/ 0 w 40"/>
                <a:gd name="T7" fmla="*/ 3 h 53"/>
                <a:gd name="T8" fmla="*/ 5 w 40"/>
                <a:gd name="T9" fmla="*/ 53 h 53"/>
                <a:gd name="T10" fmla="*/ 7 w 40"/>
                <a:gd name="T11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53">
                  <a:moveTo>
                    <a:pt x="7" y="27"/>
                  </a:moveTo>
                  <a:lnTo>
                    <a:pt x="40" y="22"/>
                  </a:lnTo>
                  <a:lnTo>
                    <a:pt x="31" y="0"/>
                  </a:lnTo>
                  <a:lnTo>
                    <a:pt x="0" y="3"/>
                  </a:lnTo>
                  <a:lnTo>
                    <a:pt x="5" y="53"/>
                  </a:lnTo>
                  <a:lnTo>
                    <a:pt x="7" y="27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0" name="Freeform 164">
              <a:extLst>
                <a:ext uri="{FF2B5EF4-FFF2-40B4-BE49-F238E27FC236}">
                  <a16:creationId xmlns:a16="http://schemas.microsoft.com/office/drawing/2014/main" id="{10709150-60C9-4171-A88F-9B2D6D78D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7046" y="4380975"/>
              <a:ext cx="561570" cy="477458"/>
            </a:xfrm>
            <a:custGeom>
              <a:avLst/>
              <a:gdLst>
                <a:gd name="T0" fmla="*/ 116 w 227"/>
                <a:gd name="T1" fmla="*/ 98 h 193"/>
                <a:gd name="T2" fmla="*/ 159 w 227"/>
                <a:gd name="T3" fmla="*/ 91 h 193"/>
                <a:gd name="T4" fmla="*/ 161 w 227"/>
                <a:gd name="T5" fmla="*/ 67 h 193"/>
                <a:gd name="T6" fmla="*/ 156 w 227"/>
                <a:gd name="T7" fmla="*/ 60 h 193"/>
                <a:gd name="T8" fmla="*/ 192 w 227"/>
                <a:gd name="T9" fmla="*/ 64 h 193"/>
                <a:gd name="T10" fmla="*/ 201 w 227"/>
                <a:gd name="T11" fmla="*/ 86 h 193"/>
                <a:gd name="T12" fmla="*/ 201 w 227"/>
                <a:gd name="T13" fmla="*/ 126 h 193"/>
                <a:gd name="T14" fmla="*/ 223 w 227"/>
                <a:gd name="T15" fmla="*/ 193 h 193"/>
                <a:gd name="T16" fmla="*/ 227 w 227"/>
                <a:gd name="T17" fmla="*/ 62 h 193"/>
                <a:gd name="T18" fmla="*/ 227 w 227"/>
                <a:gd name="T19" fmla="*/ 55 h 193"/>
                <a:gd name="T20" fmla="*/ 147 w 227"/>
                <a:gd name="T21" fmla="*/ 45 h 193"/>
                <a:gd name="T22" fmla="*/ 116 w 227"/>
                <a:gd name="T23" fmla="*/ 0 h 193"/>
                <a:gd name="T24" fmla="*/ 62 w 227"/>
                <a:gd name="T25" fmla="*/ 79 h 193"/>
                <a:gd name="T26" fmla="*/ 50 w 227"/>
                <a:gd name="T27" fmla="*/ 105 h 193"/>
                <a:gd name="T28" fmla="*/ 50 w 227"/>
                <a:gd name="T29" fmla="*/ 136 h 193"/>
                <a:gd name="T30" fmla="*/ 0 w 227"/>
                <a:gd name="T31" fmla="*/ 143 h 193"/>
                <a:gd name="T32" fmla="*/ 0 w 227"/>
                <a:gd name="T33" fmla="*/ 162 h 193"/>
                <a:gd name="T34" fmla="*/ 50 w 227"/>
                <a:gd name="T35" fmla="*/ 155 h 193"/>
                <a:gd name="T36" fmla="*/ 50 w 227"/>
                <a:gd name="T37" fmla="*/ 186 h 193"/>
                <a:gd name="T38" fmla="*/ 57 w 227"/>
                <a:gd name="T39" fmla="*/ 105 h 193"/>
                <a:gd name="T40" fmla="*/ 107 w 227"/>
                <a:gd name="T41" fmla="*/ 98 h 193"/>
                <a:gd name="T42" fmla="*/ 107 w 227"/>
                <a:gd name="T43" fmla="*/ 126 h 193"/>
                <a:gd name="T44" fmla="*/ 116 w 227"/>
                <a:gd name="T45" fmla="*/ 171 h 193"/>
                <a:gd name="T46" fmla="*/ 116 w 227"/>
                <a:gd name="T47" fmla="*/ 98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27" h="193">
                  <a:moveTo>
                    <a:pt x="116" y="98"/>
                  </a:moveTo>
                  <a:lnTo>
                    <a:pt x="159" y="91"/>
                  </a:lnTo>
                  <a:lnTo>
                    <a:pt x="161" y="67"/>
                  </a:lnTo>
                  <a:lnTo>
                    <a:pt x="156" y="60"/>
                  </a:lnTo>
                  <a:lnTo>
                    <a:pt x="192" y="64"/>
                  </a:lnTo>
                  <a:lnTo>
                    <a:pt x="201" y="86"/>
                  </a:lnTo>
                  <a:lnTo>
                    <a:pt x="201" y="126"/>
                  </a:lnTo>
                  <a:lnTo>
                    <a:pt x="223" y="193"/>
                  </a:lnTo>
                  <a:lnTo>
                    <a:pt x="227" y="62"/>
                  </a:lnTo>
                  <a:lnTo>
                    <a:pt x="227" y="55"/>
                  </a:lnTo>
                  <a:lnTo>
                    <a:pt x="147" y="45"/>
                  </a:lnTo>
                  <a:lnTo>
                    <a:pt x="116" y="0"/>
                  </a:lnTo>
                  <a:lnTo>
                    <a:pt x="62" y="79"/>
                  </a:lnTo>
                  <a:lnTo>
                    <a:pt x="50" y="105"/>
                  </a:lnTo>
                  <a:lnTo>
                    <a:pt x="50" y="136"/>
                  </a:lnTo>
                  <a:lnTo>
                    <a:pt x="0" y="143"/>
                  </a:lnTo>
                  <a:lnTo>
                    <a:pt x="0" y="162"/>
                  </a:lnTo>
                  <a:lnTo>
                    <a:pt x="50" y="155"/>
                  </a:lnTo>
                  <a:lnTo>
                    <a:pt x="50" y="186"/>
                  </a:lnTo>
                  <a:lnTo>
                    <a:pt x="57" y="105"/>
                  </a:lnTo>
                  <a:lnTo>
                    <a:pt x="107" y="98"/>
                  </a:lnTo>
                  <a:lnTo>
                    <a:pt x="107" y="126"/>
                  </a:lnTo>
                  <a:lnTo>
                    <a:pt x="116" y="171"/>
                  </a:lnTo>
                  <a:lnTo>
                    <a:pt x="116" y="98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1" name="Freeform 165">
              <a:extLst>
                <a:ext uri="{FF2B5EF4-FFF2-40B4-BE49-F238E27FC236}">
                  <a16:creationId xmlns:a16="http://schemas.microsoft.com/office/drawing/2014/main" id="{5E8AE051-9C9B-4416-AD65-F1F2A9B54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8752" y="4568989"/>
              <a:ext cx="316656" cy="452719"/>
            </a:xfrm>
            <a:custGeom>
              <a:avLst/>
              <a:gdLst>
                <a:gd name="T0" fmla="*/ 78 w 128"/>
                <a:gd name="T1" fmla="*/ 157 h 183"/>
                <a:gd name="T2" fmla="*/ 128 w 128"/>
                <a:gd name="T3" fmla="*/ 183 h 183"/>
                <a:gd name="T4" fmla="*/ 128 w 128"/>
                <a:gd name="T5" fmla="*/ 15 h 183"/>
                <a:gd name="T6" fmla="*/ 0 w 128"/>
                <a:gd name="T7" fmla="*/ 0 h 183"/>
                <a:gd name="T8" fmla="*/ 5 w 128"/>
                <a:gd name="T9" fmla="*/ 126 h 183"/>
                <a:gd name="T10" fmla="*/ 36 w 128"/>
                <a:gd name="T11" fmla="*/ 45 h 183"/>
                <a:gd name="T12" fmla="*/ 78 w 128"/>
                <a:gd name="T13" fmla="*/ 57 h 183"/>
                <a:gd name="T14" fmla="*/ 78 w 128"/>
                <a:gd name="T15" fmla="*/ 157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8" h="183">
                  <a:moveTo>
                    <a:pt x="78" y="157"/>
                  </a:moveTo>
                  <a:lnTo>
                    <a:pt x="128" y="183"/>
                  </a:lnTo>
                  <a:lnTo>
                    <a:pt x="128" y="15"/>
                  </a:lnTo>
                  <a:lnTo>
                    <a:pt x="0" y="0"/>
                  </a:lnTo>
                  <a:lnTo>
                    <a:pt x="5" y="126"/>
                  </a:lnTo>
                  <a:lnTo>
                    <a:pt x="36" y="45"/>
                  </a:lnTo>
                  <a:lnTo>
                    <a:pt x="78" y="57"/>
                  </a:lnTo>
                  <a:lnTo>
                    <a:pt x="78" y="157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2" name="Freeform 166">
              <a:extLst>
                <a:ext uri="{FF2B5EF4-FFF2-40B4-BE49-F238E27FC236}">
                  <a16:creationId xmlns:a16="http://schemas.microsoft.com/office/drawing/2014/main" id="{32358F95-0B6A-4112-AA12-39C53AE29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1122" y="4680312"/>
              <a:ext cx="304287" cy="341394"/>
            </a:xfrm>
            <a:custGeom>
              <a:avLst/>
              <a:gdLst>
                <a:gd name="T0" fmla="*/ 33 w 123"/>
                <a:gd name="T1" fmla="*/ 93 h 138"/>
                <a:gd name="T2" fmla="*/ 31 w 123"/>
                <a:gd name="T3" fmla="*/ 0 h 138"/>
                <a:gd name="T4" fmla="*/ 0 w 123"/>
                <a:gd name="T5" fmla="*/ 81 h 138"/>
                <a:gd name="T6" fmla="*/ 123 w 123"/>
                <a:gd name="T7" fmla="*/ 138 h 138"/>
                <a:gd name="T8" fmla="*/ 73 w 123"/>
                <a:gd name="T9" fmla="*/ 112 h 138"/>
                <a:gd name="T10" fmla="*/ 33 w 123"/>
                <a:gd name="T11" fmla="*/ 9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138">
                  <a:moveTo>
                    <a:pt x="33" y="93"/>
                  </a:moveTo>
                  <a:lnTo>
                    <a:pt x="31" y="0"/>
                  </a:lnTo>
                  <a:lnTo>
                    <a:pt x="0" y="81"/>
                  </a:lnTo>
                  <a:lnTo>
                    <a:pt x="123" y="138"/>
                  </a:lnTo>
                  <a:lnTo>
                    <a:pt x="73" y="112"/>
                  </a:lnTo>
                  <a:lnTo>
                    <a:pt x="33" y="93"/>
                  </a:lnTo>
                  <a:close/>
                </a:path>
              </a:pathLst>
            </a:custGeom>
            <a:solidFill>
              <a:srgbClr val="EC0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83" name="Group 192">
              <a:extLst>
                <a:ext uri="{FF2B5EF4-FFF2-40B4-BE49-F238E27FC236}">
                  <a16:creationId xmlns:a16="http://schemas.microsoft.com/office/drawing/2014/main" id="{7894EAA8-9DA0-4D3C-9C57-DF6A9CC20C72}"/>
                </a:ext>
              </a:extLst>
            </p:cNvPr>
            <p:cNvGrpSpPr/>
            <p:nvPr/>
          </p:nvGrpSpPr>
          <p:grpSpPr>
            <a:xfrm rot="5400000">
              <a:off x="10907222" y="3907206"/>
              <a:ext cx="356239" cy="217701"/>
              <a:chOff x="9945232" y="2213863"/>
              <a:chExt cx="356239" cy="217701"/>
            </a:xfrm>
          </p:grpSpPr>
          <p:sp>
            <p:nvSpPr>
              <p:cNvPr id="195" name="Freeform 31">
                <a:extLst>
                  <a:ext uri="{FF2B5EF4-FFF2-40B4-BE49-F238E27FC236}">
                    <a16:creationId xmlns:a16="http://schemas.microsoft.com/office/drawing/2014/main" id="{0349B346-DE50-438C-A26D-E3BB0C24E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0146" y="2213863"/>
                <a:ext cx="111325" cy="217701"/>
              </a:xfrm>
              <a:custGeom>
                <a:avLst/>
                <a:gdLst>
                  <a:gd name="T0" fmla="*/ 0 w 45"/>
                  <a:gd name="T1" fmla="*/ 0 h 88"/>
                  <a:gd name="T2" fmla="*/ 0 w 45"/>
                  <a:gd name="T3" fmla="*/ 28 h 88"/>
                  <a:gd name="T4" fmla="*/ 14 w 45"/>
                  <a:gd name="T5" fmla="*/ 28 h 88"/>
                  <a:gd name="T6" fmla="*/ 14 w 45"/>
                  <a:gd name="T7" fmla="*/ 59 h 88"/>
                  <a:gd name="T8" fmla="*/ 0 w 45"/>
                  <a:gd name="T9" fmla="*/ 59 h 88"/>
                  <a:gd name="T10" fmla="*/ 0 w 45"/>
                  <a:gd name="T11" fmla="*/ 88 h 88"/>
                  <a:gd name="T12" fmla="*/ 45 w 45"/>
                  <a:gd name="T13" fmla="*/ 43 h 88"/>
                  <a:gd name="T14" fmla="*/ 0 w 45"/>
                  <a:gd name="T1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88">
                    <a:moveTo>
                      <a:pt x="0" y="0"/>
                    </a:moveTo>
                    <a:lnTo>
                      <a:pt x="0" y="28"/>
                    </a:lnTo>
                    <a:lnTo>
                      <a:pt x="14" y="28"/>
                    </a:lnTo>
                    <a:lnTo>
                      <a:pt x="14" y="59"/>
                    </a:lnTo>
                    <a:lnTo>
                      <a:pt x="0" y="59"/>
                    </a:lnTo>
                    <a:lnTo>
                      <a:pt x="0" y="88"/>
                    </a:lnTo>
                    <a:lnTo>
                      <a:pt x="45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95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6" name="Freeform 32">
                <a:extLst>
                  <a:ext uri="{FF2B5EF4-FFF2-40B4-BE49-F238E27FC236}">
                    <a16:creationId xmlns:a16="http://schemas.microsoft.com/office/drawing/2014/main" id="{0045E99B-B59D-4F42-81B5-D2E02DFD5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0146" y="2213863"/>
                <a:ext cx="111325" cy="217701"/>
              </a:xfrm>
              <a:custGeom>
                <a:avLst/>
                <a:gdLst>
                  <a:gd name="T0" fmla="*/ 0 w 45"/>
                  <a:gd name="T1" fmla="*/ 0 h 88"/>
                  <a:gd name="T2" fmla="*/ 0 w 45"/>
                  <a:gd name="T3" fmla="*/ 28 h 88"/>
                  <a:gd name="T4" fmla="*/ 14 w 45"/>
                  <a:gd name="T5" fmla="*/ 28 h 88"/>
                  <a:gd name="T6" fmla="*/ 14 w 45"/>
                  <a:gd name="T7" fmla="*/ 59 h 88"/>
                  <a:gd name="T8" fmla="*/ 0 w 45"/>
                  <a:gd name="T9" fmla="*/ 59 h 88"/>
                  <a:gd name="T10" fmla="*/ 0 w 45"/>
                  <a:gd name="T11" fmla="*/ 88 h 88"/>
                  <a:gd name="T12" fmla="*/ 45 w 45"/>
                  <a:gd name="T13" fmla="*/ 43 h 88"/>
                  <a:gd name="T14" fmla="*/ 0 w 45"/>
                  <a:gd name="T15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88">
                    <a:moveTo>
                      <a:pt x="0" y="0"/>
                    </a:moveTo>
                    <a:lnTo>
                      <a:pt x="0" y="28"/>
                    </a:lnTo>
                    <a:lnTo>
                      <a:pt x="14" y="28"/>
                    </a:lnTo>
                    <a:lnTo>
                      <a:pt x="14" y="59"/>
                    </a:lnTo>
                    <a:lnTo>
                      <a:pt x="0" y="59"/>
                    </a:lnTo>
                    <a:lnTo>
                      <a:pt x="0" y="88"/>
                    </a:lnTo>
                    <a:lnTo>
                      <a:pt x="45" y="4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7" name="Rectangle 33">
                <a:extLst>
                  <a:ext uri="{FF2B5EF4-FFF2-40B4-BE49-F238E27FC236}">
                    <a16:creationId xmlns:a16="http://schemas.microsoft.com/office/drawing/2014/main" id="{96C2285A-9A82-4D64-8D56-89CED9320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5232" y="2283131"/>
                <a:ext cx="244914" cy="76691"/>
              </a:xfrm>
              <a:prstGeom prst="rect">
                <a:avLst/>
              </a:prstGeom>
              <a:solidFill>
                <a:srgbClr val="9395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8" name="Rectangle 34">
                <a:extLst>
                  <a:ext uri="{FF2B5EF4-FFF2-40B4-BE49-F238E27FC236}">
                    <a16:creationId xmlns:a16="http://schemas.microsoft.com/office/drawing/2014/main" id="{1B70CA2F-E86F-4A69-8E67-D944318362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5232" y="2283131"/>
                <a:ext cx="244914" cy="766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9" name="Rectangle 35">
                <a:extLst>
                  <a:ext uri="{FF2B5EF4-FFF2-40B4-BE49-F238E27FC236}">
                    <a16:creationId xmlns:a16="http://schemas.microsoft.com/office/drawing/2014/main" id="{A9867B7C-AFE7-4872-B1D5-8FB734CB9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0146" y="2283131"/>
                <a:ext cx="34634" cy="76691"/>
              </a:xfrm>
              <a:prstGeom prst="rect">
                <a:avLst/>
              </a:prstGeom>
              <a:solidFill>
                <a:srgbClr val="9395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0" name="Rectangle 36">
                <a:extLst>
                  <a:ext uri="{FF2B5EF4-FFF2-40B4-BE49-F238E27FC236}">
                    <a16:creationId xmlns:a16="http://schemas.microsoft.com/office/drawing/2014/main" id="{9498814A-FA3E-4E01-80B3-C8E3FA89C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0146" y="2283131"/>
                <a:ext cx="34634" cy="766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26733ED5-B665-4154-B6F3-EEBD1B04E23C}"/>
                </a:ext>
              </a:extLst>
            </p:cNvPr>
            <p:cNvSpPr txBox="1"/>
            <p:nvPr/>
          </p:nvSpPr>
          <p:spPr>
            <a:xfrm>
              <a:off x="9880847" y="5216684"/>
              <a:ext cx="216615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District Vaccine Store  ILR (+2° to 8°C) &amp; 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DF (-15° to -25°C)</a:t>
              </a:r>
            </a:p>
          </p:txBody>
        </p:sp>
      </p:grpSp>
      <p:sp>
        <p:nvSpPr>
          <p:cNvPr id="193" name="Title 1">
            <a:extLst>
              <a:ext uri="{FF2B5EF4-FFF2-40B4-BE49-F238E27FC236}">
                <a16:creationId xmlns:a16="http://schemas.microsoft.com/office/drawing/2014/main" id="{F5B9B6A1-DF4E-5D9E-877F-DD098EE4B6B6}"/>
              </a:ext>
            </a:extLst>
          </p:cNvPr>
          <p:cNvSpPr txBox="1">
            <a:spLocks/>
          </p:cNvSpPr>
          <p:nvPr/>
        </p:nvSpPr>
        <p:spPr>
          <a:xfrm>
            <a:off x="217714" y="103868"/>
            <a:ext cx="11756571" cy="897618"/>
          </a:xfrm>
          <a:prstGeom prst="rect">
            <a:avLst/>
          </a:prstGeom>
          <a:solidFill>
            <a:srgbClr val="7030A0"/>
          </a:solidFill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Immunization cold-chain supply system 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E38069D5-E9C6-9ED2-E9FA-0A49EE2D21F3}"/>
              </a:ext>
            </a:extLst>
          </p:cNvPr>
          <p:cNvSpPr txBox="1"/>
          <p:nvPr/>
        </p:nvSpPr>
        <p:spPr>
          <a:xfrm>
            <a:off x="217714" y="6069234"/>
            <a:ext cx="119228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Ice lined refrigerator is used for storing the vaccine and Diluents 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It maintains the temperature between + 2°C to + 8°C</a:t>
            </a:r>
          </a:p>
        </p:txBody>
      </p:sp>
    </p:spTree>
    <p:extLst>
      <p:ext uri="{BB962C8B-B14F-4D97-AF65-F5344CB8AC3E}">
        <p14:creationId xmlns:p14="http://schemas.microsoft.com/office/powerpoint/2010/main" val="204027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80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0"/>
                            </p:stCondLst>
                            <p:childTnLst>
                              <p:par>
                                <p:cTn id="5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0"/>
                            </p:stCondLst>
                            <p:childTnLst>
                              <p:par>
                                <p:cTn id="6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D6614-491A-91D5-8F66-02782594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18255"/>
            <a:ext cx="12050486" cy="1048545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Sensitivity of Vaccine to heat, light and freezing  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BCCB4-1544-769E-5FF1-1B32710EF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" y="1066800"/>
            <a:ext cx="11908972" cy="2991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9DD76C-7B7B-FB84-CD26-29FEFF75C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4" y="4115215"/>
            <a:ext cx="11908972" cy="27245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DF6379-6899-09A3-5BF3-C064C8644B06}"/>
              </a:ext>
            </a:extLst>
          </p:cNvPr>
          <p:cNvSpPr txBox="1"/>
          <p:nvPr/>
        </p:nvSpPr>
        <p:spPr>
          <a:xfrm>
            <a:off x="1926772" y="6439635"/>
            <a:ext cx="1284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 HPV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D34DA-F895-6A1E-FE03-4FE70DC56213}"/>
              </a:ext>
            </a:extLst>
          </p:cNvPr>
          <p:cNvSpPr txBox="1"/>
          <p:nvPr/>
        </p:nvSpPr>
        <p:spPr>
          <a:xfrm>
            <a:off x="10482943" y="5477480"/>
            <a:ext cx="1284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 HPV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607437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35C1FAD-0BC8-200B-768A-C4114BAE2DF0}"/>
              </a:ext>
            </a:extLst>
          </p:cNvPr>
          <p:cNvGrpSpPr/>
          <p:nvPr/>
        </p:nvGrpSpPr>
        <p:grpSpPr>
          <a:xfrm>
            <a:off x="1901943" y="0"/>
            <a:ext cx="10290057" cy="6335484"/>
            <a:chOff x="2270533" y="1271944"/>
            <a:chExt cx="7033846" cy="452283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D1988C6-3266-CB6D-DC62-F5D0F0EC5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0533" y="1271944"/>
              <a:ext cx="7033846" cy="4522835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C265EB1-57CE-ABDC-83F8-FA28EF772792}"/>
                </a:ext>
              </a:extLst>
            </p:cNvPr>
            <p:cNvSpPr/>
            <p:nvPr/>
          </p:nvSpPr>
          <p:spPr>
            <a:xfrm>
              <a:off x="3373415" y="3543755"/>
              <a:ext cx="1600200" cy="457200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3AEC34-CAD7-F15E-16D2-6B6F7723B59E}"/>
                </a:ext>
              </a:extLst>
            </p:cNvPr>
            <p:cNvSpPr txBox="1"/>
            <p:nvPr/>
          </p:nvSpPr>
          <p:spPr>
            <a:xfrm>
              <a:off x="3687657" y="3640120"/>
              <a:ext cx="1001572" cy="26055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HPV Vaccine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8C2259-D5D7-D2DF-665E-7932A0B0DE53}"/>
              </a:ext>
            </a:extLst>
          </p:cNvPr>
          <p:cNvSpPr/>
          <p:nvPr/>
        </p:nvSpPr>
        <p:spPr>
          <a:xfrm>
            <a:off x="87086" y="0"/>
            <a:ext cx="1959429" cy="685799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Vaccine Storage in ILR 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386505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3674" y="678861"/>
            <a:ext cx="9002229" cy="4921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002B9C-FB79-CC46-4608-9E25F7945214}"/>
              </a:ext>
            </a:extLst>
          </p:cNvPr>
          <p:cNvSpPr/>
          <p:nvPr/>
        </p:nvSpPr>
        <p:spPr>
          <a:xfrm>
            <a:off x="87086" y="0"/>
            <a:ext cx="1959429" cy="685799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Storage of Icepacks in DF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EF840-14D7-70F5-8E6C-27DA6D49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577" y="1275678"/>
            <a:ext cx="3109755" cy="395847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C54233-E95C-5106-04BF-7C9F9ADB7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842" y="1533427"/>
            <a:ext cx="7985080" cy="43103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3CD630-6FA7-3505-ABF8-3A75EF1F7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" y="-34297"/>
            <a:ext cx="12050486" cy="1048545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Conditioning of Ice Packs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54531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3D465-9E87-8469-CF60-1AD698F0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86" y="124709"/>
            <a:ext cx="11789228" cy="132556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Vaccine Arrangement at RI session sites </a:t>
            </a:r>
            <a:endParaRPr lang="en-IN" sz="6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9EA87-9EFB-798F-1184-79C11E382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8B469-D95A-2C87-CA27-166BBFD4A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23" y="1825625"/>
            <a:ext cx="10810754" cy="490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70385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E89F-FA6C-F9F8-38FB-51F4F620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F7F9-EBAF-A360-C8A2-8F2C5229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216819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Adverse event following immunization (AEFI)</a:t>
            </a:r>
            <a:endParaRPr lang="id-ID" sz="48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FD1EB-1A0C-9F3F-94A6-06C741211DBD}"/>
              </a:ext>
            </a:extLst>
          </p:cNvPr>
          <p:cNvSpPr txBox="1"/>
          <p:nvPr/>
        </p:nvSpPr>
        <p:spPr>
          <a:xfrm>
            <a:off x="114300" y="1354817"/>
            <a:ext cx="11963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Definition 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Adverse event following immunization (AEFI) is defined as any untoward medical occurrence which follows immunization, and which does not necessarily have a causal relationship with the usage of the vaccine.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E51142-65E3-A0AE-A912-8F36F3B5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58" y="2859556"/>
            <a:ext cx="9274628" cy="390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260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A3D3F0-F765-4495-A33D-017EA254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" y="24776"/>
            <a:ext cx="12192000" cy="867714"/>
          </a:xfrm>
          <a:solidFill>
            <a:srgbClr val="7030A0"/>
          </a:solidFill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WHO cause specific definition of AEFIs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C05867-AE89-4A05-AD73-663FC412AEB6}"/>
              </a:ext>
            </a:extLst>
          </p:cNvPr>
          <p:cNvCxnSpPr>
            <a:cxnSpLocks/>
          </p:cNvCxnSpPr>
          <p:nvPr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AE5BB027-4ECC-4395-8135-2E3D50DD0027}"/>
              </a:ext>
            </a:extLst>
          </p:cNvPr>
          <p:cNvGraphicFramePr/>
          <p:nvPr/>
        </p:nvGraphicFramePr>
        <p:xfrm>
          <a:off x="274027" y="1055844"/>
          <a:ext cx="11414759" cy="4957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6B50703-17A4-4B3E-B621-AC4EE965EC10}"/>
              </a:ext>
            </a:extLst>
          </p:cNvPr>
          <p:cNvSpPr txBox="1"/>
          <p:nvPr/>
        </p:nvSpPr>
        <p:spPr>
          <a:xfrm>
            <a:off x="404656" y="6176963"/>
            <a:ext cx="11421582" cy="46166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is utilized for causality Assessment by State and National AEFI Committees</a:t>
            </a:r>
          </a:p>
        </p:txBody>
      </p:sp>
    </p:spTree>
    <p:extLst>
      <p:ext uri="{BB962C8B-B14F-4D97-AF65-F5344CB8AC3E}">
        <p14:creationId xmlns:p14="http://schemas.microsoft.com/office/powerpoint/2010/main" val="329399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52" y="0"/>
            <a:ext cx="12069348" cy="921446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Recognition of Anaphylaxis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4777" y="1006162"/>
            <a:ext cx="10437223" cy="5955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B85779-7132-D776-D557-7B0ECC74852A}"/>
              </a:ext>
            </a:extLst>
          </p:cNvPr>
          <p:cNvSpPr txBox="1"/>
          <p:nvPr/>
        </p:nvSpPr>
        <p:spPr>
          <a:xfrm>
            <a:off x="122651" y="922281"/>
            <a:ext cx="1632125" cy="59400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A case of anaphylaxis is suspected if following criteria is met: Early onset and rapid progression of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more than one sign &amp; symptoms of any of the two systems from the three systems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– respiratory, cardiovascular, and dermatological /mucosal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383" y="0"/>
            <a:ext cx="11909234" cy="859315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Steps for Initial Management of AEFI</a:t>
            </a:r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997" y="2233613"/>
            <a:ext cx="11338391" cy="2685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F0C5-9DC2-4B53-A4FE-15A6381D4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2" y="65417"/>
            <a:ext cx="12092848" cy="699511"/>
          </a:xfrm>
          <a:solidFill>
            <a:srgbClr val="7030A0"/>
          </a:solidFill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Managing AEFI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2574A-F98B-436F-82A7-B0D98CAFD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905973"/>
            <a:ext cx="11029615" cy="56490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Ensure recipients wait for 30 minutes at session site after vaccination</a:t>
            </a:r>
            <a:endParaRPr lang="en-US" b="1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IN" dirty="0">
                <a:latin typeface="+mj-lt"/>
                <a:cs typeface="Arial" panose="020B0604020202020204" pitchFamily="34" charset="0"/>
              </a:rPr>
              <a:t>After vaccination, inform the vaccine recipient</a:t>
            </a:r>
          </a:p>
          <a:p>
            <a:pPr lvl="1">
              <a:buFont typeface="Calibri" panose="020F0502020204030204" pitchFamily="34" charset="0"/>
              <a:buChar char="−"/>
            </a:pPr>
            <a:r>
              <a:rPr lang="en-IN" dirty="0">
                <a:latin typeface="+mj-lt"/>
                <a:cs typeface="Arial" panose="020B0604020202020204" pitchFamily="34" charset="0"/>
              </a:rPr>
              <a:t>About any minor events which may occur</a:t>
            </a:r>
            <a:endParaRPr lang="en-US" dirty="0">
              <a:latin typeface="+mj-lt"/>
              <a:cs typeface="Arial" panose="020B0604020202020204" pitchFamily="34" charset="0"/>
            </a:endParaRPr>
          </a:p>
          <a:p>
            <a:pPr lvl="1">
              <a:buFont typeface="Calibri" panose="020F0502020204030204" pitchFamily="34" charset="0"/>
              <a:buChar char="−"/>
            </a:pPr>
            <a:r>
              <a:rPr lang="en-IN" dirty="0">
                <a:latin typeface="+mj-lt"/>
                <a:cs typeface="Arial" panose="020B0604020202020204" pitchFamily="34" charset="0"/>
              </a:rPr>
              <a:t>Visit the nearest health facility in case of any adverse event/discomfort/illness </a:t>
            </a:r>
            <a:endParaRPr lang="en-US" dirty="0">
              <a:latin typeface="+mj-lt"/>
              <a:cs typeface="Arial" panose="020B0604020202020204" pitchFamily="34" charset="0"/>
            </a:endParaRPr>
          </a:p>
          <a:p>
            <a:pPr lvl="0"/>
            <a:r>
              <a:rPr lang="en-US" dirty="0">
                <a:latin typeface="+mj-lt"/>
                <a:cs typeface="Arial" panose="020B0604020202020204" pitchFamily="34" charset="0"/>
              </a:rPr>
              <a:t>Anaphylaxis kit with inj. adrenaline within expiry date at outreach session site </a:t>
            </a:r>
          </a:p>
          <a:p>
            <a:pPr lvl="0"/>
            <a:r>
              <a:rPr lang="en-IN" dirty="0">
                <a:latin typeface="+mj-lt"/>
                <a:cs typeface="Arial" panose="020B0604020202020204" pitchFamily="34" charset="0"/>
              </a:rPr>
              <a:t>Inform Medical Officer immediately by telephone about serious/severe AEFIs</a:t>
            </a:r>
            <a:endParaRPr lang="en-US" dirty="0">
              <a:latin typeface="+mj-lt"/>
              <a:cs typeface="Arial" panose="020B0604020202020204" pitchFamily="34" charset="0"/>
            </a:endParaRPr>
          </a:p>
          <a:p>
            <a:pPr lvl="0"/>
            <a:r>
              <a:rPr lang="en-US" dirty="0">
                <a:latin typeface="+mj-lt"/>
                <a:cs typeface="Arial" panose="020B0604020202020204" pitchFamily="34" charset="0"/>
              </a:rPr>
              <a:t>Emergency numbers (102, 108, etc.) for transporting case to AEFI management center / higher health facility with vaccinator team </a:t>
            </a:r>
            <a:endParaRPr lang="en-IN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902122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35AE-5206-4AF0-940D-E4BC6C37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850"/>
            <a:ext cx="12192000" cy="905601"/>
          </a:xfrm>
          <a:solidFill>
            <a:srgbClr val="7030A0"/>
          </a:solidFill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Contents of the Anaphylaxis Kit </a:t>
            </a:r>
            <a:endParaRPr lang="en-IN" sz="6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AABA3-AEF9-4E11-9CE2-BC51B58A0E16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2" r="14098" b="-1"/>
          <a:stretch/>
        </p:blipFill>
        <p:spPr>
          <a:xfrm>
            <a:off x="7120476" y="1223930"/>
            <a:ext cx="3338111" cy="31056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225F59-E8D6-47FF-A3FC-129510896F30}"/>
              </a:ext>
            </a:extLst>
          </p:cNvPr>
          <p:cNvSpPr txBox="1"/>
          <p:nvPr/>
        </p:nvSpPr>
        <p:spPr>
          <a:xfrm>
            <a:off x="7284759" y="4681200"/>
            <a:ext cx="3009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282829"/>
                </a:solidFill>
                <a:effectLst/>
                <a:uLnTx/>
                <a:uFillTx/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Anaphylaxis Kit 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srgbClr val="282829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51C3B6-759F-E47A-6742-1FE37F46B6D9}"/>
              </a:ext>
            </a:extLst>
          </p:cNvPr>
          <p:cNvSpPr txBox="1"/>
          <p:nvPr/>
        </p:nvSpPr>
        <p:spPr>
          <a:xfrm>
            <a:off x="0" y="947451"/>
            <a:ext cx="6758151" cy="619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1. Dose chart for adrenaline as per age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2. 1 mL ampoule of adrenaline (1:1000) – 3 nos.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3. 1 mL tuberculin syringes / 40 unit insulin 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syringes with detachable needle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 – 3 nos.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4. 24/25 G needles of 1 inch length – 3 nos. 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5.  Swabs – 3 nos. 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6. Up to date contact information of Medical  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     Officer(s) of PHC/CHC and local ambulance     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      services. 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7. Format for quarterly certification of anaphylaxis </a:t>
            </a: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31F20"/>
              </a:buClr>
              <a:buSzPts val="1200"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anose="020F0502020204030204" pitchFamily="34" charset="0"/>
                <a:cs typeface="Times New Roman" panose="02020603050405020304" pitchFamily="18" charset="0"/>
              </a:rPr>
              <a:t>    kit by Medical Officer of PHC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309106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3510-DB27-46D7-88F1-4FB2C0A8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3545"/>
            <a:ext cx="11029616" cy="914400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Dose of Adrenaline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3C195-A186-4014-AAE2-A0BBBFA5B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502" y="1059366"/>
            <a:ext cx="11459506" cy="1092817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00206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Adrenaline is the drug of choice to treat anaphylaxis</a:t>
            </a:r>
          </a:p>
          <a:p>
            <a:r>
              <a:rPr lang="en-IN" sz="2000" b="1" dirty="0">
                <a:solidFill>
                  <a:srgbClr val="00206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Ensure adequate stock of adrenaline for supplying to sessions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9B120-C776-46DD-8390-38B090F2D50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255" y="1858674"/>
            <a:ext cx="5638569" cy="4567760"/>
          </a:xfrm>
          <a:prstGeom prst="rect">
            <a:avLst/>
          </a:prstGeom>
          <a:noFill/>
          <a:ln w="28575"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914F00-F6BE-4663-ACE0-B71B82B11EB3}"/>
              </a:ext>
            </a:extLst>
          </p:cNvPr>
          <p:cNvGraphicFramePr>
            <a:graphicFrameLocks noGrp="1"/>
          </p:cNvGraphicFramePr>
          <p:nvPr/>
        </p:nvGraphicFramePr>
        <p:xfrm>
          <a:off x="390145" y="1943176"/>
          <a:ext cx="5787632" cy="4398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875">
                  <a:extLst>
                    <a:ext uri="{9D8B030D-6E8A-4147-A177-3AD203B41FA5}">
                      <a16:colId xmlns:a16="http://schemas.microsoft.com/office/drawing/2014/main" val="1384699317"/>
                    </a:ext>
                  </a:extLst>
                </a:gridCol>
                <a:gridCol w="2118731">
                  <a:extLst>
                    <a:ext uri="{9D8B030D-6E8A-4147-A177-3AD203B41FA5}">
                      <a16:colId xmlns:a16="http://schemas.microsoft.com/office/drawing/2014/main" val="885419935"/>
                    </a:ext>
                  </a:extLst>
                </a:gridCol>
                <a:gridCol w="2509026">
                  <a:extLst>
                    <a:ext uri="{9D8B030D-6E8A-4147-A177-3AD203B41FA5}">
                      <a16:colId xmlns:a16="http://schemas.microsoft.com/office/drawing/2014/main" val="788462024"/>
                    </a:ext>
                  </a:extLst>
                </a:gridCol>
              </a:tblGrid>
              <a:tr h="164857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Age (in years)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Needle for intramuscular injection 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Age specific dose of adrenaline (1:1000)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 ml (tuberculin) or units (insulin)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8081925"/>
                  </a:ext>
                </a:extLst>
              </a:tr>
              <a:tr h="3635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>
                          <a:effectLst/>
                          <a:latin typeface="Century Gothic" panose="020B0502020202020204" pitchFamily="34" charset="0"/>
                        </a:rPr>
                        <a:t>Adults</a:t>
                      </a:r>
                      <a:endParaRPr lang="en-IN" sz="200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 rowSpan="5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endParaRPr lang="en-US" sz="200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</a:rPr>
                        <a:t>  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entury Gothic" panose="020B0502020202020204" pitchFamily="34" charset="0"/>
                        </a:rPr>
                        <a:t>1 inch 24G or 25G </a:t>
                      </a:r>
                      <a:endParaRPr lang="en-IN" sz="180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endParaRPr lang="en-IN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</a:rPr>
                        <a:t>0.5 ml / 20 units</a:t>
                      </a:r>
                      <a:endParaRPr lang="en-IN" sz="2000" dirty="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66935196"/>
                  </a:ext>
                </a:extLst>
              </a:tr>
              <a:tr h="5829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</a:rPr>
                        <a:t>12-18</a:t>
                      </a:r>
                      <a:endParaRPr lang="en-IN" sz="2000" dirty="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</a:rPr>
                        <a:t>0.3 ml / 12 units</a:t>
                      </a:r>
                      <a:endParaRPr lang="en-IN" sz="2000" dirty="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4478586"/>
                  </a:ext>
                </a:extLst>
              </a:tr>
              <a:tr h="5829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</a:rPr>
                        <a:t>6-12</a:t>
                      </a:r>
                      <a:endParaRPr lang="en-IN" sz="2000" dirty="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entury Gothic" panose="020B0502020202020204" pitchFamily="34" charset="0"/>
                        </a:rPr>
                        <a:t>1 inch long of 24G or 25G </a:t>
                      </a:r>
                      <a:endParaRPr lang="en-IN" sz="1800" dirty="0">
                        <a:effectLst/>
                        <a:latin typeface="Century Gothic" panose="020B0502020202020204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</a:rPr>
                        <a:t>0.2 ml / 8 units</a:t>
                      </a:r>
                      <a:endParaRPr lang="en-IN" sz="2000" dirty="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88215244"/>
                  </a:ext>
                </a:extLst>
              </a:tr>
              <a:tr h="58296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>
                          <a:effectLst/>
                          <a:latin typeface="Century Gothic" panose="020B0502020202020204" pitchFamily="34" charset="0"/>
                        </a:rPr>
                        <a:t>1-6</a:t>
                      </a:r>
                      <a:endParaRPr lang="en-IN" sz="200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>
                          <a:effectLst/>
                          <a:latin typeface="Century Gothic" panose="020B0502020202020204" pitchFamily="34" charset="0"/>
                        </a:rPr>
                        <a:t>0.1 ml / 4 units</a:t>
                      </a:r>
                      <a:endParaRPr lang="en-IN" sz="200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7486384"/>
                  </a:ext>
                </a:extLst>
              </a:tr>
              <a:tr h="56597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</a:rPr>
                        <a:t>0-1</a:t>
                      </a:r>
                      <a:endParaRPr lang="en-IN" sz="2000" dirty="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975"/>
                        </a:spcBef>
                      </a:pPr>
                      <a:r>
                        <a:rPr lang="en-US" sz="2000" dirty="0">
                          <a:effectLst/>
                          <a:latin typeface="Century Gothic" panose="020B0502020202020204" pitchFamily="34" charset="0"/>
                        </a:rPr>
                        <a:t>0.05 ml / 2 units</a:t>
                      </a:r>
                      <a:endParaRPr lang="en-IN" sz="2000" dirty="0">
                        <a:solidFill>
                          <a:srgbClr val="282829"/>
                        </a:solidFill>
                        <a:effectLst/>
                        <a:latin typeface="Century Gothic" panose="020B050202020202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316662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047807D-1C9D-4AC3-A452-04950B7DB441}"/>
              </a:ext>
            </a:extLst>
          </p:cNvPr>
          <p:cNvSpPr/>
          <p:nvPr/>
        </p:nvSpPr>
        <p:spPr>
          <a:xfrm>
            <a:off x="390145" y="5836480"/>
            <a:ext cx="5787632" cy="355011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8FC586-E6C4-4EAF-A807-D459125173DB}"/>
              </a:ext>
            </a:extLst>
          </p:cNvPr>
          <p:cNvSpPr/>
          <p:nvPr/>
        </p:nvSpPr>
        <p:spPr>
          <a:xfrm>
            <a:off x="6346387" y="2555838"/>
            <a:ext cx="4777281" cy="304255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3256164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42F4-9653-2BE1-84DA-C6A8E9CC1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13" y="34620"/>
            <a:ext cx="11790723" cy="827530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Difference between AEFI Kit and Anaphylaxis kit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6D837-EF73-8D3B-2F96-1D05974F8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DDF1A1-2A1C-0894-93AD-25950B1A6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713" y="862149"/>
            <a:ext cx="11207931" cy="59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71429831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6BD7-262A-79DE-CDE7-4894B820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7410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altLang="en-US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Reporting of AEFIs </a:t>
            </a:r>
            <a:br>
              <a:rPr lang="en-US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846CAC-FB29-3A4C-4E60-C9E2ED1CF3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55" y="969485"/>
            <a:ext cx="4540018" cy="5009203"/>
          </a:xfrm>
          <a:prstGeom prst="rect">
            <a:avLst/>
          </a:prstGeom>
          <a:ln>
            <a:solidFill>
              <a:srgbClr val="000000"/>
            </a:solidFill>
          </a:ln>
          <a:effectLst>
            <a:softEdge rad="112500"/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B3928-6AB8-D4FE-90B3-F4A1BFEDB74D}"/>
              </a:ext>
            </a:extLst>
          </p:cNvPr>
          <p:cNvSpPr/>
          <p:nvPr/>
        </p:nvSpPr>
        <p:spPr>
          <a:xfrm>
            <a:off x="4847223" y="1104353"/>
            <a:ext cx="6875552" cy="5647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All adverse events following any vaccination must be reported.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 AEFI can be reported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anytime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irrespective of the time duration between vaccination and adverse event or between adverse event and reporting.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AEFI can be reported after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any vaccine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whether: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Given in the UIP schedule or not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Given in routine or campaign mode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Given in a government or private setting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Beneficiary is a child or adult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Record all AEFIs 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UIP vaccines-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minor, severe and serious ones through U-WIN- SAFEVAC and in AEFI registers (minor). 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Non-UIP vaccines-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severe &amp; serious through SAFE-VAC.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AEFI registers should be available at health facilities like planning units and CCPs.</a:t>
            </a:r>
          </a:p>
          <a:p>
            <a:pPr marL="22860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D86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Minor AEFIs are not followed up for investigations and causality assessments. They are reported in HMIS every month.</a:t>
            </a:r>
          </a:p>
        </p:txBody>
      </p:sp>
    </p:spTree>
    <p:extLst>
      <p:ext uri="{BB962C8B-B14F-4D97-AF65-F5344CB8AC3E}">
        <p14:creationId xmlns:p14="http://schemas.microsoft.com/office/powerpoint/2010/main" val="2087348713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8FA7-4943-6FC8-2081-6714996B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672029"/>
          </a:xfrm>
          <a:solidFill>
            <a:srgbClr val="7030A0"/>
          </a:solidFill>
        </p:spPr>
        <p:txBody>
          <a:bodyPr>
            <a:noAutofit/>
          </a:bodyPr>
          <a:lstStyle/>
          <a:p>
            <a:pPr algn="ctr"/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Immunization Wastes Segregation</a:t>
            </a:r>
            <a:br>
              <a:rPr lang="en-IN" sz="4800" b="1" dirty="0">
                <a:solidFill>
                  <a:schemeClr val="bg1"/>
                </a:solidFill>
              </a:rPr>
            </a:br>
            <a:endParaRPr lang="en-IN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F607D8-B3C7-3483-E5AD-A1BA88A090D9}"/>
              </a:ext>
            </a:extLst>
          </p:cNvPr>
          <p:cNvGraphicFramePr>
            <a:graphicFrameLocks/>
          </p:cNvGraphicFramePr>
          <p:nvPr/>
        </p:nvGraphicFramePr>
        <p:xfrm>
          <a:off x="815248" y="963931"/>
          <a:ext cx="10011248" cy="5525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698">
                  <a:extLst>
                    <a:ext uri="{9D8B030D-6E8A-4147-A177-3AD203B41FA5}">
                      <a16:colId xmlns:a16="http://schemas.microsoft.com/office/drawing/2014/main" val="2177884592"/>
                    </a:ext>
                  </a:extLst>
                </a:gridCol>
                <a:gridCol w="3400889">
                  <a:extLst>
                    <a:ext uri="{9D8B030D-6E8A-4147-A177-3AD203B41FA5}">
                      <a16:colId xmlns:a16="http://schemas.microsoft.com/office/drawing/2014/main" val="156465975"/>
                    </a:ext>
                  </a:extLst>
                </a:gridCol>
                <a:gridCol w="4306661">
                  <a:extLst>
                    <a:ext uri="{9D8B030D-6E8A-4147-A177-3AD203B41FA5}">
                      <a16:colId xmlns:a16="http://schemas.microsoft.com/office/drawing/2014/main" val="1254725148"/>
                    </a:ext>
                  </a:extLst>
                </a:gridCol>
              </a:tblGrid>
              <a:tr h="59235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Immunization Logistic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Particulars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Bags/Containers used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13822"/>
                  </a:ext>
                </a:extLst>
              </a:tr>
              <a:tr h="865412">
                <a:tc rowSpan="2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 Syringes with packing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Cut hub of AD and disposable syringes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White</a:t>
                      </a:r>
                    </a:p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[White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coloured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translucent, puncture-proof, leak-proof, tamper-proof containers]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142071"/>
                  </a:ext>
                </a:extLst>
              </a:tr>
              <a:tr h="304522">
                <a:tc v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Plastic part of Syringe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Red</a:t>
                      </a:r>
                    </a:p>
                    <a:p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[Red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coloured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non- chlorinated plastic bags (having thickness &gt; 50 micron or containers)]</a:t>
                      </a:r>
                    </a:p>
                  </a:txBody>
                  <a:tcPr marL="61980" marR="61980" marT="30990" marB="309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598773"/>
                  </a:ext>
                </a:extLst>
              </a:tr>
              <a:tr h="304522">
                <a:tc rowSpan="2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Vaccine parts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Vaccine adapter &amp; dropper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456059"/>
                  </a:ext>
                </a:extLst>
              </a:tr>
              <a:tr h="304522">
                <a:tc v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Oral syringe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153937"/>
                  </a:ext>
                </a:extLst>
              </a:tr>
              <a:tr h="30452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Gloves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used gloves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270463"/>
                  </a:ext>
                </a:extLst>
              </a:tr>
              <a:tr h="304522">
                <a:tc rowSpan="2"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Ampoules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Ampoules (plastic)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631831"/>
                  </a:ext>
                </a:extLst>
              </a:tr>
              <a:tr h="304522"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Ampoules (glass)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Blue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[Container/ cardboard boxes with blue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coloured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 p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uncture-proof, temper-proof containers]</a:t>
                      </a:r>
                    </a:p>
                    <a:p>
                      <a:endParaRPr lang="en-US" sz="1400" dirty="0">
                        <a:solidFill>
                          <a:schemeClr val="tx1"/>
                        </a:solidFill>
                        <a:highlight>
                          <a:srgbClr val="0000FF"/>
                        </a:highlight>
                      </a:endParaRP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992618"/>
                  </a:ext>
                </a:extLst>
              </a:tr>
              <a:tr h="481521">
                <a:tc rowSpan="3"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Vaccines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Expired vaccine or Discarded vaccine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069707"/>
                  </a:ext>
                </a:extLst>
              </a:tr>
              <a:tr h="304522"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Broken vials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21223"/>
                  </a:ext>
                </a:extLst>
              </a:tr>
              <a:tr h="304522"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Empty unbroken vials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327152"/>
                  </a:ext>
                </a:extLst>
              </a:tr>
              <a:tr h="540495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Cotton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Cotton contaminated with Blood or body fluid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Yellow</a:t>
                      </a:r>
                    </a:p>
                    <a:p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[Yellow </a:t>
                      </a:r>
                      <a:r>
                        <a:rPr lang="en-US" sz="1400" b="0" err="1">
                          <a:solidFill>
                            <a:schemeClr val="tx1"/>
                          </a:solidFill>
                        </a:rPr>
                        <a:t>coloured</a:t>
                      </a: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non chlorinated plastic bags (having thickness &gt; 50 micron or containers)]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185700"/>
                  </a:ext>
                </a:extLst>
              </a:tr>
              <a:tr h="30452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Vitamins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Expired Bottles of Vitamins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053294"/>
                  </a:ext>
                </a:extLst>
              </a:tr>
              <a:tr h="304522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Paracetamol</a:t>
                      </a: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Expired tab/ Syrup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61980" marR="61980" marT="30990" marB="30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60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341602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1F771-B08D-2F65-8A94-2C63EF65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9316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Monitoring and Supervision of RI Programme 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8A5680-E001-2161-6A83-0E60ECC56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778"/>
            <a:ext cx="12192000" cy="559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38228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B9D4F5-FD23-C481-4642-280603B29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5" y="1297043"/>
            <a:ext cx="6533002" cy="317580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491F83C-B1A4-E65F-4085-01A78A3B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5" y="1"/>
            <a:ext cx="12103865" cy="1189038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Reporting and recording of RI Programme 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B5BBB8-96EA-0CBC-6FCF-E6CAE793C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373" y="1297043"/>
            <a:ext cx="5133862" cy="317580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4832A6-2980-36D8-EB3D-147586BEA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6" y="4580852"/>
            <a:ext cx="6533002" cy="2370231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E02B05-13C6-A337-7EB1-5D23B0E7D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188" y="4580851"/>
            <a:ext cx="5482727" cy="2370231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89269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