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A6: Preterm Birth</a:t>
            </a:r>
          </a:p>
          <a:p>
            <a:r>
              <a:t>Module: Day 1 – Maternal Health</a:t>
            </a:r>
          </a:p>
          <a:p/>
          <a:p>
            <a:r>
              <a:t>Key content covered in source deck:</a:t>
            </a:r>
          </a:p>
          <a:p>
            <a:r>
              <a:t>- Topic 6</a:t>
            </a:r>
          </a:p>
          <a:p>
            <a:r>
              <a:t>- Preterm birth - A leading cause of neonatal deaths in India</a:t>
            </a:r>
          </a:p>
          <a:p>
            <a:r>
              <a:t>- Recognizing true labor</a:t>
            </a:r>
          </a:p>
          <a:p>
            <a:r>
              <a:t>- Interventions done in mother to prevent neonatal complications:</a:t>
            </a:r>
          </a:p>
          <a:p>
            <a:r>
              <a:t>- Antenatal Corticosteroids</a:t>
            </a:r>
          </a:p>
          <a:p>
            <a:r>
              <a:t>- Antibiotics</a:t>
            </a:r>
          </a:p>
          <a:p>
            <a:r>
              <a:t>- Tocolytics</a:t>
            </a:r>
          </a:p>
          <a:p>
            <a:r>
              <a:t>- ANCS can be given by MPHW(F) at periphery with referral of case for delivery at higher centre (if delivery is not imminent)</a:t>
            </a:r>
          </a:p>
          <a:p>
            <a:r>
              <a:t>- Decision of other interventions is taken by doctor only at higher center.</a:t>
            </a:r>
          </a:p>
          <a:p>
            <a:r>
              <a:t>- Antenatal corticosteroids</a:t>
            </a:r>
          </a:p>
          <a:p>
            <a:r>
              <a:t>- Estimation of correct gestational age is a critical function before administering  ANCS</a:t>
            </a:r>
          </a:p>
          <a:p>
            <a:r>
              <a:t>- For true preterm labor between 24-34 weeks gestation give antenatal corticosteroids to mother for baby’s lung maturity</a:t>
            </a:r>
          </a:p>
          <a:p>
            <a:r>
              <a:t>- What ANCS to give?</a:t>
            </a:r>
          </a:p>
          <a:p>
            <a:r>
              <a:t>- If women is in initial stage of labor 1st dose of ANCs should be administered by MPHW(F) or CHO  and refer to higher center.</a:t>
            </a:r>
          </a:p>
          <a:p>
            <a:r>
              <a:t>- Once 4 doses completed, no need to give another dose for rest of the pregnancy period.</a:t>
            </a:r>
          </a:p>
          <a:p>
            <a:r>
              <a:t>- When to give and when not to give ANCS</a:t>
            </a:r>
          </a:p>
          <a:p>
            <a:r>
              <a:t>- Indications</a:t>
            </a:r>
          </a:p>
          <a:p>
            <a:r>
              <a:t>- True preterm labor (between 24-34 weeks of gestation)</a:t>
            </a:r>
          </a:p>
          <a:p>
            <a:r>
              <a:t>- Conditions that lead to imminent delivery (between 24-34 weeks of gestation)</a:t>
            </a:r>
          </a:p>
          <a:p>
            <a:r>
              <a:t>- Antepartum hemorrhage</a:t>
            </a:r>
          </a:p>
          <a:p>
            <a:r>
              <a:t>- Preterm pre-labor rupture of membranes</a:t>
            </a:r>
          </a:p>
          <a:p>
            <a:r>
              <a:t>- Severe pre-eclampsia/eclampsia</a:t>
            </a:r>
          </a:p>
          <a:p>
            <a:r>
              <a:t>- Contraindications</a:t>
            </a:r>
          </a:p>
          <a:p>
            <a:r>
              <a:t>- Frank chorioamnionitis (absolute contraindication)</a:t>
            </a:r>
          </a:p>
          <a:p>
            <a:r>
              <a:t>- Signs and symptoms of chorioamnionitis</a:t>
            </a:r>
          </a:p>
          <a:p/>
          <a:p>
            <a:r>
              <a:t>Facilitator reminder: cross-check this section against the training checklist (module_A / grp_A6) in the KoboToolBox facilitation 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6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1325880"/>
            <a:ext cx="4206240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DAY 1 – MATERNAL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E0E0E0"/>
                </a:solidFill>
                <a:latin typeface="Arial"/>
              </a:defRPr>
            </a:pPr>
            <a:r>
              <a:t>Section A6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675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mbria"/>
              </a:defRPr>
            </a:pPr>
            <a:r>
              <a:t>Preterm Birth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CCCC"/>
                </a:solidFill>
                <a:latin typeface="Arial"/>
              </a:defRPr>
            </a:pPr>
            <a:r>
              <a:t>Maternal &amp; Child Health Presentation – Facilitator Kit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