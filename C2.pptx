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C2: Guidance Note on Optimizing Postnatal Care</a:t>
            </a:r>
          </a:p>
          <a:p>
            <a:r>
              <a:t>Module: Day 2 – Programs &amp; Systems</a:t>
            </a:r>
          </a:p>
          <a:p/>
          <a:p>
            <a:r>
              <a:t>Key content covered in source deck:</a:t>
            </a:r>
          </a:p>
          <a:p>
            <a:r>
              <a:t>- “Guidance Note on Optimizing Post-Natal Care”</a:t>
            </a:r>
          </a:p>
          <a:p>
            <a:r>
              <a:t>- Topic: 2</a:t>
            </a:r>
          </a:p>
          <a:p>
            <a:r>
              <a:t>- Framework to identify the high-risk post-natal mother</a:t>
            </a:r>
          </a:p>
          <a:p>
            <a:r>
              <a:t>- The high-risk mother identified during post-natal period may be a pre- identified high-risk pregnancy (HRP during antenatal period) or may develop complications for the first time during post-natal period.</a:t>
            </a:r>
          </a:p>
          <a:p>
            <a:r>
              <a:t>- Pre-identified HRP- covered under PMSMA &amp; e PMSMA</a:t>
            </a:r>
          </a:p>
          <a:p>
            <a:r>
              <a:t>- • If post-natal mother was already identified as high-risk pregnancy during her PMSMA visit, the concerned ASHA will make HBNC visits after delivery, as per the schedule and shall be entitled to Rs.500/-per HRP for healthy outcome of both mother and newborn at 45th day of delivery, under extended PMSMA scheme</a:t>
            </a:r>
          </a:p>
          <a:p>
            <a:r>
              <a:t>- FEATURES OF NEW PROGRAMME</a:t>
            </a:r>
          </a:p>
          <a:p>
            <a:r>
              <a:t>- High risk identified in post-natal period- covered under Scheme for optimizing PNC care</a:t>
            </a:r>
          </a:p>
          <a:p>
            <a:r>
              <a:t>- If post-natal mother was normal throughout her ANC period but was later screened positive for any of the danger signs during HBNC visits by ASHA, she will be referred to the nearest healthcare facility/PMSMA / e- PMSMA  session for diagnosis, management and further follow up visits.</a:t>
            </a:r>
          </a:p>
          <a:p>
            <a:r>
              <a:t>- Such identified woman is entitled for transport and in-facility services through 108</a:t>
            </a:r>
          </a:p>
          <a:p>
            <a:r>
              <a:t>- Subsequent to confirmation and management of the high-risk condition by the Medical Officer/OBGY specialist, and on achieving a healthy outcome for both mother and the baby, the concerned ASHA will be incentivized @ Rs.250/-per high-risk post-natal mother, after 45th day of delivery.</a:t>
            </a:r>
          </a:p>
          <a:p>
            <a:r>
              <a:t>- The confirmation of a healthy outcome of mother and baby shall be done by concerned MO/ANM.</a:t>
            </a:r>
          </a:p>
          <a:p>
            <a:r>
              <a:t>- Reporting, Monitoring and Evaluation</a:t>
            </a:r>
          </a:p>
          <a:p>
            <a:r>
              <a:t>- The line listing of Post-natal high-risk mothers shall be captured in the existing PMSMA register/PMSMA portal by incorporating the following data elements:</a:t>
            </a:r>
          </a:p>
          <a:p>
            <a:r>
              <a:t>- ➢ Whether the Post-natal mother confirmed as high risk by Medical Officer</a:t>
            </a:r>
          </a:p>
          <a:p>
            <a:r>
              <a:t>- ➢ If yes, the status of mother and baby after 45 days of delivery</a:t>
            </a:r>
          </a:p>
          <a:p>
            <a:r>
              <a:t>- ➢ Incentive paid to ASHA (Yes/No)</a:t>
            </a:r>
          </a:p>
          <a:p>
            <a:r>
              <a:t>- Indicator to be monitored: Percentage of High-risk mothers identified during postnatal period (Calculation: Numerator – Number of Post Natal high risk mothers detected. Denominator- Total number of deliveries)</a:t>
            </a:r>
          </a:p>
          <a:p>
            <a:r>
              <a:t>- ASHA payment status under PFMS shall be reviewed on a regular basis to cross-check and match the reported high-risk mothers found at HBNC visit and their healthy outcome at 45th day of delivery</a:t>
            </a:r>
          </a:p>
          <a:p/>
          <a:p>
            <a:r>
              <a:t>Facilitator reminder: cross-check this section against the training checklist (module_C / grp_C2) in the KoboToolBox facilitation kit.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2_cover.png"/>
          <p:cNvPicPr>
            <a:picLocks noChangeAspect="1"/>
          </p:cNvPicPr>
          <p:nvPr/>
        </p:nvPicPr>
        <p:blipFill>
          <a:blip r:embed="rId2"/>
          <a:stretch>
            <a:fillRect/>
          </a:stretch>
        </p:blipFill>
        <p:spPr>
          <a:xfrm>
            <a:off x="7345375" y="1325880"/>
            <a:ext cx="4206240" cy="4206240"/>
          </a:xfrm>
          <a:prstGeom prst="rect">
            <a:avLst/>
          </a:prstGeom>
        </p:spPr>
      </p:pic>
      <p:sp>
        <p:nvSpPr>
          <p:cNvPr id="4" name="TextBox 3"/>
          <p:cNvSpPr txBox="1"/>
          <p:nvPr/>
        </p:nvSpPr>
        <p:spPr>
          <a:xfrm>
            <a:off x="640080" y="640080"/>
            <a:ext cx="6400800" cy="457200"/>
          </a:xfrm>
          <a:prstGeom prst="rect">
            <a:avLst/>
          </a:prstGeom>
          <a:noFill/>
        </p:spPr>
        <p:txBody>
          <a:bodyPr wrap="none">
            <a:spAutoFit/>
          </a:bodyPr>
          <a:lstStyle/>
          <a:p>
            <a:pPr>
              <a:defRPr sz="1600" b="1">
                <a:solidFill>
                  <a:srgbClr val="FFFFFF"/>
                </a:solidFill>
                <a:latin typeface="Arial"/>
              </a:defRPr>
            </a:pPr>
            <a:r>
              <a:t>DAY 2 – PROGRAMS &amp; SYSTEMS</a:t>
            </a:r>
          </a:p>
        </p:txBody>
      </p:sp>
      <p:sp>
        <p:nvSpPr>
          <p:cNvPr id="5" name="TextBox 4"/>
          <p:cNvSpPr txBox="1"/>
          <p:nvPr/>
        </p:nvSpPr>
        <p:spPr>
          <a:xfrm>
            <a:off x="640080" y="1097280"/>
            <a:ext cx="6400800" cy="457200"/>
          </a:xfrm>
          <a:prstGeom prst="rect">
            <a:avLst/>
          </a:prstGeom>
          <a:noFill/>
        </p:spPr>
        <p:txBody>
          <a:bodyPr wrap="none">
            <a:spAutoFit/>
          </a:bodyPr>
          <a:lstStyle/>
          <a:p>
            <a:pPr>
              <a:defRPr sz="1400" i="1">
                <a:solidFill>
                  <a:srgbClr val="E0E0E0"/>
                </a:solidFill>
                <a:latin typeface="Arial"/>
              </a:defRPr>
            </a:pPr>
            <a:r>
              <a:t>Section C2</a:t>
            </a:r>
          </a:p>
        </p:txBody>
      </p:sp>
      <p:sp>
        <p:nvSpPr>
          <p:cNvPr id="6" name="TextBox 5"/>
          <p:cNvSpPr txBox="1"/>
          <p:nvPr/>
        </p:nvSpPr>
        <p:spPr>
          <a:xfrm>
            <a:off x="640080" y="1828800"/>
            <a:ext cx="6675120" cy="3200400"/>
          </a:xfrm>
          <a:prstGeom prst="rect">
            <a:avLst/>
          </a:prstGeom>
          <a:noFill/>
        </p:spPr>
        <p:txBody>
          <a:bodyPr wrap="square">
            <a:spAutoFit/>
          </a:bodyPr>
          <a:lstStyle/>
          <a:p>
            <a:pPr>
              <a:defRPr sz="4000" b="1">
                <a:solidFill>
                  <a:srgbClr val="FFFFFF"/>
                </a:solidFill>
                <a:latin typeface="Cambria"/>
              </a:defRPr>
            </a:pPr>
            <a:r>
              <a:t>Guidance Note on Optimizing Postnatal Care</a:t>
            </a:r>
          </a:p>
        </p:txBody>
      </p:sp>
      <p:sp>
        <p:nvSpPr>
          <p:cNvPr id="7" name="TextBox 6"/>
          <p:cNvSpPr txBox="1"/>
          <p:nvPr/>
        </p:nvSpPr>
        <p:spPr>
          <a:xfrm>
            <a:off x="640080" y="6126480"/>
            <a:ext cx="7315200" cy="457200"/>
          </a:xfrm>
          <a:prstGeom prst="rect">
            <a:avLst/>
          </a:prstGeom>
          <a:noFill/>
        </p:spPr>
        <p:txBody>
          <a:bodyPr wrap="none">
            <a:spAutoFit/>
          </a:bodyPr>
          <a:lstStyle/>
          <a:p>
            <a:pPr>
              <a:defRPr sz="1100">
                <a:solidFill>
                  <a:srgbClr val="CCCCCC"/>
                </a:solidFill>
                <a:latin typeface="Arial"/>
              </a:defRPr>
            </a:pPr>
            <a:r>
              <a:t>Maternal &amp; Child Health Presentation – Facilitator Kit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