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882" r:id="rId372"/>
    <p:sldId id="2147470883" r:id="rId373"/>
    <p:sldId id="2147470884" r:id="rId374"/>
    <p:sldId id="2147470885" r:id="rId375"/>
    <p:sldId id="2147470886" r:id="rId376"/>
    <p:sldId id="2147470887" r:id="rId377"/>
    <p:sldId id="2147470888" r:id="rId378"/>
    <p:sldId id="2147470889" r:id="rId379"/>
    <p:sldId id="2147470890" r:id="rId380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72" Type="http://schemas.openxmlformats.org/officeDocument/2006/relationships/slide" Target="slides/slide362.xml"/><Relationship Id="rId373" Type="http://schemas.openxmlformats.org/officeDocument/2006/relationships/slide" Target="slides/slide363.xml"/><Relationship Id="rId374" Type="http://schemas.openxmlformats.org/officeDocument/2006/relationships/slide" Target="slides/slide364.xml"/><Relationship Id="rId375" Type="http://schemas.openxmlformats.org/officeDocument/2006/relationships/slide" Target="slides/slide365.xml"/><Relationship Id="rId376" Type="http://schemas.openxmlformats.org/officeDocument/2006/relationships/slide" Target="slides/slide366.xml"/><Relationship Id="rId377" Type="http://schemas.openxmlformats.org/officeDocument/2006/relationships/slide" Target="slides/slide367.xml"/><Relationship Id="rId378" Type="http://schemas.openxmlformats.org/officeDocument/2006/relationships/slide" Target="slides/slide368.xml"/><Relationship Id="rId379" Type="http://schemas.openxmlformats.org/officeDocument/2006/relationships/slide" Target="slides/slide369.xml"/><Relationship Id="rId380" Type="http://schemas.openxmlformats.org/officeDocument/2006/relationships/slide" Target="slides/slide370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9099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6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image" Target="../media/image314.png"/><Relationship Id="rId3" Type="http://schemas.openxmlformats.org/officeDocument/2006/relationships/image" Target="../media/image315.png"/></Relationships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641932" y="1766954"/>
            <a:ext cx="11082343" cy="918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Gill Sans MT" panose="020B0502020104020203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Gill Sans MT" panose="020B0502020104020203" pitchFamily="34" charset="0"/>
                <a:ea typeface="+mj-ea"/>
                <a:cs typeface="+mj-cs"/>
              </a:rPr>
              <a:t>Free Diagnostic (Laboratory)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524000" y="3836217"/>
            <a:ext cx="9144000" cy="1321680"/>
          </a:xfrm>
        </p:spPr>
        <p:txBody>
          <a:bodyPr>
            <a:normAutofit/>
          </a:bodyPr>
          <a:lstStyle/>
          <a:p>
            <a:r>
              <a:rPr lang="en-IN" sz="3200" b="1" dirty="0"/>
              <a:t>Modality : Hybrid( In-house + PPP)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A7327-4F86-B08C-BE16-D55334A91501}"/>
              </a:ext>
            </a:extLst>
          </p:cNvPr>
          <p:cNvSpPr txBox="1"/>
          <p:nvPr/>
        </p:nvSpPr>
        <p:spPr>
          <a:xfrm>
            <a:off x="9579428" y="6096588"/>
            <a:ext cx="1524001" cy="3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11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766449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Test Details As per Notification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58528" cy="4351338"/>
          </a:xfrm>
        </p:spPr>
        <p:txBody>
          <a:bodyPr>
            <a:normAutofit/>
          </a:bodyPr>
          <a:lstStyle/>
          <a:p>
            <a:r>
              <a:rPr lang="en-US" dirty="0"/>
              <a:t>Sub Centre: 16 types of test  against</a:t>
            </a:r>
          </a:p>
          <a:p>
            <a:r>
              <a:rPr lang="en-US" dirty="0"/>
              <a:t>PHC/UPHS: 65 types of tests</a:t>
            </a:r>
          </a:p>
          <a:p>
            <a:r>
              <a:rPr lang="en-US" dirty="0"/>
              <a:t>CHCs/UCHCs: 103 types of tests </a:t>
            </a:r>
          </a:p>
          <a:p>
            <a:r>
              <a:rPr lang="en-US" dirty="0"/>
              <a:t>SDHs:121 types of tests</a:t>
            </a:r>
          </a:p>
          <a:p>
            <a:r>
              <a:rPr lang="en-US" dirty="0"/>
              <a:t>SDHs:145 types at DHHs.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0792" y="4486994"/>
          <a:ext cx="908710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1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Odisha Essential  Diagnostic List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DHH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SDH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CHC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PPP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 test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 House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PPP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0520" y="360880"/>
            <a:ext cx="10515600" cy="288344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List of tests as per Type facility including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3019" y="764854"/>
          <a:ext cx="5483148" cy="5471358"/>
        </p:xfrm>
        <a:graphic>
          <a:graphicData uri="http://schemas.openxmlformats.org/drawingml/2006/table">
            <a:tbl>
              <a:tblPr/>
              <a:tblGrid>
                <a:gridCol w="347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1705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Odisha Essential  Diagnostic List 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7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Sl .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Type of Test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In-house/ PPP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3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DHH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SDH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CHC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PHC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PPP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Hemoglobin (Hb Meter)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Hemoglobin(CBC)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leucocyte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Differential leucocyte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Platelet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Complete blood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Erythrocyte sedimentation rate(ESR)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group and Rh typing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cross matching (Only At Blood Bank)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50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Peripheral blood film(PFB Peripheral Blood Smearwith Pathologist Sl.6) with CBC report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Reticulocyte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Absolute eosinophil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Red Blood Cell Count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Packed Cell Volume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Bleeding time and clotting time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Fibrinogen degradation products (FDP)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D-Dimer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Coombs test direct with titre (At Blood Bank 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Coombs test indirect with titre  (At Blood Bank 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35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Sickling Test for screening of Sickle cell anemia(Test for Sickling /Hb HPLC)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Sickle cell test rapid for screening of Sickle cell anemia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42" marR="7842" marT="78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Thalasemia Studies (Red Cell Indices and Hb HPLC)/Rapid Test for screening 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842" marR="7842" marT="7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08777" y="728285"/>
          <a:ext cx="5596127" cy="5485756"/>
        </p:xfrm>
        <a:graphic>
          <a:graphicData uri="http://schemas.openxmlformats.org/drawingml/2006/table">
            <a:tbl>
              <a:tblPr/>
              <a:tblGrid>
                <a:gridCol w="35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1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Quantitative test for G6PD enzyme deficiency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MP slide method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Malaria rapid test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Prothrombin Time (PT) and INR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Activated partial thromboplastin time 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Mixing study and Factor VIII Assay for Hemophilia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Human chorionic gonadotropin (HCG) (Urine test for pregnancy)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Urine test for ph, specific gravity, leucocyte esterase, glucose, bilirubin, urobiligen, ketone, protein, nitrite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Urine Microscopy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24-hours urinary protein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Urine for microalbumin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Stool for ova and cyst( Stool Microscopy)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Stool for Occult Blood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Semen analysis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for Dengue 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RPR/VDRL test for syphilis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HIV test (Antibodies 1 and 2)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Hepatitis B surface antigen test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519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IgM antibody to hepatitis B core antigen IgM anti-HBc)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HCV Antibody Test (Anti HCV)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b-NO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Sputum, pus etc. for AFB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9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Typhoid test (IgM)</a:t>
                      </a:r>
                    </a:p>
                  </a:txBody>
                  <a:tcPr marL="9031" marR="9031" marT="90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031" marR="9031" marT="903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0520" y="360880"/>
            <a:ext cx="10515600" cy="288344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List of tests as per Type facility including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313" y="611295"/>
          <a:ext cx="5417567" cy="5976690"/>
        </p:xfrm>
        <a:graphic>
          <a:graphicData uri="http://schemas.openxmlformats.org/drawingml/2006/table">
            <a:tbl>
              <a:tblPr/>
              <a:tblGrid>
                <a:gridCol w="34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40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55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sugar(Random Blood Sugar)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sugar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Glucose Tolerance test (GTT)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Bilirubin 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Bilirubin direct and indirect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Serum creatinine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Urea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SGPT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SGOT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Alkaline Phosphatase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S. Total Protein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Albumin &amp; AG ratio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Globulin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Total Cholesterol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Triglycerides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VLDL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HDL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LDL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GGT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Uric acid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Amylase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39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Iron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17338" y="676653"/>
          <a:ext cx="5440677" cy="5879594"/>
        </p:xfrm>
        <a:graphic>
          <a:graphicData uri="http://schemas.openxmlformats.org/drawingml/2006/table">
            <a:tbl>
              <a:tblPr/>
              <a:tblGrid>
                <a:gridCol w="34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9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Total Iron binding capacity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LDH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Glycosylated haemoglobin (HbA1C)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Sodium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Potassium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Calcium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S.Ionised Calcium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S.Chloride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S.Magnesium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Arterial blood gas test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Smear for RTI/STI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Smear for leprosy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66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Gram staining for clinical specimen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Throat swab for Diphtheria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64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Stool for hanging drop for Vibrio Cholera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266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Visual Inspection Acetic Acid (VIA)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rK39 for Kala Azar*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Smear for Filaria*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TB – Mantoux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364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Japanese Encephalitis IgM - Blood, CSF (confirmatory)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Scrub typhus Test*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2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for Leptospirosis*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0520" y="360880"/>
            <a:ext cx="10515600" cy="288344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List of tests as per Type facility including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2027" y="859007"/>
          <a:ext cx="5582156" cy="5486928"/>
        </p:xfrm>
        <a:graphic>
          <a:graphicData uri="http://schemas.openxmlformats.org/drawingml/2006/table">
            <a:tbl>
              <a:tblPr/>
              <a:tblGrid>
                <a:gridCol w="353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0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0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2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for Chikungunya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IgM for Measles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IgM for Hepatitis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IgM for Hepatitis 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7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Rapid antigen detection test for Bacterial meningitis (Meningococci)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S.TSH (including for new-born screening)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T3,T4.TSH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S.Free 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S.Free T4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Ferritin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Troponin - I/Troponin – T(Rapd card)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S.Beta HCG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S.Prolactin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Anti-Mullerian hormone (AMH)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Alfa Feto protein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CA-125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CEA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S.Procalcitonin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PSA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5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S.Vitamin B12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77" y="801857"/>
          <a:ext cx="5440682" cy="5741670"/>
        </p:xfrm>
        <a:graphic>
          <a:graphicData uri="http://schemas.openxmlformats.org/drawingml/2006/table">
            <a:tbl>
              <a:tblPr/>
              <a:tblGrid>
                <a:gridCol w="34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93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Vitamin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TORCH IgM and IgG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S. Thyroid peroxidase antibody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Anti-cyclic citrullinated peptide (anti-CCP)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factor (Quantitative)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CRP(including new born) Quantitative)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 ( Only for PHC)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Anti-nuclear antibody (ANA)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Scrap Cytology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Pap smear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FNAC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CSF analysis (Glucose, CSF protein, ADA, cell count)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Biochemical (CSF/Pleural/Ascitic Fluid)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Cytological (CSF/Pleural/Ascitic Fluid)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ADA((CSF/Pleural/Ascitic Fluid)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Histopathology (Biopsy-Paraffin Section)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Bone marrow examination (Smear Examination &amp;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Cytchemestry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Bone marrow examination (Smear Examination)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Immuhistochemistry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CD4 count (Only At ART Centers)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Viral load count for HCV (PCR)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Viral load count for HBV (PCR)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93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Blood culture(Automated)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0520" y="360880"/>
            <a:ext cx="10515600" cy="288344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List of tests as per Type facility including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9147" y="980817"/>
          <a:ext cx="5792469" cy="5109086"/>
        </p:xfrm>
        <a:graphic>
          <a:graphicData uri="http://schemas.openxmlformats.org/drawingml/2006/table">
            <a:tbl>
              <a:tblPr/>
              <a:tblGrid>
                <a:gridCol w="366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2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Urine culture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Fungal culture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Other cultures (pus, throat swab etc.)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Culture for Diptheria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0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Culture of stool specimen for Vibrio cholerae and other common bacterial enteropathogens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0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Organism identification and antimicrobial sensitivity for cultures (Automated)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Mycobacterial culture and DST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Hemoglobin electrophoresis/HPLC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Protein electrophoresis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93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Nucleic Acid Amplification Test (NAAT) for TB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93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Early Infant Diagstic test for HIV - Qualitative HIV-1 DNA PCR (ICTC)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93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Quantitative virological nucleic acid test for HIV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811107"/>
          <a:ext cx="5952744" cy="5370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225">
                <a:tc gridSpan="3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  <a:p>
                      <a:pPr algn="ctr"/>
                      <a:r>
                        <a:rPr lang="en-US" sz="1600" dirty="0"/>
                        <a:t>Strengthening of In-house Laboratory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372">
                <a:tc>
                  <a:txBody>
                    <a:bodyPr/>
                    <a:lstStyle/>
                    <a:p>
                      <a:r>
                        <a:rPr lang="en-US" sz="1600" dirty="0"/>
                        <a:t>DHH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Establishment Integrated</a:t>
                      </a:r>
                      <a:r>
                        <a:rPr lang="en-US" sz="1600" baseline="0" dirty="0"/>
                        <a:t> Public Health Laboratory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PM-ABHIM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72">
                <a:tc>
                  <a:txBody>
                    <a:bodyPr/>
                    <a:lstStyle/>
                    <a:p>
                      <a:r>
                        <a:rPr lang="en-US" sz="1600" dirty="0"/>
                        <a:t>SDH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Establishment Integrated</a:t>
                      </a:r>
                      <a:r>
                        <a:rPr lang="en-US" sz="1600" baseline="0" dirty="0"/>
                        <a:t> Public Health Laboratory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PM-ABHIM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372">
                <a:tc>
                  <a:txBody>
                    <a:bodyPr/>
                    <a:lstStyle/>
                    <a:p>
                      <a:r>
                        <a:rPr lang="en-US" sz="1600" dirty="0"/>
                        <a:t>CHC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Establishment Integrated</a:t>
                      </a:r>
                      <a:r>
                        <a:rPr lang="en-US" sz="1600" baseline="0" dirty="0"/>
                        <a:t> Public Health Laboratory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PM-ABHIM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372">
                <a:tc>
                  <a:txBody>
                    <a:bodyPr/>
                    <a:lstStyle/>
                    <a:p>
                      <a:r>
                        <a:rPr lang="en-US" sz="1600" dirty="0"/>
                        <a:t>PHC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Establishment Integrated</a:t>
                      </a:r>
                      <a:r>
                        <a:rPr lang="en-US" sz="1600" baseline="0" dirty="0"/>
                        <a:t> Public Health Laboratory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FV-XV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372">
                <a:tc>
                  <a:txBody>
                    <a:bodyPr/>
                    <a:lstStyle/>
                    <a:p>
                      <a:r>
                        <a:rPr lang="en-US" sz="1600" dirty="0"/>
                        <a:t>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Establishment Integrated</a:t>
                      </a:r>
                      <a:r>
                        <a:rPr lang="en-US" sz="1600" baseline="0" dirty="0"/>
                        <a:t> Public Health Laboratory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FV-XV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151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19" y="885243"/>
          <a:ext cx="4709160" cy="5307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3681">
                <a:tc>
                  <a:txBody>
                    <a:bodyPr/>
                    <a:lstStyle/>
                    <a:p>
                      <a:r>
                        <a:rPr lang="en-US" dirty="0" err="1"/>
                        <a:t>SL.No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</a:t>
                      </a:r>
                      <a:r>
                        <a:rPr lang="en-US" baseline="0" dirty="0"/>
                        <a:t> of the HUB 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NABL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Bhubaneswar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Berhampur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Bhadrak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Sambalpur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Operational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Non-NABL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6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Koraput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Operational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4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Bolangir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CE43DD-0273-4693-A8CE-4D0D4CFC5CEB}"/>
              </a:ext>
            </a:extLst>
          </p:cNvPr>
          <p:cNvSpPr/>
          <p:nvPr/>
        </p:nvSpPr>
        <p:spPr>
          <a:xfrm>
            <a:off x="110003" y="217934"/>
            <a:ext cx="11880325" cy="490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63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Status of Health Facilities for  Diagnostic Tests Through PPP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7FA7-E995-4122-9CD6-B75906B20F14}"/>
              </a:ext>
            </a:extLst>
          </p:cNvPr>
          <p:cNvSpPr txBox="1"/>
          <p:nvPr/>
        </p:nvSpPr>
        <p:spPr>
          <a:xfrm>
            <a:off x="354399" y="4486650"/>
            <a:ext cx="11605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+mn-cs"/>
              </a:rPr>
              <a:t>Action Points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+mn-cs"/>
              </a:rPr>
              <a:t>Samples at DHHs, SDHs , CHCs &amp; UCHCs sample are collected by the Phlebotomist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+mn-cs"/>
              </a:rPr>
              <a:t>Krasnaa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+mn-cs"/>
              </a:rPr>
              <a:t> Diagnostic.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+mn-cs"/>
              </a:rPr>
              <a:t>In case of PHCs the samples are to be collected by the  LTs ( Regular / Contractual/ Our Sourced ) engaged by the institution and samples for test need to send to the  CHC Drop-in- Centre  as per the mapping. The samples must be supported by the Test Requisition Form (TRF)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32000" y="719666"/>
          <a:ext cx="5511800" cy="361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2918">
                <a:tc>
                  <a:txBody>
                    <a:bodyPr/>
                    <a:lstStyle/>
                    <a:p>
                      <a:r>
                        <a:rPr lang="en-US" dirty="0"/>
                        <a:t>Type of Health Facility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918">
                <a:tc>
                  <a:txBody>
                    <a:bodyPr/>
                    <a:lstStyle/>
                    <a:p>
                      <a:r>
                        <a:rPr lang="en-US" dirty="0"/>
                        <a:t>DHH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918">
                <a:tc>
                  <a:txBody>
                    <a:bodyPr/>
                    <a:lstStyle/>
                    <a:p>
                      <a:r>
                        <a:rPr lang="en-US" dirty="0"/>
                        <a:t>SDH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918">
                <a:tc>
                  <a:txBody>
                    <a:bodyPr/>
                    <a:lstStyle/>
                    <a:p>
                      <a:r>
                        <a:rPr lang="en-US" dirty="0"/>
                        <a:t>CHC/UCHC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918">
                <a:tc>
                  <a:txBody>
                    <a:bodyPr/>
                    <a:lstStyle/>
                    <a:p>
                      <a:r>
                        <a:rPr lang="en-US" dirty="0"/>
                        <a:t>PHC/UPHC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6520" y="384048"/>
            <a:ext cx="5376672" cy="6107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" y="393192"/>
            <a:ext cx="6108192" cy="6122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