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  <p:sldMasterId id="2147483717" r:id="rId2"/>
    <p:sldMasterId id="2147483729" r:id="rId3"/>
    <p:sldMasterId id="2147483745" r:id="rId4"/>
    <p:sldMasterId id="2147483748" r:id="rId5"/>
    <p:sldMasterId id="2147483766" r:id="rId6"/>
    <p:sldMasterId id="2147483790" r:id="rId7"/>
    <p:sldMasterId id="2147483808" r:id="rId8"/>
    <p:sldMasterId id="2147483821" r:id="rId9"/>
    <p:sldMasterId id="2147483833" r:id="rId10"/>
  </p:sldMasterIdLst>
  <p:notesMasterIdLst>
    <p:notesMasterId r:id="rId391"/>
  </p:notesMasterIdLst>
  <p:handoutMasterIdLst>
    <p:handoutMasterId r:id="rId392"/>
  </p:handoutMasterIdLst>
  <p:sldIdLst>
    <p:sldId id="2147470753" r:id="rId344"/>
    <p:sldId id="2147470754" r:id="rId345"/>
    <p:sldId id="2147470755" r:id="rId346"/>
    <p:sldId id="2147470756" r:id="rId347"/>
    <p:sldId id="2147470875" r:id="rId348"/>
    <p:sldId id="2147470757" r:id="rId349"/>
    <p:sldId id="2147470758" r:id="rId350"/>
    <p:sldId id="2147470759" r:id="rId351"/>
    <p:sldId id="2147470760" r:id="rId352"/>
    <p:sldId id="2147470761" r:id="rId353"/>
    <p:sldId id="2147470762" r:id="rId354"/>
    <p:sldId id="2147470763" r:id="rId355"/>
    <p:sldId id="2147470764" r:id="rId356"/>
    <p:sldId id="2147470765" r:id="rId357"/>
    <p:sldId id="279" r:id="rId358"/>
    <p:sldId id="2147470766" r:id="rId359"/>
    <p:sldId id="2147470767" r:id="rId360"/>
    <p:sldId id="2147470768" r:id="rId361"/>
    <p:sldId id="2147470769" r:id="rId362"/>
    <p:sldId id="2147470876" r:id="rId363"/>
    <p:sldId id="2147470877" r:id="rId364"/>
    <p:sldId id="2147470878" r:id="rId365"/>
  </p:sldIdLst>
  <p:sldSz cx="12192000" cy="6858000"/>
  <p:notesSz cx="7104063" cy="10234613"/>
  <p:custDataLst>
    <p:tags r:id="rId39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807B35-6682-E863-7CDC-BAFFABE6384C}" name="Dande Venkata Sireesha" initials="DS" userId="S::dsireesha@jhpiego.org::38427968-4704-4b19-87c8-b85b3f9240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EA2E52"/>
    <a:srgbClr val="EC848E"/>
    <a:srgbClr val="F3F3F3"/>
    <a:srgbClr val="EAD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–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86"/>
    <p:restoredTop sz="94656"/>
  </p:normalViewPr>
  <p:slideViewPr>
    <p:cSldViewPr snapToGrid="0">
      <p:cViewPr varScale="1">
        <p:scale>
          <a:sx n="59" d="100"/>
          <a:sy n="59" d="100"/>
        </p:scale>
        <p:origin x="9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344" Type="http://schemas.openxmlformats.org/officeDocument/2006/relationships/slide" Target="slides/slide334.xml"/><Relationship Id="rId345" Type="http://schemas.openxmlformats.org/officeDocument/2006/relationships/slide" Target="slides/slide335.xml"/><Relationship Id="rId346" Type="http://schemas.openxmlformats.org/officeDocument/2006/relationships/slide" Target="slides/slide336.xml"/><Relationship Id="rId347" Type="http://schemas.openxmlformats.org/officeDocument/2006/relationships/slide" Target="slides/slide337.xml"/><Relationship Id="rId348" Type="http://schemas.openxmlformats.org/officeDocument/2006/relationships/slide" Target="slides/slide338.xml"/><Relationship Id="rId349" Type="http://schemas.openxmlformats.org/officeDocument/2006/relationships/slide" Target="slides/slide339.xml"/><Relationship Id="rId350" Type="http://schemas.openxmlformats.org/officeDocument/2006/relationships/slide" Target="slides/slide340.xml"/><Relationship Id="rId351" Type="http://schemas.openxmlformats.org/officeDocument/2006/relationships/slide" Target="slides/slide341.xml"/><Relationship Id="rId352" Type="http://schemas.openxmlformats.org/officeDocument/2006/relationships/slide" Target="slides/slide342.xml"/><Relationship Id="rId353" Type="http://schemas.openxmlformats.org/officeDocument/2006/relationships/slide" Target="slides/slide343.xml"/><Relationship Id="rId354" Type="http://schemas.openxmlformats.org/officeDocument/2006/relationships/slide" Target="slides/slide344.xml"/><Relationship Id="rId355" Type="http://schemas.openxmlformats.org/officeDocument/2006/relationships/slide" Target="slides/slide345.xml"/><Relationship Id="rId356" Type="http://schemas.openxmlformats.org/officeDocument/2006/relationships/slide" Target="slides/slide346.xml"/><Relationship Id="rId357" Type="http://schemas.openxmlformats.org/officeDocument/2006/relationships/slide" Target="slides/slide347.xml"/><Relationship Id="rId358" Type="http://schemas.openxmlformats.org/officeDocument/2006/relationships/slide" Target="slides/slide348.xml"/><Relationship Id="rId359" Type="http://schemas.openxmlformats.org/officeDocument/2006/relationships/slide" Target="slides/slide349.xml"/><Relationship Id="rId360" Type="http://schemas.openxmlformats.org/officeDocument/2006/relationships/slide" Target="slides/slide350.xml"/><Relationship Id="rId361" Type="http://schemas.openxmlformats.org/officeDocument/2006/relationships/slide" Target="slides/slide351.xml"/><Relationship Id="rId362" Type="http://schemas.openxmlformats.org/officeDocument/2006/relationships/slide" Target="slides/slide352.xml"/><Relationship Id="rId363" Type="http://schemas.openxmlformats.org/officeDocument/2006/relationships/slide" Target="slides/slide353.xml"/><Relationship Id="rId364" Type="http://schemas.openxmlformats.org/officeDocument/2006/relationships/slide" Target="slides/slide354.xml"/><Relationship Id="rId365" Type="http://schemas.openxmlformats.org/officeDocument/2006/relationships/slide" Target="slides/slide355.xml"/><Relationship Id="rId391" Type="http://schemas.openxmlformats.org/officeDocument/2006/relationships/notesMaster" Target="notesMasters/notesMaster1.xml"/><Relationship Id="rId392" Type="http://schemas.openxmlformats.org/officeDocument/2006/relationships/handoutMaster" Target="handoutMasters/handoutMaster1.xml"/><Relationship Id="rId393" Type="http://schemas.openxmlformats.org/officeDocument/2006/relationships/tags" Target="tags/tag1.xml"/><Relationship Id="rId394" Type="http://schemas.openxmlformats.org/officeDocument/2006/relationships/presProps" Target="presProps.xml"/><Relationship Id="rId395" Type="http://schemas.openxmlformats.org/officeDocument/2006/relationships/viewProps" Target="viewProps.xml"/><Relationship Id="rId396" Type="http://schemas.openxmlformats.org/officeDocument/2006/relationships/theme" Target="theme/theme1.xml"/><Relationship Id="rId397" Type="http://schemas.openxmlformats.org/officeDocument/2006/relationships/tableStyles" Target="tableStyles.xml"/><Relationship Id="rId39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B46732-557D-8FCF-2968-C78E8D821C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8EABF-2835-8D70-EFD7-D1352C40097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12733-6E4E-5DA1-F079-5AD524364E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B399E-D04A-9279-C9B6-F8A6209EEA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61D89-608A-42D6-B691-97ED446F6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9607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80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2B1AF16-7E74-AB49-8480-890ED0DDD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433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0.emf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emf"/><Relationship Id="rId3" Type="http://schemas.openxmlformats.org/officeDocument/2006/relationships/image" Target="../media/image11.jp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jpg"/><Relationship Id="rId3" Type="http://schemas.openxmlformats.org/officeDocument/2006/relationships/image" Target="../media/image6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Relationship Id="rId3" Type="http://schemas.openxmlformats.org/officeDocument/2006/relationships/image" Target="../media/image14.emf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686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FADFBB3-0010-AB5C-E186-10C278329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6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324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74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749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60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20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268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194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28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1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620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9771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589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>
              <a:solidFill>
                <a:srgbClr val="A9432B"/>
              </a:solidFill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lang="en-US" b="1" dirty="0">
                <a:solidFill>
                  <a:srgbClr val="A9432B"/>
                </a:solidFill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36830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615442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6" name="Picture 3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951"/>
          <a:stretch/>
        </p:blipFill>
        <p:spPr bwMode="auto">
          <a:xfrm>
            <a:off x="5486400" y="1282700"/>
            <a:ext cx="914400" cy="549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5533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241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465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755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978" y="2130426"/>
            <a:ext cx="777442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460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47960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01" y="4406901"/>
            <a:ext cx="77744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501" y="2906713"/>
            <a:ext cx="77744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3017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319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411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80452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535113"/>
            <a:ext cx="40412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19" y="2174875"/>
            <a:ext cx="40412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235" y="1535113"/>
            <a:ext cx="4042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235" y="2174875"/>
            <a:ext cx="404282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28788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06038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2563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273050"/>
            <a:ext cx="300909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981" y="273051"/>
            <a:ext cx="511308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319" y="1435101"/>
            <a:ext cx="300909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6130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755" y="4800600"/>
            <a:ext cx="548782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755" y="612775"/>
            <a:ext cx="548782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755" y="5367338"/>
            <a:ext cx="548782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60118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61289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1127" y="274639"/>
            <a:ext cx="20579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319" y="274639"/>
            <a:ext cx="6021368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6157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163E1-6C3C-60C3-2789-C3E7E63F6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4D3A4-B23F-3B2E-408D-8DF1D8B0F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080F2-B751-F031-B6FE-69EDC0E85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B9BBD-9BBB-25A7-41D5-DCCA42054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78240-920C-58B3-614A-1F302EDC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5287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5C77-9BC2-B192-4B16-4E9B70C05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1B5D8-2228-37F5-E92F-100658DC4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4749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142B-386B-1737-E9C6-FAEC38AD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A76D0-7FA6-0F67-38CC-9AE4009EE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92033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7095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3BD0-D992-87FA-F121-40EF7F15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B9A1E-8425-AAAC-A4EF-5C14EDE75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33098-65DF-716A-4270-8B037B243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CAF85E-7457-56FC-7CCA-E5FA3279B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F51DF-B01D-B7B2-73C0-3B32809E3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710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ECCF-340C-CD3E-C2D5-8749FDE8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2647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939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E076A-4A60-1EF6-18EF-0CC70C4B0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987A-C2F5-3E87-0B70-97263EDE0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AEAAC-A628-9B86-3D98-554470387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9737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FB26-0933-6834-6FB9-FFB7D9CD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292AD-78E9-3F9E-1AF3-9880D1B9F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F03C5-C56C-38EC-872B-1FD90EA64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53328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CEA1-ED6E-34C2-B846-352AD62A0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26751-8CD1-BB97-ECE4-857D87C03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3986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F36A2-1BA2-312B-1F1B-B56756E60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E123B-8F1C-5AF7-49CC-E82E7B509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603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732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1 column" type="tx">
  <p:cSld name="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62"/>
          <p:cNvGrpSpPr/>
          <p:nvPr/>
        </p:nvGrpSpPr>
        <p:grpSpPr>
          <a:xfrm>
            <a:off x="-6" y="54"/>
            <a:ext cx="9429907" cy="1769753"/>
            <a:chOff x="-4" y="40"/>
            <a:chExt cx="7072430" cy="1327315"/>
          </a:xfrm>
        </p:grpSpPr>
        <p:sp>
          <p:nvSpPr>
            <p:cNvPr id="63" name="Shape 63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3" name="Shape 64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65" name="Shape 6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Shape 6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4" name="Shape 67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8" name="Shape 6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Shape 6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5" name="Shape 70"/>
          <p:cNvGrpSpPr/>
          <p:nvPr/>
        </p:nvGrpSpPr>
        <p:grpSpPr>
          <a:xfrm>
            <a:off x="9262456" y="5963632"/>
            <a:ext cx="2937107" cy="894393"/>
            <a:chOff x="5575242" y="4472723"/>
            <a:chExt cx="2202830" cy="670795"/>
          </a:xfrm>
        </p:grpSpPr>
        <p:sp>
          <p:nvSpPr>
            <p:cNvPr id="71" name="Shape 71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grpSp>
          <p:nvGrpSpPr>
            <p:cNvPr id="6" name="Shape 72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3" name="Shape 7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4" name="Shape 7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7" name="Shape 7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6" name="Shape 7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7" name="Shape 7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1085700" y="523433"/>
            <a:ext cx="73232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1085700" y="1769800"/>
            <a:ext cx="8176800" cy="41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▰"/>
              <a:defRPr/>
            </a:lvl1pPr>
            <a:lvl2pPr marL="1219170" lvl="1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2pPr>
            <a:lvl3pPr marL="1828754" lvl="2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3pPr>
            <a:lvl4pPr marL="2438339" lvl="3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4pPr>
            <a:lvl5pPr marL="3047924" lvl="4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5pPr>
            <a:lvl6pPr marL="3657509" lvl="5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6pPr>
            <a:lvl7pPr marL="4267093" lvl="6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7pPr>
            <a:lvl8pPr marL="4876678" lvl="7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8pPr>
            <a:lvl9pPr marL="5486263" lvl="8" indent="-507987">
              <a:spcBef>
                <a:spcPts val="1333"/>
              </a:spcBef>
              <a:spcAft>
                <a:spcPts val="1333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10157333" y="6182000"/>
            <a:ext cx="19832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54870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8DD0829-95D3-46D8-B093-1413418E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6C835F-8A38-40CA-AD16-1AC58DCCF624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C412C6-39F5-496E-BCF2-BBC24EBFE035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B64A70-1DD2-468E-A83F-96EFAC819EF3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D3495B4-D984-4156-B4D8-0E6BDBEBDF5A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5340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FEF7DE1-51DA-4A3C-9EA8-305BF43A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F818502-EE7D-47C5-BAC6-32E7714A0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630680"/>
            <a:ext cx="11414754" cy="45462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2BCD-4510-4937-9C1E-F95F6544E965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22E42A-9523-4852-99DB-67E76B0D404D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DDE1E1-2256-42EE-8EA5-A7A3D716556A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7E4FA80-BAA4-4EE2-BE37-23B240E6BBE0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2461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3417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1526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206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83940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92634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9F88-86E9-5CC4-3D6C-657D402BE1B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29D42-6E05-6030-F80E-A6FABF9DC6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2187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0764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6725-11C7-8AC7-11E5-AAC81764F0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8B3E4-BD1E-2992-E55E-6E6220681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00839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A615A-0748-F8E8-2B93-7AC67AD50D2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9835-CA8A-4EF0-5B61-52276E32F0E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6D794-E860-6C81-5A60-35231154E1D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9834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A5897-1ECD-873E-84D3-41BFF8AF3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CCF8A-8FFE-B9BF-52CE-5454D38EE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0B978-03DA-B019-265D-0BAE5354617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1E5E9-54B5-1CB7-85AA-72865A708F4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48F26A-AB96-0F7E-6D39-692237F77A5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40176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2DE27-564F-909C-2474-F9B9D491ABE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0362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7205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1298-7628-BFDD-D448-3ED5060CF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5A0D2-6B79-78A9-264D-4051A8817D0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D71C3-71E0-D242-A6AD-90036E7E37A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A37B5-D886-E370-2885-12BA7BE9BD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D2DA2-D24D-6A82-7B14-AE6FABFF30D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E9A08-69FE-3525-F234-68C458DA827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1850F8-7832-4952-B4BD-14C3E99DE1D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0808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82B1-7FB7-0AD0-C6A5-0AB70BAF62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0B88E-3309-371B-8826-D39EB1724CD8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053A5-672B-38C1-1923-B1F2ACB1B65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8569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B396-7FE9-DBA8-015B-F373BB56C74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18F8A-332B-1E08-CA2B-8890CB0E4CF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1330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5EEB9-6A47-2E58-EC44-0FA558BC00EC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67C5A-CAC2-FCA2-7F34-F582BBEE026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703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D53AEF42-15E7-649A-BE0F-3BDA462B102A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5512979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74515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>
            <a:extLst>
              <a:ext uri="{FF2B5EF4-FFF2-40B4-BE49-F238E27FC236}">
                <a16:creationId xmlns:a16="http://schemas.microsoft.com/office/drawing/2014/main" id="{3CC45D23-C112-4CD7-62D5-4A6E79A16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08985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36CA3EB-8B7D-F2D9-5F80-59E1BB9632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5064349" cy="2482852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1AB2C8-8615-D21C-243F-5F34F55C769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57550"/>
            <a:ext cx="5064349" cy="385767"/>
          </a:xfrm>
        </p:spPr>
        <p:txBody>
          <a:bodyPr>
            <a:noAutofit/>
          </a:bodyPr>
          <a:lstStyle>
            <a:lvl1pPr marL="0" indent="0">
              <a:buNone/>
              <a:defRPr b="1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6EDFD50-C74E-C5A3-69E8-3B0FAC28230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3657600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A1A0F650-68B9-562D-8D12-B3A867861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780122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A1F6C06-3DAF-30D4-CED4-9CD4BC33DD7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A21FE4-21AC-7C61-C60B-9B41566BD4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8107EA4-A580-208A-18B3-1347912116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86B1D2C4-9FDE-0681-35D2-67C0F95881E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211610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13006703-B28E-F11B-D929-1081890B8289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34227F-2ACD-4335-5633-346161E3F3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9332E11-87B4-67B6-3231-AF88218A365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B59DD7D8-489B-89CE-AE41-0F432FA4A7E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93571DC0-72B7-89C4-3E34-22F617D15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453733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9A45FBA7-6C8A-BCA8-BC2D-72EADDA9C099}"/>
              </a:ext>
            </a:extLst>
          </p:cNvPr>
          <p:cNvSpPr/>
          <p:nvPr/>
        </p:nvSpPr>
        <p:spPr>
          <a:xfrm>
            <a:off x="0" y="0"/>
            <a:ext cx="7029449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428"/>
              <a:gd name="f7" fmla="val 4320"/>
              <a:gd name="f8" fmla="val 4150"/>
              <a:gd name="f9" fmla="val 4333"/>
              <a:gd name="f10" fmla="val 3814"/>
              <a:gd name="f11" fmla="val 3278"/>
              <a:gd name="f12" fmla="val 2715"/>
              <a:gd name="f13" fmla="val 1447"/>
              <a:gd name="f14" fmla="val 3970"/>
              <a:gd name="f15" fmla="val 524"/>
              <a:gd name="f16" fmla="val 3271"/>
              <a:gd name="f17" fmla="+- 0 0 -90"/>
              <a:gd name="f18" fmla="*/ f3 1 4428"/>
              <a:gd name="f19" fmla="*/ f4 1 4320"/>
              <a:gd name="f20" fmla="+- f7 0 f5"/>
              <a:gd name="f21" fmla="+- f6 0 f5"/>
              <a:gd name="f22" fmla="*/ f17 f0 1"/>
              <a:gd name="f23" fmla="*/ f21 1 4428"/>
              <a:gd name="f24" fmla="*/ f20 1 4320"/>
              <a:gd name="f25" fmla="*/ 0 f21 1"/>
              <a:gd name="f26" fmla="*/ 4320 f20 1"/>
              <a:gd name="f27" fmla="*/ 4150 f21 1"/>
              <a:gd name="f28" fmla="*/ 4428 f21 1"/>
              <a:gd name="f29" fmla="*/ 2715 f20 1"/>
              <a:gd name="f30" fmla="*/ 3271 f21 1"/>
              <a:gd name="f31" fmla="*/ 0 f20 1"/>
              <a:gd name="f32" fmla="*/ f22 1 f2"/>
              <a:gd name="f33" fmla="*/ f25 1 4428"/>
              <a:gd name="f34" fmla="*/ f26 1 4320"/>
              <a:gd name="f35" fmla="*/ f27 1 4428"/>
              <a:gd name="f36" fmla="*/ f28 1 4428"/>
              <a:gd name="f37" fmla="*/ f29 1 4320"/>
              <a:gd name="f38" fmla="*/ f30 1 4428"/>
              <a:gd name="f39" fmla="*/ f31 1 4320"/>
              <a:gd name="f40" fmla="*/ 0 1 f23"/>
              <a:gd name="f41" fmla="*/ f6 1 f23"/>
              <a:gd name="f42" fmla="*/ 0 1 f24"/>
              <a:gd name="f43" fmla="*/ f7 1 f24"/>
              <a:gd name="f44" fmla="+- f32 0 f1"/>
              <a:gd name="f45" fmla="*/ f33 1 f23"/>
              <a:gd name="f46" fmla="*/ f34 1 f24"/>
              <a:gd name="f47" fmla="*/ f35 1 f23"/>
              <a:gd name="f48" fmla="*/ f36 1 f23"/>
              <a:gd name="f49" fmla="*/ f37 1 f24"/>
              <a:gd name="f50" fmla="*/ f38 1 f23"/>
              <a:gd name="f51" fmla="*/ f39 1 f24"/>
              <a:gd name="f52" fmla="*/ f40 f18 1"/>
              <a:gd name="f53" fmla="*/ f41 f18 1"/>
              <a:gd name="f54" fmla="*/ f43 f19 1"/>
              <a:gd name="f55" fmla="*/ f42 f19 1"/>
              <a:gd name="f56" fmla="*/ f45 f18 1"/>
              <a:gd name="f57" fmla="*/ f46 f19 1"/>
              <a:gd name="f58" fmla="*/ f47 f18 1"/>
              <a:gd name="f59" fmla="*/ f48 f18 1"/>
              <a:gd name="f60" fmla="*/ f49 f19 1"/>
              <a:gd name="f61" fmla="*/ f50 f18 1"/>
              <a:gd name="f62" fmla="*/ f51 f1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4">
                <a:pos x="f56" y="f57"/>
              </a:cxn>
              <a:cxn ang="f44">
                <a:pos x="f58" y="f57"/>
              </a:cxn>
              <a:cxn ang="f44">
                <a:pos x="f59" y="f60"/>
              </a:cxn>
              <a:cxn ang="f44">
                <a:pos x="f61" y="f62"/>
              </a:cxn>
              <a:cxn ang="f44">
                <a:pos x="f56" y="f62"/>
              </a:cxn>
              <a:cxn ang="f44">
                <a:pos x="f56" y="f57"/>
              </a:cxn>
            </a:cxnLst>
            <a:rect l="f52" t="f55" r="f53" b="f54"/>
            <a:pathLst>
              <a:path w="4428" h="4320">
                <a:moveTo>
                  <a:pt x="f5" y="f7"/>
                </a:move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6" y="f11"/>
                  <a:pt x="f6" y="f12"/>
                </a:cubicBezTo>
                <a:cubicBezTo>
                  <a:pt x="f6" y="f13"/>
                  <a:pt x="f14" y="f15"/>
                  <a:pt x="f16" y="f5"/>
                </a:cubicBezTo>
                <a:cubicBezTo>
                  <a:pt x="f5" y="f5"/>
                  <a:pt x="f5" y="f5"/>
                  <a:pt x="f5" y="f5"/>
                </a:cubicBezTo>
                <a:lnTo>
                  <a:pt x="f5" y="f7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BF3618-DAA6-10EB-423C-97C038864E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1972854"/>
            <a:ext cx="5441539" cy="1401628"/>
          </a:xfrm>
        </p:spPr>
        <p:txBody>
          <a:bodyPr anchor="b"/>
          <a:lstStyle>
            <a:lvl1pPr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C92BA2-A637-A4A9-3337-346AF856549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81955"/>
            <a:ext cx="5441539" cy="1454179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3400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22D4199-90D5-18E8-BD7B-13DA11943A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5032372"/>
            <a:ext cx="3803017" cy="90169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5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17">
            <a:extLst>
              <a:ext uri="{FF2B5EF4-FFF2-40B4-BE49-F238E27FC236}">
                <a16:creationId xmlns:a16="http://schemas.microsoft.com/office/drawing/2014/main" id="{0493544F-A4AD-6882-0901-8CF58EC5EF5A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3">
            <a:extLst>
              <a:ext uri="{FF2B5EF4-FFF2-40B4-BE49-F238E27FC236}">
                <a16:creationId xmlns:a16="http://schemas.microsoft.com/office/drawing/2014/main" id="{AE8B770A-4B49-FE64-C2F6-C2E7ED80A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11168092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259E-702F-ED73-90BE-A6345F828FC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62A64-D988-C1C4-C8A2-8CC0BD6DDED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394066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614C-625B-05B0-3B53-76601251CE6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66167-0D7E-D130-B4D9-B71C887CE15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04996"/>
            <a:ext cx="9115717" cy="4271967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9080217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E5B143AE-91AF-3B47-44FE-63325EE14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4204F10-954C-B383-07B0-27B2459E8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3505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1D64489-A629-32AD-A625-EE2CF20E4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3505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4B1766-6724-1A5E-0B3D-8BA201C10FF9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1776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5A99B41E-A7F3-FFDA-7BE6-5CF5A0FFF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74370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489F9FF-30CD-C651-42AB-BCE11C8AE2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86799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E2B0095-F0FC-5CB7-D504-4804E5595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86799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7D6655-6894-869A-86BC-2260156BB15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954780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EC86076B-2C5A-8EAC-83E2-36529320FE2B}"/>
              </a:ext>
            </a:extLst>
          </p:cNvPr>
          <p:cNvSpPr/>
          <p:nvPr/>
        </p:nvSpPr>
        <p:spPr>
          <a:xfrm flipV="1">
            <a:off x="0" y="1693861"/>
            <a:ext cx="6199183" cy="516254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430"/>
              <a:gd name="f7" fmla="val 2856"/>
              <a:gd name="f8" fmla="val 2730"/>
              <a:gd name="f9" fmla="val 2244"/>
              <a:gd name="f10" fmla="val 3196"/>
              <a:gd name="f11" fmla="val 1836"/>
              <a:gd name="f12" fmla="val 1281"/>
              <a:gd name="f13" fmla="val 578"/>
              <a:gd name="f14" fmla="val 373"/>
              <a:gd name="f15" fmla="val 3410"/>
              <a:gd name="f16" fmla="val 181"/>
              <a:gd name="f17" fmla="val 3370"/>
              <a:gd name="f18" fmla="val 2664"/>
              <a:gd name="f19" fmla="val 311"/>
              <a:gd name="f20" fmla="val 2792"/>
              <a:gd name="f21" fmla="val 654"/>
              <a:gd name="f22" fmla="val 1029"/>
              <a:gd name="f23" fmla="val 1699"/>
              <a:gd name="f24" fmla="val 2266"/>
              <a:gd name="f25" fmla="val 2652"/>
              <a:gd name="f26" fmla="+- 0 0 -90"/>
              <a:gd name="f27" fmla="*/ f3 1 3430"/>
              <a:gd name="f28" fmla="*/ f4 1 2856"/>
              <a:gd name="f29" fmla="+- f7 0 f5"/>
              <a:gd name="f30" fmla="+- f6 0 f5"/>
              <a:gd name="f31" fmla="*/ f26 f0 1"/>
              <a:gd name="f32" fmla="*/ f30 1 3430"/>
              <a:gd name="f33" fmla="*/ f29 1 2856"/>
              <a:gd name="f34" fmla="*/ 2730 f30 1"/>
              <a:gd name="f35" fmla="*/ 2244 f29 1"/>
              <a:gd name="f36" fmla="*/ 3430 f30 1"/>
              <a:gd name="f37" fmla="*/ 578 f29 1"/>
              <a:gd name="f38" fmla="*/ 3370 f30 1"/>
              <a:gd name="f39" fmla="*/ 0 f29 1"/>
              <a:gd name="f40" fmla="*/ 0 f30 1"/>
              <a:gd name="f41" fmla="*/ 2664 f29 1"/>
              <a:gd name="f42" fmla="*/ 1029 f30 1"/>
              <a:gd name="f43" fmla="*/ 2856 f29 1"/>
              <a:gd name="f44" fmla="*/ f31 1 f2"/>
              <a:gd name="f45" fmla="*/ f34 1 3430"/>
              <a:gd name="f46" fmla="*/ f35 1 2856"/>
              <a:gd name="f47" fmla="*/ f36 1 3430"/>
              <a:gd name="f48" fmla="*/ f37 1 2856"/>
              <a:gd name="f49" fmla="*/ f38 1 3430"/>
              <a:gd name="f50" fmla="*/ f39 1 2856"/>
              <a:gd name="f51" fmla="*/ f40 1 3430"/>
              <a:gd name="f52" fmla="*/ f41 1 2856"/>
              <a:gd name="f53" fmla="*/ f42 1 3430"/>
              <a:gd name="f54" fmla="*/ f43 1 2856"/>
              <a:gd name="f55" fmla="*/ 0 1 f32"/>
              <a:gd name="f56" fmla="*/ f6 1 f32"/>
              <a:gd name="f57" fmla="*/ 0 1 f33"/>
              <a:gd name="f58" fmla="*/ f7 1 f33"/>
              <a:gd name="f59" fmla="+- f44 0 f1"/>
              <a:gd name="f60" fmla="*/ f45 1 f32"/>
              <a:gd name="f61" fmla="*/ f46 1 f33"/>
              <a:gd name="f62" fmla="*/ f47 1 f32"/>
              <a:gd name="f63" fmla="*/ f48 1 f33"/>
              <a:gd name="f64" fmla="*/ f49 1 f32"/>
              <a:gd name="f65" fmla="*/ f50 1 f33"/>
              <a:gd name="f66" fmla="*/ f51 1 f32"/>
              <a:gd name="f67" fmla="*/ f52 1 f33"/>
              <a:gd name="f68" fmla="*/ f53 1 f32"/>
              <a:gd name="f69" fmla="*/ f54 1 f33"/>
              <a:gd name="f70" fmla="*/ f55 f27 1"/>
              <a:gd name="f71" fmla="*/ f56 f27 1"/>
              <a:gd name="f72" fmla="*/ f58 f28 1"/>
              <a:gd name="f73" fmla="*/ f57 f28 1"/>
              <a:gd name="f74" fmla="*/ f60 f27 1"/>
              <a:gd name="f75" fmla="*/ f61 f28 1"/>
              <a:gd name="f76" fmla="*/ f62 f27 1"/>
              <a:gd name="f77" fmla="*/ f63 f28 1"/>
              <a:gd name="f78" fmla="*/ f64 f27 1"/>
              <a:gd name="f79" fmla="*/ f65 f28 1"/>
              <a:gd name="f80" fmla="*/ f66 f27 1"/>
              <a:gd name="f81" fmla="*/ f67 f28 1"/>
              <a:gd name="f82" fmla="*/ f68 f27 1"/>
              <a:gd name="f83" fmla="*/ f69 f2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9">
                <a:pos x="f74" y="f75"/>
              </a:cxn>
              <a:cxn ang="f59">
                <a:pos x="f76" y="f77"/>
              </a:cxn>
              <a:cxn ang="f59">
                <a:pos x="f78" y="f79"/>
              </a:cxn>
              <a:cxn ang="f59">
                <a:pos x="f80" y="f79"/>
              </a:cxn>
              <a:cxn ang="f59">
                <a:pos x="f80" y="f81"/>
              </a:cxn>
              <a:cxn ang="f59">
                <a:pos x="f82" y="f83"/>
              </a:cxn>
              <a:cxn ang="f59">
                <a:pos x="f74" y="f75"/>
              </a:cxn>
            </a:cxnLst>
            <a:rect l="f70" t="f73" r="f71" b="f72"/>
            <a:pathLst>
              <a:path w="3430" h="2856">
                <a:moveTo>
                  <a:pt x="f8" y="f9"/>
                </a:moveTo>
                <a:cubicBezTo>
                  <a:pt x="f10" y="f11"/>
                  <a:pt x="f6" y="f12"/>
                  <a:pt x="f6" y="f13"/>
                </a:cubicBezTo>
                <a:cubicBezTo>
                  <a:pt x="f6" y="f14"/>
                  <a:pt x="f15" y="f16"/>
                  <a:pt x="f17" y="f5"/>
                </a:cubicBezTo>
                <a:cubicBezTo>
                  <a:pt x="f5" y="f5"/>
                  <a:pt x="f5" y="f5"/>
                  <a:pt x="f5" y="f5"/>
                </a:cubicBezTo>
                <a:cubicBezTo>
                  <a:pt x="f5" y="f18"/>
                  <a:pt x="f5" y="f18"/>
                  <a:pt x="f5" y="f18"/>
                </a:cubicBezTo>
                <a:cubicBezTo>
                  <a:pt x="f19" y="f20"/>
                  <a:pt x="f21" y="f7"/>
                  <a:pt x="f22" y="f7"/>
                </a:cubicBezTo>
                <a:cubicBezTo>
                  <a:pt x="f23" y="f7"/>
                  <a:pt x="f24" y="f25"/>
                  <a:pt x="f8" y="f9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BEE4A8-6D71-8D3F-99C4-30E678509C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3285786"/>
            <a:ext cx="3940405" cy="1765935"/>
          </a:xfrm>
        </p:spPr>
        <p:txBody>
          <a:bodyPr anchor="ctr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55EB8B96-1EC1-0D30-1AEA-B67C189C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610" y="667292"/>
            <a:ext cx="5029200" cy="158741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7138179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9FFE6A9D-9DFA-163F-0B05-B1A10BDCB0FE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68D608F-2C77-EBC3-000F-3688DEDE20BA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A204BF0E-86B3-0AC7-86A5-76076993F1E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10875CF-F839-010B-6AA8-5B9A35A4E728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F118CDCD-19D6-E720-96EB-8DF1FF08EBFD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00BDEC53-67BB-37A8-A028-AF5FF912F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5045302" cy="3155868"/>
          </a:xfrm>
        </p:spPr>
        <p:txBody>
          <a:bodyPr/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83547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F2FC-FFBC-C1E3-18D6-E053688A937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07037-7D5F-565C-C0EB-ADFC82C5C48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D5277-586F-A06E-F63F-C11DA979440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772403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414985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469D256-C4E1-049F-70F6-F0FFC9F4BC8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2189649"/>
            <a:ext cx="4790971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6E9E0F-EFC3-2CA5-17F0-3361F00BF3C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2717797"/>
            <a:ext cx="4790971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3B4838F-7C3A-7342-A52D-D768DEE3524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49588" y="2189649"/>
            <a:ext cx="4810813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745CC02-1B8D-B157-5C55-252A9971901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749588" y="2717797"/>
            <a:ext cx="4810813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D665BB44-34F7-92F9-2ECE-83A2931589B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620855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C828-298E-6489-860F-5E7F6281628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4522584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26766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34454-F38F-ECD4-E78B-69E3A61C57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4911361" cy="11128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04DE0-7EEA-BB26-4322-A2231BF93FE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1913638"/>
            <a:ext cx="4911361" cy="4062953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  <a:lvl4pPr marL="1600200" lvl="3">
              <a:spcBef>
                <a:spcPts val="500"/>
              </a:spcBef>
              <a:defRPr sz="1400"/>
            </a:lvl4pPr>
            <a:lvl5pPr marL="2057400" lvl="4">
              <a:spcBef>
                <a:spcPts val="500"/>
              </a:spcBef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84ECFE9-D713-73CD-3593-4C160BCBEAC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651400" y="577855"/>
            <a:ext cx="4908782" cy="539874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cxnSp>
        <p:nvCxnSpPr>
          <p:cNvPr id="8" name="Straight Connector 11">
            <a:extLst>
              <a:ext uri="{FF2B5EF4-FFF2-40B4-BE49-F238E27FC236}">
                <a16:creationId xmlns:a16="http://schemas.microsoft.com/office/drawing/2014/main" id="{7EE31EF4-70D1-765D-A02D-2B79972146C0}"/>
              </a:ext>
            </a:extLst>
          </p:cNvPr>
          <p:cNvCxnSpPr/>
          <p:nvPr/>
        </p:nvCxnSpPr>
        <p:spPr>
          <a:xfrm>
            <a:off x="631594" y="466728"/>
            <a:ext cx="4911370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391499825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A9289DC-0B5A-281E-F94C-3355F5FEA32D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D29F10A4-3003-6A8E-DD2F-1AC50675CF7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CB1E31-AAEB-FCC2-1024-CFCA573A6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1793238"/>
            <a:ext cx="5003797" cy="3032763"/>
          </a:xfrm>
        </p:spPr>
        <p:txBody>
          <a:bodyPr/>
          <a:lstStyle>
            <a:lvl1pPr marL="227008" indent="-227008"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80EE6758-3401-5374-CC7F-8A973E9B3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8761246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7">
            <a:extLst>
              <a:ext uri="{FF2B5EF4-FFF2-40B4-BE49-F238E27FC236}">
                <a16:creationId xmlns:a16="http://schemas.microsoft.com/office/drawing/2014/main" id="{E8B6C1FA-66B6-92FE-5021-22E90DEBBD7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219199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4CEA8223-8919-EF0F-97FB-5DC948C27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8D63489-052E-D675-230C-DFDDA36604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574042"/>
            <a:ext cx="4053206" cy="2219962"/>
          </a:xfrm>
        </p:spPr>
        <p:txBody>
          <a:bodyPr/>
          <a:lstStyle>
            <a:lvl1pPr marL="177795" indent="-177795">
              <a:lnSpc>
                <a:spcPct val="85000"/>
              </a:lnSpc>
              <a:defRPr sz="2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0F25E0D5-B7A9-79AF-63C3-DA97BEE62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0269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With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E1BE3A0-6E9C-FAE2-4937-F29181B7DF1B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14FC6A02-07D4-7F1D-8CAB-077859045BA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8" name="Picture 11">
            <a:extLst>
              <a:ext uri="{FF2B5EF4-FFF2-40B4-BE49-F238E27FC236}">
                <a16:creationId xmlns:a16="http://schemas.microsoft.com/office/drawing/2014/main" id="{2B7DC527-6DCA-2DAC-BE3B-B0952A844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ED799A8-5F08-E0C5-B3F8-448FE509079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1593131"/>
            <a:ext cx="4505550" cy="3723409"/>
          </a:xfrm>
        </p:spPr>
        <p:txBody>
          <a:bodyPr>
            <a:noAutofit/>
          </a:bodyPr>
          <a:lstStyle>
            <a:lvl1pPr marL="0" indent="0">
              <a:spcBef>
                <a:spcPts val="3600"/>
              </a:spcBef>
              <a:buNone/>
              <a:defRPr sz="2600" b="1">
                <a:solidFill>
                  <a:srgbClr val="26CAD3"/>
                </a:solidFill>
              </a:defRPr>
            </a:lvl1pPr>
            <a:lvl2pPr marL="0" lvl="1" indent="0">
              <a:spcBef>
                <a:spcPts val="500"/>
              </a:spcBef>
              <a:buNone/>
              <a:defRPr sz="260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694431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Only Layou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CAE90E54-69EA-62F1-6B19-0B1D7DC459BE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6" name="Group 4">
            <a:extLst>
              <a:ext uri="{FF2B5EF4-FFF2-40B4-BE49-F238E27FC236}">
                <a16:creationId xmlns:a16="http://schemas.microsoft.com/office/drawing/2014/main" id="{C1175AAB-B76C-9555-1B1F-6FE700AB7398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EF5BEFEE-49C1-6470-3BEC-ED28DBDD5962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CEC27E2-C79F-C54B-E6E1-51961365F8D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9F138A5-2143-004F-52E2-51EAB00A116C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1711B4FB-BD90-EB99-4785-7E15FF910D7A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extBox 15">
            <a:extLst>
              <a:ext uri="{FF2B5EF4-FFF2-40B4-BE49-F238E27FC236}">
                <a16:creationId xmlns:a16="http://schemas.microsoft.com/office/drawing/2014/main" id="{3C705C6F-1E94-3D54-BA75-6A38868350CE}"/>
              </a:ext>
            </a:extLst>
          </p:cNvPr>
          <p:cNvSpPr txBox="1"/>
          <p:nvPr/>
        </p:nvSpPr>
        <p:spPr>
          <a:xfrm>
            <a:off x="12191996" y="3410556"/>
            <a:ext cx="2480803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Use Format Background </a:t>
            </a:r>
            <a:b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</a:b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to change the image fill</a:t>
            </a: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466501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3623-D522-4E76-FEA3-00B921A81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939" y="2435678"/>
            <a:ext cx="5036460" cy="4240895"/>
          </a:xfrm>
        </p:spPr>
        <p:txBody>
          <a:bodyPr anchor="b"/>
          <a:lstStyle>
            <a:lvl1pPr>
              <a:lnSpc>
                <a:spcPct val="70000"/>
              </a:lnSpc>
              <a:defRPr sz="9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3296814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Boing Fo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69A3222-84FF-96B0-E72C-804C528BB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39" y="4492127"/>
            <a:ext cx="3398157" cy="187451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257024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19930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6C6A-F3B0-333C-0042-2D427A3AE04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3E4A1-B078-DC24-5252-0722F585E2F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71886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0"/>
            <a:ext cx="12192903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2579" y="1811864"/>
            <a:ext cx="7078488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2579" y="3598328"/>
            <a:ext cx="7078488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7223" y="5054602"/>
            <a:ext cx="897701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5054602"/>
            <a:ext cx="5419813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9757" y="5054602"/>
            <a:ext cx="551311" cy="279400"/>
          </a:xfrm>
        </p:spPr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66158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0299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3734860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8663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6850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3308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80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02317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48428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14320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2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2381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815415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4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08442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52933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0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52368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8631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639312"/>
            <a:ext cx="9064973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44392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566160"/>
            <a:ext cx="9064973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45864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06993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4"/>
            <a:ext cx="6554012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31814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CB273-FA87-7A3F-8C65-8D399BFA2E4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14400" y="2130423"/>
            <a:ext cx="10363196" cy="1470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A9A9B-6743-C0A9-B8D4-45ECC3738A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396" cy="1752603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472843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4DB2-AEF5-FA68-AD5D-DC416CEA438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4DD38-7548-CB47-0457-718913B0282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353597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D2C6-324D-E87D-F770-C0A370B85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3082" y="4406905"/>
            <a:ext cx="10363196" cy="1362071"/>
          </a:xfrm>
        </p:spPr>
        <p:txBody>
          <a:bodyPr anchor="t" anchorCtr="0"/>
          <a:lstStyle>
            <a:lvl1pPr algn="l">
              <a:defRPr sz="4000" b="1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D7232-1988-7A6A-FF97-767830DD65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3082" y="2906713"/>
            <a:ext cx="10363196" cy="1500182"/>
          </a:xfrm>
        </p:spPr>
        <p:txBody>
          <a:bodyPr anchor="b"/>
          <a:lstStyle>
            <a:lvl1pPr marL="0" indent="0">
              <a:spcBef>
                <a:spcPts val="500"/>
              </a:spcBef>
              <a:buNone/>
              <a:defRPr sz="20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596950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CAA4-EB8A-3861-65E8-BF5305451CA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9538D-76A6-D3DB-5612-4089D86A77A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09603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BD446-9109-6665-3EC0-E3A9E4D5654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97602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085968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969AD-071B-1607-48F6-6463F68FFB3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15351-E1A6-9C65-E50E-D7B6E6AA4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535113"/>
            <a:ext cx="5386913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91B4C-7C3D-872D-FD33-890988AFC59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09603" y="2174872"/>
            <a:ext cx="5386913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C72F5C-9483-95D4-D9B6-93E41141E1E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4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561FBE-8B77-B88A-0989-D02209167070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93368" y="2174872"/>
            <a:ext cx="5389034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290539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4CD3-F78C-5C0E-5F9D-DE90B2840D1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602725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24680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BE841-3D85-E398-AC91-63A45AFD25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3048"/>
            <a:ext cx="4011079" cy="1162046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C1C70-843B-E9CF-0B74-9824E4CA97E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766730" y="273048"/>
            <a:ext cx="6815672" cy="58531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E528C-1978-18AC-ECD6-E6EDF8409A2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09603" y="1435105"/>
            <a:ext cx="4011079" cy="46910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376950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20E22-186E-04EB-DC96-C7F137F515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9720" y="4800600"/>
            <a:ext cx="7315200" cy="566735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E461D-F8D9-F0F4-31FF-D616AE1332A2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2389720" y="612776"/>
            <a:ext cx="7315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2458D-0CBF-9501-DA6E-EB4E5768761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389720" y="5367335"/>
            <a:ext cx="7315200" cy="8048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6322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A22C-8BF9-576D-C7CB-D2909D55EED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4C73B-7C24-F600-9C21-B4F1AF72096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653340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9E81D-45BD-1469-2436-CE0B6C554BD8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839203" y="274640"/>
            <a:ext cx="2743200" cy="58515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2D4A7-4F02-CD87-649F-A6E810AAA1C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609603" y="274640"/>
            <a:ext cx="8026402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116413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5E47FBA-8F3D-E2D7-86B5-096785FDB1E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val f5"/>
              <a:gd name="f29" fmla="val f6"/>
              <a:gd name="f30" fmla="val f7"/>
              <a:gd name="f31" fmla="*/ f25 f0 1"/>
              <a:gd name="f32" fmla="+- f30 0 f28"/>
              <a:gd name="f33" fmla="+- f29 0 f28"/>
              <a:gd name="f34" fmla="*/ f31 1 f2"/>
              <a:gd name="f35" fmla="*/ f33 1 5867"/>
              <a:gd name="f36" fmla="*/ f32 1 4320"/>
              <a:gd name="f37" fmla="*/ 0 f33 1"/>
              <a:gd name="f38" fmla="*/ 0 f32 1"/>
              <a:gd name="f39" fmla="*/ 4320 f32 1"/>
              <a:gd name="f40" fmla="*/ 3187 f33 1"/>
              <a:gd name="f41" fmla="*/ 4630 f33 1"/>
              <a:gd name="f42" fmla="*/ 3063 f32 1"/>
              <a:gd name="f43" fmla="*/ 5669 f33 1"/>
              <a:gd name="f44" fmla="*/ 1003 f32 1"/>
              <a:gd name="f45" fmla="*/ 5867 f33 1"/>
              <a:gd name="f46" fmla="+- f34 0 f1"/>
              <a:gd name="f47" fmla="*/ f37 1 5867"/>
              <a:gd name="f48" fmla="*/ f38 1 4320"/>
              <a:gd name="f49" fmla="*/ f39 1 4320"/>
              <a:gd name="f50" fmla="*/ f40 1 5867"/>
              <a:gd name="f51" fmla="*/ f41 1 5867"/>
              <a:gd name="f52" fmla="*/ f42 1 4320"/>
              <a:gd name="f53" fmla="*/ f43 1 5867"/>
              <a:gd name="f54" fmla="*/ f44 1 4320"/>
              <a:gd name="f55" fmla="*/ f45 1 5867"/>
              <a:gd name="f56" fmla="*/ 0 1 f35"/>
              <a:gd name="f57" fmla="*/ f29 1 f35"/>
              <a:gd name="f58" fmla="*/ 0 1 f36"/>
              <a:gd name="f59" fmla="*/ f30 1 f36"/>
              <a:gd name="f60" fmla="*/ f47 1 f35"/>
              <a:gd name="f61" fmla="*/ f48 1 f36"/>
              <a:gd name="f62" fmla="*/ f49 1 f36"/>
              <a:gd name="f63" fmla="*/ f50 1 f35"/>
              <a:gd name="f64" fmla="*/ f51 1 f35"/>
              <a:gd name="f65" fmla="*/ f52 1 f36"/>
              <a:gd name="f66" fmla="*/ f53 1 f35"/>
              <a:gd name="f67" fmla="*/ f54 1 f36"/>
              <a:gd name="f68" fmla="*/ f55 1 f35"/>
              <a:gd name="f69" fmla="*/ f56 f26 1"/>
              <a:gd name="f70" fmla="*/ f57 f26 1"/>
              <a:gd name="f71" fmla="*/ f59 f27 1"/>
              <a:gd name="f72" fmla="*/ f58 f27 1"/>
              <a:gd name="f73" fmla="*/ f60 f26 1"/>
              <a:gd name="f74" fmla="*/ f61 f27 1"/>
              <a:gd name="f75" fmla="*/ f62 f27 1"/>
              <a:gd name="f76" fmla="*/ f63 f26 1"/>
              <a:gd name="f77" fmla="*/ f64 f26 1"/>
              <a:gd name="f78" fmla="*/ f65 f27 1"/>
              <a:gd name="f79" fmla="*/ f66 f26 1"/>
              <a:gd name="f80" fmla="*/ f67 f27 1"/>
              <a:gd name="f81" fmla="*/ f68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6">
                <a:pos x="f73" y="f74"/>
              </a:cxn>
              <a:cxn ang="f46">
                <a:pos x="f73" y="f75"/>
              </a:cxn>
              <a:cxn ang="f46">
                <a:pos x="f76" y="f75"/>
              </a:cxn>
              <a:cxn ang="f46">
                <a:pos x="f77" y="f78"/>
              </a:cxn>
              <a:cxn ang="f46">
                <a:pos x="f79" y="f80"/>
              </a:cxn>
              <a:cxn ang="f46">
                <a:pos x="f81" y="f74"/>
              </a:cxn>
              <a:cxn ang="f46">
                <a:pos x="f73" y="f74"/>
              </a:cxn>
            </a:cxnLst>
            <a:rect l="f69" t="f72" r="f70" b="f71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85587" tIns="42793" rIns="85587" bIns="42793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216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985913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10DACD-8814-0719-1B69-9449D528892C}"/>
              </a:ext>
            </a:extLst>
          </p:cNvPr>
          <p:cNvSpPr txBox="1"/>
          <p:nvPr userDrawn="1"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endParaRPr lang="en-GB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14054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9B3DB-352F-706E-8396-0711973F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E9CEE-9788-9CFC-0336-41C2CB077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4505C-8BFE-C23C-2BE8-8711C164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A3FC-B7B5-E571-025A-6EDC9BF2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13495-7196-BF3A-8E94-4A35AF044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135464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C883E-B324-7614-E832-C8FA2D5A5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B83D1-CFEB-F699-FF61-2316C10D9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B53EF-1B82-5CE0-D770-2336D9576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D1C29-FB7A-BB28-E384-E661FFB55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6A9A7-1A6F-0DEF-01C0-8B7B83A4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133326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2047-70A9-2D03-B647-5755581C3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D41D4-1C56-BDF8-CE04-C033D2CD3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F20ED-6B10-8F9B-AE53-52CD7841A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D7184-18A0-6EC7-844C-686E30267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511A2-4C74-9DA0-018F-0C795015B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53FAE-C6F5-C793-AD81-1CA00D35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178798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A29F0-653F-18E0-7165-5BA5CBD7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531B5-C7D5-3028-F0DE-22D69F8F4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3AE1F-7338-7490-95D4-33B43B8D0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9247F-082A-4DFF-738D-532D89747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3DC79B-5F2E-88CD-B76C-26C869E5AA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C74FD9-C453-092D-9379-790EB54BB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E4956-089C-EEE1-ED87-881BAC04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61FA7B-C31E-8DD6-BE30-38EFB4E9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572287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FEC7-FF5F-613C-8EB4-03C7D28FB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C07DA-2C83-3C92-FD27-8C2CBFCAC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0AE1B4-7E6D-3D72-9F28-4F589DB42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D5769-5FED-8793-7595-C4E06636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861931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5C7F6-48E4-6E5F-449C-B03F87DB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1A2DD-00B4-3FB2-E6AF-B353EED3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DF081-2407-6DEE-130A-E934151F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409762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7CFD-9EDB-36E2-FCBA-EE29ACA3A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02714-CC7D-A7DB-195D-7D2A34569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1C133-6122-3853-524C-1458A27ED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CC213-218B-DDB2-F22F-BDE4BC501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64279-F92D-0D8A-0360-CE20484C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332DB-71CF-DB6A-F8B6-9852B35F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606141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EE78-AB8B-956C-3C03-ADF393494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7CD64F-E49D-6173-6DE6-ABF43C437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4FFCF-DFE5-7E94-53DF-C626B0B8A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489CA-698D-AC35-07C6-A26CF27E5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43135-74F2-4FFE-96BB-ED357421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BCDAC-B253-7FC6-1E11-7C77EB46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5746133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D9922-FA9D-383D-A19C-1670E04BF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10FFC-07BA-368E-8BEF-5F9AD4558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EFD48-A5EE-EB7B-2461-575DDF3E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E48C6-ED81-B3B2-92AE-AF25ECBC6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1B257-1A5B-C712-6D80-E569B055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8234492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57DC50-9430-8F55-3F8C-079680426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CD0E4-FF02-5A2E-BCCE-E5DEEEB29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E451A-2FD6-F62A-87A7-402F00CB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E098B-CA21-3CC7-B4DE-2D294CBA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4A002-EF22-9AD8-50CB-BDE5AB8F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781579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3609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0107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7336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6192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0020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2007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3521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3243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5126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5589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687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6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4.xml"/><Relationship Id="rId2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99.xml"/><Relationship Id="rId16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1.xml"/><Relationship Id="rId18" Type="http://schemas.openxmlformats.org/officeDocument/2006/relationships/theme" Target="../theme/theme7.xml"/><Relationship Id="rId19" Type="http://schemas.openxmlformats.org/officeDocument/2006/relationships/image" Target="../media/image17.png"/><Relationship Id="rId20" Type="http://schemas.openxmlformats.org/officeDocument/2006/relationships/image" Target="../media/image18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3.xml"/><Relationship Id="rId13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0.xml"/><Relationship Id="rId8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4.xml"/><Relationship Id="rId12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360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600201"/>
            <a:ext cx="823174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536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DC453-280C-4DD0-B691-565117EA1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CAEDA-7F8E-5DD1-5615-9122A76CB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F4B92-0338-8496-2BC9-D78BC35A9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1C1FB-97D8-32C1-4E03-B90A99350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F0401-86B8-B0E1-5F2E-8EFCFE719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216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47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845" r:id="rId3"/>
    <p:sldLayoutId id="2147483846" r:id="rId4"/>
    <p:sldLayoutId id="2147483847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38B0F-09FD-DDC6-3B63-8AF09C35E3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EAB06-2AFE-2C12-1BB4-384FC380B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F2E60-03D8-275F-2BA8-6EFAE3CF267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721A0-E937-50F8-C798-8EB0BC6D85A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6C06C-A904-8DD7-8829-D1021B6DFDE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8B930FF2-ADD6-48BA-B740-C81F3D772E11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94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F3E944-12FC-1DA6-1A82-9D447DBA04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10928808" cy="11128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Autofit/>
          </a:bodyPr>
          <a:lstStyle/>
          <a:p>
            <a:pPr lvl="0"/>
            <a:r>
              <a:rPr lang="en-US"/>
              <a:t>Project objectives 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742FB-3438-9D79-D6FF-4410846F7C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1594" y="1904996"/>
            <a:ext cx="7521799" cy="427196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rmAutofit/>
          </a:bodyPr>
          <a:lstStyle/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9">
            <a:extLst>
              <a:ext uri="{FF2B5EF4-FFF2-40B4-BE49-F238E27FC236}">
                <a16:creationId xmlns:a16="http://schemas.microsoft.com/office/drawing/2014/main" id="{052D5BE6-22DB-72DF-3E35-DA9381B8BD4C}"/>
              </a:ext>
            </a:extLst>
          </p:cNvPr>
          <p:cNvCxnSpPr/>
          <p:nvPr/>
        </p:nvCxnSpPr>
        <p:spPr>
          <a:xfrm>
            <a:off x="631594" y="540465"/>
            <a:ext cx="10928808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2055019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  <p:sldLayoutId id="2147483784" r:id="rId18"/>
    <p:sldLayoutId id="2147483785" r:id="rId19"/>
    <p:sldLayoutId id="2147483786" r:id="rId20"/>
    <p:sldLayoutId id="2147483787" r:id="rId21"/>
    <p:sldLayoutId id="2147483788" r:id="rId22"/>
    <p:sldLayoutId id="2147483789" r:id="rId2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300" b="1" i="0" u="none" strike="noStrike" kern="1200" cap="none" spc="0" baseline="0">
          <a:solidFill>
            <a:srgbClr val="00667D"/>
          </a:solidFill>
          <a:uFillTx/>
          <a:latin typeface="Calibri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1pPr>
      <a:lvl2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2pPr>
      <a:lvl3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3pPr>
      <a:lvl4pPr marL="228600" marR="0" lvl="1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4pPr>
      <a:lvl5pPr marL="228600" marR="0" lvl="2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8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60533"/>
            <a:ext cx="1531044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06788" y="5960533"/>
            <a:ext cx="52734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195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F1F9C-7792-BD09-4C73-B4A1A4E789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46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1CB9-F3C8-E76B-9B8A-09616928C9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600200"/>
            <a:ext cx="10972800" cy="4525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D8D3E-1A37-301F-3BC2-E33102DFC5F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609603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E8C35-9AE9-964C-69AE-27F457B2CA8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165604" y="6356351"/>
            <a:ext cx="3860797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4B10F-C4BA-27CE-B2D2-A397B9B92D2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737604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7C0417AA-12A0-48A3-8BAE-748AB93736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0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</p:sldLayoutIdLst>
  <p:hf sldNum="0" hdr="0" ftr="0" dt="0"/>
  <p:txStyles>
    <p:titleStyle>
      <a:lvl1pPr marL="0" marR="0" lvl="0" indent="0" algn="ctr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</p:titleStyle>
    <p:bodyStyle>
      <a:lvl1pPr marL="342900" marR="0" lvl="0" indent="-342900" algn="l" defTabSz="914400" rtl="0" fontAlgn="auto" hangingPunct="1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 pitchFamily="34"/>
        <a:buChar char="•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742950" marR="0" lvl="1" indent="-285750" algn="l" defTabSz="914400" rtl="0" fontAlgn="auto" hangingPunct="1">
        <a:lnSpc>
          <a:spcPct val="100000"/>
        </a:lnSpc>
        <a:spcBef>
          <a:spcPts val="700"/>
        </a:spcBef>
        <a:spcAft>
          <a:spcPts val="0"/>
        </a:spcAft>
        <a:buSzPct val="100000"/>
        <a:buFont typeface="Arial" pitchFamily="34"/>
        <a:buChar char="–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–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»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7F74F-2C97-CAAE-BFFE-4AB59C9B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AF5D8-44DC-3827-A81A-50B2DBA02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2394A-11AC-CA11-C367-46C0A3EB2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EDFE8-6F24-013F-2D13-36B268B2D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4227F-37C6-3D08-364F-3CB3C3C6E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626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0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image" Target="../media/image296.jpeg"/><Relationship Id="rId3" Type="http://schemas.openxmlformats.org/officeDocument/2006/relationships/image" Target="../media/image297.jpeg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image" Target="../media/image298.png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772816"/>
            <a:ext cx="7772400" cy="1656184"/>
          </a:xfrm>
        </p:spPr>
        <p:txBody>
          <a:bodyPr>
            <a:noAutofit/>
          </a:bodyPr>
          <a:lstStyle/>
          <a:p>
            <a:r>
              <a:rPr lang="en-IN" b="1" dirty="0"/>
              <a:t>SUPPLY CHAIN MANGEMENT</a:t>
            </a:r>
          </a:p>
        </p:txBody>
      </p:sp>
      <p:pic>
        <p:nvPicPr>
          <p:cNvPr id="4" name="Picture 3" descr="C:\Users\SPM\Desktop\NHM logo\NHM logo.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63552" y="1412776"/>
            <a:ext cx="1143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2.jp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92344" y="1484784"/>
            <a:ext cx="1066800" cy="1143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A3EF73-8A33-0CC1-F8EE-00E6AE03E5EF}"/>
              </a:ext>
            </a:extLst>
          </p:cNvPr>
          <p:cNvSpPr txBox="1"/>
          <p:nvPr/>
        </p:nvSpPr>
        <p:spPr>
          <a:xfrm>
            <a:off x="9579428" y="6096588"/>
            <a:ext cx="1752600" cy="34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Topic: 9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FLOW OF INDENT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u="sng" dirty="0"/>
              <a:t>District:-</a:t>
            </a:r>
          </a:p>
          <a:p>
            <a:pPr lvl="1">
              <a:buFont typeface="Wingdings" pitchFamily="2" charset="2"/>
              <a:buChar char="v"/>
            </a:pPr>
            <a:r>
              <a:rPr lang="en-IN" dirty="0"/>
              <a:t>PHC, SC will indent to Block CHC.</a:t>
            </a:r>
          </a:p>
          <a:p>
            <a:pPr lvl="1">
              <a:buFont typeface="Wingdings" pitchFamily="2" charset="2"/>
              <a:buChar char="v"/>
            </a:pPr>
            <a:r>
              <a:rPr lang="en-IN" dirty="0"/>
              <a:t>Wards, PPC, DDC to indent Sub-store.</a:t>
            </a:r>
          </a:p>
          <a:p>
            <a:pPr lvl="1">
              <a:buFont typeface="Wingdings" pitchFamily="2" charset="2"/>
              <a:buChar char="v"/>
            </a:pPr>
            <a:r>
              <a:rPr lang="en-IN" dirty="0"/>
              <a:t>OH/AH, CHC/Block CHC, SDH will indent to District DWH.</a:t>
            </a:r>
          </a:p>
          <a:p>
            <a:pPr lvl="1">
              <a:buFont typeface="Wingdings" pitchFamily="2" charset="2"/>
              <a:buChar char="v"/>
            </a:pPr>
            <a:r>
              <a:rPr lang="en-IN" dirty="0"/>
              <a:t>Sub Store to indent District DWH.</a:t>
            </a:r>
          </a:p>
          <a:p>
            <a:pPr lvl="1">
              <a:buFont typeface="Wingdings" pitchFamily="2" charset="2"/>
              <a:buChar char="v"/>
            </a:pPr>
            <a:r>
              <a:rPr lang="en-IN" dirty="0"/>
              <a:t>District DWH will indent to State DWH.</a:t>
            </a:r>
          </a:p>
          <a:p>
            <a:r>
              <a:rPr lang="en-IN" b="1" u="sng" dirty="0"/>
              <a:t>Medical College/Major Health Institutions :-</a:t>
            </a:r>
          </a:p>
          <a:p>
            <a:pPr lvl="1">
              <a:buFont typeface="Wingdings" pitchFamily="2" charset="2"/>
              <a:buChar char="v"/>
            </a:pPr>
            <a:r>
              <a:rPr lang="en-IN" dirty="0"/>
              <a:t>Wards, PPC, DDC to indent Sub-store.</a:t>
            </a:r>
          </a:p>
          <a:p>
            <a:pPr lvl="1">
              <a:buFont typeface="Wingdings" pitchFamily="2" charset="2"/>
              <a:buChar char="v"/>
            </a:pPr>
            <a:r>
              <a:rPr lang="en-IN" dirty="0"/>
              <a:t>Sub Store to indent DWH.</a:t>
            </a:r>
          </a:p>
          <a:p>
            <a:pPr lvl="1">
              <a:buFont typeface="Wingdings" pitchFamily="2" charset="2"/>
              <a:buChar char="v"/>
            </a:pPr>
            <a:endParaRPr lang="en-IN" dirty="0"/>
          </a:p>
          <a:p>
            <a:pPr lvl="1">
              <a:buNone/>
            </a:pPr>
            <a:endParaRPr lang="en-IN" dirty="0"/>
          </a:p>
          <a:p>
            <a:pPr lvl="1"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692696"/>
            <a:ext cx="8229600" cy="144016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ISSUE OF DRUGS</a:t>
            </a: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2279576" y="1340616"/>
            <a:ext cx="7704856" cy="4752680"/>
            <a:chOff x="720" y="1009"/>
            <a:chExt cx="10407" cy="8782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20" y="1009"/>
              <a:ext cx="10407" cy="87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8" name="Text Box 4"/>
            <p:cNvSpPr txBox="1">
              <a:spLocks noChangeArrowheads="1"/>
            </p:cNvSpPr>
            <p:nvPr/>
          </p:nvSpPr>
          <p:spPr bwMode="auto">
            <a:xfrm>
              <a:off x="2395" y="1748"/>
              <a:ext cx="734" cy="6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89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Arial" pitchFamily="34" charset="0"/>
                  <a:cs typeface="Arial" pitchFamily="34" charset="0"/>
                </a:rPr>
                <a:t>15 Days/</a:t>
              </a:r>
            </a:p>
            <a:p>
              <a:pPr marL="0" marR="47625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Arial" pitchFamily="34" charset="0"/>
                  <a:cs typeface="Arial" pitchFamily="34" charset="0"/>
                </a:rPr>
                <a:t>1 Month Stock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029" name="Text Box 5"/>
            <p:cNvSpPr txBox="1">
              <a:spLocks noChangeArrowheads="1"/>
            </p:cNvSpPr>
            <p:nvPr/>
          </p:nvSpPr>
          <p:spPr bwMode="auto">
            <a:xfrm>
              <a:off x="4737" y="1835"/>
              <a:ext cx="1145" cy="4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1270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Arial" pitchFamily="34" charset="0"/>
                  <a:cs typeface="Arial" pitchFamily="34" charset="0"/>
                </a:rPr>
                <a:t>2 to 3 Months Stock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030" name="Text Box 6"/>
            <p:cNvSpPr txBox="1">
              <a:spLocks noChangeArrowheads="1"/>
            </p:cNvSpPr>
            <p:nvPr/>
          </p:nvSpPr>
          <p:spPr bwMode="auto">
            <a:xfrm>
              <a:off x="7795" y="1926"/>
              <a:ext cx="1145" cy="4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1270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Arial" pitchFamily="34" charset="0"/>
                  <a:cs typeface="Arial" pitchFamily="34" charset="0"/>
                </a:rPr>
                <a:t>2 to 3 Months Stock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031" name="Text Box 7"/>
            <p:cNvSpPr txBox="1">
              <a:spLocks noChangeArrowheads="1"/>
            </p:cNvSpPr>
            <p:nvPr/>
          </p:nvSpPr>
          <p:spPr bwMode="auto">
            <a:xfrm>
              <a:off x="1675" y="5977"/>
              <a:ext cx="1081" cy="2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89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Arial" pitchFamily="34" charset="0"/>
                  <a:cs typeface="Arial" pitchFamily="34" charset="0"/>
                </a:rPr>
                <a:t>7 Days Stock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032" name="Text Box 8"/>
            <p:cNvSpPr txBox="1">
              <a:spLocks noChangeArrowheads="1"/>
            </p:cNvSpPr>
            <p:nvPr/>
          </p:nvSpPr>
          <p:spPr bwMode="auto">
            <a:xfrm>
              <a:off x="5548" y="5977"/>
              <a:ext cx="579" cy="4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4763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Arial" pitchFamily="34" charset="0"/>
                  <a:cs typeface="Arial" pitchFamily="34" charset="0"/>
                </a:rPr>
                <a:t>7 Days Stock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033" name="Text Box 9"/>
            <p:cNvSpPr txBox="1">
              <a:spLocks noChangeArrowheads="1"/>
            </p:cNvSpPr>
            <p:nvPr/>
          </p:nvSpPr>
          <p:spPr bwMode="auto">
            <a:xfrm>
              <a:off x="8875" y="5795"/>
              <a:ext cx="1211" cy="2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89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Arial" pitchFamily="34" charset="0"/>
                  <a:cs typeface="Arial" pitchFamily="34" charset="0"/>
                </a:rPr>
                <a:t>1 Month Stock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034" name="Text Box 10"/>
            <p:cNvSpPr txBox="1">
              <a:spLocks noChangeArrowheads="1"/>
            </p:cNvSpPr>
            <p:nvPr/>
          </p:nvSpPr>
          <p:spPr bwMode="auto">
            <a:xfrm>
              <a:off x="7526" y="9035"/>
              <a:ext cx="1081" cy="2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89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Arial" pitchFamily="34" charset="0"/>
                  <a:cs typeface="Arial" pitchFamily="34" charset="0"/>
                </a:rPr>
                <a:t>7 Days Stock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INVENTORY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6960" y="286604"/>
            <a:ext cx="7543800" cy="1990268"/>
          </a:xfrm>
        </p:spPr>
        <p:txBody>
          <a:bodyPr>
            <a:normAutofit/>
          </a:bodyPr>
          <a:lstStyle/>
          <a:p>
            <a:r>
              <a:rPr lang="en-IN" b="1" u="sng" dirty="0"/>
              <a:t>INVENTORY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348880"/>
            <a:ext cx="8229600" cy="3456384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dirty="0"/>
              <a:t>When to indent ?</a:t>
            </a:r>
          </a:p>
          <a:p>
            <a:pPr>
              <a:lnSpc>
                <a:spcPct val="80000"/>
              </a:lnSpc>
            </a:pPr>
            <a:r>
              <a:rPr lang="en-US" dirty="0"/>
              <a:t>What to indent ?</a:t>
            </a:r>
          </a:p>
          <a:p>
            <a:pPr>
              <a:lnSpc>
                <a:spcPct val="80000"/>
              </a:lnSpc>
            </a:pPr>
            <a:r>
              <a:rPr lang="en-US" dirty="0"/>
              <a:t>How much to indent ? </a:t>
            </a:r>
          </a:p>
          <a:p>
            <a:pPr>
              <a:lnSpc>
                <a:spcPct val="80000"/>
              </a:lnSpc>
            </a:pPr>
            <a:r>
              <a:rPr lang="en-US" dirty="0"/>
              <a:t>What should be stocked ?</a:t>
            </a:r>
          </a:p>
          <a:p>
            <a:pPr>
              <a:lnSpc>
                <a:spcPct val="80000"/>
              </a:lnSpc>
            </a:pPr>
            <a:r>
              <a:rPr lang="en-US" dirty="0"/>
              <a:t>Prevention of loss because of time expired drugs. </a:t>
            </a:r>
          </a:p>
          <a:p>
            <a:pPr>
              <a:lnSpc>
                <a:spcPct val="80000"/>
              </a:lnSpc>
            </a:pPr>
            <a:r>
              <a:rPr lang="en-US" dirty="0"/>
              <a:t>Physical stock taking </a:t>
            </a:r>
          </a:p>
          <a:p>
            <a:pPr>
              <a:lnSpc>
                <a:spcPct val="80000"/>
              </a:lnSpc>
            </a:pPr>
            <a:r>
              <a:rPr lang="en-US" dirty="0"/>
              <a:t>Damaged or time expired drugs should be recorded and disposed off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BASIC PRINCIPLE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IN" sz="4000" b="1" i="1" dirty="0"/>
              <a:t>Right Product</a:t>
            </a:r>
          </a:p>
          <a:p>
            <a:pPr algn="just"/>
            <a:r>
              <a:rPr lang="en-IN" sz="4000" b="1" i="1" dirty="0"/>
              <a:t>Right Quantity</a:t>
            </a:r>
          </a:p>
          <a:p>
            <a:pPr algn="just"/>
            <a:r>
              <a:rPr lang="en-IN" sz="4000" b="1" i="1" dirty="0"/>
              <a:t>Right Quality</a:t>
            </a:r>
          </a:p>
          <a:p>
            <a:pPr algn="just"/>
            <a:r>
              <a:rPr lang="en-IN" sz="4000" b="1" i="1" dirty="0"/>
              <a:t>Right Cost</a:t>
            </a:r>
          </a:p>
          <a:p>
            <a:pPr algn="just"/>
            <a:r>
              <a:rPr lang="en-IN" sz="4000" b="1" i="1" dirty="0"/>
              <a:t>Right Place</a:t>
            </a:r>
          </a:p>
          <a:p>
            <a:pPr algn="just"/>
            <a:r>
              <a:rPr lang="en-IN" sz="4000" b="1" i="1" dirty="0"/>
              <a:t>Right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6C754-8D09-4E47-9620-59617A8C1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Monthly Indent Calendar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4164D-AF33-01AC-62F8-7B7335E44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CHCs, HWCs and PHCs must review stock from 1st–3rd of every month, </a:t>
            </a:r>
          </a:p>
          <a:p>
            <a:r>
              <a:rPr lang="en-US" dirty="0"/>
              <a:t>Prepare indents between 1st–5th and </a:t>
            </a:r>
          </a:p>
          <a:p>
            <a:r>
              <a:rPr lang="en-US" dirty="0"/>
              <a:t>Submit indents on or before the 7th of every month.</a:t>
            </a:r>
          </a:p>
          <a:p>
            <a:r>
              <a:rPr lang="en-US" dirty="0"/>
              <a:t>Indents should be based on Average Monthly Consumption, stock in hand, lead time and safety stock.</a:t>
            </a:r>
          </a:p>
        </p:txBody>
      </p:sp>
    </p:spTree>
    <p:extLst>
      <p:ext uri="{BB962C8B-B14F-4D97-AF65-F5344CB8AC3E}">
        <p14:creationId xmlns:p14="http://schemas.microsoft.com/office/powerpoint/2010/main" val="14166096"/>
      </p:ext>
    </p:extLst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/>
              <a:t>INVENTORY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Lead Time (LT):</a:t>
            </a:r>
            <a:endParaRPr lang="en-IN" dirty="0"/>
          </a:p>
          <a:p>
            <a:pPr algn="just"/>
            <a:r>
              <a:rPr lang="en-US" dirty="0"/>
              <a:t>This is the time between placing of indent and receipt at the Store.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/>
              <a:t>INVENTORY MANAGEMENT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u="sng" dirty="0"/>
              <a:t>Average Monthly Consumption</a:t>
            </a:r>
          </a:p>
          <a:p>
            <a:pPr algn="just"/>
            <a:r>
              <a:rPr lang="en-IN" dirty="0"/>
              <a:t>Average monthly consumption can be calculated using the sum of quantities used or distributed over a period of time.</a:t>
            </a:r>
          </a:p>
          <a:p>
            <a:pPr algn="just"/>
            <a:endParaRPr lang="en-IN" dirty="0"/>
          </a:p>
          <a:p>
            <a:pPr lvl="4" algn="just">
              <a:buNone/>
            </a:pPr>
            <a:r>
              <a:rPr lang="en-IN" b="1" u="sng" dirty="0"/>
              <a:t>Opening Balance + Stock Received – Closing Stock</a:t>
            </a:r>
          </a:p>
          <a:p>
            <a:pPr algn="just"/>
            <a:r>
              <a:rPr lang="en-IN" b="1" u="sng" dirty="0"/>
              <a:t>AMC </a:t>
            </a:r>
            <a:r>
              <a:rPr lang="en-IN" dirty="0"/>
              <a:t> = 		</a:t>
            </a:r>
            <a:r>
              <a:rPr lang="en-IN" sz="2000" b="1" dirty="0"/>
              <a:t>No. Of Months Stock Available</a:t>
            </a:r>
          </a:p>
          <a:p>
            <a:pPr algn="just"/>
            <a:endParaRPr lang="en-IN" sz="2000" b="1" u="sng" dirty="0"/>
          </a:p>
          <a:p>
            <a:pPr algn="just"/>
            <a:endParaRPr lang="en-IN" b="1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0866" y="730151"/>
            <a:ext cx="7427582" cy="1027468"/>
          </a:xfrm>
        </p:spPr>
        <p:txBody>
          <a:bodyPr>
            <a:normAutofit fontScale="90000"/>
          </a:bodyPr>
          <a:lstStyle/>
          <a:p>
            <a:r>
              <a:rPr lang="en-IN" sz="3600" b="1" u="sng" dirty="0"/>
              <a:t>MONTHLY AVERAGE </a:t>
            </a:r>
            <a:r>
              <a:rPr lang="en-IN" sz="3100" b="1" u="sng" dirty="0"/>
              <a:t>CONSUMPTION</a:t>
            </a:r>
            <a:br>
              <a:rPr lang="en-IN" sz="3600" b="1" u="sng" dirty="0"/>
            </a:br>
            <a:r>
              <a:rPr lang="en-IN" sz="3600" b="1" u="sng" dirty="0"/>
              <a:t>Ex- </a:t>
            </a:r>
            <a:r>
              <a:rPr lang="en-IN" sz="3600" dirty="0"/>
              <a:t>Tab. </a:t>
            </a:r>
            <a:r>
              <a:rPr lang="en-IN" sz="3600" dirty="0" err="1"/>
              <a:t>Pantoprazole</a:t>
            </a:r>
            <a:r>
              <a:rPr lang="en-IN" sz="3600" dirty="0"/>
              <a:t> 40 mg</a:t>
            </a:r>
            <a:endParaRPr lang="en-IN" b="1" u="sng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2207569" y="2348881"/>
          <a:ext cx="7848867" cy="1489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7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7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7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7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37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37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37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37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37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037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r>
                        <a:rPr lang="en-IN" sz="1400" dirty="0"/>
                        <a:t>April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June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July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Total Consumption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175">
                <a:tc>
                  <a:txBody>
                    <a:bodyPr/>
                    <a:lstStyle/>
                    <a:p>
                      <a:r>
                        <a:rPr lang="en-IN" sz="1400" b="1" dirty="0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1500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1200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1300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1600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2000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1500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1300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1200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1400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1500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16500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179186" y="1996756"/>
            <a:ext cx="756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Consumption:-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79576" y="4077072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Stock  available :-</a:t>
            </a:r>
          </a:p>
        </p:txBody>
      </p:sp>
      <p:graphicFrame>
        <p:nvGraphicFramePr>
          <p:cNvPr id="8" name="Content Placeholder 4"/>
          <p:cNvGraphicFramePr>
            <a:graphicFrameLocks/>
          </p:cNvGraphicFramePr>
          <p:nvPr/>
        </p:nvGraphicFramePr>
        <p:xfrm>
          <a:off x="2279576" y="4448020"/>
          <a:ext cx="7776860" cy="17892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8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82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82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8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82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82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82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82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82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16719">
                <a:tc>
                  <a:txBody>
                    <a:bodyPr/>
                    <a:lstStyle/>
                    <a:p>
                      <a:r>
                        <a:rPr lang="en-IN" sz="1400" dirty="0"/>
                        <a:t>April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June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July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Total Consumption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574">
                <a:tc>
                  <a:txBody>
                    <a:bodyPr/>
                    <a:lstStyle/>
                    <a:p>
                      <a:r>
                        <a:rPr lang="en-IN" sz="1200" b="1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Stock 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Stock 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</p:bldLst>
  </p:timing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IN" b="1" u="sng" dirty="0"/>
          </a:p>
          <a:p>
            <a:pPr algn="just">
              <a:lnSpc>
                <a:spcPct val="110000"/>
              </a:lnSpc>
              <a:buNone/>
            </a:pPr>
            <a:r>
              <a:rPr lang="en-IN" sz="4400" b="1" dirty="0"/>
              <a:t>		</a:t>
            </a:r>
            <a:r>
              <a:rPr lang="en-IN" sz="4400" b="1" dirty="0" err="1"/>
              <a:t>Avg</a:t>
            </a:r>
            <a:r>
              <a:rPr lang="en-IN" sz="4400" b="1" dirty="0"/>
              <a:t> Monthly Consumption </a:t>
            </a:r>
          </a:p>
          <a:p>
            <a:pPr algn="just">
              <a:lnSpc>
                <a:spcPct val="110000"/>
              </a:lnSpc>
              <a:buNone/>
            </a:pPr>
            <a:r>
              <a:rPr lang="en-IN" sz="4400" b="1" dirty="0"/>
              <a:t>				=      </a:t>
            </a:r>
          </a:p>
          <a:p>
            <a:pPr algn="just">
              <a:lnSpc>
                <a:spcPct val="110000"/>
              </a:lnSpc>
              <a:buNone/>
            </a:pPr>
            <a:r>
              <a:rPr lang="en-IN" sz="4400" b="1" dirty="0"/>
              <a:t>			16500/ 10  = 1650 Tabs.   </a:t>
            </a:r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What is your projected requirement for a certain drug?</a:t>
            </a:r>
          </a:p>
          <a:p>
            <a:pPr algn="just">
              <a:buNone/>
            </a:pPr>
            <a:endParaRPr lang="en-IN" dirty="0"/>
          </a:p>
          <a:p>
            <a:pPr algn="just"/>
            <a:r>
              <a:rPr lang="en-IN" dirty="0"/>
              <a:t>Previous month/year consumption plus a small percentage to factor annual growth in population.</a:t>
            </a:r>
          </a:p>
          <a:p>
            <a:pPr lvl="8"/>
            <a:r>
              <a:rPr lang="en-IN" b="1" dirty="0"/>
              <a:t>WAIT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Did you check if the drug was available throughout the month/year in adequate quantities?</a:t>
            </a:r>
          </a:p>
          <a:p>
            <a:r>
              <a:rPr lang="en-IN" dirty="0"/>
              <a:t>How many months/days of stock out was noticed?</a:t>
            </a:r>
          </a:p>
          <a:p>
            <a:r>
              <a:rPr lang="en-IN" dirty="0"/>
              <a:t>To  what extent was another item of the same pharmacological category substituted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FORECASTING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420889"/>
            <a:ext cx="8291264" cy="3705275"/>
          </a:xfrm>
        </p:spPr>
        <p:txBody>
          <a:bodyPr/>
          <a:lstStyle/>
          <a:p>
            <a:r>
              <a:rPr lang="en-IN" dirty="0"/>
              <a:t>What is the re-order level of an item at Block DWH?</a:t>
            </a:r>
          </a:p>
          <a:p>
            <a:endParaRPr lang="en-IN" dirty="0"/>
          </a:p>
          <a:p>
            <a:pPr algn="just">
              <a:buNone/>
            </a:pPr>
            <a:r>
              <a:rPr lang="en-IN" dirty="0"/>
              <a:t>		R.O.  level = Lead Time + Safety Stock (In  Months or days)</a:t>
            </a:r>
          </a:p>
          <a:p>
            <a:pPr algn="just">
              <a:buNone/>
            </a:pPr>
            <a:endParaRPr lang="en-IN" dirty="0"/>
          </a:p>
          <a:p>
            <a:pPr algn="just"/>
            <a:r>
              <a:rPr lang="en-IN" dirty="0"/>
              <a:t>How much to re-order?</a:t>
            </a:r>
          </a:p>
          <a:p>
            <a:pPr lvl="2" algn="just">
              <a:buNone/>
            </a:pPr>
            <a:endParaRPr lang="en-IN" dirty="0"/>
          </a:p>
          <a:p>
            <a:pPr lvl="2" algn="just">
              <a:buNone/>
            </a:pPr>
            <a:r>
              <a:rPr lang="en-IN" dirty="0"/>
              <a:t>R.O. Qty = </a:t>
            </a:r>
            <a:r>
              <a:rPr lang="en-IN" dirty="0" err="1"/>
              <a:t>Avg</a:t>
            </a:r>
            <a:r>
              <a:rPr lang="en-IN" dirty="0"/>
              <a:t> Monthly Consumption x (LT + SS)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SMART MOVES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1584" y="2348881"/>
            <a:ext cx="7416824" cy="3777283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Prompt utilization of near expiry drugs.</a:t>
            </a:r>
          </a:p>
          <a:p>
            <a:pPr algn="just"/>
            <a:r>
              <a:rPr lang="en-US" dirty="0"/>
              <a:t>First Expiry First Out (FEFO) principles should be followed to minimize expiry and wastage. Near-expiry products should be identified and redistributed/utilize where possible.</a:t>
            </a:r>
            <a:endParaRPr lang="en-IN" dirty="0"/>
          </a:p>
          <a:p>
            <a:pPr algn="just"/>
            <a:r>
              <a:rPr lang="en-IN" dirty="0"/>
              <a:t>Utilization of an item with similar group when an item is out of stock.</a:t>
            </a:r>
          </a:p>
          <a:p>
            <a:pPr lvl="1" algn="just">
              <a:buNone/>
            </a:pPr>
            <a:r>
              <a:rPr lang="en-IN" dirty="0"/>
              <a:t>	Ex – Utilization of Tab. Rabeprazole in absence of Tab. </a:t>
            </a:r>
            <a:r>
              <a:rPr lang="en-IN" dirty="0" err="1"/>
              <a:t>Pantoprazole</a:t>
            </a:r>
            <a:r>
              <a:rPr lang="en-IN" dirty="0"/>
              <a:t>.</a:t>
            </a:r>
          </a:p>
          <a:p>
            <a:pPr lvl="1" algn="just"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7739C-AAF1-0CCC-C3DC-0F84D84B6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Block Drug &amp; Therapeutics Committee (BDTC)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655E8-250E-C9A5-989E-7249CC80F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Review drug consumption and stock position.</a:t>
            </a:r>
          </a:p>
          <a:p>
            <a:r>
              <a:rPr lang="en-US" dirty="0"/>
              <a:t>Review stock-outs and near-expiry drugs. </a:t>
            </a:r>
          </a:p>
          <a:p>
            <a:r>
              <a:rPr lang="en-US" dirty="0"/>
              <a:t>Monitoring of monthly indent compliance.</a:t>
            </a:r>
          </a:p>
          <a:p>
            <a:r>
              <a:rPr lang="en-US" dirty="0"/>
              <a:t>Prescription audit findings. </a:t>
            </a:r>
          </a:p>
          <a:p>
            <a:pPr marL="0" indent="0">
              <a:buNone/>
            </a:pPr>
            <a:r>
              <a:rPr lang="en-US" b="1" u="sng" dirty="0"/>
              <a:t>Composition: </a:t>
            </a:r>
          </a:p>
          <a:p>
            <a:r>
              <a:rPr lang="en-US" dirty="0"/>
              <a:t>Block Medical Officer (Chairman &amp; Convener) </a:t>
            </a:r>
          </a:p>
          <a:p>
            <a:r>
              <a:rPr lang="en-US" dirty="0"/>
              <a:t>Medical Officers of PHCs</a:t>
            </a:r>
          </a:p>
          <a:p>
            <a:r>
              <a:rPr lang="en-US" dirty="0"/>
              <a:t>Store Pharmacy Officer (CHC) </a:t>
            </a:r>
          </a:p>
          <a:p>
            <a:r>
              <a:rPr lang="en-US" dirty="0"/>
              <a:t>Block </a:t>
            </a:r>
            <a:r>
              <a:rPr lang="en-US" dirty="0" err="1"/>
              <a:t>Programme</a:t>
            </a:r>
            <a:r>
              <a:rPr lang="en-US" dirty="0"/>
              <a:t> Manager (BPM)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135846595"/>
      </p:ext>
    </p:extLst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87688" y="1811864"/>
            <a:ext cx="5616624" cy="1515533"/>
          </a:xfrm>
        </p:spPr>
        <p:txBody>
          <a:bodyPr>
            <a:noAutofit/>
          </a:bodyPr>
          <a:lstStyle/>
          <a:p>
            <a:r>
              <a:rPr lang="en-IN" sz="3600" b="1" dirty="0"/>
              <a:t>ANNUAL PROCUREMENT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u="sng" dirty="0"/>
              <a:t>STEPS INVOLVED IN PREPARATION OF AAP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60000"/>
              </a:lnSpc>
            </a:pPr>
            <a:r>
              <a:rPr lang="en-IN" dirty="0"/>
              <a:t>Collection</a:t>
            </a:r>
          </a:p>
          <a:p>
            <a:pPr algn="just">
              <a:lnSpc>
                <a:spcPct val="160000"/>
              </a:lnSpc>
            </a:pPr>
            <a:r>
              <a:rPr lang="en-IN" dirty="0"/>
              <a:t>Compilation </a:t>
            </a:r>
          </a:p>
          <a:p>
            <a:pPr algn="just">
              <a:lnSpc>
                <a:spcPct val="160000"/>
              </a:lnSpc>
            </a:pPr>
            <a:r>
              <a:rPr lang="en-IN" dirty="0"/>
              <a:t>Rationalisation</a:t>
            </a:r>
          </a:p>
          <a:p>
            <a:pPr algn="just">
              <a:lnSpc>
                <a:spcPct val="160000"/>
              </a:lnSpc>
            </a:pPr>
            <a:r>
              <a:rPr lang="en-IN" dirty="0"/>
              <a:t>Approval by Drug Therapeutic Committee</a:t>
            </a:r>
          </a:p>
          <a:p>
            <a:pPr algn="just">
              <a:lnSpc>
                <a:spcPct val="160000"/>
              </a:lnSpc>
            </a:pPr>
            <a:r>
              <a:rPr lang="en-IN" dirty="0"/>
              <a:t>Upload in DVDMS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8D91E7-E7EF-C8DD-4076-E6A7319091C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423592" y="764704"/>
          <a:ext cx="7344816" cy="4905130"/>
        </p:xfrm>
        <a:graphic>
          <a:graphicData uri="http://schemas.openxmlformats.org/drawingml/2006/table">
            <a:tbl>
              <a:tblPr/>
              <a:tblGrid>
                <a:gridCol w="3672408">
                  <a:extLst>
                    <a:ext uri="{9D8B030D-6E8A-4147-A177-3AD203B41FA5}">
                      <a16:colId xmlns:a16="http://schemas.microsoft.com/office/drawing/2014/main" val="3732221850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982086945"/>
                    </a:ext>
                  </a:extLst>
                </a:gridCol>
              </a:tblGrid>
              <a:tr h="3065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Activity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Timeline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46419"/>
                  </a:ext>
                </a:extLst>
              </a:tr>
              <a:tr h="429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Review of previous year's consumption data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July – August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286978"/>
                  </a:ext>
                </a:extLst>
              </a:tr>
              <a:tr h="415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Collection of EDL revision suggestions from BDTC/DDTC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August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401199"/>
                  </a:ext>
                </a:extLst>
              </a:tr>
              <a:tr h="368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Facility-wise Annual Indent Preparation (SC/PHC/CHC/SDH/DHH/MCH)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September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348092"/>
                  </a:ext>
                </a:extLst>
              </a:tr>
              <a:tr h="306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Review &amp; Rationalization by BDTC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September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6088854"/>
                  </a:ext>
                </a:extLst>
              </a:tr>
              <a:tr h="429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Review &amp; Approval by DDTC/MIDTC/MCDTC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October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081719"/>
                  </a:ext>
                </a:extLst>
              </a:tr>
              <a:tr h="429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Consolidation of District/Institutional Indents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October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872168"/>
                  </a:ext>
                </a:extLst>
              </a:tr>
              <a:tr h="429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Submission of Annual Indents to OSMCL/SDMU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October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061490"/>
                  </a:ext>
                </a:extLst>
              </a:tr>
              <a:tr h="306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Preparation of Draft APP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October – November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500724"/>
                  </a:ext>
                </a:extLst>
              </a:tr>
              <a:tr h="429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Review by State Drug Management Committee (SDMC)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November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073099"/>
                  </a:ext>
                </a:extLst>
              </a:tr>
              <a:tr h="429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Finalization of APP for next Financial Year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By 15th November</a:t>
                      </a:r>
                      <a:endParaRPr lang="en-US" sz="1100" dirty="0"/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420545"/>
                  </a:ext>
                </a:extLst>
              </a:tr>
              <a:tr h="306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Tendering &amp; Procurement Process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November onwards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92558"/>
                  </a:ext>
                </a:extLst>
              </a:tr>
              <a:tr h="306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Supply Planning &amp; Distribution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As per procurement schedule</a:t>
                      </a:r>
                    </a:p>
                  </a:txBody>
                  <a:tcPr marL="42011" marR="42011" marT="21005" marB="21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710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129678"/>
      </p:ext>
    </p:extLst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How to Rationalise Indents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Simply compare the </a:t>
            </a:r>
            <a:r>
              <a:rPr lang="en-IN" b="1" dirty="0"/>
              <a:t>indents</a:t>
            </a:r>
            <a:r>
              <a:rPr lang="en-IN" dirty="0"/>
              <a:t> placed with that of </a:t>
            </a:r>
            <a:r>
              <a:rPr lang="en-IN" b="1" dirty="0"/>
              <a:t>average monthly consumption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r>
              <a:rPr lang="en-IN" dirty="0"/>
              <a:t>Discuss for special requirement, if any.</a:t>
            </a:r>
          </a:p>
          <a:p>
            <a:endParaRPr lang="en-IN" dirty="0"/>
          </a:p>
          <a:p>
            <a:r>
              <a:rPr lang="en-IN" dirty="0"/>
              <a:t>Patient Load may be taken for analysis.</a:t>
            </a:r>
          </a:p>
          <a:p>
            <a:pPr lvl="1"/>
            <a:r>
              <a:rPr lang="en-IN" dirty="0" err="1"/>
              <a:t>Eg</a:t>
            </a:r>
            <a:r>
              <a:rPr lang="en-IN" dirty="0"/>
              <a:t>: Inj. ARV = Patient registered for dog bite cases.</a:t>
            </a:r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2CB74-6E8F-FCF5-D402-6E7249EE4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5ADAA-76B0-6FA2-3091-77132D726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Role &amp; Responsibilities of </a:t>
            </a:r>
            <a:br>
              <a:rPr lang="en-US" b="1" dirty="0"/>
            </a:br>
            <a:r>
              <a:rPr lang="en-US" b="1" dirty="0"/>
              <a:t>MO I/C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659CE-667C-DBF6-E75D-9185AE7E6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Ensure uninterrupted drug availability </a:t>
            </a:r>
          </a:p>
          <a:p>
            <a:r>
              <a:rPr lang="en-US" dirty="0"/>
              <a:t>Verify monthly stock position </a:t>
            </a:r>
          </a:p>
          <a:p>
            <a:r>
              <a:rPr lang="en-US" dirty="0"/>
              <a:t>Monitor FEFO compliance </a:t>
            </a:r>
          </a:p>
          <a:p>
            <a:r>
              <a:rPr lang="en-US" dirty="0"/>
              <a:t>Monitor near-expiry drugs </a:t>
            </a:r>
          </a:p>
          <a:p>
            <a:r>
              <a:rPr lang="en-US" dirty="0"/>
              <a:t>Conduct monthly review meetings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9426308"/>
      </p:ext>
    </p:extLst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763C3-7DF9-DC1F-433C-773D7B35E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Role &amp; Responsibilities of </a:t>
            </a:r>
            <a:br>
              <a:rPr lang="en-US" b="1" dirty="0"/>
            </a:br>
            <a:r>
              <a:rPr lang="en-US" b="1" dirty="0"/>
              <a:t>Pharmacy Officer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CA8C1-E3F5-F760-605D-D27A40C8B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Maintain stock registers.</a:t>
            </a:r>
          </a:p>
          <a:p>
            <a:r>
              <a:rPr lang="en-US" dirty="0"/>
              <a:t>Update receipts and issues in DVDMS</a:t>
            </a:r>
          </a:p>
          <a:p>
            <a:r>
              <a:rPr lang="en-US" dirty="0"/>
              <a:t> Generate monthly consumption reports </a:t>
            </a:r>
          </a:p>
          <a:p>
            <a:r>
              <a:rPr lang="en-US" dirty="0"/>
              <a:t>Prepare indents based on AMC </a:t>
            </a:r>
          </a:p>
          <a:p>
            <a:r>
              <a:rPr lang="en-US" dirty="0"/>
              <a:t>Ensure proper storage conditions</a:t>
            </a:r>
          </a:p>
        </p:txBody>
      </p:sp>
    </p:spTree>
    <p:extLst>
      <p:ext uri="{BB962C8B-B14F-4D97-AF65-F5344CB8AC3E}">
        <p14:creationId xmlns:p14="http://schemas.microsoft.com/office/powerpoint/2010/main" val="19286394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2.3.7802"/>
  <p:tag name="SLIDO_PRESENTATION_ID" val="cea41368-b299-453a-86ac-367c32b5efe9"/>
  <p:tag name="SLIDO_EVENT_UUID" val="fcad33ae-25be-4cda-ad67-3ccd05ff2cd6"/>
  <p:tag name="SLIDO_EVENT_SECTION_UUID" val="e20e75c6-e565-4309-bef2-b02a4dc93b90"/>
</p:tagLst>
</file>

<file path=ppt/theme/_rels/them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/Relationships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Jhpiego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8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684FDF-ECB5-4D95-AD9B-F7E3763E2B16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2370</TotalTime>
  <Words>23516</Words>
  <Application>Microsoft Office PowerPoint</Application>
  <PresentationFormat>Widescreen</PresentationFormat>
  <Paragraphs>4491</Paragraphs>
  <Slides>380</Slides>
  <Notes>89</Notes>
  <HiddenSlides>0</HiddenSlides>
  <MMClips>0</MMClips>
  <ScaleCrop>false</ScaleCrop>
  <HeadingPairs>
    <vt:vector size="4" baseType="variant">
      <vt:variant>
        <vt:lpstr>Theme</vt:lpstr>
      </vt:variant>
      <vt:variant>
        <vt:i4>10</vt:i4>
      </vt:variant>
      <vt:variant>
        <vt:lpstr>Slide Titles</vt:lpstr>
      </vt:variant>
      <vt:variant>
        <vt:i4>380</vt:i4>
      </vt:variant>
    </vt:vector>
  </HeadingPairs>
  <TitlesOfParts>
    <vt:vector size="390" baseType="lpstr">
      <vt:lpstr>Office 2013 - 2022 Theme</vt:lpstr>
      <vt:lpstr>Office Theme</vt:lpstr>
      <vt:lpstr>1_Office Theme</vt:lpstr>
      <vt:lpstr>2_Office Theme</vt:lpstr>
      <vt:lpstr>3_Office Theme</vt:lpstr>
      <vt:lpstr>Jhpiego Theme</vt:lpstr>
      <vt:lpstr>Organic</vt:lpstr>
      <vt:lpstr>5_Office Theme</vt:lpstr>
      <vt:lpstr>6_Office Theme</vt:lpstr>
      <vt:lpstr>7_Office Theme</vt:lpstr>
      <vt:lpstr>DAY : 1 </vt:lpstr>
      <vt:lpstr>Maternal Health</vt:lpstr>
      <vt:lpstr>PowerPoint Presentation</vt:lpstr>
      <vt:lpstr>Importance of diagnosing hypertensive disorders of pregnancy</vt:lpstr>
      <vt:lpstr>Effects of high BP on mother  and child during pregnancy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Iron deficiency Anemia in Pregnancy </vt:lpstr>
      <vt:lpstr> What is Anaemia ?</vt:lpstr>
      <vt:lpstr>Grades of anaemia in pregnancy </vt:lpstr>
      <vt:lpstr>PowerPoint Presentation</vt:lpstr>
      <vt:lpstr>Symptoms of Severe Anaemia</vt:lpstr>
      <vt:lpstr>Signs of severe Anaemia</vt:lpstr>
      <vt:lpstr>Diagnostic equipment for Anemia</vt:lpstr>
      <vt:lpstr>Methods of diagnosis</vt:lpstr>
      <vt:lpstr>What is FCM </vt:lpstr>
      <vt:lpstr>Indications for FCM </vt:lpstr>
      <vt:lpstr>Contraindications for FCM </vt:lpstr>
      <vt:lpstr>Comparison between Iron Sucrose and FCM …1</vt:lpstr>
      <vt:lpstr>Comparison between Iron Sucrose and FCM …2</vt:lpstr>
      <vt:lpstr>Dose Calculation of FCM </vt:lpstr>
      <vt:lpstr>Administration of FCM </vt:lpstr>
      <vt:lpstr>Precautions for FCM administration </vt:lpstr>
      <vt:lpstr>Management of adverse events following FCM administration</vt:lpstr>
      <vt:lpstr>FOLLOW UP ACTIONS AFTER ADMINISTRATION</vt:lpstr>
      <vt:lpstr>PowerPoint Presentation</vt:lpstr>
      <vt:lpstr>PowerPoint Presentation</vt:lpstr>
      <vt:lpstr>PowerPoint Presentation</vt:lpstr>
      <vt:lpstr>    Effects of GDM on Pregnant Woman and Newborn</vt:lpstr>
      <vt:lpstr>PowerPoint Presentation</vt:lpstr>
      <vt:lpstr>Consideration for GDM Screening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Medical Nutrition Therapy</vt:lpstr>
      <vt:lpstr>Management of GDM – Physical Exercise (contd.)</vt:lpstr>
      <vt:lpstr>PowerPoint Presentation</vt:lpstr>
      <vt:lpstr>PowerPoint Presentation</vt:lpstr>
      <vt:lpstr>Hypothyroidism and its significance during pregnancy</vt:lpstr>
      <vt:lpstr>Diagnostic equipment for Hypothyroidism</vt:lpstr>
      <vt:lpstr>Adverse effects of untreated hypothyroidism in mother and fetus/newborn</vt:lpstr>
      <vt:lpstr>Magnitude of the problem and target population</vt:lpstr>
      <vt:lpstr>PowerPoint Presentation</vt:lpstr>
      <vt:lpstr>Diagnostic criteria in pregnancy</vt:lpstr>
      <vt:lpstr>PowerPoint Presentation</vt:lpstr>
      <vt:lpstr>PowerPoint Presentation</vt:lpstr>
      <vt:lpstr>PowerPoint Presentation</vt:lpstr>
      <vt:lpstr>Effect of SCD  on Mother and Baby</vt:lpstr>
      <vt:lpstr>High Performance Liquid Chromatography</vt:lpstr>
      <vt:lpstr>PowerPoint Presentation</vt:lpstr>
      <vt:lpstr>Prevention and Management of SCD</vt:lpstr>
      <vt:lpstr>Assessment prior to conception/First visit post conception:</vt:lpstr>
      <vt:lpstr>Management of Sickle cell disease during Antenatal period</vt:lpstr>
      <vt:lpstr>Medications and Monitoring</vt:lpstr>
      <vt:lpstr>Management of Sickle cell disease during Antenatal period</vt:lpstr>
      <vt:lpstr>Management of Sickle cell disease during Antenatal period</vt:lpstr>
      <vt:lpstr>Diagnostic Test of Sickle Cell</vt:lpstr>
      <vt:lpstr>Modalities of screening, treatment and management</vt:lpstr>
      <vt:lpstr>Modalities of screening, treatment and management</vt:lpstr>
      <vt:lpstr>Modalities of screening, treatment and management</vt:lpstr>
      <vt:lpstr>Management of Sickle cell disease in 2nd &amp; 3rd trimester </vt:lpstr>
      <vt:lpstr>PowerPoint Presentation</vt:lpstr>
      <vt:lpstr>Acute Pain Crisis Management</vt:lpstr>
      <vt:lpstr>Mode and timing of delivery</vt:lpstr>
      <vt:lpstr>Roles &amp; Responsibilities of MO/OG</vt:lpstr>
      <vt:lpstr>PowerPoint Presentation</vt:lpstr>
      <vt:lpstr>Preterm birth - A leading cause of neonatal deaths in India</vt:lpstr>
      <vt:lpstr>PowerPoint Presentation</vt:lpstr>
      <vt:lpstr>Recognizing true labor </vt:lpstr>
      <vt:lpstr>Interventions done in mother to prevent neonatal complications:</vt:lpstr>
      <vt:lpstr>Antenatal corticosteroids</vt:lpstr>
      <vt:lpstr>When to give and when not to give ANCS</vt:lpstr>
      <vt:lpstr>PowerPoint Presentation</vt:lpstr>
      <vt:lpstr>Post partum Hemorrhage</vt:lpstr>
      <vt:lpstr>Identification of PPH</vt:lpstr>
      <vt:lpstr>PowerPoint Presentation</vt:lpstr>
      <vt:lpstr>PowerPoint Presentation</vt:lpstr>
      <vt:lpstr>PowerPoint Presentation</vt:lpstr>
      <vt:lpstr>PowerPoint Presentation</vt:lpstr>
      <vt:lpstr>Classification of hypovolemic shock</vt:lpstr>
      <vt:lpstr> Assessment of Blood Loss </vt:lpstr>
      <vt:lpstr>PowerPoint Presentation</vt:lpstr>
      <vt:lpstr>PowerPoint Presentation</vt:lpstr>
      <vt:lpstr>PowerPoint Presentation</vt:lpstr>
      <vt:lpstr>Cause Specific Management: Atonic PPH</vt:lpstr>
      <vt:lpstr>PowerPoint Presentation</vt:lpstr>
      <vt:lpstr>Bimanual Uterine Compression</vt:lpstr>
      <vt:lpstr>Compression of Abdominal Aorta</vt:lpstr>
      <vt:lpstr>Condom Tamponade</vt:lpstr>
      <vt:lpstr>PowerPoint Presentation</vt:lpstr>
      <vt:lpstr>Cause Specific Management: Tears or Trauma</vt:lpstr>
      <vt:lpstr>Key Messages</vt:lpstr>
      <vt:lpstr>PowerPoint Presentation</vt:lpstr>
      <vt:lpstr>PARTOGRAPH – CASE STUDY 1</vt:lpstr>
      <vt:lpstr>PowerPoint Presentation</vt:lpstr>
      <vt:lpstr>PARTOGRAPH – CASE STUDY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Clinical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messages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Importance of Care for Newborn at Birth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Monitoring of Baby (Delivery Case-sheet)</vt:lpstr>
      <vt:lpstr>PowerPoint Presentation</vt:lpstr>
      <vt:lpstr>PowerPoint Presentation</vt:lpstr>
      <vt:lpstr>PowerPoint Presentation</vt:lpstr>
      <vt:lpstr>RoP IEC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 Home Message</vt:lpstr>
      <vt:lpstr>Thermal Control (KMC)</vt:lpstr>
      <vt:lpstr>PowerPoint Presentation</vt:lpstr>
      <vt:lpstr>PowerPoint Presentation</vt:lpstr>
      <vt:lpstr>ASSESSMENT OF TEMPERATURE BY TOUCH</vt:lpstr>
      <vt:lpstr>PowerPoint Presentation</vt:lpstr>
      <vt:lpstr>PowerPoint Presentation</vt:lpstr>
      <vt:lpstr>PowerPoint Presentation</vt:lpstr>
      <vt:lpstr>Wrapping and covering a baby</vt:lpstr>
      <vt:lpstr>PowerPoint Presentation</vt:lpstr>
      <vt:lpstr>PowerPoint Presentation</vt:lpstr>
      <vt:lpstr>PowerPoint Presentation</vt:lpstr>
      <vt:lpstr>Kangaroo positioning</vt:lpstr>
      <vt:lpstr>PowerPoint Presentation</vt:lpstr>
      <vt:lpstr>Monitoring </vt:lpstr>
      <vt:lpstr> Duration of KMC </vt:lpstr>
      <vt:lpstr>PowerPoint Presentation</vt:lpstr>
      <vt:lpstr>PowerPoint Presentation</vt:lpstr>
      <vt:lpstr>PowerPoint Presentation</vt:lpstr>
      <vt:lpstr>PowerPoint Presentation</vt:lpstr>
      <vt:lpstr>Breast Anatomy - Structure</vt:lpstr>
      <vt:lpstr>Oxytocin Reflex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Stabilize prior to transport</vt:lpstr>
      <vt:lpstr>Communication</vt:lpstr>
      <vt:lpstr>TemperatureMaintenance as per warm chain</vt:lpstr>
      <vt:lpstr>PowerPoint Presentation</vt:lpstr>
      <vt:lpstr>PowerPoint Presentation</vt:lpstr>
      <vt:lpstr>Prevention &amp; Management of Hypoxia</vt:lpstr>
      <vt:lpstr>Danger signs of newborn</vt:lpstr>
      <vt:lpstr>PowerPoint Presentation</vt:lpstr>
      <vt:lpstr>Childhood Pneumonia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Childhood Diarrhoea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Dose of ORS in 4 hours</vt:lpstr>
      <vt:lpstr>PowerPoint Presentation</vt:lpstr>
      <vt:lpstr>When to send child home &amp; Advice</vt:lpstr>
      <vt:lpstr>PowerPoint Presentation</vt:lpstr>
      <vt:lpstr>An Over View Immunization Programme  </vt:lpstr>
      <vt:lpstr>Introduction</vt:lpstr>
      <vt:lpstr>India’s Universal Immunization Programme (UIP)</vt:lpstr>
      <vt:lpstr>Roadmap of Introduction &amp; Expansion of New Vaccines</vt:lpstr>
      <vt:lpstr>Universal Immunization Programme (Scope and Scale in Odisha)</vt:lpstr>
      <vt:lpstr>Aim and objectives of UIP </vt:lpstr>
      <vt:lpstr>Full Immunization trend ( NFHS)</vt:lpstr>
      <vt:lpstr>Concept of Full Immunization Coverage (FIC) Plus</vt:lpstr>
      <vt:lpstr>Immunization programme Component </vt:lpstr>
      <vt:lpstr>VPDs </vt:lpstr>
      <vt:lpstr>PowerPoint Presentation</vt:lpstr>
      <vt:lpstr>Sequence , Site and Route of Vaccination at birth</vt:lpstr>
      <vt:lpstr>Sequence , Site and Route of Vaccination at 6th  Week</vt:lpstr>
      <vt:lpstr>Sequence , Site and Route of Vaccination at 10th  Week</vt:lpstr>
      <vt:lpstr>Sequence , Site and Route of Vaccination at 14th  Week</vt:lpstr>
      <vt:lpstr>Sequence , Site and Route of Vaccination at 9-11th month</vt:lpstr>
      <vt:lpstr>Sequence , Site and Route of Vaccination at 16-23 months</vt:lpstr>
      <vt:lpstr>PowerPoint Presentation</vt:lpstr>
      <vt:lpstr>Syringe and needle position for Vaccination </vt:lpstr>
      <vt:lpstr>PowerPoint Presentation</vt:lpstr>
      <vt:lpstr>Sensitivity of Vaccine to heat, light and freezing  </vt:lpstr>
      <vt:lpstr>PowerPoint Presentation</vt:lpstr>
      <vt:lpstr>PowerPoint Presentation</vt:lpstr>
      <vt:lpstr>Conditioning of Ice Packs</vt:lpstr>
      <vt:lpstr>Vaccine Arrangement at RI session sites </vt:lpstr>
      <vt:lpstr>Adverse event following immunization (AEFI)</vt:lpstr>
      <vt:lpstr>WHO cause specific definition of AEFIs</vt:lpstr>
      <vt:lpstr>Recognition of Anaphylaxis</vt:lpstr>
      <vt:lpstr>Steps for Initial Management of AEFI</vt:lpstr>
      <vt:lpstr>Managing AEFI </vt:lpstr>
      <vt:lpstr>Contents of the Anaphylaxis Kit </vt:lpstr>
      <vt:lpstr>Dose of Adrenaline </vt:lpstr>
      <vt:lpstr>Difference between AEFI Kit and Anaphylaxis kit </vt:lpstr>
      <vt:lpstr> Reporting of AEFIs  </vt:lpstr>
      <vt:lpstr> Immunization Wastes Segregation </vt:lpstr>
      <vt:lpstr>Monitoring and Supervision of RI Programme </vt:lpstr>
      <vt:lpstr>Reporting and recording of RI Programme </vt:lpstr>
      <vt:lpstr>DAY 2 Programs</vt:lpstr>
      <vt:lpstr>PowerPoint Presentation</vt:lpstr>
      <vt:lpstr>PowerPoint Presentation</vt:lpstr>
      <vt:lpstr>PowerPoint Presentation</vt:lpstr>
      <vt:lpstr>Requirements at VHSND/ UHSND site</vt:lpstr>
      <vt:lpstr>PowerPoint Presentation</vt:lpstr>
      <vt:lpstr>MCP card</vt:lpstr>
      <vt:lpstr>“Guidance Note on Optimizing Post-Natal Care”</vt:lpstr>
      <vt:lpstr>Framework to identify the high-risk post-natal mother</vt:lpstr>
      <vt:lpstr>PowerPoint Presentation</vt:lpstr>
      <vt:lpstr>Reporting, Monitoring and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HRP condition in MCP card</vt:lpstr>
      <vt:lpstr>PowerPoint Presentation</vt:lpstr>
      <vt:lpstr>HRP Condition to be evaluate in 1st visit</vt:lpstr>
      <vt:lpstr>HRP Condition to be evaluate in every visit/Subsequent visit</vt:lpstr>
      <vt:lpstr>PowerPoint Presentation</vt:lpstr>
      <vt:lpstr>PowerPoint Presentation</vt:lpstr>
      <vt:lpstr>The expert committee unanimously recommended the following investigation for all ANC cases at the facility level:</vt:lpstr>
      <vt:lpstr>Following investigations are recommended for every delivery cases at the time of admission for delivery at facility:</vt:lpstr>
      <vt:lpstr>Follow up Tracking for HRP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BPCR – Complication Readiness</vt:lpstr>
      <vt:lpstr>PMSMA &amp; EPMSMA</vt:lpstr>
      <vt:lpstr>Pradhan Mantri Surakshit Matritva Abhiyan (PMSMA)/Extended PMSMA</vt:lpstr>
      <vt:lpstr>PowerPoint Presentation</vt:lpstr>
      <vt:lpstr>Features</vt:lpstr>
      <vt:lpstr>Financial Support</vt:lpstr>
      <vt:lpstr>Non-Negotiable Component</vt:lpstr>
      <vt:lpstr>Flow of Beneficiary</vt:lpstr>
      <vt:lpstr>Roles and responsibility of Health care providers</vt:lpstr>
      <vt:lpstr>List of PMSMA HRP Condition (25)</vt:lpstr>
      <vt:lpstr>Integration of MCP card and PMSMA HRP condition</vt:lpstr>
      <vt:lpstr>Integration of MCP card and PMSMA HRP condition</vt:lpstr>
      <vt:lpstr>AMLAN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Modalities for Oral IFA consumptions for all age groups</vt:lpstr>
      <vt:lpstr>PowerPoint Presentation</vt:lpstr>
      <vt:lpstr>PowerPoint Presentation</vt:lpstr>
      <vt:lpstr>PowerPoint Presentation</vt:lpstr>
      <vt:lpstr>PowerPoint Presentation</vt:lpstr>
      <vt:lpstr>Way Forward</vt:lpstr>
      <vt:lpstr> Home Based Newborn &amp; Young Child Care</vt:lpstr>
      <vt:lpstr>HBNC</vt:lpstr>
      <vt:lpstr>HBYC</vt:lpstr>
      <vt:lpstr>Skill Needed for HBNC</vt:lpstr>
      <vt:lpstr>Skill Needed for HBYC</vt:lpstr>
      <vt:lpstr>Recording</vt:lpstr>
      <vt:lpstr>SUPPLY CHAIN MANGEMENT</vt:lpstr>
      <vt:lpstr>FLOW OF INDENT</vt:lpstr>
      <vt:lpstr>ISSUE OF DRUGS</vt:lpstr>
      <vt:lpstr>INVENTORY MANAGEMENT</vt:lpstr>
      <vt:lpstr>INVENTORY MANAGEMENT</vt:lpstr>
      <vt:lpstr>BASIC PRINCIPLE </vt:lpstr>
      <vt:lpstr>Monthly Indent Calendar</vt:lpstr>
      <vt:lpstr>INVENTORY MANAGEMENT</vt:lpstr>
      <vt:lpstr>INVENTORY MANAGEMENT</vt:lpstr>
      <vt:lpstr>MONTHLY AVERAGE CONSUMPTION Ex- Tab. Pantoprazole 40 mg</vt:lpstr>
      <vt:lpstr>PowerPoint Presentation</vt:lpstr>
      <vt:lpstr>FORECASTING</vt:lpstr>
      <vt:lpstr>FORECASTING</vt:lpstr>
      <vt:lpstr>FORECASTING</vt:lpstr>
      <vt:lpstr>SMART MOVES</vt:lpstr>
      <vt:lpstr>Block Drug &amp; Therapeutics Committee (BDTC)</vt:lpstr>
      <vt:lpstr>ANNUAL PROCUREMENT PLAN</vt:lpstr>
      <vt:lpstr>STEPS INVOLVED IN PREPARATION OF AAP</vt:lpstr>
      <vt:lpstr>PowerPoint Presentation</vt:lpstr>
      <vt:lpstr>How to Rationalise Indents</vt:lpstr>
      <vt:lpstr>Role &amp; Responsibilities of  MO I/C</vt:lpstr>
      <vt:lpstr>Role &amp; Responsibilities of  Pharmacy Officer</vt:lpstr>
      <vt:lpstr> Instrument Processing </vt:lpstr>
      <vt:lpstr>PowerPoint Presentation</vt:lpstr>
      <vt:lpstr>PowerPoint Presentation</vt:lpstr>
      <vt:lpstr>Hypochlorite solution available concentration and dilution</vt:lpstr>
      <vt:lpstr>High Level disinfection/ Chemical sterilization</vt:lpstr>
      <vt:lpstr>PowerPoint Presentation</vt:lpstr>
      <vt:lpstr>PowerPoint Presentation</vt:lpstr>
      <vt:lpstr>Test Details As per Notification</vt:lpstr>
      <vt:lpstr>List of tests as per Type facility including</vt:lpstr>
      <vt:lpstr>List of tests as per Type facility including</vt:lpstr>
      <vt:lpstr>List of tests as per Type facility including</vt:lpstr>
      <vt:lpstr>List of tests as per Type facility including</vt:lpstr>
      <vt:lpstr>PowerPoint Presentation</vt:lpstr>
      <vt:lpstr>PowerPoint Presentation</vt:lpstr>
      <vt:lpstr>PowerPoint Presentation</vt:lpstr>
      <vt:lpstr>PowerPoint Presentation</vt:lpstr>
      <vt:lpstr>MDR Process</vt:lpstr>
      <vt:lpstr>CDR Process</vt:lpstr>
      <vt:lpstr>PowerPoint Presentation</vt:lpstr>
      <vt:lpstr>PowerPoint Presentation</vt:lpstr>
      <vt:lpstr>PowerPoint Presentation</vt:lpstr>
      <vt:lpstr>Dummy Data for group work </vt:lpstr>
      <vt:lpstr>Answer key </vt:lpstr>
      <vt:lpstr>Reporting &amp; Review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Maternal Health</dc:title>
  <dc:creator>Nilophor; Rudra Das</dc:creator>
  <cp:lastModifiedBy>sibasish swain</cp:lastModifiedBy>
  <cp:revision>77</cp:revision>
  <cp:lastPrinted>2026-06-06T05:30:39Z</cp:lastPrinted>
  <dcterms:created xsi:type="dcterms:W3CDTF">2026-06-03T10:15:04Z</dcterms:created>
  <dcterms:modified xsi:type="dcterms:W3CDTF">2026-08-22T11:46:46Z</dcterms:modified>
</cp:coreProperties>
</file>