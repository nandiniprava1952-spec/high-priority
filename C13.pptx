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304" r:id="rId3"/>
    <p:sldId id="260" r:id="rId4"/>
    <p:sldId id="258" r:id="rId5"/>
    <p:sldId id="298" r:id="rId6"/>
    <p:sldId id="299" r:id="rId7"/>
    <p:sldId id="300" r:id="rId8"/>
    <p:sldId id="301" r:id="rId9"/>
    <p:sldId id="302" r:id="rId10"/>
    <p:sldId id="305" r:id="rId11"/>
    <p:sldId id="306" r:id="rId12"/>
    <p:sldId id="307" r:id="rId13"/>
    <p:sldId id="308" r:id="rId14"/>
    <p:sldId id="309" r:id="rId15"/>
    <p:sldId id="310" r:id="rId16"/>
    <p:sldId id="311" r:id="rId17"/>
    <p:sldId id="312" r:id="rId18"/>
    <p:sldId id="264" r:id="rId19"/>
    <p:sldId id="297" r:id="rId20"/>
    <p:sldId id="313" r:id="rId21"/>
    <p:sldId id="26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3" autoAdjust="0"/>
    <p:restoredTop sz="89416" autoAdjust="0"/>
  </p:normalViewPr>
  <p:slideViewPr>
    <p:cSldViewPr snapToGrid="0">
      <p:cViewPr varScale="1">
        <p:scale>
          <a:sx n="72" d="100"/>
          <a:sy n="72" d="100"/>
        </p:scale>
        <p:origin x="456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basish swain" userId="128d5afd49ef3bc5" providerId="LiveId" clId="{B1999C97-AF0F-473F-9D58-9D60A47F4F24}"/>
    <pc:docChg chg="modSld">
      <pc:chgData name="sibasish swain" userId="128d5afd49ef3bc5" providerId="LiveId" clId="{B1999C97-AF0F-473F-9D58-9D60A47F4F24}" dt="2026-07-15T08:29:28.181" v="10" actId="1037"/>
      <pc:docMkLst>
        <pc:docMk/>
      </pc:docMkLst>
      <pc:sldChg chg="modSp mod">
        <pc:chgData name="sibasish swain" userId="128d5afd49ef3bc5" providerId="LiveId" clId="{B1999C97-AF0F-473F-9D58-9D60A47F4F24}" dt="2026-07-15T08:29:28.181" v="10" actId="1037"/>
        <pc:sldMkLst>
          <pc:docMk/>
          <pc:sldMk cId="320268984" sldId="260"/>
        </pc:sldMkLst>
        <pc:spChg chg="mod">
          <ac:chgData name="sibasish swain" userId="128d5afd49ef3bc5" providerId="LiveId" clId="{B1999C97-AF0F-473F-9D58-9D60A47F4F24}" dt="2026-07-15T08:29:28.181" v="10" actId="1037"/>
          <ac:spMkLst>
            <pc:docMk/>
            <pc:sldMk cId="320268984" sldId="260"/>
            <ac:spMk id="20" creationId="{61F961AF-5D02-F48D-A88E-605F40B56B14}"/>
          </ac:spMkLst>
        </pc:spChg>
      </pc:sldChg>
      <pc:sldChg chg="modSp mod">
        <pc:chgData name="sibasish swain" userId="128d5afd49ef3bc5" providerId="LiveId" clId="{B1999C97-AF0F-473F-9D58-9D60A47F4F24}" dt="2026-07-15T04:42:26.235" v="5" actId="1037"/>
        <pc:sldMkLst>
          <pc:docMk/>
          <pc:sldMk cId="1128516724" sldId="299"/>
        </pc:sldMkLst>
        <pc:picChg chg="mod">
          <ac:chgData name="sibasish swain" userId="128d5afd49ef3bc5" providerId="LiveId" clId="{B1999C97-AF0F-473F-9D58-9D60A47F4F24}" dt="2026-07-15T04:42:26.235" v="5" actId="1037"/>
          <ac:picMkLst>
            <pc:docMk/>
            <pc:sldMk cId="1128516724" sldId="299"/>
            <ac:picMk id="4" creationId="{0B9948CE-DAFE-5D50-1A42-6172EE99ED4E}"/>
          </ac:picMkLst>
        </pc:picChg>
      </pc:sldChg>
      <pc:sldChg chg="modSp mod">
        <pc:chgData name="sibasish swain" userId="128d5afd49ef3bc5" providerId="LiveId" clId="{B1999C97-AF0F-473F-9D58-9D60A47F4F24}" dt="2026-07-15T06:16:22.066" v="7" actId="1037"/>
        <pc:sldMkLst>
          <pc:docMk/>
          <pc:sldMk cId="1947168453" sldId="301"/>
        </pc:sldMkLst>
        <pc:picChg chg="mod">
          <ac:chgData name="sibasish swain" userId="128d5afd49ef3bc5" providerId="LiveId" clId="{B1999C97-AF0F-473F-9D58-9D60A47F4F24}" dt="2026-07-15T06:16:22.066" v="7" actId="1037"/>
          <ac:picMkLst>
            <pc:docMk/>
            <pc:sldMk cId="1947168453" sldId="301"/>
            <ac:picMk id="9" creationId="{D4EBFFA0-97D8-CF38-A125-4A691FAE9E6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629E7E-A8A1-4C60-A8E6-D17CE8CCC942}" type="datetimeFigureOut">
              <a:rPr lang="en-IN" smtClean="0"/>
              <a:pPr/>
              <a:t>15-07-2026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0EC215-3045-4ED5-BD32-44926E0A7D1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5784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0EC215-3045-4ED5-BD32-44926E0A7D15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51750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0EC215-3045-4ED5-BD32-44926E0A7D15}" type="slidenum">
              <a:rPr lang="en-IN" smtClean="0"/>
              <a:pPr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70565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0EC215-3045-4ED5-BD32-44926E0A7D15}" type="slidenum">
              <a:rPr lang="en-IN" smtClean="0"/>
              <a:pPr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04249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9B306-3B8C-9D1B-0DF0-A0304108E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5D8C81-46A5-0AA9-EFB1-268AA859D3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0E17B8-0444-AA93-0907-C51651177E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47241F-3E5A-2AA5-9351-7C4547123D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0EC215-3045-4ED5-BD32-44926E0A7D15}" type="slidenum">
              <a:rPr lang="en-IN" smtClean="0"/>
              <a:pPr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6782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689F0-C2C0-14D7-39B7-F2513EC824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121D41-6649-D0CB-8F16-D857357F89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4EDD7-2EA6-D575-79D1-77A16B10F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C7710-4F02-4418-BC4C-375A6B174C39}" type="datetimeFigureOut">
              <a:rPr lang="en-IN" smtClean="0"/>
              <a:pPr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65CEA-FE24-960C-0A32-2F9C315A5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C03A64-3C76-21F8-B7DA-DC863925F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00DA8-E222-477D-81A8-CCFEF44559A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3219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A6A5E-5E3A-7008-A4B0-0D447170C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C0CC0-2E0B-806E-FA3C-C2584A248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0C0A8-6207-9846-8069-983E9EBAA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C7710-4F02-4418-BC4C-375A6B174C39}" type="datetimeFigureOut">
              <a:rPr lang="en-IN" smtClean="0"/>
              <a:pPr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A828D5-547A-1030-49BD-A2FB858FC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2762BB-84EF-E61A-11CD-E1B4FC5DF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00DA8-E222-477D-81A8-CCFEF44559A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7650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5D870-B6EB-7B4F-72D7-BF5948BAE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4186DE-0712-5A8A-D33D-C8AB08B50E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BB0D35-606B-81E2-5931-1546BAF84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C7710-4F02-4418-BC4C-375A6B174C39}" type="datetimeFigureOut">
              <a:rPr lang="en-IN" smtClean="0"/>
              <a:pPr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F4F2E-0063-46AD-8652-4758E0C0C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A67CC1-380F-9793-A49A-E0BDBA0EA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00DA8-E222-477D-81A8-CCFEF44559A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8375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745E3-84F6-AABE-6731-DA3CF8257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6B66F-0186-D2F9-C165-6122FB9800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101040-5B37-9359-DF10-2907A25C3B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EBCD05-CAB0-EE14-AF05-BA04D9C61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C7710-4F02-4418-BC4C-375A6B174C39}" type="datetimeFigureOut">
              <a:rPr lang="en-IN" smtClean="0"/>
              <a:pPr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D85FD4-7346-A789-A273-89A6275FE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94EA97-EB33-F6AD-4CF8-799BE9DA6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00DA8-E222-477D-81A8-CCFEF44559A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4894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A3C3D-4885-8903-6273-1FC3EFED3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6AF034-1363-FAE8-FEB8-3AE0DE860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0FED9A-95A2-D18A-8D35-863B981820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6791E0-ADA4-D404-8306-E2C5078F30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7D8D97-3098-D38A-A530-AE1157D24B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BB359C-576F-16EE-31FD-E8A7B19C6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C7710-4F02-4418-BC4C-375A6B174C39}" type="datetimeFigureOut">
              <a:rPr lang="en-IN" smtClean="0"/>
              <a:pPr/>
              <a:t>15-07-2026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0922E6-C3A2-B398-790F-966A0E039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EC5EB4-CE8E-C1BA-9D23-1AB9D539E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00DA8-E222-477D-81A8-CCFEF44559A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0265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319DC-0D5C-1D10-8DC0-C67F667D0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040635-1815-792B-E223-EF26AE76B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C7710-4F02-4418-BC4C-375A6B174C39}" type="datetimeFigureOut">
              <a:rPr lang="en-IN" smtClean="0"/>
              <a:pPr/>
              <a:t>15-07-2026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0E0FCD-9585-284F-2E11-FFE36E7B9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AC2326-8746-F4F7-EDDA-2AD8E032F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00DA8-E222-477D-81A8-CCFEF44559A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0827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594DB5-E58D-39B9-FD91-B5D6248FE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C7710-4F02-4418-BC4C-375A6B174C39}" type="datetimeFigureOut">
              <a:rPr lang="en-IN" smtClean="0"/>
              <a:pPr/>
              <a:t>15-07-2026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13EF5E-80EF-3A35-71BB-CA7612216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17C3E9-DB61-4813-480A-95DF5BA2A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00DA8-E222-477D-81A8-CCFEF44559A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9102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2377F-38C9-9F90-535E-0840BEBB0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76BBC-A6B7-DF35-0E56-5214095F70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DB9380-924C-3B36-0B10-AADA9CC92D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FD1225-F9CB-A5C3-9A9B-97C8E570E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C7710-4F02-4418-BC4C-375A6B174C39}" type="datetimeFigureOut">
              <a:rPr lang="en-IN" smtClean="0"/>
              <a:pPr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181775-D250-B191-3BC3-D522AFF65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84FBEF-85B0-EF3C-CC64-5601247A1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00DA8-E222-477D-81A8-CCFEF44559A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0184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62D6A-37F9-B209-3B88-C1D3D20A6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401CF6-8FA9-FF68-0A93-2E23CFEF36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AD59D7-7D4A-54A9-C54D-D8E492120A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1F7410-5281-184F-08FA-395E0DE6B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C7710-4F02-4418-BC4C-375A6B174C39}" type="datetimeFigureOut">
              <a:rPr lang="en-IN" smtClean="0"/>
              <a:pPr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68C111-A43F-397A-A296-B78D97A9F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ED723C-3CEB-51C1-502A-25E27C50C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00DA8-E222-477D-81A8-CCFEF44559A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209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F1541-A795-19AB-A768-C38DE2049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05352B-F0F7-C498-1B12-F1275DEBE7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E8A2DB-7D21-E353-66CB-1F2B66D1B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C7710-4F02-4418-BC4C-375A6B174C39}" type="datetimeFigureOut">
              <a:rPr lang="en-IN" smtClean="0"/>
              <a:pPr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935BB2-A9CC-0708-26FD-F7DD5F528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0AA78-78B3-ACDE-EC35-7CDB56572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00DA8-E222-477D-81A8-CCFEF44559A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1855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743D05-08BB-3B4C-F880-9679C6B93F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05AE6B-4DE3-E74C-8FF4-A842909A14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9058E-1263-83C6-090B-9AAC99975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C7710-4F02-4418-BC4C-375A6B174C39}" type="datetimeFigureOut">
              <a:rPr lang="en-IN" smtClean="0"/>
              <a:pPr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29742-B1CA-1C71-DA69-863A4339E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15E32-DD8B-CF36-6243-5A80C10A7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00DA8-E222-477D-81A8-CCFEF44559A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41763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B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965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E6086B-CA3D-A5F6-4436-B494FEC74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D6E253-EEC6-73D8-65A5-B3052D7A71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37CDF-B516-BEEF-6F24-DDD4047597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4C7710-4F02-4418-BC4C-375A6B174C39}" type="datetimeFigureOut">
              <a:rPr lang="en-IN" smtClean="0"/>
              <a:pPr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9BD8B2-5D36-0C26-89FD-54155F6044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354F2C-5F20-6CD3-A601-9ABF016521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00DA8-E222-477D-81A8-CCFEF44559A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3332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9.png"/><Relationship Id="rId7" Type="http://schemas.openxmlformats.org/officeDocument/2006/relationships/image" Target="../media/image1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jpeg"/><Relationship Id="rId11" Type="http://schemas.openxmlformats.org/officeDocument/2006/relationships/hyperlink" Target="https://odk.nipi-cure.org/f/9uZLir7O4YpRpXZ7adAyzPkhHkDdSZM?st=jWo9xGZXgvsYpROh8RhD1efsdGkVthSV8nQl5$0MEyqZTNctUhztfOF6sB91yE0h" TargetMode="External"/><Relationship Id="rId5" Type="http://schemas.openxmlformats.org/officeDocument/2006/relationships/image" Target="../media/image11.jpeg"/><Relationship Id="rId10" Type="http://schemas.openxmlformats.org/officeDocument/2006/relationships/hyperlink" Target="https://odk.nipi-cure.org/f/gMdZdbIWtKwD3KJxzxVlgOhq7BqaBgS?st=dJkfIrmGCJzNpV7rIPQZ2sD0mFOUqPTM!n2JaKyUBJawOrt4Zg7W62raxEWk0yWd" TargetMode="External"/><Relationship Id="rId4" Type="http://schemas.openxmlformats.org/officeDocument/2006/relationships/image" Target="../media/image10.png"/><Relationship Id="rId9" Type="http://schemas.openxmlformats.org/officeDocument/2006/relationships/image" Target="../media/image1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jpeg"/><Relationship Id="rId4" Type="http://schemas.openxmlformats.org/officeDocument/2006/relationships/image" Target="../media/image2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jpeg"/><Relationship Id="rId4" Type="http://schemas.openxmlformats.org/officeDocument/2006/relationships/image" Target="../media/image3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jpeg"/><Relationship Id="rId5" Type="http://schemas.openxmlformats.org/officeDocument/2006/relationships/image" Target="../media/image40.jpeg"/><Relationship Id="rId4" Type="http://schemas.openxmlformats.org/officeDocument/2006/relationships/image" Target="../media/image3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3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6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svg"/><Relationship Id="rId2" Type="http://schemas.openxmlformats.org/officeDocument/2006/relationships/image" Target="../media/image63.sv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6.svg"/><Relationship Id="rId4" Type="http://schemas.openxmlformats.org/officeDocument/2006/relationships/image" Target="../media/image65.sv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9.png"/><Relationship Id="rId7" Type="http://schemas.openxmlformats.org/officeDocument/2006/relationships/image" Target="../media/image1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jpeg"/><Relationship Id="rId11" Type="http://schemas.openxmlformats.org/officeDocument/2006/relationships/hyperlink" Target="https://odk.nipi-cure.org/f/9uZLir7O4YpRpXZ7adAyzPkhHkDdSZM?st=jWo9xGZXgvsYpROh8RhD1efsdGkVthSV8nQl5$0MEyqZTNctUhztfOF6sB91yE0h" TargetMode="External"/><Relationship Id="rId5" Type="http://schemas.openxmlformats.org/officeDocument/2006/relationships/image" Target="../media/image11.jpeg"/><Relationship Id="rId10" Type="http://schemas.openxmlformats.org/officeDocument/2006/relationships/hyperlink" Target="https://odk.nipi-cure.org/f/gMdZdbIWtKwD3KJxzxVlgOhq7BqaBgS?st=dJkfIrmGCJzNpV7rIPQZ2sD0mFOUqPTM!n2JaKyUBJawOrt4Zg7W62raxEWk0yWd" TargetMode="External"/><Relationship Id="rId4" Type="http://schemas.openxmlformats.org/officeDocument/2006/relationships/image" Target="../media/image10.png"/><Relationship Id="rId9" Type="http://schemas.openxmlformats.org/officeDocument/2006/relationships/image" Target="../media/image15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652" y="0"/>
            <a:ext cx="456658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59420" y="908893"/>
            <a:ext cx="6223638" cy="16358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 dirty="0" err="1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SAMMPurNA</a:t>
            </a:r>
            <a:r>
              <a:rPr lang="en-US" sz="40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 Tracking Tool, Odisha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4985304" y="2662748"/>
            <a:ext cx="3684248" cy="518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Guidance Note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839419" y="3817541"/>
            <a:ext cx="6654190" cy="1832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0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 comprehensive digital solution for tracking maternal and child health beneficiaries in high priority blocks, Odisha — empowering frontline health workers with real-time decision support.</a:t>
            </a:r>
            <a:endParaRPr lang="en-US" sz="20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5EE23900-B867-DDC7-C648-3F995A6CE96F}"/>
              </a:ext>
            </a:extLst>
          </p:cNvPr>
          <p:cNvGrpSpPr/>
          <p:nvPr/>
        </p:nvGrpSpPr>
        <p:grpSpPr>
          <a:xfrm>
            <a:off x="152399" y="1026543"/>
            <a:ext cx="11887199" cy="5658929"/>
            <a:chOff x="866853" y="1485305"/>
            <a:chExt cx="10457890" cy="4889500"/>
          </a:xfrm>
        </p:grpSpPr>
        <p:sp>
          <p:nvSpPr>
            <p:cNvPr id="5" name="Shape 2">
              <a:extLst>
                <a:ext uri="{FF2B5EF4-FFF2-40B4-BE49-F238E27FC236}">
                  <a16:creationId xmlns:a16="http://schemas.microsoft.com/office/drawing/2014/main" id="{FB38A96F-C8F4-710B-1D79-0C63C8EB6200}"/>
                </a:ext>
              </a:extLst>
            </p:cNvPr>
            <p:cNvSpPr/>
            <p:nvPr/>
          </p:nvSpPr>
          <p:spPr>
            <a:xfrm>
              <a:off x="866853" y="1485305"/>
              <a:ext cx="5169763" cy="1550988"/>
            </a:xfrm>
            <a:prstGeom prst="roundRect">
              <a:avLst>
                <a:gd name="adj" fmla="val 3892"/>
              </a:avLst>
            </a:prstGeom>
            <a:solidFill>
              <a:srgbClr val="FAF5EB"/>
            </a:solidFill>
            <a:ln w="6350">
              <a:solidFill>
                <a:srgbClr val="D5CDBE"/>
              </a:solidFill>
              <a:prstDash val="solid"/>
            </a:ln>
          </p:spPr>
          <p:txBody>
            <a:bodyPr/>
            <a:lstStyle/>
            <a:p>
              <a:endParaRPr lang="en-US" sz="4000"/>
            </a:p>
          </p:txBody>
        </p:sp>
        <p:sp>
          <p:nvSpPr>
            <p:cNvPr id="6" name="Shape 3">
              <a:extLst>
                <a:ext uri="{FF2B5EF4-FFF2-40B4-BE49-F238E27FC236}">
                  <a16:creationId xmlns:a16="http://schemas.microsoft.com/office/drawing/2014/main" id="{BF02B367-06C9-69B5-329F-CF568AEB16CD}"/>
                </a:ext>
              </a:extLst>
            </p:cNvPr>
            <p:cNvSpPr/>
            <p:nvPr/>
          </p:nvSpPr>
          <p:spPr>
            <a:xfrm>
              <a:off x="1016868" y="1635323"/>
              <a:ext cx="431095" cy="431105"/>
            </a:xfrm>
            <a:prstGeom prst="roundRect">
              <a:avLst>
                <a:gd name="adj" fmla="val 17673709"/>
              </a:avLst>
            </a:prstGeom>
            <a:solidFill>
              <a:srgbClr val="3371A5"/>
            </a:solidFill>
            <a:ln/>
          </p:spPr>
          <p:txBody>
            <a:bodyPr/>
            <a:lstStyle/>
            <a:p>
              <a:endParaRPr lang="en-US" sz="2800"/>
            </a:p>
          </p:txBody>
        </p:sp>
        <p:pic>
          <p:nvPicPr>
            <p:cNvPr id="7" name="Image 0" descr="preencoded.png">
              <a:extLst>
                <a:ext uri="{FF2B5EF4-FFF2-40B4-BE49-F238E27FC236}">
                  <a16:creationId xmlns:a16="http://schemas.microsoft.com/office/drawing/2014/main" id="{42D02A82-1538-D45D-588A-5FD8E05B28F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48582" y="1753791"/>
              <a:ext cx="167665" cy="193973"/>
            </a:xfrm>
            <a:prstGeom prst="rect">
              <a:avLst/>
            </a:prstGeom>
          </p:spPr>
        </p:pic>
        <p:sp>
          <p:nvSpPr>
            <p:cNvPr id="8" name="Text 4">
              <a:extLst>
                <a:ext uri="{FF2B5EF4-FFF2-40B4-BE49-F238E27FC236}">
                  <a16:creationId xmlns:a16="http://schemas.microsoft.com/office/drawing/2014/main" id="{8A75729D-5B6F-610A-BF89-64AB3230AFA1}"/>
                </a:ext>
              </a:extLst>
            </p:cNvPr>
            <p:cNvSpPr/>
            <p:nvPr/>
          </p:nvSpPr>
          <p:spPr>
            <a:xfrm>
              <a:off x="1016868" y="2184698"/>
              <a:ext cx="1690844" cy="21133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>
                  <a:solidFill>
                    <a:srgbClr val="2B3541"/>
                  </a:solidFill>
                  <a:latin typeface="Funnel Display" pitchFamily="34" charset="0"/>
                  <a:ea typeface="Funnel Display" pitchFamily="34" charset="-122"/>
                  <a:cs typeface="Funnel Display" pitchFamily="34" charset="-120"/>
                </a:rPr>
                <a:t>Beneficiary Tracking</a:t>
              </a:r>
              <a:endParaRPr lang="en-US"/>
            </a:p>
          </p:txBody>
        </p:sp>
        <p:sp>
          <p:nvSpPr>
            <p:cNvPr id="9" name="Text 5">
              <a:extLst>
                <a:ext uri="{FF2B5EF4-FFF2-40B4-BE49-F238E27FC236}">
                  <a16:creationId xmlns:a16="http://schemas.microsoft.com/office/drawing/2014/main" id="{B9072004-EEA1-3ECC-A6A1-917FFA7664E5}"/>
                </a:ext>
              </a:extLst>
            </p:cNvPr>
            <p:cNvSpPr/>
            <p:nvPr/>
          </p:nvSpPr>
          <p:spPr>
            <a:xfrm>
              <a:off x="1016868" y="2466975"/>
              <a:ext cx="4869733" cy="41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lnSpcReduction="10000"/>
            </a:bodyPr>
            <a:lstStyle/>
            <a:p>
              <a:pPr marL="0" indent="0" algn="l">
                <a:lnSpc>
                  <a:spcPct val="122000"/>
                </a:lnSpc>
                <a:buNone/>
              </a:pPr>
              <a:r>
                <a:rPr lang="en-US" sz="1400">
                  <a:solidFill>
                    <a:srgbClr val="2B3541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End-to-end tracking for ANC, HBNC, HBYC, and PNC with complete visit history for each individual beneficiary.</a:t>
              </a:r>
              <a:endParaRPr lang="en-US" sz="1400"/>
            </a:p>
          </p:txBody>
        </p:sp>
        <p:sp>
          <p:nvSpPr>
            <p:cNvPr id="10" name="Shape 6">
              <a:extLst>
                <a:ext uri="{FF2B5EF4-FFF2-40B4-BE49-F238E27FC236}">
                  <a16:creationId xmlns:a16="http://schemas.microsoft.com/office/drawing/2014/main" id="{A009F303-9892-174B-F793-CB64052F21B4}"/>
                </a:ext>
              </a:extLst>
            </p:cNvPr>
            <p:cNvSpPr/>
            <p:nvPr/>
          </p:nvSpPr>
          <p:spPr>
            <a:xfrm>
              <a:off x="6154881" y="1485305"/>
              <a:ext cx="5169862" cy="1550988"/>
            </a:xfrm>
            <a:prstGeom prst="roundRect">
              <a:avLst>
                <a:gd name="adj" fmla="val 3892"/>
              </a:avLst>
            </a:prstGeom>
            <a:solidFill>
              <a:srgbClr val="FAF5EB"/>
            </a:solidFill>
            <a:ln w="6350">
              <a:solidFill>
                <a:srgbClr val="D5CDB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C3474A20-E3ED-3438-28B2-BD2E79676038}"/>
                </a:ext>
              </a:extLst>
            </p:cNvPr>
            <p:cNvSpPr/>
            <p:nvPr/>
          </p:nvSpPr>
          <p:spPr>
            <a:xfrm>
              <a:off x="6304896" y="1635323"/>
              <a:ext cx="431095" cy="431105"/>
            </a:xfrm>
            <a:prstGeom prst="roundRect">
              <a:avLst>
                <a:gd name="adj" fmla="val 17673709"/>
              </a:avLst>
            </a:prstGeom>
            <a:solidFill>
              <a:srgbClr val="3371A5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12" name="Image 1" descr="preencoded.png">
              <a:extLst>
                <a:ext uri="{FF2B5EF4-FFF2-40B4-BE49-F238E27FC236}">
                  <a16:creationId xmlns:a16="http://schemas.microsoft.com/office/drawing/2014/main" id="{448062E8-D16D-8ED8-252B-B95298CD1EA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423460" y="1763536"/>
              <a:ext cx="193968" cy="174483"/>
            </a:xfrm>
            <a:prstGeom prst="rect">
              <a:avLst/>
            </a:prstGeom>
          </p:spPr>
        </p:pic>
        <p:sp>
          <p:nvSpPr>
            <p:cNvPr id="13" name="Text 8">
              <a:extLst>
                <a:ext uri="{FF2B5EF4-FFF2-40B4-BE49-F238E27FC236}">
                  <a16:creationId xmlns:a16="http://schemas.microsoft.com/office/drawing/2014/main" id="{010F6E2E-357F-BD1D-C3A1-7F7EC0262213}"/>
                </a:ext>
              </a:extLst>
            </p:cNvPr>
            <p:cNvSpPr/>
            <p:nvPr/>
          </p:nvSpPr>
          <p:spPr>
            <a:xfrm>
              <a:off x="6304896" y="2184698"/>
              <a:ext cx="1690844" cy="21133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>
                  <a:solidFill>
                    <a:srgbClr val="2B3541"/>
                  </a:solidFill>
                  <a:latin typeface="Funnel Display" pitchFamily="34" charset="0"/>
                  <a:ea typeface="Funnel Display" pitchFamily="34" charset="-122"/>
                  <a:cs typeface="Funnel Display" pitchFamily="34" charset="-120"/>
                </a:rPr>
                <a:t>Joint Visit Capture</a:t>
              </a:r>
              <a:endParaRPr lang="en-US"/>
            </a:p>
          </p:txBody>
        </p:sp>
        <p:sp>
          <p:nvSpPr>
            <p:cNvPr id="14" name="Text 9">
              <a:extLst>
                <a:ext uri="{FF2B5EF4-FFF2-40B4-BE49-F238E27FC236}">
                  <a16:creationId xmlns:a16="http://schemas.microsoft.com/office/drawing/2014/main" id="{B2188F16-99DC-0A87-B2C6-4442EEF88079}"/>
                </a:ext>
              </a:extLst>
            </p:cNvPr>
            <p:cNvSpPr/>
            <p:nvPr/>
          </p:nvSpPr>
          <p:spPr>
            <a:xfrm>
              <a:off x="6304896" y="2466975"/>
              <a:ext cx="4869832" cy="41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lnSpcReduction="10000"/>
            </a:bodyPr>
            <a:lstStyle/>
            <a:p>
              <a:pPr marL="0" indent="0" algn="l">
                <a:lnSpc>
                  <a:spcPct val="122000"/>
                </a:lnSpc>
                <a:buNone/>
              </a:pPr>
              <a:r>
                <a:rPr lang="en-US" sz="1400">
                  <a:solidFill>
                    <a:srgbClr val="2B3541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Records joint visits by MO/CHO/ANM and ASHA together, ensuring coordinated care and accountability.</a:t>
              </a:r>
              <a:endParaRPr lang="en-US" sz="1400"/>
            </a:p>
          </p:txBody>
        </p:sp>
        <p:sp>
          <p:nvSpPr>
            <p:cNvPr id="15" name="Shape 10">
              <a:extLst>
                <a:ext uri="{FF2B5EF4-FFF2-40B4-BE49-F238E27FC236}">
                  <a16:creationId xmlns:a16="http://schemas.microsoft.com/office/drawing/2014/main" id="{A80E68B8-2FF0-61FC-D809-DA29DE7BF305}"/>
                </a:ext>
              </a:extLst>
            </p:cNvPr>
            <p:cNvSpPr/>
            <p:nvPr/>
          </p:nvSpPr>
          <p:spPr>
            <a:xfrm>
              <a:off x="866853" y="3154561"/>
              <a:ext cx="5169763" cy="1550988"/>
            </a:xfrm>
            <a:prstGeom prst="roundRect">
              <a:avLst>
                <a:gd name="adj" fmla="val 3892"/>
              </a:avLst>
            </a:prstGeom>
            <a:solidFill>
              <a:srgbClr val="FAF5EB"/>
            </a:solidFill>
            <a:ln w="6350">
              <a:solidFill>
                <a:srgbClr val="D5CDB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Shape 11">
              <a:extLst>
                <a:ext uri="{FF2B5EF4-FFF2-40B4-BE49-F238E27FC236}">
                  <a16:creationId xmlns:a16="http://schemas.microsoft.com/office/drawing/2014/main" id="{BB27555D-BC76-4013-686D-ACA2E15B5590}"/>
                </a:ext>
              </a:extLst>
            </p:cNvPr>
            <p:cNvSpPr/>
            <p:nvPr/>
          </p:nvSpPr>
          <p:spPr>
            <a:xfrm>
              <a:off x="1016868" y="3304580"/>
              <a:ext cx="431095" cy="431105"/>
            </a:xfrm>
            <a:prstGeom prst="roundRect">
              <a:avLst>
                <a:gd name="adj" fmla="val 17673709"/>
              </a:avLst>
            </a:prstGeom>
            <a:solidFill>
              <a:srgbClr val="3371A5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17" name="Image 2" descr="preencoded.png">
              <a:extLst>
                <a:ext uri="{FF2B5EF4-FFF2-40B4-BE49-F238E27FC236}">
                  <a16:creationId xmlns:a16="http://schemas.microsoft.com/office/drawing/2014/main" id="{345FA8C1-B91D-5F69-FA5D-378FF3D917F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35431" y="3431212"/>
              <a:ext cx="193968" cy="177643"/>
            </a:xfrm>
            <a:prstGeom prst="rect">
              <a:avLst/>
            </a:prstGeom>
          </p:spPr>
        </p:pic>
        <p:sp>
          <p:nvSpPr>
            <p:cNvPr id="18" name="Text 12">
              <a:extLst>
                <a:ext uri="{FF2B5EF4-FFF2-40B4-BE49-F238E27FC236}">
                  <a16:creationId xmlns:a16="http://schemas.microsoft.com/office/drawing/2014/main" id="{BD430406-1F66-CE5A-3FA0-E0C23AD655E6}"/>
                </a:ext>
              </a:extLst>
            </p:cNvPr>
            <p:cNvSpPr/>
            <p:nvPr/>
          </p:nvSpPr>
          <p:spPr>
            <a:xfrm>
              <a:off x="1016868" y="3853954"/>
              <a:ext cx="1690844" cy="21133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>
                  <a:solidFill>
                    <a:srgbClr val="2B3541"/>
                  </a:solidFill>
                  <a:latin typeface="Funnel Display" pitchFamily="34" charset="0"/>
                  <a:ea typeface="Funnel Display" pitchFamily="34" charset="-122"/>
                  <a:cs typeface="Funnel Display" pitchFamily="34" charset="-120"/>
                </a:rPr>
                <a:t>Risk Classification</a:t>
              </a:r>
              <a:endParaRPr lang="en-US"/>
            </a:p>
          </p:txBody>
        </p:sp>
        <p:sp>
          <p:nvSpPr>
            <p:cNvPr id="19" name="Text 13">
              <a:extLst>
                <a:ext uri="{FF2B5EF4-FFF2-40B4-BE49-F238E27FC236}">
                  <a16:creationId xmlns:a16="http://schemas.microsoft.com/office/drawing/2014/main" id="{610C3E5C-9DFC-3DE1-5FDB-D478D0841A07}"/>
                </a:ext>
              </a:extLst>
            </p:cNvPr>
            <p:cNvSpPr/>
            <p:nvPr/>
          </p:nvSpPr>
          <p:spPr>
            <a:xfrm>
              <a:off x="1016868" y="4136231"/>
              <a:ext cx="4869733" cy="41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lnSpcReduction="10000"/>
            </a:bodyPr>
            <a:lstStyle/>
            <a:p>
              <a:pPr marL="0" indent="0" algn="l">
                <a:lnSpc>
                  <a:spcPct val="122000"/>
                </a:lnSpc>
                <a:buNone/>
              </a:pPr>
              <a:r>
                <a:rPr lang="en-US" sz="1400">
                  <a:solidFill>
                    <a:srgbClr val="2B3541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Automatically classifies beneficiaries as </a:t>
              </a:r>
              <a:r>
                <a:rPr lang="en-US" sz="1400" b="1">
                  <a:solidFill>
                    <a:srgbClr val="2B3541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High Risk</a:t>
              </a:r>
              <a:r>
                <a:rPr lang="en-US" sz="1400">
                  <a:solidFill>
                    <a:srgbClr val="2B3541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, </a:t>
              </a:r>
              <a:r>
                <a:rPr lang="en-US" sz="1400" b="1">
                  <a:solidFill>
                    <a:srgbClr val="2B3541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Moderate Risk</a:t>
              </a:r>
              <a:r>
                <a:rPr lang="en-US" sz="1400">
                  <a:solidFill>
                    <a:srgbClr val="2B3541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, or </a:t>
              </a:r>
              <a:r>
                <a:rPr lang="en-US" sz="1400" b="1">
                  <a:solidFill>
                    <a:srgbClr val="2B3541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No Risk</a:t>
              </a:r>
              <a:r>
                <a:rPr lang="en-US" sz="1400">
                  <a:solidFill>
                    <a:srgbClr val="2B3541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 based on recorded signs and symptoms.</a:t>
              </a:r>
              <a:endParaRPr lang="en-US" sz="1400"/>
            </a:p>
          </p:txBody>
        </p:sp>
        <p:sp>
          <p:nvSpPr>
            <p:cNvPr id="20" name="Shape 14">
              <a:extLst>
                <a:ext uri="{FF2B5EF4-FFF2-40B4-BE49-F238E27FC236}">
                  <a16:creationId xmlns:a16="http://schemas.microsoft.com/office/drawing/2014/main" id="{07C56BFD-BBF5-43D0-35DF-8EA7B1068F48}"/>
                </a:ext>
              </a:extLst>
            </p:cNvPr>
            <p:cNvSpPr/>
            <p:nvPr/>
          </p:nvSpPr>
          <p:spPr>
            <a:xfrm>
              <a:off x="6154881" y="3154561"/>
              <a:ext cx="5169862" cy="1550988"/>
            </a:xfrm>
            <a:prstGeom prst="roundRect">
              <a:avLst>
                <a:gd name="adj" fmla="val 3892"/>
              </a:avLst>
            </a:prstGeom>
            <a:solidFill>
              <a:srgbClr val="FAF5EB"/>
            </a:solidFill>
            <a:ln w="6350">
              <a:solidFill>
                <a:srgbClr val="D5CDB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Shape 15">
              <a:extLst>
                <a:ext uri="{FF2B5EF4-FFF2-40B4-BE49-F238E27FC236}">
                  <a16:creationId xmlns:a16="http://schemas.microsoft.com/office/drawing/2014/main" id="{26D4FEB2-D8C9-D832-ED0D-16B1694567F1}"/>
                </a:ext>
              </a:extLst>
            </p:cNvPr>
            <p:cNvSpPr/>
            <p:nvPr/>
          </p:nvSpPr>
          <p:spPr>
            <a:xfrm>
              <a:off x="6304896" y="3304580"/>
              <a:ext cx="431095" cy="431105"/>
            </a:xfrm>
            <a:prstGeom prst="roundRect">
              <a:avLst>
                <a:gd name="adj" fmla="val 17673709"/>
              </a:avLst>
            </a:prstGeom>
            <a:solidFill>
              <a:srgbClr val="3371A5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22" name="Image 3" descr="preencoded.png">
              <a:extLst>
                <a:ext uri="{FF2B5EF4-FFF2-40B4-BE49-F238E27FC236}">
                  <a16:creationId xmlns:a16="http://schemas.microsoft.com/office/drawing/2014/main" id="{4108D24E-09C5-95F7-54B2-152DD7A2F68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445117" y="3423047"/>
              <a:ext cx="150653" cy="193973"/>
            </a:xfrm>
            <a:prstGeom prst="rect">
              <a:avLst/>
            </a:prstGeom>
          </p:spPr>
        </p:pic>
        <p:sp>
          <p:nvSpPr>
            <p:cNvPr id="23" name="Text 16">
              <a:extLst>
                <a:ext uri="{FF2B5EF4-FFF2-40B4-BE49-F238E27FC236}">
                  <a16:creationId xmlns:a16="http://schemas.microsoft.com/office/drawing/2014/main" id="{4CF0F265-655A-CF9A-E364-E8BC84C9DA86}"/>
                </a:ext>
              </a:extLst>
            </p:cNvPr>
            <p:cNvSpPr/>
            <p:nvPr/>
          </p:nvSpPr>
          <p:spPr>
            <a:xfrm>
              <a:off x="6304896" y="3853954"/>
              <a:ext cx="2010419" cy="21133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>
                  <a:solidFill>
                    <a:srgbClr val="2B3541"/>
                  </a:solidFill>
                  <a:latin typeface="Funnel Display" pitchFamily="34" charset="0"/>
                  <a:ea typeface="Funnel Display" pitchFamily="34" charset="-122"/>
                  <a:cs typeface="Funnel Display" pitchFamily="34" charset="-120"/>
                </a:rPr>
                <a:t>Decision Support System</a:t>
              </a:r>
              <a:endParaRPr lang="en-US"/>
            </a:p>
          </p:txBody>
        </p:sp>
        <p:sp>
          <p:nvSpPr>
            <p:cNvPr id="24" name="Text 17">
              <a:extLst>
                <a:ext uri="{FF2B5EF4-FFF2-40B4-BE49-F238E27FC236}">
                  <a16:creationId xmlns:a16="http://schemas.microsoft.com/office/drawing/2014/main" id="{372675EF-B110-5CA7-8695-E75D994F6DF3}"/>
                </a:ext>
              </a:extLst>
            </p:cNvPr>
            <p:cNvSpPr/>
            <p:nvPr/>
          </p:nvSpPr>
          <p:spPr>
            <a:xfrm>
              <a:off x="6304896" y="4136231"/>
              <a:ext cx="4869832" cy="41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lnSpcReduction="10000"/>
            </a:bodyPr>
            <a:lstStyle/>
            <a:p>
              <a:pPr marL="0" indent="0" algn="l">
                <a:lnSpc>
                  <a:spcPct val="122000"/>
                </a:lnSpc>
                <a:buNone/>
              </a:pPr>
              <a:r>
                <a:rPr lang="en-US" sz="1400">
                  <a:solidFill>
                    <a:srgbClr val="2B3541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Provides actionable guidance — including doses, counselling subjects, referral advice, and home care — based on risk level.</a:t>
              </a:r>
              <a:endParaRPr lang="en-US" sz="1400"/>
            </a:p>
          </p:txBody>
        </p:sp>
        <p:sp>
          <p:nvSpPr>
            <p:cNvPr id="25" name="Shape 18">
              <a:extLst>
                <a:ext uri="{FF2B5EF4-FFF2-40B4-BE49-F238E27FC236}">
                  <a16:creationId xmlns:a16="http://schemas.microsoft.com/office/drawing/2014/main" id="{2B995BEA-65CE-697A-C665-C295CEB9FEF5}"/>
                </a:ext>
              </a:extLst>
            </p:cNvPr>
            <p:cNvSpPr/>
            <p:nvPr/>
          </p:nvSpPr>
          <p:spPr>
            <a:xfrm>
              <a:off x="866853" y="4823817"/>
              <a:ext cx="5169763" cy="1550988"/>
            </a:xfrm>
            <a:prstGeom prst="roundRect">
              <a:avLst>
                <a:gd name="adj" fmla="val 3892"/>
              </a:avLst>
            </a:prstGeom>
            <a:solidFill>
              <a:srgbClr val="FAF5EB"/>
            </a:solidFill>
            <a:ln w="6350">
              <a:solidFill>
                <a:srgbClr val="D5CDB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Shape 19">
              <a:extLst>
                <a:ext uri="{FF2B5EF4-FFF2-40B4-BE49-F238E27FC236}">
                  <a16:creationId xmlns:a16="http://schemas.microsoft.com/office/drawing/2014/main" id="{161DDA1A-04D6-FEDE-74C7-88C317E6D9D7}"/>
                </a:ext>
              </a:extLst>
            </p:cNvPr>
            <p:cNvSpPr/>
            <p:nvPr/>
          </p:nvSpPr>
          <p:spPr>
            <a:xfrm>
              <a:off x="1016868" y="4973836"/>
              <a:ext cx="431095" cy="431105"/>
            </a:xfrm>
            <a:prstGeom prst="roundRect">
              <a:avLst>
                <a:gd name="adj" fmla="val 17673709"/>
              </a:avLst>
            </a:prstGeom>
            <a:solidFill>
              <a:srgbClr val="3371A5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27" name="Image 4" descr="preencoded.png">
              <a:extLst>
                <a:ext uri="{FF2B5EF4-FFF2-40B4-BE49-F238E27FC236}">
                  <a16:creationId xmlns:a16="http://schemas.microsoft.com/office/drawing/2014/main" id="{E8194512-CD46-96AC-C5DE-D64369AE0DD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35431" y="5105120"/>
              <a:ext cx="193968" cy="168339"/>
            </a:xfrm>
            <a:prstGeom prst="rect">
              <a:avLst/>
            </a:prstGeom>
          </p:spPr>
        </p:pic>
        <p:sp>
          <p:nvSpPr>
            <p:cNvPr id="28" name="Text 20">
              <a:extLst>
                <a:ext uri="{FF2B5EF4-FFF2-40B4-BE49-F238E27FC236}">
                  <a16:creationId xmlns:a16="http://schemas.microsoft.com/office/drawing/2014/main" id="{A5CEB930-ED2D-1B04-EB2E-F598ACFC133A}"/>
                </a:ext>
              </a:extLst>
            </p:cNvPr>
            <p:cNvSpPr/>
            <p:nvPr/>
          </p:nvSpPr>
          <p:spPr>
            <a:xfrm>
              <a:off x="1016868" y="5523210"/>
              <a:ext cx="1755632" cy="21133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>
                  <a:solidFill>
                    <a:srgbClr val="2B3541"/>
                  </a:solidFill>
                  <a:latin typeface="Funnel Display" pitchFamily="34" charset="0"/>
                  <a:ea typeface="Funnel Display" pitchFamily="34" charset="-122"/>
                  <a:cs typeface="Funnel Display" pitchFamily="34" charset="-120"/>
                </a:rPr>
                <a:t>Referral Management</a:t>
              </a:r>
              <a:endParaRPr lang="en-US"/>
            </a:p>
          </p:txBody>
        </p:sp>
        <p:sp>
          <p:nvSpPr>
            <p:cNvPr id="29" name="Text 21">
              <a:extLst>
                <a:ext uri="{FF2B5EF4-FFF2-40B4-BE49-F238E27FC236}">
                  <a16:creationId xmlns:a16="http://schemas.microsoft.com/office/drawing/2014/main" id="{9482E6F1-BA3E-E65C-B28F-B0740EC1E625}"/>
                </a:ext>
              </a:extLst>
            </p:cNvPr>
            <p:cNvSpPr/>
            <p:nvPr/>
          </p:nvSpPr>
          <p:spPr>
            <a:xfrm>
              <a:off x="1016868" y="5805488"/>
              <a:ext cx="4869733" cy="41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lnSpcReduction="10000"/>
            </a:bodyPr>
            <a:lstStyle/>
            <a:p>
              <a:pPr marL="0" indent="0" algn="l">
                <a:lnSpc>
                  <a:spcPct val="122000"/>
                </a:lnSpc>
                <a:buNone/>
              </a:pPr>
              <a:r>
                <a:rPr lang="en-US" sz="1400">
                  <a:solidFill>
                    <a:srgbClr val="2B3541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Streamlines the referral process, ensuring timely escalation of high-risk cases to appropriate facilities.</a:t>
              </a:r>
              <a:endParaRPr lang="en-US" sz="1400"/>
            </a:p>
          </p:txBody>
        </p:sp>
        <p:sp>
          <p:nvSpPr>
            <p:cNvPr id="30" name="Shape 22">
              <a:extLst>
                <a:ext uri="{FF2B5EF4-FFF2-40B4-BE49-F238E27FC236}">
                  <a16:creationId xmlns:a16="http://schemas.microsoft.com/office/drawing/2014/main" id="{DD5F3FF6-66E9-E642-9E7F-71CBD5C9201C}"/>
                </a:ext>
              </a:extLst>
            </p:cNvPr>
            <p:cNvSpPr/>
            <p:nvPr/>
          </p:nvSpPr>
          <p:spPr>
            <a:xfrm>
              <a:off x="6154881" y="4823817"/>
              <a:ext cx="5169862" cy="1550988"/>
            </a:xfrm>
            <a:prstGeom prst="roundRect">
              <a:avLst>
                <a:gd name="adj" fmla="val 3892"/>
              </a:avLst>
            </a:prstGeom>
            <a:solidFill>
              <a:srgbClr val="FAF5EB"/>
            </a:solidFill>
            <a:ln w="6350">
              <a:solidFill>
                <a:srgbClr val="D5CDB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Shape 23">
              <a:extLst>
                <a:ext uri="{FF2B5EF4-FFF2-40B4-BE49-F238E27FC236}">
                  <a16:creationId xmlns:a16="http://schemas.microsoft.com/office/drawing/2014/main" id="{60CFF32D-9808-B0EB-3B49-A504E5EF9CA3}"/>
                </a:ext>
              </a:extLst>
            </p:cNvPr>
            <p:cNvSpPr/>
            <p:nvPr/>
          </p:nvSpPr>
          <p:spPr>
            <a:xfrm>
              <a:off x="6304896" y="4973836"/>
              <a:ext cx="431095" cy="431105"/>
            </a:xfrm>
            <a:prstGeom prst="roundRect">
              <a:avLst>
                <a:gd name="adj" fmla="val 17673709"/>
              </a:avLst>
            </a:prstGeom>
            <a:solidFill>
              <a:srgbClr val="3371A5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32" name="Image 5" descr="preencoded.png">
              <a:extLst>
                <a:ext uri="{FF2B5EF4-FFF2-40B4-BE49-F238E27FC236}">
                  <a16:creationId xmlns:a16="http://schemas.microsoft.com/office/drawing/2014/main" id="{6594CFAE-D76E-B329-8817-C3910F07D6E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454441" y="5092303"/>
              <a:ext cx="132006" cy="193973"/>
            </a:xfrm>
            <a:prstGeom prst="rect">
              <a:avLst/>
            </a:prstGeom>
          </p:spPr>
        </p:pic>
        <p:sp>
          <p:nvSpPr>
            <p:cNvPr id="33" name="Text 24">
              <a:extLst>
                <a:ext uri="{FF2B5EF4-FFF2-40B4-BE49-F238E27FC236}">
                  <a16:creationId xmlns:a16="http://schemas.microsoft.com/office/drawing/2014/main" id="{489039D1-9031-EBD5-D6F6-0E8A17D11DCA}"/>
                </a:ext>
              </a:extLst>
            </p:cNvPr>
            <p:cNvSpPr/>
            <p:nvPr/>
          </p:nvSpPr>
          <p:spPr>
            <a:xfrm>
              <a:off x="6304896" y="5523210"/>
              <a:ext cx="1690844" cy="21133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>
                  <a:solidFill>
                    <a:srgbClr val="2B3541"/>
                  </a:solidFill>
                  <a:latin typeface="Funnel Display" pitchFamily="34" charset="0"/>
                  <a:ea typeface="Funnel Display" pitchFamily="34" charset="-122"/>
                  <a:cs typeface="Funnel Display" pitchFamily="34" charset="-120"/>
                </a:rPr>
                <a:t>Auto Geo-tagging</a:t>
              </a:r>
              <a:endParaRPr lang="en-US"/>
            </a:p>
          </p:txBody>
        </p:sp>
        <p:sp>
          <p:nvSpPr>
            <p:cNvPr id="34" name="Text 25">
              <a:extLst>
                <a:ext uri="{FF2B5EF4-FFF2-40B4-BE49-F238E27FC236}">
                  <a16:creationId xmlns:a16="http://schemas.microsoft.com/office/drawing/2014/main" id="{CF4FCB53-494B-DE9E-3D09-21266988B784}"/>
                </a:ext>
              </a:extLst>
            </p:cNvPr>
            <p:cNvSpPr/>
            <p:nvPr/>
          </p:nvSpPr>
          <p:spPr>
            <a:xfrm>
              <a:off x="6304896" y="5805488"/>
              <a:ext cx="4869832" cy="41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lnSpcReduction="10000"/>
            </a:bodyPr>
            <a:lstStyle/>
            <a:p>
              <a:pPr marL="0" indent="0" algn="l">
                <a:lnSpc>
                  <a:spcPct val="122000"/>
                </a:lnSpc>
                <a:buNone/>
              </a:pPr>
              <a:r>
                <a:rPr lang="en-US" sz="1400">
                  <a:solidFill>
                    <a:srgbClr val="2B3541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Automatically captures date, time, and geo-location at the point of service, ensuring data accuracy and accountability.</a:t>
              </a:r>
              <a:endParaRPr lang="en-US" sz="1400"/>
            </a:p>
          </p:txBody>
        </p:sp>
      </p:grpSp>
      <p:sp>
        <p:nvSpPr>
          <p:cNvPr id="36" name="Title 9">
            <a:extLst>
              <a:ext uri="{FF2B5EF4-FFF2-40B4-BE49-F238E27FC236}">
                <a16:creationId xmlns:a16="http://schemas.microsoft.com/office/drawing/2014/main" id="{6E1FE5BB-064F-554B-00D7-7B84C6AF6C81}"/>
              </a:ext>
            </a:extLst>
          </p:cNvPr>
          <p:cNvSpPr txBox="1">
            <a:spLocks/>
          </p:cNvSpPr>
          <p:nvPr/>
        </p:nvSpPr>
        <p:spPr>
          <a:xfrm>
            <a:off x="0" y="4465"/>
            <a:ext cx="12191999" cy="651143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>
                <a:latin typeface="+mn-lt"/>
              </a:rPr>
              <a:t>Features: </a:t>
            </a:r>
            <a:r>
              <a:rPr lang="en-IN" b="1" dirty="0" err="1">
                <a:latin typeface="+mn-lt"/>
              </a:rPr>
              <a:t>SAMMPurNA</a:t>
            </a:r>
            <a:r>
              <a:rPr lang="en-IN" b="1" dirty="0">
                <a:latin typeface="+mn-lt"/>
              </a:rPr>
              <a:t> Tracking Tool</a:t>
            </a:r>
          </a:p>
        </p:txBody>
      </p:sp>
    </p:spTree>
    <p:extLst>
      <p:ext uri="{BB962C8B-B14F-4D97-AF65-F5344CB8AC3E}">
        <p14:creationId xmlns:p14="http://schemas.microsoft.com/office/powerpoint/2010/main" val="1923971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C0554EE-96E5-3968-F6C3-4D3538EAC32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4910" t="6375" b="52362"/>
          <a:stretch/>
        </p:blipFill>
        <p:spPr>
          <a:xfrm>
            <a:off x="547024" y="6084655"/>
            <a:ext cx="2288575" cy="753640"/>
          </a:xfrm>
          <a:prstGeom prst="rect">
            <a:avLst/>
          </a:prstGeom>
        </p:spPr>
      </p:pic>
      <p:pic>
        <p:nvPicPr>
          <p:cNvPr id="1026" name="Picture 2" descr="Get it on Google Play">
            <a:extLst>
              <a:ext uri="{FF2B5EF4-FFF2-40B4-BE49-F238E27FC236}">
                <a16:creationId xmlns:a16="http://schemas.microsoft.com/office/drawing/2014/main" id="{E6317392-5927-8578-7892-6680BDE721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89" y="3111812"/>
            <a:ext cx="2600434" cy="1006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BEEBB9-F620-7CF9-14CA-7E3CE5A57923}"/>
              </a:ext>
            </a:extLst>
          </p:cNvPr>
          <p:cNvSpPr txBox="1"/>
          <p:nvPr/>
        </p:nvSpPr>
        <p:spPr>
          <a:xfrm>
            <a:off x="75962" y="2701895"/>
            <a:ext cx="32404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/>
              <a:t>Search </a:t>
            </a:r>
            <a:r>
              <a:rPr lang="en-IN" sz="2800" dirty="0">
                <a:solidFill>
                  <a:srgbClr val="FF0000"/>
                </a:solidFill>
              </a:rPr>
              <a:t>ODK Collect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1EA22D-8284-E14D-103E-6401CDC1E00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6797" r="60232"/>
          <a:stretch/>
        </p:blipFill>
        <p:spPr>
          <a:xfrm>
            <a:off x="559818" y="4118172"/>
            <a:ext cx="2288575" cy="2105156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30508E89-6A15-4271-7E03-AF46E5955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21" y="29496"/>
            <a:ext cx="12191999" cy="922777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en-IN" b="1" dirty="0" err="1">
                <a:latin typeface="+mn-lt"/>
              </a:rPr>
              <a:t>SAMMPurNA</a:t>
            </a:r>
            <a:r>
              <a:rPr lang="en-IN" b="1" dirty="0">
                <a:latin typeface="+mn-lt"/>
              </a:rPr>
              <a:t> Tracking Tool - Installation Process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86D130-F423-D7FB-DC41-C7AB7D2E414C}"/>
              </a:ext>
            </a:extLst>
          </p:cNvPr>
          <p:cNvSpPr txBox="1"/>
          <p:nvPr/>
        </p:nvSpPr>
        <p:spPr>
          <a:xfrm>
            <a:off x="-779" y="1924575"/>
            <a:ext cx="3393916" cy="83099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FF0000"/>
                </a:solidFill>
              </a:rPr>
              <a:t>Download</a:t>
            </a:r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 “ODK Collect” from Google play store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1B1236-90BF-45C3-ED2C-5A0D985C78DF}"/>
              </a:ext>
            </a:extLst>
          </p:cNvPr>
          <p:cNvSpPr txBox="1"/>
          <p:nvPr/>
        </p:nvSpPr>
        <p:spPr>
          <a:xfrm>
            <a:off x="75421" y="1112160"/>
            <a:ext cx="3393916" cy="693894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 anchor="ctr">
            <a:noAutofit/>
          </a:bodyPr>
          <a:lstStyle/>
          <a:p>
            <a:pPr algn="ctr"/>
            <a:r>
              <a:rPr lang="en-IN" sz="2400" b="1" dirty="0">
                <a:solidFill>
                  <a:schemeClr val="accent5">
                    <a:lumMod val="50000"/>
                  </a:schemeClr>
                </a:solidFill>
              </a:rPr>
              <a:t>Step-1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5067B3-E134-156C-CAB6-330CED3822CF}"/>
              </a:ext>
            </a:extLst>
          </p:cNvPr>
          <p:cNvSpPr txBox="1"/>
          <p:nvPr/>
        </p:nvSpPr>
        <p:spPr>
          <a:xfrm>
            <a:off x="3610668" y="1975732"/>
            <a:ext cx="4241634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FF0000"/>
                </a:solidFill>
              </a:rPr>
              <a:t>Scan</a:t>
            </a:r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 QR code by 2 methods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044D0E-081E-D40E-C3D6-823D26639369}"/>
              </a:ext>
            </a:extLst>
          </p:cNvPr>
          <p:cNvSpPr txBox="1"/>
          <p:nvPr/>
        </p:nvSpPr>
        <p:spPr>
          <a:xfrm>
            <a:off x="3610668" y="1120494"/>
            <a:ext cx="4241639" cy="693894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 anchor="ctr">
            <a:noAutofit/>
          </a:bodyPr>
          <a:lstStyle/>
          <a:p>
            <a:pPr algn="ctr"/>
            <a:r>
              <a:rPr lang="en-IN" sz="2400" b="1" dirty="0">
                <a:solidFill>
                  <a:schemeClr val="accent5">
                    <a:lumMod val="50000"/>
                  </a:schemeClr>
                </a:solidFill>
              </a:rPr>
              <a:t>Step-2</a:t>
            </a:r>
          </a:p>
        </p:txBody>
      </p:sp>
      <p:pic>
        <p:nvPicPr>
          <p:cNvPr id="16" name="Picture 15" descr="A screenshot of a phone&#10;&#10;Description automatically generated">
            <a:extLst>
              <a:ext uri="{FF2B5EF4-FFF2-40B4-BE49-F238E27FC236}">
                <a16:creationId xmlns:a16="http://schemas.microsoft.com/office/drawing/2014/main" id="{A01641EE-20D5-9F2A-99AA-13CFA3FD7E80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70" t="34323" r="7051" b="29700"/>
          <a:stretch/>
        </p:blipFill>
        <p:spPr>
          <a:xfrm>
            <a:off x="6818238" y="5760936"/>
            <a:ext cx="956147" cy="924784"/>
          </a:xfrm>
          <a:prstGeom prst="rect">
            <a:avLst/>
          </a:prstGeom>
        </p:spPr>
      </p:pic>
      <p:pic>
        <p:nvPicPr>
          <p:cNvPr id="18" name="Picture 17" descr="A screenshot of a computer&#10;&#10;Description automatically generated">
            <a:extLst>
              <a:ext uri="{FF2B5EF4-FFF2-40B4-BE49-F238E27FC236}">
                <a16:creationId xmlns:a16="http://schemas.microsoft.com/office/drawing/2014/main" id="{DCCCFC0B-9112-1DAC-3EDC-2D4851E284A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94" b="36998"/>
          <a:stretch/>
        </p:blipFill>
        <p:spPr>
          <a:xfrm>
            <a:off x="3683894" y="2833274"/>
            <a:ext cx="3008948" cy="3991856"/>
          </a:xfrm>
          <a:prstGeom prst="rect">
            <a:avLst/>
          </a:prstGeom>
        </p:spPr>
      </p:pic>
      <p:pic>
        <p:nvPicPr>
          <p:cNvPr id="25" name="Picture 24" descr="A close up of a keyboard&#10;&#10;Description automatically generated">
            <a:extLst>
              <a:ext uri="{FF2B5EF4-FFF2-40B4-BE49-F238E27FC236}">
                <a16:creationId xmlns:a16="http://schemas.microsoft.com/office/drawing/2014/main" id="{AF35007A-DD16-0538-CE5E-250121B5D7CB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6832" r="18084" b="89831"/>
          <a:stretch/>
        </p:blipFill>
        <p:spPr>
          <a:xfrm>
            <a:off x="4615945" y="2836225"/>
            <a:ext cx="1728779" cy="411906"/>
          </a:xfrm>
          <a:prstGeom prst="rect">
            <a:avLst/>
          </a:prstGeom>
        </p:spPr>
      </p:pic>
      <p:sp>
        <p:nvSpPr>
          <p:cNvPr id="26" name="Oval 25">
            <a:extLst>
              <a:ext uri="{FF2B5EF4-FFF2-40B4-BE49-F238E27FC236}">
                <a16:creationId xmlns:a16="http://schemas.microsoft.com/office/drawing/2014/main" id="{2AA1E57F-FBB8-D193-B1E0-4425ED338225}"/>
              </a:ext>
            </a:extLst>
          </p:cNvPr>
          <p:cNvSpPr/>
          <p:nvPr/>
        </p:nvSpPr>
        <p:spPr>
          <a:xfrm>
            <a:off x="6374515" y="2836048"/>
            <a:ext cx="381033" cy="36470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EC36F38-4B91-0252-12E3-D86DB6587693}"/>
              </a:ext>
            </a:extLst>
          </p:cNvPr>
          <p:cNvSpPr txBox="1"/>
          <p:nvPr/>
        </p:nvSpPr>
        <p:spPr>
          <a:xfrm>
            <a:off x="6491548" y="4398315"/>
            <a:ext cx="1360759" cy="861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Method 2- </a:t>
            </a:r>
            <a:r>
              <a:rPr lang="en-IN" sz="1600" dirty="0">
                <a:solidFill>
                  <a:schemeClr val="accent5">
                    <a:lumMod val="50000"/>
                  </a:schemeClr>
                </a:solidFill>
              </a:rPr>
              <a:t>Direct Scan using </a:t>
            </a:r>
            <a:r>
              <a:rPr lang="en-IN" sz="1600" b="1" dirty="0">
                <a:solidFill>
                  <a:schemeClr val="accent5">
                    <a:lumMod val="50000"/>
                  </a:schemeClr>
                </a:solidFill>
              </a:rPr>
              <a:t>Camera</a:t>
            </a:r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1CE2967D-95D0-A561-D9C5-62EE6CF2A694}"/>
              </a:ext>
            </a:extLst>
          </p:cNvPr>
          <p:cNvSpPr/>
          <p:nvPr/>
        </p:nvSpPr>
        <p:spPr>
          <a:xfrm>
            <a:off x="6435180" y="4337174"/>
            <a:ext cx="188815" cy="186156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2C0E15F-C2C7-E7FD-365A-65A6FC056512}"/>
              </a:ext>
            </a:extLst>
          </p:cNvPr>
          <p:cNvSpPr txBox="1"/>
          <p:nvPr/>
        </p:nvSpPr>
        <p:spPr>
          <a:xfrm>
            <a:off x="6593310" y="3132409"/>
            <a:ext cx="1360759" cy="110799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Method 1- </a:t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IN" sz="1600" dirty="0">
                <a:solidFill>
                  <a:schemeClr val="accent5">
                    <a:lumMod val="50000"/>
                  </a:schemeClr>
                </a:solidFill>
              </a:rPr>
              <a:t>By importing from </a:t>
            </a:r>
            <a:br>
              <a:rPr lang="en-IN" sz="1600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-IN" sz="1600" dirty="0">
                <a:solidFill>
                  <a:schemeClr val="accent5">
                    <a:lumMod val="50000"/>
                  </a:schemeClr>
                </a:solidFill>
              </a:rPr>
              <a:t>Photo </a:t>
            </a:r>
            <a:r>
              <a:rPr lang="en-IN" sz="1600" b="1" dirty="0">
                <a:solidFill>
                  <a:schemeClr val="accent5">
                    <a:lumMod val="50000"/>
                  </a:schemeClr>
                </a:solidFill>
              </a:rPr>
              <a:t>Gallery</a:t>
            </a: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9408054E-8AA9-AC1D-9360-722773729045}"/>
              </a:ext>
            </a:extLst>
          </p:cNvPr>
          <p:cNvSpPr/>
          <p:nvPr/>
        </p:nvSpPr>
        <p:spPr>
          <a:xfrm>
            <a:off x="6418972" y="3265589"/>
            <a:ext cx="188815" cy="186156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AC6EAC2-B346-AFC4-AE6B-05FDD41AA70F}"/>
              </a:ext>
            </a:extLst>
          </p:cNvPr>
          <p:cNvSpPr txBox="1"/>
          <p:nvPr/>
        </p:nvSpPr>
        <p:spPr>
          <a:xfrm>
            <a:off x="6583177" y="5442697"/>
            <a:ext cx="1316303" cy="33855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rgbClr val="FF0000"/>
                </a:solidFill>
              </a:rPr>
              <a:t>Allow</a:t>
            </a:r>
            <a:r>
              <a:rPr lang="en-IN" sz="1600" dirty="0">
                <a:solidFill>
                  <a:schemeClr val="accent5">
                    <a:lumMod val="50000"/>
                  </a:schemeClr>
                </a:solidFill>
              </a:rPr>
              <a:t> Access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8D5311C-F943-5472-8F23-B7B0EA454420}"/>
              </a:ext>
            </a:extLst>
          </p:cNvPr>
          <p:cNvCxnSpPr/>
          <p:nvPr/>
        </p:nvCxnSpPr>
        <p:spPr>
          <a:xfrm>
            <a:off x="3469337" y="1935515"/>
            <a:ext cx="0" cy="48050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20223DD8-A277-A107-49FB-62E77144351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7610" y="3717150"/>
            <a:ext cx="2356554" cy="235655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290223B-2E8D-FC4E-93A9-B64C2B17668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77" b="53109"/>
          <a:stretch>
            <a:fillRect/>
          </a:stretch>
        </p:blipFill>
        <p:spPr>
          <a:xfrm>
            <a:off x="8079465" y="1120495"/>
            <a:ext cx="3587192" cy="327782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1F961AF-5D02-F48D-A88E-605F40B56B14}"/>
              </a:ext>
            </a:extLst>
          </p:cNvPr>
          <p:cNvSpPr txBox="1"/>
          <p:nvPr/>
        </p:nvSpPr>
        <p:spPr>
          <a:xfrm>
            <a:off x="8007120" y="4768520"/>
            <a:ext cx="390949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hlinkClick r:id="rId10"/>
              </a:rPr>
              <a:t>https://odk.nipi-cure.org/f/gMdZdbIWtKwD3KJxzxVlgOhq7BqaBgS?st=dJkfIrmGCJzNpV7rIPQZ2sD0mFOUqPTM!n2JaKyUBJawOrt4Zg7W62raxEWk0yWd</a:t>
            </a:r>
            <a:endParaRPr lang="en-US" sz="1200" dirty="0"/>
          </a:p>
          <a:p>
            <a:r>
              <a:rPr lang="en-US" sz="1200" b="1" dirty="0"/>
              <a:t>FOR HBNC-HBYC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0179617-D289-A805-47B4-E5B2CB3C3231}"/>
              </a:ext>
            </a:extLst>
          </p:cNvPr>
          <p:cNvSpPr txBox="1"/>
          <p:nvPr/>
        </p:nvSpPr>
        <p:spPr>
          <a:xfrm>
            <a:off x="8079465" y="5781251"/>
            <a:ext cx="339295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hlinkClick r:id="rId11"/>
              </a:rPr>
              <a:t>https://odk.nipi-cure.org/f/9uZLir7O4YpRpXZ7adAyzPkhHkDdSZM?st=jWo9xGZXgvsYpROh8RhD1efsdGkVthSV8nQl5$0MEyqZTNctUhztfOF6sB91yE0h</a:t>
            </a:r>
            <a:endParaRPr lang="en-US" sz="1200" dirty="0"/>
          </a:p>
          <a:p>
            <a:r>
              <a:rPr lang="en-US" sz="1200" b="1" u="sng" dirty="0"/>
              <a:t>FOR ANC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F09536B-CF1F-00CE-66BE-BAC3BDD74BD5}"/>
              </a:ext>
            </a:extLst>
          </p:cNvPr>
          <p:cNvSpPr txBox="1"/>
          <p:nvPr/>
        </p:nvSpPr>
        <p:spPr>
          <a:xfrm>
            <a:off x="8079465" y="4432898"/>
            <a:ext cx="3933131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IOS USERS - USE THE FOLLOWING LINK</a:t>
            </a:r>
          </a:p>
        </p:txBody>
      </p:sp>
    </p:spTree>
    <p:extLst>
      <p:ext uri="{BB962C8B-B14F-4D97-AF65-F5344CB8AC3E}">
        <p14:creationId xmlns:p14="http://schemas.microsoft.com/office/powerpoint/2010/main" val="3202689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E9B88BE0-AC8A-2A9D-B9FC-E04DB9FC2AF4}"/>
              </a:ext>
            </a:extLst>
          </p:cNvPr>
          <p:cNvSpPr txBox="1">
            <a:spLocks/>
          </p:cNvSpPr>
          <p:nvPr/>
        </p:nvSpPr>
        <p:spPr>
          <a:xfrm>
            <a:off x="0" y="4465"/>
            <a:ext cx="12191999" cy="92277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 b="1">
                <a:solidFill>
                  <a:schemeClr val="accent5">
                    <a:lumMod val="50000"/>
                  </a:schemeClr>
                </a:solidFill>
                <a:ea typeface="+mj-ea"/>
                <a:cs typeface="+mj-cs"/>
              </a:defRPr>
            </a:lvl1pPr>
          </a:lstStyle>
          <a:p>
            <a:pPr algn="ctr"/>
            <a:r>
              <a:rPr lang="en-IN" dirty="0" err="1">
                <a:solidFill>
                  <a:schemeClr val="tx1"/>
                </a:solidFill>
              </a:rPr>
              <a:t>SAMMpuRNA</a:t>
            </a:r>
            <a:r>
              <a:rPr lang="en-IN" dirty="0">
                <a:solidFill>
                  <a:schemeClr val="tx1"/>
                </a:solidFill>
              </a:rPr>
              <a:t> Tracking Tool – Points to remember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EF6737F-6C80-10A5-75F5-092BA04E6EAE}"/>
              </a:ext>
            </a:extLst>
          </p:cNvPr>
          <p:cNvSpPr txBox="1">
            <a:spLocks/>
          </p:cNvSpPr>
          <p:nvPr/>
        </p:nvSpPr>
        <p:spPr>
          <a:xfrm>
            <a:off x="8857736" y="1003563"/>
            <a:ext cx="3070124" cy="561109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ts val="3800"/>
              </a:lnSpc>
              <a:spcBef>
                <a:spcPts val="1200"/>
              </a:spcBef>
            </a:pPr>
            <a:r>
              <a:rPr lang="en-US" i="1" dirty="0">
                <a:solidFill>
                  <a:schemeClr val="accent5">
                    <a:lumMod val="50000"/>
                  </a:schemeClr>
                </a:solidFill>
              </a:rPr>
              <a:t>Please choose the </a:t>
            </a:r>
            <a:r>
              <a:rPr lang="en-US" b="1" i="1" dirty="0">
                <a:solidFill>
                  <a:schemeClr val="accent2">
                    <a:lumMod val="75000"/>
                  </a:schemeClr>
                </a:solidFill>
              </a:rPr>
              <a:t>appropriate designation</a:t>
            </a:r>
            <a:r>
              <a:rPr lang="en-US" i="1" dirty="0">
                <a:solidFill>
                  <a:schemeClr val="accent5">
                    <a:lumMod val="50000"/>
                  </a:schemeClr>
                </a:solidFill>
              </a:rPr>
              <a:t> since this will affect the list of screening assessment questions. Each designation has a </a:t>
            </a:r>
            <a:r>
              <a:rPr lang="en-US" b="1" i="1" dirty="0">
                <a:solidFill>
                  <a:schemeClr val="accent2">
                    <a:lumMod val="75000"/>
                  </a:schemeClr>
                </a:solidFill>
              </a:rPr>
              <a:t>different set of screening method and questions</a:t>
            </a:r>
            <a:r>
              <a:rPr lang="en-US" i="1" dirty="0">
                <a:solidFill>
                  <a:schemeClr val="accent5">
                    <a:lumMod val="50000"/>
                  </a:schemeClr>
                </a:solidFill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AB18B2-C642-D0A3-2CB7-244748EACC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0354" y="955438"/>
            <a:ext cx="2685288" cy="5821762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3D59E87-F667-1B6B-D3AE-BC37064428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1266" y="1003564"/>
            <a:ext cx="2683468" cy="5821762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6743539-21DE-676C-977E-B8D47AA6A1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853" y="927241"/>
            <a:ext cx="2718647" cy="5898083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458895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9AEC9-2871-9A2D-F059-85EE2E9B7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DEDBC218-57DA-30B5-6F55-348A99D812C6}"/>
              </a:ext>
            </a:extLst>
          </p:cNvPr>
          <p:cNvSpPr txBox="1">
            <a:spLocks/>
          </p:cNvSpPr>
          <p:nvPr/>
        </p:nvSpPr>
        <p:spPr>
          <a:xfrm>
            <a:off x="0" y="4465"/>
            <a:ext cx="12191999" cy="57350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 b="1">
                <a:solidFill>
                  <a:schemeClr val="accent5">
                    <a:lumMod val="50000"/>
                  </a:schemeClr>
                </a:solidFill>
                <a:ea typeface="+mj-ea"/>
                <a:cs typeface="+mj-cs"/>
              </a:defRPr>
            </a:lvl1pPr>
          </a:lstStyle>
          <a:p>
            <a:r>
              <a:rPr lang="en-IN" dirty="0">
                <a:solidFill>
                  <a:schemeClr val="tx1"/>
                </a:solidFill>
              </a:rPr>
              <a:t>Form navigation and Data entry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9E50EA2-A5C5-88B1-097A-4843138B7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4164" y="840031"/>
            <a:ext cx="2735563" cy="5934780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FA4500A-059D-EE4F-F4D3-E783DF63FA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356" y="840030"/>
            <a:ext cx="2735563" cy="5934780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F506F0D-57AC-0C7A-0441-D4FBFF7B01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2275" y="840029"/>
            <a:ext cx="2735563" cy="5934780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2D8E8D-FAFD-5534-26B2-5A04B63D32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7271" y="787760"/>
            <a:ext cx="2807183" cy="6039319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5657185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F01A8-342C-66A4-1A4B-0D93EFAF3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B9948CE-DAFE-5D50-1A42-6172EE99ED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454" y="793629"/>
            <a:ext cx="2793237" cy="6059905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0DCD765-0CC6-1833-68D7-82C2A2BFD9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2732" y="784697"/>
            <a:ext cx="2797192" cy="6064371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3FA385-34E4-062D-1DFF-2126CF149B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7873" y="784697"/>
            <a:ext cx="2801311" cy="6064371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412757C-D974-76E1-2CBD-3EE114CC3E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0113" y="784696"/>
            <a:ext cx="2797191" cy="6064371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sp>
        <p:nvSpPr>
          <p:cNvPr id="2" name="Title 9">
            <a:extLst>
              <a:ext uri="{FF2B5EF4-FFF2-40B4-BE49-F238E27FC236}">
                <a16:creationId xmlns:a16="http://schemas.microsoft.com/office/drawing/2014/main" id="{3F006C82-F424-F882-9FAF-588514E552EB}"/>
              </a:ext>
            </a:extLst>
          </p:cNvPr>
          <p:cNvSpPr txBox="1">
            <a:spLocks/>
          </p:cNvSpPr>
          <p:nvPr/>
        </p:nvSpPr>
        <p:spPr>
          <a:xfrm>
            <a:off x="0" y="4465"/>
            <a:ext cx="12191999" cy="57350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 b="1">
                <a:solidFill>
                  <a:schemeClr val="accent5">
                    <a:lumMod val="50000"/>
                  </a:schemeClr>
                </a:solidFill>
                <a:ea typeface="+mj-ea"/>
                <a:cs typeface="+mj-cs"/>
              </a:defRPr>
            </a:lvl1pPr>
          </a:lstStyle>
          <a:p>
            <a:r>
              <a:rPr lang="en-IN" dirty="0">
                <a:solidFill>
                  <a:schemeClr val="tx1"/>
                </a:solidFill>
              </a:rPr>
              <a:t>Form navigation and Data entry</a:t>
            </a:r>
          </a:p>
        </p:txBody>
      </p:sp>
    </p:spTree>
    <p:extLst>
      <p:ext uri="{BB962C8B-B14F-4D97-AF65-F5344CB8AC3E}">
        <p14:creationId xmlns:p14="http://schemas.microsoft.com/office/powerpoint/2010/main" val="11285167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86D02-CB5F-5E61-DF32-E46E2F41A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9F380D0-5588-2897-30F8-9744ED53E5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11" y="969196"/>
            <a:ext cx="2623464" cy="5691582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91DC16D-3EE4-4612-51BB-759C33081D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2661" y="888308"/>
            <a:ext cx="2733708" cy="5930758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C4F7EF2-8AF6-B2BD-00B0-4D9F1DBC64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8294" y="888308"/>
            <a:ext cx="2733708" cy="5930758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455AB84-5460-D595-9AF9-618BB74289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8783" y="849608"/>
            <a:ext cx="2733708" cy="5930758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sp>
        <p:nvSpPr>
          <p:cNvPr id="2" name="Title 9">
            <a:extLst>
              <a:ext uri="{FF2B5EF4-FFF2-40B4-BE49-F238E27FC236}">
                <a16:creationId xmlns:a16="http://schemas.microsoft.com/office/drawing/2014/main" id="{21F62897-DE61-68BD-89F0-B34E1608EF21}"/>
              </a:ext>
            </a:extLst>
          </p:cNvPr>
          <p:cNvSpPr txBox="1">
            <a:spLocks/>
          </p:cNvSpPr>
          <p:nvPr/>
        </p:nvSpPr>
        <p:spPr>
          <a:xfrm>
            <a:off x="0" y="4465"/>
            <a:ext cx="12191999" cy="57350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 b="1">
                <a:solidFill>
                  <a:schemeClr val="accent5">
                    <a:lumMod val="50000"/>
                  </a:schemeClr>
                </a:solidFill>
                <a:ea typeface="+mj-ea"/>
                <a:cs typeface="+mj-cs"/>
              </a:defRPr>
            </a:lvl1pPr>
          </a:lstStyle>
          <a:p>
            <a:r>
              <a:rPr lang="en-IN" dirty="0">
                <a:solidFill>
                  <a:schemeClr val="tx1"/>
                </a:solidFill>
              </a:rPr>
              <a:t>Form navigation and Data entry</a:t>
            </a:r>
          </a:p>
        </p:txBody>
      </p:sp>
    </p:spTree>
    <p:extLst>
      <p:ext uri="{BB962C8B-B14F-4D97-AF65-F5344CB8AC3E}">
        <p14:creationId xmlns:p14="http://schemas.microsoft.com/office/powerpoint/2010/main" val="23712742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57408-5208-082B-E1D4-308821FD2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A883775-2C30-549C-A4BE-1F12D18C51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138" y="927242"/>
            <a:ext cx="2666112" cy="5784109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4EBFFA0-97D8-CF38-A125-4A691FAE9E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8610" y="911531"/>
            <a:ext cx="2666112" cy="5784109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5AC4C4E-D972-7C68-8B70-D6EF99F912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1036" y="911532"/>
            <a:ext cx="2666112" cy="5784109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sp>
        <p:nvSpPr>
          <p:cNvPr id="2" name="Title 9">
            <a:extLst>
              <a:ext uri="{FF2B5EF4-FFF2-40B4-BE49-F238E27FC236}">
                <a16:creationId xmlns:a16="http://schemas.microsoft.com/office/drawing/2014/main" id="{3DA80BE6-9F1A-20DC-D307-705462F6842A}"/>
              </a:ext>
            </a:extLst>
          </p:cNvPr>
          <p:cNvSpPr txBox="1">
            <a:spLocks/>
          </p:cNvSpPr>
          <p:nvPr/>
        </p:nvSpPr>
        <p:spPr>
          <a:xfrm>
            <a:off x="0" y="4465"/>
            <a:ext cx="12191999" cy="57350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 b="1">
                <a:solidFill>
                  <a:schemeClr val="accent5">
                    <a:lumMod val="50000"/>
                  </a:schemeClr>
                </a:solidFill>
                <a:ea typeface="+mj-ea"/>
                <a:cs typeface="+mj-cs"/>
              </a:defRPr>
            </a:lvl1pPr>
          </a:lstStyle>
          <a:p>
            <a:r>
              <a:rPr lang="en-IN" dirty="0">
                <a:solidFill>
                  <a:schemeClr val="tx1"/>
                </a:solidFill>
              </a:rPr>
              <a:t>Form navigation and Data entry</a:t>
            </a:r>
          </a:p>
        </p:txBody>
      </p:sp>
    </p:spTree>
    <p:extLst>
      <p:ext uri="{BB962C8B-B14F-4D97-AF65-F5344CB8AC3E}">
        <p14:creationId xmlns:p14="http://schemas.microsoft.com/office/powerpoint/2010/main" val="19471684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81F39-EBC6-896E-C6A5-0E33C7C20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1AB4DB-F47E-9DFB-A4C4-5510942271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3520" y="802257"/>
            <a:ext cx="2755533" cy="5978106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6AA165A-515A-E4AA-8045-DBCF38E558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8341" y="967274"/>
            <a:ext cx="2603408" cy="5648071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51A45C-ED2B-65CC-5DC6-ED2D4E4F72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441" y="802257"/>
            <a:ext cx="2666112" cy="5784109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60314CA-D5A8-726A-EF48-4C6B5E6BD7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4440" y="640895"/>
            <a:ext cx="2814867" cy="6106831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sp>
        <p:nvSpPr>
          <p:cNvPr id="2" name="Title 9">
            <a:extLst>
              <a:ext uri="{FF2B5EF4-FFF2-40B4-BE49-F238E27FC236}">
                <a16:creationId xmlns:a16="http://schemas.microsoft.com/office/drawing/2014/main" id="{D3F2AC4C-FE53-8912-62C1-DFCA26D5E080}"/>
              </a:ext>
            </a:extLst>
          </p:cNvPr>
          <p:cNvSpPr txBox="1">
            <a:spLocks/>
          </p:cNvSpPr>
          <p:nvPr/>
        </p:nvSpPr>
        <p:spPr>
          <a:xfrm>
            <a:off x="1" y="4465"/>
            <a:ext cx="5877579" cy="57350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 fontScale="92500"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 b="1">
                <a:solidFill>
                  <a:schemeClr val="accent5">
                    <a:lumMod val="50000"/>
                  </a:schemeClr>
                </a:solidFill>
                <a:ea typeface="+mj-ea"/>
                <a:cs typeface="+mj-cs"/>
              </a:defRPr>
            </a:lvl1pPr>
          </a:lstStyle>
          <a:p>
            <a:r>
              <a:rPr lang="en-IN" sz="2800" dirty="0">
                <a:solidFill>
                  <a:schemeClr val="tx1"/>
                </a:solidFill>
              </a:rPr>
              <a:t>Risk classification and Decision Support</a:t>
            </a:r>
          </a:p>
        </p:txBody>
      </p:sp>
      <p:sp>
        <p:nvSpPr>
          <p:cNvPr id="4" name="Title 9">
            <a:extLst>
              <a:ext uri="{FF2B5EF4-FFF2-40B4-BE49-F238E27FC236}">
                <a16:creationId xmlns:a16="http://schemas.microsoft.com/office/drawing/2014/main" id="{CD74EA38-9610-10B6-1A5B-E313F96ADDEB}"/>
              </a:ext>
            </a:extLst>
          </p:cNvPr>
          <p:cNvSpPr txBox="1">
            <a:spLocks/>
          </p:cNvSpPr>
          <p:nvPr/>
        </p:nvSpPr>
        <p:spPr>
          <a:xfrm>
            <a:off x="6348341" y="27475"/>
            <a:ext cx="5625227" cy="57350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 b="1">
                <a:solidFill>
                  <a:schemeClr val="accent5">
                    <a:lumMod val="50000"/>
                  </a:schemeClr>
                </a:solidFill>
                <a:ea typeface="+mj-ea"/>
                <a:cs typeface="+mj-cs"/>
              </a:defRPr>
            </a:lvl1pPr>
          </a:lstStyle>
          <a:p>
            <a:r>
              <a:rPr lang="en-IN" sz="2800" dirty="0">
                <a:solidFill>
                  <a:schemeClr val="tx1"/>
                </a:solidFill>
              </a:rPr>
              <a:t>Saving and sending forms</a:t>
            </a:r>
          </a:p>
        </p:txBody>
      </p:sp>
    </p:spTree>
    <p:extLst>
      <p:ext uri="{BB962C8B-B14F-4D97-AF65-F5344CB8AC3E}">
        <p14:creationId xmlns:p14="http://schemas.microsoft.com/office/powerpoint/2010/main" val="261947162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D3BEA6-8153-D734-4F34-53FB3C1CA3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0" r="3117"/>
          <a:stretch>
            <a:fillRect/>
          </a:stretch>
        </p:blipFill>
        <p:spPr>
          <a:xfrm>
            <a:off x="0" y="0"/>
            <a:ext cx="2964581" cy="6858000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B9FF72E-8FB9-B033-C08F-0917959505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3917" y="0"/>
            <a:ext cx="3163253" cy="6858000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7E002A-2002-6FD5-6D47-B1464952F6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6506" y="0"/>
            <a:ext cx="3163253" cy="6858000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681FBE-75FF-AB42-A51B-2C33FFA0C98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5230" y="0"/>
            <a:ext cx="3163253" cy="6858000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69C28C2-E7B1-AF2D-3077-A6EAE8AC6B44}"/>
              </a:ext>
            </a:extLst>
          </p:cNvPr>
          <p:cNvSpPr txBox="1"/>
          <p:nvPr/>
        </p:nvSpPr>
        <p:spPr>
          <a:xfrm>
            <a:off x="221381" y="2252312"/>
            <a:ext cx="2480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MATERNAL HEALTH</a:t>
            </a:r>
          </a:p>
        </p:txBody>
      </p:sp>
    </p:spTree>
    <p:extLst>
      <p:ext uri="{BB962C8B-B14F-4D97-AF65-F5344CB8AC3E}">
        <p14:creationId xmlns:p14="http://schemas.microsoft.com/office/powerpoint/2010/main" val="21909320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1BFD92-71A1-3197-5AB6-D9E0EB5EA5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87" y="0"/>
            <a:ext cx="3163253" cy="6858000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ACE9A9E-CAEB-D2B9-B43F-48DD8E26B1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4773" y="0"/>
            <a:ext cx="3161109" cy="6858000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70B678A-8298-2C73-8402-EFD2479972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830" y="0"/>
            <a:ext cx="3163253" cy="6858000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8080914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E0DD6E-6385-3ADC-53FC-7BC239791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422647" y="0"/>
            <a:ext cx="3165230" cy="6858000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994A5D8-E937-E8DD-A3C3-847BD49C48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5241" y="0"/>
            <a:ext cx="3163253" cy="6858000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3F8913-9E87-11A8-8A4B-1C0B32DEEF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5858" y="0"/>
            <a:ext cx="31632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4161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55A0ED-2A02-3FE1-5AE0-7326436674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006" y="0"/>
            <a:ext cx="3163253" cy="6858000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D7409E2-13A6-5EF8-EC49-441D1E695C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4373" y="0"/>
            <a:ext cx="3163253" cy="6858000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566484-FB1D-58A7-55E4-318F8E8010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8108" y="0"/>
            <a:ext cx="3163253" cy="6858000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339238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5A7A02-228A-4B1B-7C0E-19984442D9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916" y="0"/>
            <a:ext cx="3163253" cy="6858000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463B02-422A-8847-C0E0-84D477AC05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9573" y="0"/>
            <a:ext cx="3163253" cy="6858000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9A08C1-F155-67FC-FEB3-280421FFF9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7230" y="0"/>
            <a:ext cx="3163253" cy="6858000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6147108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F8F9C0-D727-709C-6AF4-361D9EE15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009" y="0"/>
            <a:ext cx="3163253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0696127-80B6-7ADE-EE8C-616271DA30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4373" y="0"/>
            <a:ext cx="3163253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4499C9-A167-96C5-438F-37EE1F83A9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1737" y="0"/>
            <a:ext cx="31632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5545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236E64-E695-165F-89B5-220F49DD93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08"/>
          <a:stretch>
            <a:fillRect/>
          </a:stretch>
        </p:blipFill>
        <p:spPr>
          <a:xfrm>
            <a:off x="424543" y="446314"/>
            <a:ext cx="3163253" cy="64116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2410AD-E4C9-4864-D04F-52F20091BE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08"/>
          <a:stretch>
            <a:fillRect/>
          </a:stretch>
        </p:blipFill>
        <p:spPr>
          <a:xfrm>
            <a:off x="4634116" y="446314"/>
            <a:ext cx="3163253" cy="64116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E78CD3-735F-3F21-5A72-888E59908A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38"/>
          <a:stretch>
            <a:fillRect/>
          </a:stretch>
        </p:blipFill>
        <p:spPr>
          <a:xfrm>
            <a:off x="8259059" y="359229"/>
            <a:ext cx="3163253" cy="6498771"/>
          </a:xfrm>
          <a:prstGeom prst="rect">
            <a:avLst/>
          </a:prstGeom>
        </p:spPr>
      </p:pic>
      <p:sp>
        <p:nvSpPr>
          <p:cNvPr id="8" name="Title 9">
            <a:extLst>
              <a:ext uri="{FF2B5EF4-FFF2-40B4-BE49-F238E27FC236}">
                <a16:creationId xmlns:a16="http://schemas.microsoft.com/office/drawing/2014/main" id="{01831FE2-BEBD-F362-154E-050C5DC8E2BD}"/>
              </a:ext>
            </a:extLst>
          </p:cNvPr>
          <p:cNvSpPr txBox="1">
            <a:spLocks/>
          </p:cNvSpPr>
          <p:nvPr/>
        </p:nvSpPr>
        <p:spPr>
          <a:xfrm>
            <a:off x="1" y="4465"/>
            <a:ext cx="11952513" cy="441849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 b="1">
                <a:solidFill>
                  <a:schemeClr val="accent5">
                    <a:lumMod val="50000"/>
                  </a:schemeClr>
                </a:solidFill>
                <a:ea typeface="+mj-ea"/>
                <a:cs typeface="+mj-cs"/>
              </a:defRPr>
            </a:lvl1pPr>
          </a:lstStyle>
          <a:p>
            <a:r>
              <a:rPr lang="en-IN" sz="2800" dirty="0">
                <a:solidFill>
                  <a:schemeClr val="tx1"/>
                </a:solidFill>
              </a:rPr>
              <a:t>Risk classification and Decision Support</a:t>
            </a:r>
          </a:p>
        </p:txBody>
      </p:sp>
    </p:spTree>
    <p:extLst>
      <p:ext uri="{BB962C8B-B14F-4D97-AF65-F5344CB8AC3E}">
        <p14:creationId xmlns:p14="http://schemas.microsoft.com/office/powerpoint/2010/main" val="36325620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0FD4C4-27B0-B1E4-5103-3535B3CCF6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84"/>
          <a:stretch>
            <a:fillRect/>
          </a:stretch>
        </p:blipFill>
        <p:spPr>
          <a:xfrm>
            <a:off x="377802" y="391885"/>
            <a:ext cx="3163253" cy="63790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783CF90-8694-3106-A0AF-85429D685F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84"/>
          <a:stretch>
            <a:fillRect/>
          </a:stretch>
        </p:blipFill>
        <p:spPr>
          <a:xfrm>
            <a:off x="4351087" y="402773"/>
            <a:ext cx="3163253" cy="63790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C6ED3C-7D2D-33F8-2074-FE0F61B1A0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699"/>
          <a:stretch>
            <a:fillRect/>
          </a:stretch>
        </p:blipFill>
        <p:spPr>
          <a:xfrm>
            <a:off x="7878058" y="1099458"/>
            <a:ext cx="3849054" cy="5671456"/>
          </a:xfrm>
          <a:prstGeom prst="rect">
            <a:avLst/>
          </a:prstGeom>
        </p:spPr>
      </p:pic>
      <p:sp>
        <p:nvSpPr>
          <p:cNvPr id="8" name="Title 9">
            <a:extLst>
              <a:ext uri="{FF2B5EF4-FFF2-40B4-BE49-F238E27FC236}">
                <a16:creationId xmlns:a16="http://schemas.microsoft.com/office/drawing/2014/main" id="{AE3EAE81-5B8C-0D04-A126-435FFC814B93}"/>
              </a:ext>
            </a:extLst>
          </p:cNvPr>
          <p:cNvSpPr txBox="1">
            <a:spLocks/>
          </p:cNvSpPr>
          <p:nvPr/>
        </p:nvSpPr>
        <p:spPr>
          <a:xfrm>
            <a:off x="1" y="4465"/>
            <a:ext cx="7514339" cy="441849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 b="1">
                <a:solidFill>
                  <a:schemeClr val="accent5">
                    <a:lumMod val="50000"/>
                  </a:schemeClr>
                </a:solidFill>
                <a:ea typeface="+mj-ea"/>
                <a:cs typeface="+mj-cs"/>
              </a:defRPr>
            </a:lvl1pPr>
          </a:lstStyle>
          <a:p>
            <a:r>
              <a:rPr lang="en-IN" sz="2800" dirty="0">
                <a:solidFill>
                  <a:schemeClr val="tx1"/>
                </a:solidFill>
              </a:rPr>
              <a:t>Risk classification and Decision Support</a:t>
            </a:r>
          </a:p>
        </p:txBody>
      </p:sp>
      <p:sp>
        <p:nvSpPr>
          <p:cNvPr id="9" name="Title 9">
            <a:extLst>
              <a:ext uri="{FF2B5EF4-FFF2-40B4-BE49-F238E27FC236}">
                <a16:creationId xmlns:a16="http://schemas.microsoft.com/office/drawing/2014/main" id="{71E6845E-C28B-6F38-F131-EED983DD7FE9}"/>
              </a:ext>
            </a:extLst>
          </p:cNvPr>
          <p:cNvSpPr txBox="1">
            <a:spLocks/>
          </p:cNvSpPr>
          <p:nvPr/>
        </p:nvSpPr>
        <p:spPr>
          <a:xfrm>
            <a:off x="7878058" y="525953"/>
            <a:ext cx="4058402" cy="57350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 b="1">
                <a:solidFill>
                  <a:schemeClr val="accent5">
                    <a:lumMod val="50000"/>
                  </a:schemeClr>
                </a:solidFill>
                <a:ea typeface="+mj-ea"/>
                <a:cs typeface="+mj-cs"/>
              </a:defRPr>
            </a:lvl1pPr>
          </a:lstStyle>
          <a:p>
            <a:r>
              <a:rPr lang="en-IN" sz="2800" dirty="0">
                <a:solidFill>
                  <a:schemeClr val="tx1"/>
                </a:solidFill>
              </a:rPr>
              <a:t>Saving and sending forms</a:t>
            </a:r>
          </a:p>
        </p:txBody>
      </p:sp>
    </p:spTree>
    <p:extLst>
      <p:ext uri="{BB962C8B-B14F-4D97-AF65-F5344CB8AC3E}">
        <p14:creationId xmlns:p14="http://schemas.microsoft.com/office/powerpoint/2010/main" val="35069972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236D4-13C2-68EA-2F28-1680EE06E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748"/>
            <a:ext cx="6123709" cy="650929"/>
          </a:xfrm>
          <a:solidFill>
            <a:schemeClr val="bg1"/>
          </a:solidFill>
        </p:spPr>
        <p:txBody>
          <a:bodyPr>
            <a:normAutofit fontScale="90000"/>
          </a:bodyPr>
          <a:lstStyle/>
          <a:p>
            <a:r>
              <a:rPr lang="en-IN" b="1" dirty="0"/>
              <a:t>Dashboard Report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B2DD846-05C9-2182-2217-7A9E29011922}"/>
              </a:ext>
            </a:extLst>
          </p:cNvPr>
          <p:cNvSpPr/>
          <p:nvPr/>
        </p:nvSpPr>
        <p:spPr>
          <a:xfrm>
            <a:off x="473799" y="925400"/>
            <a:ext cx="10861310" cy="1041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20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SAMPurNA Dashboard provides near real-time visibility into programme performance at the district and block levels. Supervisors and programme managers can use the dashboard to monitor the following:</a:t>
            </a:r>
            <a:endParaRPr lang="en-US" sz="20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485B5F2-F54B-8DCA-E9D1-AE08B30220E2}"/>
              </a:ext>
            </a:extLst>
          </p:cNvPr>
          <p:cNvGrpSpPr/>
          <p:nvPr/>
        </p:nvGrpSpPr>
        <p:grpSpPr>
          <a:xfrm>
            <a:off x="1196369" y="1983586"/>
            <a:ext cx="9120832" cy="4663116"/>
            <a:chOff x="661532" y="2064031"/>
            <a:chExt cx="6260192" cy="4257791"/>
          </a:xfrm>
        </p:grpSpPr>
        <p:pic>
          <p:nvPicPr>
            <p:cNvPr id="5" name="Image 1" descr="preencoded.png">
              <a:extLst>
                <a:ext uri="{FF2B5EF4-FFF2-40B4-BE49-F238E27FC236}">
                  <a16:creationId xmlns:a16="http://schemas.microsoft.com/office/drawing/2014/main" id="{240C2A0F-E21E-613A-090B-71C50A544A4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61532" y="2064031"/>
              <a:ext cx="350674" cy="320069"/>
            </a:xfrm>
            <a:prstGeom prst="rect">
              <a:avLst/>
            </a:prstGeom>
          </p:spPr>
        </p:pic>
        <p:sp>
          <p:nvSpPr>
            <p:cNvPr id="6" name="Text 2">
              <a:extLst>
                <a:ext uri="{FF2B5EF4-FFF2-40B4-BE49-F238E27FC236}">
                  <a16:creationId xmlns:a16="http://schemas.microsoft.com/office/drawing/2014/main" id="{FF185F82-41EB-5841-9666-1A9CB18873C1}"/>
                </a:ext>
              </a:extLst>
            </p:cNvPr>
            <p:cNvSpPr/>
            <p:nvPr/>
          </p:nvSpPr>
          <p:spPr>
            <a:xfrm>
              <a:off x="1188909" y="2112375"/>
              <a:ext cx="1848101" cy="25786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>
                  <a:solidFill>
                    <a:srgbClr val="2B3541"/>
                  </a:solidFill>
                  <a:latin typeface="Funnel Display" pitchFamily="34" charset="0"/>
                  <a:ea typeface="Funnel Display" pitchFamily="34" charset="-122"/>
                  <a:cs typeface="Funnel Display" pitchFamily="34" charset="-120"/>
                </a:rPr>
                <a:t>Coverage Monitoring</a:t>
              </a:r>
              <a:endParaRPr lang="en-US"/>
            </a:p>
          </p:txBody>
        </p:sp>
        <p:sp>
          <p:nvSpPr>
            <p:cNvPr id="7" name="Text 3">
              <a:extLst>
                <a:ext uri="{FF2B5EF4-FFF2-40B4-BE49-F238E27FC236}">
                  <a16:creationId xmlns:a16="http://schemas.microsoft.com/office/drawing/2014/main" id="{2A0B7DDD-78C8-8222-1E16-63B2B2347B0A}"/>
                </a:ext>
              </a:extLst>
            </p:cNvPr>
            <p:cNvSpPr/>
            <p:nvPr/>
          </p:nvSpPr>
          <p:spPr>
            <a:xfrm>
              <a:off x="1188909" y="2399408"/>
              <a:ext cx="5732815" cy="53300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lnSpc>
                  <a:spcPct val="127000"/>
                </a:lnSpc>
                <a:buNone/>
              </a:pPr>
              <a:r>
                <a:rPr lang="en-US" sz="1600">
                  <a:solidFill>
                    <a:srgbClr val="2B3541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Track the number of ANC, HBNC, HBYC, and PNC visits conducted against targets — sub-centre and village wise.</a:t>
              </a:r>
              <a:endParaRPr lang="en-US" sz="1600"/>
            </a:p>
          </p:txBody>
        </p:sp>
        <p:pic>
          <p:nvPicPr>
            <p:cNvPr id="8" name="Image 2" descr="preencoded.png">
              <a:extLst>
                <a:ext uri="{FF2B5EF4-FFF2-40B4-BE49-F238E27FC236}">
                  <a16:creationId xmlns:a16="http://schemas.microsoft.com/office/drawing/2014/main" id="{10C6232D-6789-FB59-2E14-D0C48090F3D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61532" y="3199002"/>
              <a:ext cx="350674" cy="309735"/>
            </a:xfrm>
            <a:prstGeom prst="rect">
              <a:avLst/>
            </a:prstGeom>
          </p:spPr>
        </p:pic>
        <p:sp>
          <p:nvSpPr>
            <p:cNvPr id="9" name="Text 4">
              <a:extLst>
                <a:ext uri="{FF2B5EF4-FFF2-40B4-BE49-F238E27FC236}">
                  <a16:creationId xmlns:a16="http://schemas.microsoft.com/office/drawing/2014/main" id="{3D8E04E1-F2EA-E589-66B0-BE737EB4A59A}"/>
                </a:ext>
              </a:extLst>
            </p:cNvPr>
            <p:cNvSpPr/>
            <p:nvPr/>
          </p:nvSpPr>
          <p:spPr>
            <a:xfrm>
              <a:off x="1188909" y="3242179"/>
              <a:ext cx="2467905" cy="25786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>
                  <a:solidFill>
                    <a:srgbClr val="2B3541"/>
                  </a:solidFill>
                  <a:latin typeface="Funnel Display" pitchFamily="34" charset="0"/>
                  <a:ea typeface="Funnel Display" pitchFamily="34" charset="-122"/>
                  <a:cs typeface="Funnel Display" pitchFamily="34" charset="-120"/>
                </a:rPr>
                <a:t>High-Risk Beneficiary Status</a:t>
              </a:r>
              <a:endParaRPr lang="en-US"/>
            </a:p>
          </p:txBody>
        </p:sp>
        <p:sp>
          <p:nvSpPr>
            <p:cNvPr id="10" name="Text 5">
              <a:extLst>
                <a:ext uri="{FF2B5EF4-FFF2-40B4-BE49-F238E27FC236}">
                  <a16:creationId xmlns:a16="http://schemas.microsoft.com/office/drawing/2014/main" id="{F47B0177-DC72-8D9A-1D2B-E3897C7776D6}"/>
                </a:ext>
              </a:extLst>
            </p:cNvPr>
            <p:cNvSpPr/>
            <p:nvPr/>
          </p:nvSpPr>
          <p:spPr>
            <a:xfrm>
              <a:off x="1188909" y="3529211"/>
              <a:ext cx="5732815" cy="53300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lnSpc>
                  <a:spcPct val="127000"/>
                </a:lnSpc>
                <a:buNone/>
              </a:pPr>
              <a:r>
                <a:rPr lang="en-US" sz="1600">
                  <a:solidFill>
                    <a:srgbClr val="2B3541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Identify beneficiaries classified as high risk and monitor whether referrals and follow-ups have been completed.</a:t>
              </a:r>
              <a:endParaRPr lang="en-US" sz="1600"/>
            </a:p>
          </p:txBody>
        </p:sp>
        <p:pic>
          <p:nvPicPr>
            <p:cNvPr id="11" name="Image 3" descr="preencoded.png">
              <a:extLst>
                <a:ext uri="{FF2B5EF4-FFF2-40B4-BE49-F238E27FC236}">
                  <a16:creationId xmlns:a16="http://schemas.microsoft.com/office/drawing/2014/main" id="{D6768EC1-F35E-5822-1850-21CE42F89BC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63749" y="4308332"/>
              <a:ext cx="346239" cy="350683"/>
            </a:xfrm>
            <a:prstGeom prst="rect">
              <a:avLst/>
            </a:prstGeom>
          </p:spPr>
        </p:pic>
        <p:sp>
          <p:nvSpPr>
            <p:cNvPr id="12" name="Text 6">
              <a:extLst>
                <a:ext uri="{FF2B5EF4-FFF2-40B4-BE49-F238E27FC236}">
                  <a16:creationId xmlns:a16="http://schemas.microsoft.com/office/drawing/2014/main" id="{B7FBB1F8-420E-02D2-561F-A4F52C36A112}"/>
                </a:ext>
              </a:extLst>
            </p:cNvPr>
            <p:cNvSpPr/>
            <p:nvPr/>
          </p:nvSpPr>
          <p:spPr>
            <a:xfrm>
              <a:off x="1188909" y="4371983"/>
              <a:ext cx="2087014" cy="25786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>
                  <a:solidFill>
                    <a:srgbClr val="2B3541"/>
                  </a:solidFill>
                  <a:latin typeface="Funnel Display" pitchFamily="34" charset="0"/>
                  <a:ea typeface="Funnel Display" pitchFamily="34" charset="-122"/>
                  <a:cs typeface="Funnel Display" pitchFamily="34" charset="-120"/>
                </a:rPr>
                <a:t>Data Submission Status</a:t>
              </a:r>
              <a:endParaRPr lang="en-US"/>
            </a:p>
          </p:txBody>
        </p:sp>
        <p:sp>
          <p:nvSpPr>
            <p:cNvPr id="13" name="Text 7">
              <a:extLst>
                <a:ext uri="{FF2B5EF4-FFF2-40B4-BE49-F238E27FC236}">
                  <a16:creationId xmlns:a16="http://schemas.microsoft.com/office/drawing/2014/main" id="{9AE2D31A-6FF9-CC5D-E440-129DE082A7FE}"/>
                </a:ext>
              </a:extLst>
            </p:cNvPr>
            <p:cNvSpPr/>
            <p:nvPr/>
          </p:nvSpPr>
          <p:spPr>
            <a:xfrm>
              <a:off x="1188909" y="4659015"/>
              <a:ext cx="5732815" cy="53300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lnSpc>
                  <a:spcPct val="127000"/>
                </a:lnSpc>
                <a:buNone/>
              </a:pPr>
              <a:r>
                <a:rPr lang="en-US" sz="1600">
                  <a:solidFill>
                    <a:srgbClr val="2B3541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View the status of forms submitted by individual health workers — including pending drafts and unsent entries — to ensure data completeness.</a:t>
              </a:r>
              <a:endParaRPr lang="en-US" sz="1600"/>
            </a:p>
          </p:txBody>
        </p:sp>
        <p:pic>
          <p:nvPicPr>
            <p:cNvPr id="14" name="Image 4" descr="preencoded.png">
              <a:extLst>
                <a:ext uri="{FF2B5EF4-FFF2-40B4-BE49-F238E27FC236}">
                  <a16:creationId xmlns:a16="http://schemas.microsoft.com/office/drawing/2014/main" id="{7C0D5AD6-8202-81DE-6752-9E90E5FD25C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61532" y="5493677"/>
              <a:ext cx="350674" cy="239600"/>
            </a:xfrm>
            <a:prstGeom prst="rect">
              <a:avLst/>
            </a:prstGeom>
          </p:spPr>
        </p:pic>
        <p:sp>
          <p:nvSpPr>
            <p:cNvPr id="15" name="Text 8">
              <a:extLst>
                <a:ext uri="{FF2B5EF4-FFF2-40B4-BE49-F238E27FC236}">
                  <a16:creationId xmlns:a16="http://schemas.microsoft.com/office/drawing/2014/main" id="{D8E2BE3C-94BF-2171-0BA4-095DB68D42C4}"/>
                </a:ext>
              </a:extLst>
            </p:cNvPr>
            <p:cNvSpPr/>
            <p:nvPr/>
          </p:nvSpPr>
          <p:spPr>
            <a:xfrm>
              <a:off x="1188909" y="5501787"/>
              <a:ext cx="2617821" cy="25786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>
                  <a:solidFill>
                    <a:srgbClr val="2B3541"/>
                  </a:solidFill>
                  <a:latin typeface="Funnel Display" pitchFamily="34" charset="0"/>
                  <a:ea typeface="Funnel Display" pitchFamily="34" charset="-122"/>
                  <a:cs typeface="Funnel Display" pitchFamily="34" charset="-120"/>
                </a:rPr>
                <a:t>Worker Performance Tracking</a:t>
              </a:r>
              <a:endParaRPr lang="en-US"/>
            </a:p>
          </p:txBody>
        </p:sp>
        <p:sp>
          <p:nvSpPr>
            <p:cNvPr id="16" name="Text 9">
              <a:extLst>
                <a:ext uri="{FF2B5EF4-FFF2-40B4-BE49-F238E27FC236}">
                  <a16:creationId xmlns:a16="http://schemas.microsoft.com/office/drawing/2014/main" id="{C3779CCA-B9FC-E1C1-A1FC-DE1EB95A123A}"/>
                </a:ext>
              </a:extLst>
            </p:cNvPr>
            <p:cNvSpPr/>
            <p:nvPr/>
          </p:nvSpPr>
          <p:spPr>
            <a:xfrm>
              <a:off x="1188909" y="5788819"/>
              <a:ext cx="5732815" cy="53300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lnSpcReduction="10000"/>
            </a:bodyPr>
            <a:lstStyle/>
            <a:p>
              <a:pPr marL="0" indent="0" algn="l">
                <a:lnSpc>
                  <a:spcPct val="127000"/>
                </a:lnSpc>
                <a:buNone/>
              </a:pPr>
              <a:r>
                <a:rPr lang="en-US" sz="1600">
                  <a:solidFill>
                    <a:srgbClr val="2B3541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Assess the regularity and quality of visits by ASHAs, ANMs, and other frontline workers to enable targeted supportive supervision.</a:t>
              </a:r>
              <a:endParaRPr lang="en-US" sz="1600"/>
            </a:p>
          </p:txBody>
        </p:sp>
      </p:grpSp>
    </p:spTree>
    <p:extLst>
      <p:ext uri="{BB962C8B-B14F-4D97-AF65-F5344CB8AC3E}">
        <p14:creationId xmlns:p14="http://schemas.microsoft.com/office/powerpoint/2010/main" val="340871612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01F1CDD-C1A7-A155-7A56-72751FBAF94A}"/>
              </a:ext>
            </a:extLst>
          </p:cNvPr>
          <p:cNvSpPr txBox="1"/>
          <p:nvPr/>
        </p:nvSpPr>
        <p:spPr>
          <a:xfrm>
            <a:off x="1174282" y="1636294"/>
            <a:ext cx="896112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Each team member will enter 5 real HBNC-HBYC and ANC cases within next 15 days.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Share your feedback with regard to data entry and outcome in your HPB (High Priority Block Participants) </a:t>
            </a:r>
            <a:r>
              <a:rPr lang="en-US" sz="2800" dirty="0" err="1"/>
              <a:t>Whats</a:t>
            </a:r>
            <a:r>
              <a:rPr lang="en-US" sz="2800" dirty="0"/>
              <a:t>-app group</a:t>
            </a:r>
          </a:p>
        </p:txBody>
      </p:sp>
      <p:sp>
        <p:nvSpPr>
          <p:cNvPr id="5" name="Title 9">
            <a:extLst>
              <a:ext uri="{FF2B5EF4-FFF2-40B4-BE49-F238E27FC236}">
                <a16:creationId xmlns:a16="http://schemas.microsoft.com/office/drawing/2014/main" id="{1CC52189-175F-0DDC-C640-47BBCAC0C511}"/>
              </a:ext>
            </a:extLst>
          </p:cNvPr>
          <p:cNvSpPr txBox="1">
            <a:spLocks/>
          </p:cNvSpPr>
          <p:nvPr/>
        </p:nvSpPr>
        <p:spPr>
          <a:xfrm>
            <a:off x="0" y="4465"/>
            <a:ext cx="12191999" cy="92277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 b="1">
                <a:solidFill>
                  <a:schemeClr val="accent5">
                    <a:lumMod val="50000"/>
                  </a:schemeClr>
                </a:solidFill>
                <a:ea typeface="+mj-ea"/>
                <a:cs typeface="+mj-cs"/>
              </a:defRPr>
            </a:lvl1pPr>
          </a:lstStyle>
          <a:p>
            <a:pPr fontAlgn="ctr"/>
            <a:r>
              <a:rPr lang="en-US" dirty="0"/>
              <a:t>TASK FOR BLOCK TEAM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D7FA0-5408-97CE-57FD-A44AB0708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C441246-FF89-EF63-0467-5791A70AB76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4910" t="6375" b="52362"/>
          <a:stretch/>
        </p:blipFill>
        <p:spPr>
          <a:xfrm>
            <a:off x="547024" y="6084655"/>
            <a:ext cx="2288575" cy="753640"/>
          </a:xfrm>
          <a:prstGeom prst="rect">
            <a:avLst/>
          </a:prstGeom>
        </p:spPr>
      </p:pic>
      <p:pic>
        <p:nvPicPr>
          <p:cNvPr id="1026" name="Picture 2" descr="Get it on Google Play">
            <a:extLst>
              <a:ext uri="{FF2B5EF4-FFF2-40B4-BE49-F238E27FC236}">
                <a16:creationId xmlns:a16="http://schemas.microsoft.com/office/drawing/2014/main" id="{59B75042-A985-41E6-D31D-ED18EAD254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89" y="3111812"/>
            <a:ext cx="2600434" cy="1006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FA1D686-B455-F8F8-0332-296AFF4E2DA7}"/>
              </a:ext>
            </a:extLst>
          </p:cNvPr>
          <p:cNvSpPr txBox="1"/>
          <p:nvPr/>
        </p:nvSpPr>
        <p:spPr>
          <a:xfrm>
            <a:off x="75962" y="2701895"/>
            <a:ext cx="32404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/>
              <a:t>Search </a:t>
            </a:r>
            <a:r>
              <a:rPr lang="en-IN" sz="2800" dirty="0">
                <a:solidFill>
                  <a:srgbClr val="FF0000"/>
                </a:solidFill>
              </a:rPr>
              <a:t>ODK Collect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72E22B3-0439-737D-C07A-145B0DB7300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6797" r="60232"/>
          <a:stretch/>
        </p:blipFill>
        <p:spPr>
          <a:xfrm>
            <a:off x="559818" y="4118172"/>
            <a:ext cx="2288575" cy="2105156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A093C5E2-1D02-6FC2-520F-131823DF0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21" y="29496"/>
            <a:ext cx="12191999" cy="922777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+mn-lt"/>
              </a:rPr>
              <a:t>SAMPurNA Tracking Tool - Installation Process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B2A045-7B84-7B68-5124-E1716DC8A0EB}"/>
              </a:ext>
            </a:extLst>
          </p:cNvPr>
          <p:cNvSpPr txBox="1"/>
          <p:nvPr/>
        </p:nvSpPr>
        <p:spPr>
          <a:xfrm>
            <a:off x="-779" y="1924575"/>
            <a:ext cx="3393916" cy="83099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FF0000"/>
                </a:solidFill>
              </a:rPr>
              <a:t>Download</a:t>
            </a:r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 “ODK Collect” from Google play store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6C6CA1-5443-E6CC-9187-0DE133236D11}"/>
              </a:ext>
            </a:extLst>
          </p:cNvPr>
          <p:cNvSpPr txBox="1"/>
          <p:nvPr/>
        </p:nvSpPr>
        <p:spPr>
          <a:xfrm>
            <a:off x="75421" y="1112160"/>
            <a:ext cx="3393916" cy="693894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 anchor="ctr">
            <a:noAutofit/>
          </a:bodyPr>
          <a:lstStyle/>
          <a:p>
            <a:pPr algn="ctr"/>
            <a:r>
              <a:rPr lang="en-IN" sz="2400" b="1" dirty="0">
                <a:solidFill>
                  <a:schemeClr val="accent5">
                    <a:lumMod val="50000"/>
                  </a:schemeClr>
                </a:solidFill>
              </a:rPr>
              <a:t>Step-1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D62379-91E0-6B39-E027-F959D6138783}"/>
              </a:ext>
            </a:extLst>
          </p:cNvPr>
          <p:cNvSpPr txBox="1"/>
          <p:nvPr/>
        </p:nvSpPr>
        <p:spPr>
          <a:xfrm>
            <a:off x="3610668" y="1975732"/>
            <a:ext cx="4241634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FF0000"/>
                </a:solidFill>
              </a:rPr>
              <a:t>Scan</a:t>
            </a:r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 QR code by 2 methods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424AF4-8592-6B8F-EDB8-96B0F790C631}"/>
              </a:ext>
            </a:extLst>
          </p:cNvPr>
          <p:cNvSpPr txBox="1"/>
          <p:nvPr/>
        </p:nvSpPr>
        <p:spPr>
          <a:xfrm>
            <a:off x="3610668" y="1120494"/>
            <a:ext cx="4241639" cy="693894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 anchor="ctr">
            <a:noAutofit/>
          </a:bodyPr>
          <a:lstStyle/>
          <a:p>
            <a:pPr algn="ctr"/>
            <a:r>
              <a:rPr lang="en-IN" sz="2400" b="1" dirty="0">
                <a:solidFill>
                  <a:schemeClr val="accent5">
                    <a:lumMod val="50000"/>
                  </a:schemeClr>
                </a:solidFill>
              </a:rPr>
              <a:t>Step-2</a:t>
            </a:r>
          </a:p>
        </p:txBody>
      </p:sp>
      <p:pic>
        <p:nvPicPr>
          <p:cNvPr id="16" name="Picture 15" descr="A screenshot of a phone&#10;&#10;Description automatically generated">
            <a:extLst>
              <a:ext uri="{FF2B5EF4-FFF2-40B4-BE49-F238E27FC236}">
                <a16:creationId xmlns:a16="http://schemas.microsoft.com/office/drawing/2014/main" id="{9C1A2B62-DC3B-483B-1541-55B6121CF97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70" t="34323" r="7051" b="29700"/>
          <a:stretch/>
        </p:blipFill>
        <p:spPr>
          <a:xfrm>
            <a:off x="6818238" y="5760936"/>
            <a:ext cx="956147" cy="924784"/>
          </a:xfrm>
          <a:prstGeom prst="rect">
            <a:avLst/>
          </a:prstGeom>
        </p:spPr>
      </p:pic>
      <p:pic>
        <p:nvPicPr>
          <p:cNvPr id="18" name="Picture 17" descr="A screenshot of a computer&#10;&#10;Description automatically generated">
            <a:extLst>
              <a:ext uri="{FF2B5EF4-FFF2-40B4-BE49-F238E27FC236}">
                <a16:creationId xmlns:a16="http://schemas.microsoft.com/office/drawing/2014/main" id="{76A428F4-454A-D6C6-BD47-1B64E7C3B6B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94" b="36998"/>
          <a:stretch/>
        </p:blipFill>
        <p:spPr>
          <a:xfrm>
            <a:off x="3683894" y="2833274"/>
            <a:ext cx="3008948" cy="3991856"/>
          </a:xfrm>
          <a:prstGeom prst="rect">
            <a:avLst/>
          </a:prstGeom>
        </p:spPr>
      </p:pic>
      <p:pic>
        <p:nvPicPr>
          <p:cNvPr id="25" name="Picture 24" descr="A close up of a keyboard&#10;&#10;Description automatically generated">
            <a:extLst>
              <a:ext uri="{FF2B5EF4-FFF2-40B4-BE49-F238E27FC236}">
                <a16:creationId xmlns:a16="http://schemas.microsoft.com/office/drawing/2014/main" id="{279DAC68-0B88-BD58-FF59-7746B9A6115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6832" r="18084" b="89831"/>
          <a:stretch/>
        </p:blipFill>
        <p:spPr>
          <a:xfrm>
            <a:off x="4615945" y="2836225"/>
            <a:ext cx="1728779" cy="411906"/>
          </a:xfrm>
          <a:prstGeom prst="rect">
            <a:avLst/>
          </a:prstGeom>
        </p:spPr>
      </p:pic>
      <p:sp>
        <p:nvSpPr>
          <p:cNvPr id="26" name="Oval 25">
            <a:extLst>
              <a:ext uri="{FF2B5EF4-FFF2-40B4-BE49-F238E27FC236}">
                <a16:creationId xmlns:a16="http://schemas.microsoft.com/office/drawing/2014/main" id="{72B837FC-C1AC-A758-6738-3FFFF1371A20}"/>
              </a:ext>
            </a:extLst>
          </p:cNvPr>
          <p:cNvSpPr/>
          <p:nvPr/>
        </p:nvSpPr>
        <p:spPr>
          <a:xfrm>
            <a:off x="6374515" y="2836048"/>
            <a:ext cx="381033" cy="36470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71B446D-F9C2-B517-5872-2A29786897E0}"/>
              </a:ext>
            </a:extLst>
          </p:cNvPr>
          <p:cNvSpPr txBox="1"/>
          <p:nvPr/>
        </p:nvSpPr>
        <p:spPr>
          <a:xfrm>
            <a:off x="6491548" y="4398315"/>
            <a:ext cx="1360759" cy="861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Method 2- </a:t>
            </a:r>
            <a:r>
              <a:rPr lang="en-IN" sz="1600" dirty="0">
                <a:solidFill>
                  <a:schemeClr val="accent5">
                    <a:lumMod val="50000"/>
                  </a:schemeClr>
                </a:solidFill>
              </a:rPr>
              <a:t>Direct Scan using </a:t>
            </a:r>
            <a:r>
              <a:rPr lang="en-IN" sz="1600" b="1" dirty="0">
                <a:solidFill>
                  <a:schemeClr val="accent5">
                    <a:lumMod val="50000"/>
                  </a:schemeClr>
                </a:solidFill>
              </a:rPr>
              <a:t>Camera</a:t>
            </a:r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62FAA464-4572-8F78-14AA-5537A9571561}"/>
              </a:ext>
            </a:extLst>
          </p:cNvPr>
          <p:cNvSpPr/>
          <p:nvPr/>
        </p:nvSpPr>
        <p:spPr>
          <a:xfrm>
            <a:off x="6435180" y="4337174"/>
            <a:ext cx="188815" cy="186156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AFA8398-EF63-2D65-931E-FC9E7CAC6D5C}"/>
              </a:ext>
            </a:extLst>
          </p:cNvPr>
          <p:cNvSpPr txBox="1"/>
          <p:nvPr/>
        </p:nvSpPr>
        <p:spPr>
          <a:xfrm>
            <a:off x="6593310" y="3132409"/>
            <a:ext cx="1360759" cy="110799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Method 1- </a:t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IN" sz="1600" dirty="0">
                <a:solidFill>
                  <a:schemeClr val="accent5">
                    <a:lumMod val="50000"/>
                  </a:schemeClr>
                </a:solidFill>
              </a:rPr>
              <a:t>By importing from </a:t>
            </a:r>
            <a:br>
              <a:rPr lang="en-IN" sz="1600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-IN" sz="1600" dirty="0">
                <a:solidFill>
                  <a:schemeClr val="accent5">
                    <a:lumMod val="50000"/>
                  </a:schemeClr>
                </a:solidFill>
              </a:rPr>
              <a:t>Photo </a:t>
            </a:r>
            <a:r>
              <a:rPr lang="en-IN" sz="1600" b="1" dirty="0">
                <a:solidFill>
                  <a:schemeClr val="accent5">
                    <a:lumMod val="50000"/>
                  </a:schemeClr>
                </a:solidFill>
              </a:rPr>
              <a:t>Gallery</a:t>
            </a: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B18CAA45-B3B6-EE8F-1D07-99719CA79797}"/>
              </a:ext>
            </a:extLst>
          </p:cNvPr>
          <p:cNvSpPr/>
          <p:nvPr/>
        </p:nvSpPr>
        <p:spPr>
          <a:xfrm>
            <a:off x="6418972" y="3265589"/>
            <a:ext cx="188815" cy="186156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6365796-7AE4-3CE9-883E-F1540094BD1F}"/>
              </a:ext>
            </a:extLst>
          </p:cNvPr>
          <p:cNvSpPr txBox="1"/>
          <p:nvPr/>
        </p:nvSpPr>
        <p:spPr>
          <a:xfrm>
            <a:off x="6583177" y="5442697"/>
            <a:ext cx="1316303" cy="33855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rgbClr val="FF0000"/>
                </a:solidFill>
              </a:rPr>
              <a:t>Allow</a:t>
            </a:r>
            <a:r>
              <a:rPr lang="en-IN" sz="1600" dirty="0">
                <a:solidFill>
                  <a:schemeClr val="accent5">
                    <a:lumMod val="50000"/>
                  </a:schemeClr>
                </a:solidFill>
              </a:rPr>
              <a:t> Access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650E903-DCD0-0AF7-1AE8-0E515477874B}"/>
              </a:ext>
            </a:extLst>
          </p:cNvPr>
          <p:cNvCxnSpPr/>
          <p:nvPr/>
        </p:nvCxnSpPr>
        <p:spPr>
          <a:xfrm>
            <a:off x="3469337" y="1935515"/>
            <a:ext cx="0" cy="48050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CE82FF75-01D5-7847-0DA2-A020FCF8C86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7610" y="3717150"/>
            <a:ext cx="2356554" cy="235655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E6D8918-D892-7B3D-1A24-9299180F9C7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77" b="53109"/>
          <a:stretch>
            <a:fillRect/>
          </a:stretch>
        </p:blipFill>
        <p:spPr>
          <a:xfrm>
            <a:off x="8079465" y="1120495"/>
            <a:ext cx="3587192" cy="327782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E7590EE-7635-7C92-6403-EF2AC99F9315}"/>
              </a:ext>
            </a:extLst>
          </p:cNvPr>
          <p:cNvSpPr txBox="1"/>
          <p:nvPr/>
        </p:nvSpPr>
        <p:spPr>
          <a:xfrm>
            <a:off x="7977703" y="4734811"/>
            <a:ext cx="390949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hlinkClick r:id="rId10"/>
              </a:rPr>
              <a:t>https://odk.nipi-cure.org/f/gMdZdbIWtKwD3KJxzxVlgOhq7BqaBgS?st=dJkfIrmGCJzNpV7rIPQZ2sD0mFOUqPTM!n2JaKyUBJawOrt4Zg7W62raxEWk0yWd</a:t>
            </a:r>
            <a:endParaRPr lang="en-US" sz="1200" dirty="0"/>
          </a:p>
          <a:p>
            <a:r>
              <a:rPr lang="en-US" sz="1200" b="1" dirty="0"/>
              <a:t>FOR HBNC-HBYC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3F6B43-9D32-14F7-A471-9E900F34F1EB}"/>
              </a:ext>
            </a:extLst>
          </p:cNvPr>
          <p:cNvSpPr txBox="1"/>
          <p:nvPr/>
        </p:nvSpPr>
        <p:spPr>
          <a:xfrm>
            <a:off x="8079465" y="5781251"/>
            <a:ext cx="339295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hlinkClick r:id="rId11"/>
              </a:rPr>
              <a:t>https://odk.nipi-cure.org/f/9uZLir7O4YpRpXZ7adAyzPkhHkDdSZM?st=jWo9xGZXgvsYpROh8RhD1efsdGkVthSV8nQl5$0MEyqZTNctUhztfOF6sB91yE0h</a:t>
            </a:r>
            <a:endParaRPr lang="en-US" sz="1200" dirty="0"/>
          </a:p>
          <a:p>
            <a:r>
              <a:rPr lang="en-US" sz="1200" b="1" u="sng" dirty="0"/>
              <a:t>FOR ANC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AF143AC-8E99-C346-3D9C-7B96A90B45E9}"/>
              </a:ext>
            </a:extLst>
          </p:cNvPr>
          <p:cNvSpPr txBox="1"/>
          <p:nvPr/>
        </p:nvSpPr>
        <p:spPr>
          <a:xfrm>
            <a:off x="8079465" y="4432898"/>
            <a:ext cx="3933131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IOS USERS - USE THE FOLLOWING LINK</a:t>
            </a:r>
          </a:p>
        </p:txBody>
      </p:sp>
    </p:spTree>
    <p:extLst>
      <p:ext uri="{BB962C8B-B14F-4D97-AF65-F5344CB8AC3E}">
        <p14:creationId xmlns:p14="http://schemas.microsoft.com/office/powerpoint/2010/main" val="25330972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AB24F-5500-C169-993B-B0D952526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221" y="2517495"/>
            <a:ext cx="11554692" cy="1325563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en-IN" b="1" dirty="0"/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17939761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2945</TotalTime>
  <Words>594</Words>
  <Application>Microsoft Office PowerPoint</Application>
  <PresentationFormat>Widescreen</PresentationFormat>
  <Paragraphs>76</Paragraphs>
  <Slides>21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Funnel Display</vt:lpstr>
      <vt:lpstr>Funnel Sans</vt:lpstr>
      <vt:lpstr>Office Theme</vt:lpstr>
      <vt:lpstr>PowerPoint Presentation</vt:lpstr>
      <vt:lpstr>PowerPoint Presentation</vt:lpstr>
      <vt:lpstr>SAMMPurNA Tracking Tool - Installation Process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Dashboard Report</vt:lpstr>
      <vt:lpstr>PowerPoint Presentation</vt:lpstr>
      <vt:lpstr>SAMPurNA Tracking Tool - Installation Process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Devendra Patankar</dc:creator>
  <cp:lastModifiedBy>sibasish swain</cp:lastModifiedBy>
  <cp:revision>70</cp:revision>
  <dcterms:created xsi:type="dcterms:W3CDTF">2024-02-01T09:12:37Z</dcterms:created>
  <dcterms:modified xsi:type="dcterms:W3CDTF">2026-07-15T08:29:36Z</dcterms:modified>
</cp:coreProperties>
</file>