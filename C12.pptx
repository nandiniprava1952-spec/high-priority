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C12: Maternal Perinatal Child Death Surveillance &amp; Response (MPCDSR)</a:t>
            </a:r>
          </a:p>
          <a:p>
            <a:r>
              <a:t>Module: Day 2 – Programs &amp; Systems</a:t>
            </a:r>
          </a:p>
          <a:p/>
          <a:p>
            <a:r>
              <a:t>Key content covered in source deck:</a:t>
            </a:r>
          </a:p>
          <a:p>
            <a:r>
              <a:t>- Maternal Perinatal Child Death Surveillance &amp; Response (MPCDSR)</a:t>
            </a:r>
          </a:p>
          <a:p>
            <a:r>
              <a:t>- Topic: 12</a:t>
            </a:r>
          </a:p>
          <a:p>
            <a:r>
              <a:t>- MDR Process</a:t>
            </a:r>
          </a:p>
          <a:p>
            <a:r>
              <a:t>- Maternal Deaths Surveillance &amp; response</a:t>
            </a:r>
          </a:p>
          <a:p>
            <a:r>
              <a:t>- Place of occurrence</a:t>
            </a:r>
          </a:p>
          <a:p>
            <a:r>
              <a:t>- Community</a:t>
            </a:r>
          </a:p>
          <a:p>
            <a:r>
              <a:t>- Transit</a:t>
            </a:r>
          </a:p>
          <a:p>
            <a:r>
              <a:t>- Facility</a:t>
            </a:r>
          </a:p>
          <a:p>
            <a:r>
              <a:t>- Home to facility</a:t>
            </a:r>
          </a:p>
          <a:p>
            <a:r>
              <a:t>- Facility To facility</a:t>
            </a:r>
          </a:p>
          <a:p>
            <a:r>
              <a:t>- Notification: By ASHA within 24 hours of Deaths: Incentive 200/ case</a:t>
            </a:r>
          </a:p>
          <a:p>
            <a:r>
              <a:t>- Varification : By MPHW (F) 7days  of Deaths</a:t>
            </a:r>
          </a:p>
          <a:p>
            <a:r>
              <a:t>- Verbal Autopsy :BY 3-member team formed by BNO with in 21 days . Rs. 150 incentive / member and 200 for transportation</a:t>
            </a:r>
          </a:p>
          <a:p>
            <a:r>
              <a:t>- Records to DNO: By 5th of every month to share Maternal death linelist and Form 5 &amp; 6</a:t>
            </a:r>
          </a:p>
          <a:p>
            <a:r>
              <a:t>- Form 6: Summary form by BNO based on verbal autopsy</a:t>
            </a:r>
          </a:p>
          <a:p>
            <a:r>
              <a:t>- Notification: By FNO with in 24 hours of deaths</a:t>
            </a:r>
          </a:p>
          <a:p>
            <a:r>
              <a:t>- Form 4: By treating doctor and MO present at time of deaths with in 24 hours</a:t>
            </a:r>
          </a:p>
          <a:p>
            <a:r>
              <a:t>- Form 4: By FNO to DNO with in 48 hours</a:t>
            </a:r>
          </a:p>
          <a:p>
            <a:r>
              <a:t>- Conduct FBMDSR every month</a:t>
            </a:r>
          </a:p>
          <a:p>
            <a:r>
              <a:t>- DNO inform to BNO As soon as receiving info</a:t>
            </a:r>
          </a:p>
          <a:p>
            <a:r>
              <a:t>- District Level</a:t>
            </a:r>
          </a:p>
          <a:p>
            <a:r>
              <a:t>- DNO: share MDSR linelist to SNO by 7th of every month</a:t>
            </a:r>
          </a:p>
          <a:p>
            <a:r>
              <a:t>- Review: MDSR committee every materbal deaths  every month</a:t>
            </a:r>
          </a:p>
          <a:p>
            <a:r>
              <a:t>- Collector review each maternal deaths every month</a:t>
            </a:r>
          </a:p>
          <a:p>
            <a:r>
              <a:t>- CDR Process</a:t>
            </a:r>
          </a:p>
          <a:p/>
          <a:p>
            <a:r>
              <a:t>Facilitator reminder: cross-check this section against the training checklist (module_C / grp_C12) in the KoboToolBox facilitation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12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1325880"/>
            <a:ext cx="420624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DAY 2 – PROGRAMS &amp;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E0E0E0"/>
                </a:solidFill>
                <a:latin typeface="Arial"/>
              </a:defRPr>
            </a:pPr>
            <a:r>
              <a:t>Section C12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675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mbria"/>
              </a:defRPr>
            </a:pPr>
            <a:r>
              <a:t>Maternal Perinatal Child Death Surveillance &amp; Response (MPCDSR)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CCCC"/>
                </a:solidFill>
                <a:latin typeface="Arial"/>
              </a:defRPr>
            </a:pPr>
            <a:r>
              <a:t>Maternal &amp; Child Health Presentation – Facilitator Kit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