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271.svg" ContentType="image/svg+xml"/>
  <Override PartName="/ppt/media/image273.svg" ContentType="image/svg+xml"/>
  <Override PartName="/ppt/media/image275.svg" ContentType="image/svg+xml"/>
  <Override PartName="/ppt/media/image277.svg" ContentType="image/svg+xml"/>
  <Override PartName="/ppt/media/image279.svg" ContentType="image/svg+xml"/>
  <Override PartName="/ppt/media/image281.svg" ContentType="image/svg+xml"/>
  <Override PartName="/ppt/notesMasters/notesMaster1.xml" ContentType="application/vnd.openxmlformats-officedocument.presentationml.notesMaster+xml"/>
  <Override PartName="/ppt/notesSlides/notesSlide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2147470580" r:id="rId311"/>
    <p:sldId id="2147470581" r:id="rId312"/>
    <p:sldId id="289" r:id="rId313"/>
    <p:sldId id="2147470860" r:id="rId314"/>
    <p:sldId id="291" r:id="rId315"/>
    <p:sldId id="292" r:id="rId316"/>
    <p:sldId id="293" r:id="rId317"/>
    <p:sldId id="447" r:id="rId318"/>
    <p:sldId id="2147470861" r:id="rId319"/>
    <p:sldId id="2147470641" r:id="rId320"/>
    <p:sldId id="449" r:id="rId321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311" Type="http://schemas.openxmlformats.org/officeDocument/2006/relationships/slide" Target="slides/slide301.xml"/><Relationship Id="rId312" Type="http://schemas.openxmlformats.org/officeDocument/2006/relationships/slide" Target="slides/slide302.xml"/><Relationship Id="rId313" Type="http://schemas.openxmlformats.org/officeDocument/2006/relationships/slide" Target="slides/slide303.xml"/><Relationship Id="rId314" Type="http://schemas.openxmlformats.org/officeDocument/2006/relationships/slide" Target="slides/slide304.xml"/><Relationship Id="rId315" Type="http://schemas.openxmlformats.org/officeDocument/2006/relationships/slide" Target="slides/slide305.xml"/><Relationship Id="rId316" Type="http://schemas.openxmlformats.org/officeDocument/2006/relationships/slide" Target="slides/slide306.xml"/><Relationship Id="rId317" Type="http://schemas.openxmlformats.org/officeDocument/2006/relationships/slide" Target="slides/slide307.xml"/><Relationship Id="rId318" Type="http://schemas.openxmlformats.org/officeDocument/2006/relationships/slide" Target="slides/slide308.xml"/><Relationship Id="rId319" Type="http://schemas.openxmlformats.org/officeDocument/2006/relationships/slide" Target="slides/slide309.xml"/><Relationship Id="rId320" Type="http://schemas.openxmlformats.org/officeDocument/2006/relationships/slide" Target="slides/slide310.xml"/><Relationship Id="rId321" Type="http://schemas.openxmlformats.org/officeDocument/2006/relationships/slide" Target="slides/slide311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F2921-8ADB-05D1-4379-E88D53C75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B4A23-A020-FC1A-627C-4C78B69C9C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2FD91-8602-243B-F50F-5E05676CF23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F98131C-F00E-462F-BA25-32641A709AC8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307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269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image" Target="../media/image270.png"/><Relationship Id="rId3" Type="http://schemas.openxmlformats.org/officeDocument/2006/relationships/image" Target="../media/image271.svg"/><Relationship Id="rId4" Type="http://schemas.openxmlformats.org/officeDocument/2006/relationships/image" Target="../media/image272.png"/><Relationship Id="rId5" Type="http://schemas.openxmlformats.org/officeDocument/2006/relationships/image" Target="../media/image273.svg"/><Relationship Id="rId6" Type="http://schemas.openxmlformats.org/officeDocument/2006/relationships/image" Target="../media/image274.png"/><Relationship Id="rId7" Type="http://schemas.openxmlformats.org/officeDocument/2006/relationships/image" Target="../media/image275.svg"/><Relationship Id="rId8" Type="http://schemas.openxmlformats.org/officeDocument/2006/relationships/image" Target="../media/image276.png"/><Relationship Id="rId9" Type="http://schemas.openxmlformats.org/officeDocument/2006/relationships/image" Target="../media/image277.svg"/><Relationship Id="rId10" Type="http://schemas.openxmlformats.org/officeDocument/2006/relationships/image" Target="../media/image278.png"/><Relationship Id="rId11" Type="http://schemas.openxmlformats.org/officeDocument/2006/relationships/image" Target="../media/image279.svg"/><Relationship Id="rId12" Type="http://schemas.openxmlformats.org/officeDocument/2006/relationships/image" Target="../media/image280.png"/><Relationship Id="rId13" Type="http://schemas.openxmlformats.org/officeDocument/2006/relationships/image" Target="../media/image281.sv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image" Target="../media/image282.png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82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9C6EEFE8-14EB-2A67-410D-B9E661C871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4" t="23391" r="3577"/>
          <a:stretch>
            <a:fillRect/>
          </a:stretch>
        </p:blipFill>
        <p:spPr>
          <a:xfrm>
            <a:off x="18" y="9"/>
            <a:ext cx="12191978" cy="685799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3031057-3BDC-F0B9-36A4-FA7D5E440F8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0040" y="5739972"/>
            <a:ext cx="8178503" cy="960120"/>
          </a:xfrm>
        </p:spPr>
        <p:txBody>
          <a:bodyPr anchor="ctr">
            <a:normAutofit/>
          </a:bodyPr>
          <a:lstStyle/>
          <a:p>
            <a:pPr lvl="0"/>
            <a:r>
              <a:rPr lang="en-US" sz="4400"/>
              <a:t>PMSMA &amp; EPMSMA</a:t>
            </a:r>
            <a:endParaRPr lang="en-IN"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45323-41CE-B6D8-ACA3-2279D1C76FB5}"/>
              </a:ext>
            </a:extLst>
          </p:cNvPr>
          <p:cNvSpPr txBox="1"/>
          <p:nvPr/>
        </p:nvSpPr>
        <p:spPr>
          <a:xfrm>
            <a:off x="8991600" y="6356857"/>
            <a:ext cx="2002971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Topic: 6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821A-254A-5B95-BA29-87E4C1BE26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1208" y="978408"/>
            <a:ext cx="3593591" cy="4069080"/>
          </a:xfrm>
        </p:spPr>
        <p:txBody>
          <a:bodyPr>
            <a:normAutofit/>
          </a:bodyPr>
          <a:lstStyle/>
          <a:p>
            <a:pPr lvl="0"/>
            <a:r>
              <a:rPr lang="en-US" sz="4000">
                <a:latin typeface="Aptos"/>
              </a:rPr>
              <a:t>Pradhan Mantri Surakshit Matritva Abhiyan (PMSMA)/Extended PMSMA</a:t>
            </a:r>
            <a:endParaRPr lang="en-IN" sz="4000"/>
          </a:p>
        </p:txBody>
      </p:sp>
      <p:grpSp>
        <p:nvGrpSpPr>
          <p:cNvPr id="3" name="Content Placeholder 2">
            <a:extLst>
              <a:ext uri="{FF2B5EF4-FFF2-40B4-BE49-F238E27FC236}">
                <a16:creationId xmlns:a16="http://schemas.microsoft.com/office/drawing/2014/main" id="{55384E31-12F2-AB89-D9E5-8BF66808768A}"/>
              </a:ext>
            </a:extLst>
          </p:cNvPr>
          <p:cNvGrpSpPr/>
          <p:nvPr/>
        </p:nvGrpSpPr>
        <p:grpSpPr>
          <a:xfrm>
            <a:off x="4389120" y="979020"/>
            <a:ext cx="7306056" cy="5009686"/>
            <a:chOff x="4389120" y="979020"/>
            <a:chExt cx="7306056" cy="500968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0A467F-6BD6-F84D-33E2-2CE62B4EC293}"/>
                </a:ext>
              </a:extLst>
            </p:cNvPr>
            <p:cNvSpPr/>
            <p:nvPr/>
          </p:nvSpPr>
          <p:spPr>
            <a:xfrm>
              <a:off x="4389120" y="979020"/>
              <a:ext cx="730605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9046" cap="flat">
              <a:solidFill>
                <a:srgbClr val="E97132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738CEE0-AABA-9243-3E28-A91EAEFD9125}"/>
                </a:ext>
              </a:extLst>
            </p:cNvPr>
            <p:cNvSpPr/>
            <p:nvPr/>
          </p:nvSpPr>
          <p:spPr>
            <a:xfrm>
              <a:off x="4389120" y="979020"/>
              <a:ext cx="7306056" cy="10019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06056"/>
                <a:gd name="f7" fmla="val 1001937"/>
                <a:gd name="f8" fmla="+- 0 0 -90"/>
                <a:gd name="f9" fmla="*/ f3 1 7306056"/>
                <a:gd name="f10" fmla="*/ f4 1 100193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306056"/>
                <a:gd name="f19" fmla="*/ f15 1 1001937"/>
                <a:gd name="f20" fmla="*/ 0 f16 1"/>
                <a:gd name="f21" fmla="*/ 0 f15 1"/>
                <a:gd name="f22" fmla="*/ 7306056 f16 1"/>
                <a:gd name="f23" fmla="*/ 1001937 f15 1"/>
                <a:gd name="f24" fmla="+- f17 0 f1"/>
                <a:gd name="f25" fmla="*/ f20 1 7306056"/>
                <a:gd name="f26" fmla="*/ f21 1 1001937"/>
                <a:gd name="f27" fmla="*/ f22 1 7306056"/>
                <a:gd name="f28" fmla="*/ f23 1 100193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306056" h="100193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68580" tIns="68580" rIns="68580" bIns="68580" anchor="t" anchorCtr="0" compatLnSpc="1">
              <a:noAutofit/>
            </a:bodyPr>
            <a:lstStyle/>
            <a:p>
              <a:pPr marL="0" marR="0" lvl="0" indent="0" algn="l" defTabSz="77787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PMSMA is Launched in 2016 by the </a:t>
              </a:r>
              <a:r>
                <a:rPr kumimoji="0" lang="en-US" sz="17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Ministry of Health &amp; Family Welfare 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(MoHFW), Government of India. And E-PMSMA 1</a:t>
              </a:r>
              <a:r>
                <a:rPr kumimoji="0" lang="en-US" sz="175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st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April 2022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FEA5B09-E12F-76B6-F718-AFC93B32E6C9}"/>
                </a:ext>
              </a:extLst>
            </p:cNvPr>
            <p:cNvSpPr/>
            <p:nvPr/>
          </p:nvSpPr>
          <p:spPr>
            <a:xfrm>
              <a:off x="4389120" y="1980956"/>
              <a:ext cx="730605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9046" cap="flat">
              <a:solidFill>
                <a:srgbClr val="D8B11D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BCE8240-7CDF-CFEF-6F6E-DD76417E0FE8}"/>
                </a:ext>
              </a:extLst>
            </p:cNvPr>
            <p:cNvSpPr/>
            <p:nvPr/>
          </p:nvSpPr>
          <p:spPr>
            <a:xfrm>
              <a:off x="4389120" y="1980956"/>
              <a:ext cx="7306056" cy="10019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06056"/>
                <a:gd name="f7" fmla="val 1001937"/>
                <a:gd name="f8" fmla="+- 0 0 -90"/>
                <a:gd name="f9" fmla="*/ f3 1 7306056"/>
                <a:gd name="f10" fmla="*/ f4 1 100193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306056"/>
                <a:gd name="f19" fmla="*/ f15 1 1001937"/>
                <a:gd name="f20" fmla="*/ 0 f16 1"/>
                <a:gd name="f21" fmla="*/ 0 f15 1"/>
                <a:gd name="f22" fmla="*/ 7306056 f16 1"/>
                <a:gd name="f23" fmla="*/ 1001937 f15 1"/>
                <a:gd name="f24" fmla="+- f17 0 f1"/>
                <a:gd name="f25" fmla="*/ f20 1 7306056"/>
                <a:gd name="f26" fmla="*/ f21 1 1001937"/>
                <a:gd name="f27" fmla="*/ f22 1 7306056"/>
                <a:gd name="f28" fmla="*/ f23 1 100193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306056" h="100193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68580" tIns="68580" rIns="68580" bIns="68580" anchor="t" anchorCtr="0" compatLnSpc="1">
              <a:noAutofit/>
            </a:bodyPr>
            <a:lstStyle/>
            <a:p>
              <a:pPr marL="0" marR="0" lvl="0" indent="0" algn="l" defTabSz="77787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PMSMA </a:t>
              </a:r>
              <a:r>
                <a:rPr kumimoji="0" lang="en-US" sz="17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provides fixed-day assured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, comprehensive and quality antenatal care universally to all pregnant women (in 2</a:t>
              </a:r>
              <a:r>
                <a:rPr kumimoji="0" lang="en-US" sz="175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nd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 and 3</a:t>
              </a:r>
              <a:r>
                <a:rPr kumimoji="0" lang="en-US" sz="175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rd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trimester) on the 9</a:t>
              </a:r>
              <a:r>
                <a:rPr kumimoji="0" lang="en-US" sz="175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th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of every month and E PMSMA On any other Fixed days of the months Other than 9</a:t>
              </a:r>
              <a:r>
                <a:rPr kumimoji="0" lang="en-US" sz="175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th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640B88A-B1F3-D757-32FE-CBC6A56D39E8}"/>
                </a:ext>
              </a:extLst>
            </p:cNvPr>
            <p:cNvSpPr/>
            <p:nvPr/>
          </p:nvSpPr>
          <p:spPr>
            <a:xfrm>
              <a:off x="4389120" y="2982891"/>
              <a:ext cx="730605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9046" cap="flat">
              <a:solidFill>
                <a:srgbClr val="8EB21E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87FBBE3-BF4E-F8C0-EBE6-09E8D0E5DD71}"/>
                </a:ext>
              </a:extLst>
            </p:cNvPr>
            <p:cNvSpPr/>
            <p:nvPr/>
          </p:nvSpPr>
          <p:spPr>
            <a:xfrm>
              <a:off x="4389120" y="2982891"/>
              <a:ext cx="7306056" cy="10019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06056"/>
                <a:gd name="f7" fmla="val 1001937"/>
                <a:gd name="f8" fmla="+- 0 0 -90"/>
                <a:gd name="f9" fmla="*/ f3 1 7306056"/>
                <a:gd name="f10" fmla="*/ f4 1 100193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306056"/>
                <a:gd name="f19" fmla="*/ f15 1 1001937"/>
                <a:gd name="f20" fmla="*/ 0 f16 1"/>
                <a:gd name="f21" fmla="*/ 0 f15 1"/>
                <a:gd name="f22" fmla="*/ 7306056 f16 1"/>
                <a:gd name="f23" fmla="*/ 1001937 f15 1"/>
                <a:gd name="f24" fmla="+- f17 0 f1"/>
                <a:gd name="f25" fmla="*/ f20 1 7306056"/>
                <a:gd name="f26" fmla="*/ f21 1 1001937"/>
                <a:gd name="f27" fmla="*/ f22 1 7306056"/>
                <a:gd name="f28" fmla="*/ f23 1 100193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306056" h="100193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68580" tIns="68580" rIns="68580" bIns="68580" anchor="t" anchorCtr="0" compatLnSpc="1">
              <a:noAutofit/>
            </a:bodyPr>
            <a:lstStyle/>
            <a:p>
              <a:pPr marL="0" marR="0" lvl="0" indent="0" algn="l" defTabSz="77787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On this day special ANC services are provided by </a:t>
              </a:r>
              <a:r>
                <a:rPr kumimoji="0" lang="en-US" sz="17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OBGY specialists/ Radiologist/ Physicians</a:t>
              </a: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 at government health facilities.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29B1B3-01E9-CC8A-7405-E85FEC4070EC}"/>
                </a:ext>
              </a:extLst>
            </p:cNvPr>
            <p:cNvSpPr/>
            <p:nvPr/>
          </p:nvSpPr>
          <p:spPr>
            <a:xfrm>
              <a:off x="4389120" y="3984836"/>
              <a:ext cx="730605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9046" cap="flat">
              <a:solidFill>
                <a:srgbClr val="408E1C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CF231E-869B-8E44-DACB-6CBEEF4F416A}"/>
                </a:ext>
              </a:extLst>
            </p:cNvPr>
            <p:cNvSpPr/>
            <p:nvPr/>
          </p:nvSpPr>
          <p:spPr>
            <a:xfrm>
              <a:off x="4389120" y="3984836"/>
              <a:ext cx="7306056" cy="10019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06056"/>
                <a:gd name="f7" fmla="val 1001937"/>
                <a:gd name="f8" fmla="+- 0 0 -90"/>
                <a:gd name="f9" fmla="*/ f3 1 7306056"/>
                <a:gd name="f10" fmla="*/ f4 1 100193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306056"/>
                <a:gd name="f19" fmla="*/ f15 1 1001937"/>
                <a:gd name="f20" fmla="*/ 0 f16 1"/>
                <a:gd name="f21" fmla="*/ 0 f15 1"/>
                <a:gd name="f22" fmla="*/ 7306056 f16 1"/>
                <a:gd name="f23" fmla="*/ 1001937 f15 1"/>
                <a:gd name="f24" fmla="+- f17 0 f1"/>
                <a:gd name="f25" fmla="*/ f20 1 7306056"/>
                <a:gd name="f26" fmla="*/ f21 1 1001937"/>
                <a:gd name="f27" fmla="*/ f22 1 7306056"/>
                <a:gd name="f28" fmla="*/ f23 1 100193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306056" h="100193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68580" tIns="68580" rIns="68580" bIns="68580" anchor="t" anchorCtr="0" compatLnSpc="1">
              <a:noAutofit/>
            </a:bodyPr>
            <a:lstStyle/>
            <a:p>
              <a:pPr marL="0" marR="0" lvl="0" indent="0" algn="l" defTabSz="77787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Using the principles of a single window system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AC15E03-0A3B-669A-325B-523059216379}"/>
                </a:ext>
              </a:extLst>
            </p:cNvPr>
            <p:cNvSpPr/>
            <p:nvPr/>
          </p:nvSpPr>
          <p:spPr>
            <a:xfrm>
              <a:off x="4389120" y="4986771"/>
              <a:ext cx="730605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9046" cap="flat">
              <a:solidFill>
                <a:srgbClr val="196B24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8183844-A2A6-A043-1884-ECCC9EC9366F}"/>
                </a:ext>
              </a:extLst>
            </p:cNvPr>
            <p:cNvSpPr/>
            <p:nvPr/>
          </p:nvSpPr>
          <p:spPr>
            <a:xfrm>
              <a:off x="4389120" y="4986771"/>
              <a:ext cx="7306056" cy="10019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06056"/>
                <a:gd name="f7" fmla="val 1001937"/>
                <a:gd name="f8" fmla="+- 0 0 -90"/>
                <a:gd name="f9" fmla="*/ f3 1 7306056"/>
                <a:gd name="f10" fmla="*/ f4 1 1001937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306056"/>
                <a:gd name="f19" fmla="*/ f15 1 1001937"/>
                <a:gd name="f20" fmla="*/ 0 f16 1"/>
                <a:gd name="f21" fmla="*/ 0 f15 1"/>
                <a:gd name="f22" fmla="*/ 7306056 f16 1"/>
                <a:gd name="f23" fmla="*/ 1001937 f15 1"/>
                <a:gd name="f24" fmla="+- f17 0 f1"/>
                <a:gd name="f25" fmla="*/ f20 1 7306056"/>
                <a:gd name="f26" fmla="*/ f21 1 1001937"/>
                <a:gd name="f27" fmla="*/ f22 1 7306056"/>
                <a:gd name="f28" fmla="*/ f23 1 1001937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306056" h="1001937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68580" tIns="68580" rIns="68580" bIns="68580" anchor="t" anchorCtr="0" compatLnSpc="1">
              <a:noAutofit/>
            </a:bodyPr>
            <a:lstStyle/>
            <a:p>
              <a:pPr marL="0" marR="0" lvl="0" indent="0" algn="l" defTabSz="77787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7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One of the critical components of the Abhiyan is identification and follow-up of high-risk pregnancies and red stickers are added on to the Mother and Child Protection cards of women with high-risk pregnancies.</a:t>
              </a:r>
            </a:p>
          </p:txBody>
        </p:sp>
      </p:grp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1CDEA63-44A0-3B0C-FBB6-5A90D94A7DEE}"/>
              </a:ext>
            </a:extLst>
          </p:cNvPr>
          <p:cNvGrpSpPr/>
          <p:nvPr/>
        </p:nvGrpSpPr>
        <p:grpSpPr>
          <a:xfrm>
            <a:off x="580762" y="420532"/>
            <a:ext cx="11030481" cy="6016935"/>
            <a:chOff x="580762" y="420532"/>
            <a:chExt cx="11030481" cy="6016935"/>
          </a:xfrm>
        </p:grpSpPr>
        <p:sp>
          <p:nvSpPr>
            <p:cNvPr id="3" name="Rectangle: Rounded Corners 3">
              <a:extLst>
                <a:ext uri="{FF2B5EF4-FFF2-40B4-BE49-F238E27FC236}">
                  <a16:creationId xmlns:a16="http://schemas.microsoft.com/office/drawing/2014/main" id="{CBCACD3D-3A53-4E3F-B9DF-DF018BB0BBB9}"/>
                </a:ext>
              </a:extLst>
            </p:cNvPr>
            <p:cNvSpPr/>
            <p:nvPr/>
          </p:nvSpPr>
          <p:spPr>
            <a:xfrm>
              <a:off x="580762" y="420532"/>
              <a:ext cx="2742843" cy="1706983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FFFFFF"/>
            </a:solidFill>
            <a:ln w="76196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WHEN</a:t>
              </a:r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26493A3F-52B3-132E-BA9B-70F4AAFCC92C}"/>
                </a:ext>
              </a:extLst>
            </p:cNvPr>
            <p:cNvSpPr/>
            <p:nvPr/>
          </p:nvSpPr>
          <p:spPr>
            <a:xfrm>
              <a:off x="624068" y="2363303"/>
              <a:ext cx="2742843" cy="1847810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FFFFFF"/>
            </a:solidFill>
            <a:ln w="76196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BY WHOM</a:t>
              </a:r>
            </a:p>
          </p:txBody>
        </p:sp>
        <p:sp>
          <p:nvSpPr>
            <p:cNvPr id="5" name="Rectangle: Rounded Corners 5">
              <a:extLst>
                <a:ext uri="{FF2B5EF4-FFF2-40B4-BE49-F238E27FC236}">
                  <a16:creationId xmlns:a16="http://schemas.microsoft.com/office/drawing/2014/main" id="{CD12239C-0F1B-71C9-0ED0-9ED57A77B485}"/>
                </a:ext>
              </a:extLst>
            </p:cNvPr>
            <p:cNvSpPr/>
            <p:nvPr/>
          </p:nvSpPr>
          <p:spPr>
            <a:xfrm>
              <a:off x="624068" y="4499826"/>
              <a:ext cx="2742843" cy="1847810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FFFFFF"/>
            </a:solidFill>
            <a:ln w="76196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4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FOR WHOM</a:t>
              </a:r>
            </a:p>
          </p:txBody>
        </p:sp>
        <p:sp>
          <p:nvSpPr>
            <p:cNvPr id="6" name="Arrow: Right 6">
              <a:extLst>
                <a:ext uri="{FF2B5EF4-FFF2-40B4-BE49-F238E27FC236}">
                  <a16:creationId xmlns:a16="http://schemas.microsoft.com/office/drawing/2014/main" id="{E200417E-06A9-8219-8CFF-35491C66867E}"/>
                </a:ext>
              </a:extLst>
            </p:cNvPr>
            <p:cNvSpPr/>
            <p:nvPr/>
          </p:nvSpPr>
          <p:spPr>
            <a:xfrm>
              <a:off x="3913878" y="982257"/>
              <a:ext cx="1732321" cy="644807"/>
            </a:xfrm>
            <a:custGeom>
              <a:avLst>
                <a:gd name="f0" fmla="val 17580"/>
                <a:gd name="f1" fmla="val 540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0"/>
                <a:gd name="f8" fmla="val 21600"/>
                <a:gd name="f9" fmla="val 10800"/>
                <a:gd name="f10" fmla="+- 0 0 0"/>
                <a:gd name="f11" fmla="+- 0 0 180"/>
                <a:gd name="f12" fmla="*/ f5 1 21600"/>
                <a:gd name="f13" fmla="*/ f6 1 21600"/>
                <a:gd name="f14" fmla="+- f8 0 f7"/>
                <a:gd name="f15" fmla="pin 0 f0 21600"/>
                <a:gd name="f16" fmla="pin 0 f1 10800"/>
                <a:gd name="f17" fmla="*/ f10 f2 1"/>
                <a:gd name="f18" fmla="*/ f11 f2 1"/>
                <a:gd name="f19" fmla="val f15"/>
                <a:gd name="f20" fmla="val f16"/>
                <a:gd name="f21" fmla="*/ f14 1 21600"/>
                <a:gd name="f22" fmla="*/ f15 f12 1"/>
                <a:gd name="f23" fmla="*/ f16 f13 1"/>
                <a:gd name="f24" fmla="*/ f17 1 f4"/>
                <a:gd name="f25" fmla="*/ f18 1 f4"/>
                <a:gd name="f26" fmla="+- 21600 0 f20"/>
                <a:gd name="f27" fmla="+- 21600 0 f19"/>
                <a:gd name="f28" fmla="*/ 0 f21 1"/>
                <a:gd name="f29" fmla="*/ 21600 f21 1"/>
                <a:gd name="f30" fmla="*/ f20 f13 1"/>
                <a:gd name="f31" fmla="*/ f19 f12 1"/>
                <a:gd name="f32" fmla="+- f24 0 f3"/>
                <a:gd name="f33" fmla="+- f25 0 f3"/>
                <a:gd name="f34" fmla="*/ f27 f20 1"/>
                <a:gd name="f35" fmla="*/ f28 1 f21"/>
                <a:gd name="f36" fmla="*/ f29 1 f21"/>
                <a:gd name="f37" fmla="*/ f26 f13 1"/>
                <a:gd name="f38" fmla="*/ f34 1 10800"/>
                <a:gd name="f39" fmla="*/ f35 f12 1"/>
                <a:gd name="f40" fmla="*/ f35 f13 1"/>
                <a:gd name="f41" fmla="*/ f36 f13 1"/>
                <a:gd name="f42" fmla="+- f19 f38 0"/>
                <a:gd name="f43" fmla="*/ f42 f12 1"/>
              </a:gdLst>
              <a:ahLst>
                <a:ahXY gdRefX="f0" minX="f7" maxX="f8" gdRefY="f1" minY="f7" maxY="f9">
                  <a:pos x="f22" y="f23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31" y="f40"/>
                </a:cxn>
                <a:cxn ang="f33">
                  <a:pos x="f31" y="f41"/>
                </a:cxn>
              </a:cxnLst>
              <a:rect l="f39" t="f30" r="f43" b="f37"/>
              <a:pathLst>
                <a:path w="21600" h="21600">
                  <a:moveTo>
                    <a:pt x="f7" y="f20"/>
                  </a:moveTo>
                  <a:lnTo>
                    <a:pt x="f19" y="f20"/>
                  </a:lnTo>
                  <a:lnTo>
                    <a:pt x="f19" y="f7"/>
                  </a:lnTo>
                  <a:lnTo>
                    <a:pt x="f8" y="f9"/>
                  </a:lnTo>
                  <a:lnTo>
                    <a:pt x="f19" y="f8"/>
                  </a:lnTo>
                  <a:lnTo>
                    <a:pt x="f19" y="f26"/>
                  </a:lnTo>
                  <a:lnTo>
                    <a:pt x="f7" y="f26"/>
                  </a:lnTo>
                  <a:close/>
                </a:path>
              </a:pathLst>
            </a:custGeom>
            <a:solidFill>
              <a:srgbClr val="104862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DB2A7D9A-2D14-687E-9758-856FE37DD187}"/>
                </a:ext>
              </a:extLst>
            </p:cNvPr>
            <p:cNvSpPr/>
            <p:nvPr/>
          </p:nvSpPr>
          <p:spPr>
            <a:xfrm>
              <a:off x="7412208" y="515493"/>
              <a:ext cx="4199034" cy="1847810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FFFFFF"/>
            </a:solidFill>
            <a:ln w="76196" cap="flat">
              <a:solidFill>
                <a:srgbClr val="92D05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3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9</a:t>
              </a:r>
              <a:r>
                <a:rPr kumimoji="0" lang="en-IN" sz="34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th</a:t>
              </a:r>
              <a:r>
                <a:rPr kumimoji="0" lang="en-IN" sz="3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of every month and Any Other Fixed Day (E-PMSMA)</a:t>
              </a:r>
            </a:p>
          </p:txBody>
        </p:sp>
        <p:sp>
          <p:nvSpPr>
            <p:cNvPr id="8" name="Rectangle: Rounded Corners 10">
              <a:extLst>
                <a:ext uri="{FF2B5EF4-FFF2-40B4-BE49-F238E27FC236}">
                  <a16:creationId xmlns:a16="http://schemas.microsoft.com/office/drawing/2014/main" id="{A3234E01-D6BD-E86F-DC2B-5BFC61571CB2}"/>
                </a:ext>
              </a:extLst>
            </p:cNvPr>
            <p:cNvSpPr/>
            <p:nvPr/>
          </p:nvSpPr>
          <p:spPr>
            <a:xfrm>
              <a:off x="7489201" y="4589657"/>
              <a:ext cx="4122042" cy="1847810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FFFFFF"/>
            </a:solidFill>
            <a:ln w="76196" cap="flat">
              <a:solidFill>
                <a:srgbClr val="92D05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3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</a:t>
              </a:r>
              <a:r>
                <a:rPr kumimoji="0" lang="en-IN" sz="30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nd</a:t>
              </a:r>
              <a:r>
                <a:rPr kumimoji="0" lang="en-IN" sz="3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&amp; 3</a:t>
              </a:r>
              <a:r>
                <a:rPr kumimoji="0" lang="en-IN" sz="30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rd</a:t>
              </a:r>
              <a:r>
                <a:rPr kumimoji="0" lang="en-IN" sz="3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Trimester PW</a:t>
              </a:r>
            </a:p>
          </p:txBody>
        </p:sp>
        <p:sp>
          <p:nvSpPr>
            <p:cNvPr id="9" name="Rectangle: Rounded Corners 11">
              <a:extLst>
                <a:ext uri="{FF2B5EF4-FFF2-40B4-BE49-F238E27FC236}">
                  <a16:creationId xmlns:a16="http://schemas.microsoft.com/office/drawing/2014/main" id="{B415CF49-D025-FDFB-8B32-03CFABB29CB1}"/>
                </a:ext>
              </a:extLst>
            </p:cNvPr>
            <p:cNvSpPr/>
            <p:nvPr/>
          </p:nvSpPr>
          <p:spPr>
            <a:xfrm>
              <a:off x="7412208" y="2498040"/>
              <a:ext cx="4199034" cy="1847810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FFFFFF"/>
            </a:solidFill>
            <a:ln w="76196" cap="flat">
              <a:solidFill>
                <a:srgbClr val="92D05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BEmONC trained  or specialist</a:t>
              </a:r>
            </a:p>
          </p:txBody>
        </p:sp>
        <p:sp>
          <p:nvSpPr>
            <p:cNvPr id="10" name="Arrow: Right 14">
              <a:extLst>
                <a:ext uri="{FF2B5EF4-FFF2-40B4-BE49-F238E27FC236}">
                  <a16:creationId xmlns:a16="http://schemas.microsoft.com/office/drawing/2014/main" id="{EBC1E3A6-BE19-E966-CEE4-430E8F45B9A2}"/>
                </a:ext>
              </a:extLst>
            </p:cNvPr>
            <p:cNvSpPr/>
            <p:nvPr/>
          </p:nvSpPr>
          <p:spPr>
            <a:xfrm>
              <a:off x="4066263" y="4947342"/>
              <a:ext cx="1732321" cy="644807"/>
            </a:xfrm>
            <a:custGeom>
              <a:avLst>
                <a:gd name="f0" fmla="val 17580"/>
                <a:gd name="f1" fmla="val 540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0"/>
                <a:gd name="f8" fmla="val 21600"/>
                <a:gd name="f9" fmla="val 10800"/>
                <a:gd name="f10" fmla="+- 0 0 0"/>
                <a:gd name="f11" fmla="+- 0 0 180"/>
                <a:gd name="f12" fmla="*/ f5 1 21600"/>
                <a:gd name="f13" fmla="*/ f6 1 21600"/>
                <a:gd name="f14" fmla="+- f8 0 f7"/>
                <a:gd name="f15" fmla="pin 0 f0 21600"/>
                <a:gd name="f16" fmla="pin 0 f1 10800"/>
                <a:gd name="f17" fmla="*/ f10 f2 1"/>
                <a:gd name="f18" fmla="*/ f11 f2 1"/>
                <a:gd name="f19" fmla="val f15"/>
                <a:gd name="f20" fmla="val f16"/>
                <a:gd name="f21" fmla="*/ f14 1 21600"/>
                <a:gd name="f22" fmla="*/ f15 f12 1"/>
                <a:gd name="f23" fmla="*/ f16 f13 1"/>
                <a:gd name="f24" fmla="*/ f17 1 f4"/>
                <a:gd name="f25" fmla="*/ f18 1 f4"/>
                <a:gd name="f26" fmla="+- 21600 0 f20"/>
                <a:gd name="f27" fmla="+- 21600 0 f19"/>
                <a:gd name="f28" fmla="*/ 0 f21 1"/>
                <a:gd name="f29" fmla="*/ 21600 f21 1"/>
                <a:gd name="f30" fmla="*/ f20 f13 1"/>
                <a:gd name="f31" fmla="*/ f19 f12 1"/>
                <a:gd name="f32" fmla="+- f24 0 f3"/>
                <a:gd name="f33" fmla="+- f25 0 f3"/>
                <a:gd name="f34" fmla="*/ f27 f20 1"/>
                <a:gd name="f35" fmla="*/ f28 1 f21"/>
                <a:gd name="f36" fmla="*/ f29 1 f21"/>
                <a:gd name="f37" fmla="*/ f26 f13 1"/>
                <a:gd name="f38" fmla="*/ f34 1 10800"/>
                <a:gd name="f39" fmla="*/ f35 f12 1"/>
                <a:gd name="f40" fmla="*/ f35 f13 1"/>
                <a:gd name="f41" fmla="*/ f36 f13 1"/>
                <a:gd name="f42" fmla="+- f19 f38 0"/>
                <a:gd name="f43" fmla="*/ f42 f12 1"/>
              </a:gdLst>
              <a:ahLst>
                <a:ahXY gdRefX="f0" minX="f7" maxX="f8" gdRefY="f1" minY="f7" maxY="f9">
                  <a:pos x="f22" y="f23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31" y="f40"/>
                </a:cxn>
                <a:cxn ang="f33">
                  <a:pos x="f31" y="f41"/>
                </a:cxn>
              </a:cxnLst>
              <a:rect l="f39" t="f30" r="f43" b="f37"/>
              <a:pathLst>
                <a:path w="21600" h="21600">
                  <a:moveTo>
                    <a:pt x="f7" y="f20"/>
                  </a:moveTo>
                  <a:lnTo>
                    <a:pt x="f19" y="f20"/>
                  </a:lnTo>
                  <a:lnTo>
                    <a:pt x="f19" y="f7"/>
                  </a:lnTo>
                  <a:lnTo>
                    <a:pt x="f8" y="f9"/>
                  </a:lnTo>
                  <a:lnTo>
                    <a:pt x="f19" y="f8"/>
                  </a:lnTo>
                  <a:lnTo>
                    <a:pt x="f19" y="f26"/>
                  </a:lnTo>
                  <a:lnTo>
                    <a:pt x="f7" y="f26"/>
                  </a:lnTo>
                  <a:close/>
                </a:path>
              </a:pathLst>
            </a:custGeom>
            <a:solidFill>
              <a:srgbClr val="104862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1" name="Arrow: Right 15">
              <a:extLst>
                <a:ext uri="{FF2B5EF4-FFF2-40B4-BE49-F238E27FC236}">
                  <a16:creationId xmlns:a16="http://schemas.microsoft.com/office/drawing/2014/main" id="{57135AD2-64EE-74E6-EFEB-27470439AB76}"/>
                </a:ext>
              </a:extLst>
            </p:cNvPr>
            <p:cNvSpPr/>
            <p:nvPr/>
          </p:nvSpPr>
          <p:spPr>
            <a:xfrm>
              <a:off x="4066263" y="3008110"/>
              <a:ext cx="1732321" cy="644807"/>
            </a:xfrm>
            <a:custGeom>
              <a:avLst>
                <a:gd name="f0" fmla="val 17580"/>
                <a:gd name="f1" fmla="val 540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0"/>
                <a:gd name="f8" fmla="val 21600"/>
                <a:gd name="f9" fmla="val 10800"/>
                <a:gd name="f10" fmla="+- 0 0 0"/>
                <a:gd name="f11" fmla="+- 0 0 180"/>
                <a:gd name="f12" fmla="*/ f5 1 21600"/>
                <a:gd name="f13" fmla="*/ f6 1 21600"/>
                <a:gd name="f14" fmla="+- f8 0 f7"/>
                <a:gd name="f15" fmla="pin 0 f0 21600"/>
                <a:gd name="f16" fmla="pin 0 f1 10800"/>
                <a:gd name="f17" fmla="*/ f10 f2 1"/>
                <a:gd name="f18" fmla="*/ f11 f2 1"/>
                <a:gd name="f19" fmla="val f15"/>
                <a:gd name="f20" fmla="val f16"/>
                <a:gd name="f21" fmla="*/ f14 1 21600"/>
                <a:gd name="f22" fmla="*/ f15 f12 1"/>
                <a:gd name="f23" fmla="*/ f16 f13 1"/>
                <a:gd name="f24" fmla="*/ f17 1 f4"/>
                <a:gd name="f25" fmla="*/ f18 1 f4"/>
                <a:gd name="f26" fmla="+- 21600 0 f20"/>
                <a:gd name="f27" fmla="+- 21600 0 f19"/>
                <a:gd name="f28" fmla="*/ 0 f21 1"/>
                <a:gd name="f29" fmla="*/ 21600 f21 1"/>
                <a:gd name="f30" fmla="*/ f20 f13 1"/>
                <a:gd name="f31" fmla="*/ f19 f12 1"/>
                <a:gd name="f32" fmla="+- f24 0 f3"/>
                <a:gd name="f33" fmla="+- f25 0 f3"/>
                <a:gd name="f34" fmla="*/ f27 f20 1"/>
                <a:gd name="f35" fmla="*/ f28 1 f21"/>
                <a:gd name="f36" fmla="*/ f29 1 f21"/>
                <a:gd name="f37" fmla="*/ f26 f13 1"/>
                <a:gd name="f38" fmla="*/ f34 1 10800"/>
                <a:gd name="f39" fmla="*/ f35 f12 1"/>
                <a:gd name="f40" fmla="*/ f35 f13 1"/>
                <a:gd name="f41" fmla="*/ f36 f13 1"/>
                <a:gd name="f42" fmla="+- f19 f38 0"/>
                <a:gd name="f43" fmla="*/ f42 f12 1"/>
              </a:gdLst>
              <a:ahLst>
                <a:ahXY gdRefX="f0" minX="f7" maxX="f8" gdRefY="f1" minY="f7" maxY="f9">
                  <a:pos x="f22" y="f23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31" y="f40"/>
                </a:cxn>
                <a:cxn ang="f33">
                  <a:pos x="f31" y="f41"/>
                </a:cxn>
              </a:cxnLst>
              <a:rect l="f39" t="f30" r="f43" b="f37"/>
              <a:pathLst>
                <a:path w="21600" h="21600">
                  <a:moveTo>
                    <a:pt x="f7" y="f20"/>
                  </a:moveTo>
                  <a:lnTo>
                    <a:pt x="f19" y="f20"/>
                  </a:lnTo>
                  <a:lnTo>
                    <a:pt x="f19" y="f7"/>
                  </a:lnTo>
                  <a:lnTo>
                    <a:pt x="f8" y="f9"/>
                  </a:lnTo>
                  <a:lnTo>
                    <a:pt x="f19" y="f8"/>
                  </a:lnTo>
                  <a:lnTo>
                    <a:pt x="f19" y="f26"/>
                  </a:lnTo>
                  <a:lnTo>
                    <a:pt x="f7" y="f26"/>
                  </a:lnTo>
                  <a:close/>
                </a:path>
              </a:pathLst>
            </a:custGeom>
            <a:solidFill>
              <a:srgbClr val="104862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FFAB-1109-D661-CDCF-81FBB0669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 lIns="91440" rIns="91440">
            <a:normAutofit/>
          </a:bodyPr>
          <a:lstStyle/>
          <a:p>
            <a:pPr lvl="0"/>
            <a:r>
              <a:rPr lang="en-US">
                <a:solidFill>
                  <a:srgbClr val="000000"/>
                </a:solidFill>
                <a:latin typeface="Aptos Display"/>
              </a:rPr>
              <a:t>Features</a:t>
            </a:r>
          </a:p>
        </p:txBody>
      </p:sp>
      <p:grpSp>
        <p:nvGrpSpPr>
          <p:cNvPr id="3" name="Diagram 3">
            <a:extLst>
              <a:ext uri="{FF2B5EF4-FFF2-40B4-BE49-F238E27FC236}">
                <a16:creationId xmlns:a16="http://schemas.microsoft.com/office/drawing/2014/main" id="{533B2108-F68C-8F6D-2479-73EBC1863E39}"/>
              </a:ext>
            </a:extLst>
          </p:cNvPr>
          <p:cNvGrpSpPr/>
          <p:nvPr/>
        </p:nvGrpSpPr>
        <p:grpSpPr>
          <a:xfrm>
            <a:off x="515108" y="2620021"/>
            <a:ext cx="11154409" cy="1946949"/>
            <a:chOff x="515108" y="2620021"/>
            <a:chExt cx="11154409" cy="1946949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6DF707FB-EECA-7394-FE03-6E4327923EB8}"/>
                </a:ext>
              </a:extLst>
            </p:cNvPr>
            <p:cNvSpPr/>
            <p:nvPr/>
          </p:nvSpPr>
          <p:spPr>
            <a:xfrm>
              <a:off x="831491" y="2620021"/>
              <a:ext cx="989700" cy="9897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97132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Rectangle 4" descr="Team">
              <a:extLst>
                <a:ext uri="{FF2B5EF4-FFF2-40B4-BE49-F238E27FC236}">
                  <a16:creationId xmlns:a16="http://schemas.microsoft.com/office/drawing/2014/main" id="{A017ED8D-9DEB-D54B-4263-20EF6798DD89}"/>
                </a:ext>
              </a:extLst>
            </p:cNvPr>
            <p:cNvSpPr/>
            <p:nvPr/>
          </p:nvSpPr>
          <p:spPr>
            <a:xfrm>
              <a:off x="1042406" y="2830936"/>
              <a:ext cx="567860" cy="567860"/>
            </a:xfrm>
            <a:prstGeom prst="rect">
              <a:avLst/>
            </a:prstGeom>
            <a:blipFill>
              <a:blip r:embed="rId2">
                <a:alphaModFix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43E8ED4-5572-8249-5F1B-D06C51727F21}"/>
                </a:ext>
              </a:extLst>
            </p:cNvPr>
            <p:cNvSpPr/>
            <p:nvPr/>
          </p:nvSpPr>
          <p:spPr>
            <a:xfrm>
              <a:off x="515108" y="3917984"/>
              <a:ext cx="1622456" cy="6489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22460"/>
                <a:gd name="f7" fmla="val 648984"/>
                <a:gd name="f8" fmla="+- 0 0 -90"/>
                <a:gd name="f9" fmla="*/ f3 1 1622460"/>
                <a:gd name="f10" fmla="*/ f4 1 648984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622460"/>
                <a:gd name="f19" fmla="*/ f15 1 648984"/>
                <a:gd name="f20" fmla="*/ 0 f16 1"/>
                <a:gd name="f21" fmla="*/ 0 f15 1"/>
                <a:gd name="f22" fmla="*/ 1622460 f16 1"/>
                <a:gd name="f23" fmla="*/ 648984 f15 1"/>
                <a:gd name="f24" fmla="+- f17 0 f1"/>
                <a:gd name="f25" fmla="*/ f20 1 1622460"/>
                <a:gd name="f26" fmla="*/ f21 1 648984"/>
                <a:gd name="f27" fmla="*/ f22 1 1622460"/>
                <a:gd name="f28" fmla="*/ f23 1 648984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622460" h="648984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7556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700" b="0" i="0" u="none" strike="noStrike" kern="1200" cap="all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Mobilization</a:t>
              </a:r>
              <a:endParaRPr kumimoji="0" lang="en-IN" sz="1700" b="0" i="0" u="none" strike="noStrike" kern="1200" cap="all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9B9FAE1-D843-92AF-63FE-B75F097ABE60}"/>
                </a:ext>
              </a:extLst>
            </p:cNvPr>
            <p:cNvSpPr/>
            <p:nvPr/>
          </p:nvSpPr>
          <p:spPr>
            <a:xfrm>
              <a:off x="2737878" y="2620021"/>
              <a:ext cx="989700" cy="9897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196B24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Rectangle 7" descr="Check List">
              <a:extLst>
                <a:ext uri="{FF2B5EF4-FFF2-40B4-BE49-F238E27FC236}">
                  <a16:creationId xmlns:a16="http://schemas.microsoft.com/office/drawing/2014/main" id="{2DAB2E58-940A-3942-1D08-F866D8A0CCAE}"/>
                </a:ext>
              </a:extLst>
            </p:cNvPr>
            <p:cNvSpPr/>
            <p:nvPr/>
          </p:nvSpPr>
          <p:spPr>
            <a:xfrm>
              <a:off x="2948793" y="2830936"/>
              <a:ext cx="567860" cy="567860"/>
            </a:xfrm>
            <a:prstGeom prst="rect">
              <a:avLst/>
            </a:prstGeom>
            <a:blipFill>
              <a:blip r:embed="rId4">
                <a:alphaModFix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D0B1AC1-EC79-D48F-6915-148937A1D188}"/>
                </a:ext>
              </a:extLst>
            </p:cNvPr>
            <p:cNvSpPr/>
            <p:nvPr/>
          </p:nvSpPr>
          <p:spPr>
            <a:xfrm>
              <a:off x="2421495" y="3917984"/>
              <a:ext cx="1622456" cy="6489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22460"/>
                <a:gd name="f7" fmla="val 648984"/>
                <a:gd name="f8" fmla="+- 0 0 -90"/>
                <a:gd name="f9" fmla="*/ f3 1 1622460"/>
                <a:gd name="f10" fmla="*/ f4 1 648984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622460"/>
                <a:gd name="f19" fmla="*/ f15 1 648984"/>
                <a:gd name="f20" fmla="*/ 0 f16 1"/>
                <a:gd name="f21" fmla="*/ 0 f15 1"/>
                <a:gd name="f22" fmla="*/ 1622460 f16 1"/>
                <a:gd name="f23" fmla="*/ 648984 f15 1"/>
                <a:gd name="f24" fmla="+- f17 0 f1"/>
                <a:gd name="f25" fmla="*/ f20 1 1622460"/>
                <a:gd name="f26" fmla="*/ f21 1 648984"/>
                <a:gd name="f27" fmla="*/ f22 1 1622460"/>
                <a:gd name="f28" fmla="*/ f23 1 648984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622460" h="648984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7556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700" b="0" i="0" u="none" strike="noStrike" kern="1200" cap="all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Screening</a:t>
              </a:r>
              <a:endParaRPr kumimoji="0" lang="en-IN" sz="1700" b="0" i="0" u="none" strike="noStrike" kern="1200" cap="all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F770F3E-BD55-93A6-AF18-D19676EB1E3A}"/>
                </a:ext>
              </a:extLst>
            </p:cNvPr>
            <p:cNvSpPr/>
            <p:nvPr/>
          </p:nvSpPr>
          <p:spPr>
            <a:xfrm>
              <a:off x="4644274" y="2620021"/>
              <a:ext cx="989700" cy="9897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0F9ED5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 descr="Magnifying glass">
              <a:extLst>
                <a:ext uri="{FF2B5EF4-FFF2-40B4-BE49-F238E27FC236}">
                  <a16:creationId xmlns:a16="http://schemas.microsoft.com/office/drawing/2014/main" id="{D7EEF940-2C39-5A01-269C-EA67CF14B9E9}"/>
                </a:ext>
              </a:extLst>
            </p:cNvPr>
            <p:cNvSpPr/>
            <p:nvPr/>
          </p:nvSpPr>
          <p:spPr>
            <a:xfrm>
              <a:off x="4855189" y="2830936"/>
              <a:ext cx="567860" cy="567860"/>
            </a:xfrm>
            <a:prstGeom prst="rect">
              <a:avLst/>
            </a:prstGeom>
            <a:blipFill>
              <a:blip r:embed="rId6">
                <a:alphaModFix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9822F21-ED47-CC57-2786-C8779F91159C}"/>
                </a:ext>
              </a:extLst>
            </p:cNvPr>
            <p:cNvSpPr/>
            <p:nvPr/>
          </p:nvSpPr>
          <p:spPr>
            <a:xfrm>
              <a:off x="4327891" y="3917984"/>
              <a:ext cx="1622456" cy="6489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22460"/>
                <a:gd name="f7" fmla="val 648984"/>
                <a:gd name="f8" fmla="+- 0 0 -90"/>
                <a:gd name="f9" fmla="*/ f3 1 1622460"/>
                <a:gd name="f10" fmla="*/ f4 1 648984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622460"/>
                <a:gd name="f19" fmla="*/ f15 1 648984"/>
                <a:gd name="f20" fmla="*/ 0 f16 1"/>
                <a:gd name="f21" fmla="*/ 0 f15 1"/>
                <a:gd name="f22" fmla="*/ 1622460 f16 1"/>
                <a:gd name="f23" fmla="*/ 648984 f15 1"/>
                <a:gd name="f24" fmla="+- f17 0 f1"/>
                <a:gd name="f25" fmla="*/ f20 1 1622460"/>
                <a:gd name="f26" fmla="*/ f21 1 648984"/>
                <a:gd name="f27" fmla="*/ f22 1 1622460"/>
                <a:gd name="f28" fmla="*/ f23 1 648984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622460" h="648984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7556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700" b="0" i="0" u="none" strike="noStrike" kern="1200" cap="all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HRP Identification</a:t>
              </a:r>
              <a:endParaRPr kumimoji="0" lang="en-IN" sz="1700" b="0" i="0" u="none" strike="noStrike" kern="1200" cap="all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B2322A2-BAC0-ABF8-910B-7D884C7608E0}"/>
                </a:ext>
              </a:extLst>
            </p:cNvPr>
            <p:cNvSpPr/>
            <p:nvPr/>
          </p:nvSpPr>
          <p:spPr>
            <a:xfrm>
              <a:off x="6550661" y="2620021"/>
              <a:ext cx="989700" cy="9897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A02B93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 13" descr="Laptop">
              <a:extLst>
                <a:ext uri="{FF2B5EF4-FFF2-40B4-BE49-F238E27FC236}">
                  <a16:creationId xmlns:a16="http://schemas.microsoft.com/office/drawing/2014/main" id="{ABCA965A-8D70-8D65-81E9-F0E624A10C91}"/>
                </a:ext>
              </a:extLst>
            </p:cNvPr>
            <p:cNvSpPr/>
            <p:nvPr/>
          </p:nvSpPr>
          <p:spPr>
            <a:xfrm>
              <a:off x="6761585" y="2830936"/>
              <a:ext cx="567860" cy="567860"/>
            </a:xfrm>
            <a:prstGeom prst="rect">
              <a:avLst/>
            </a:pr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7FCAB1C-F6F4-A8FD-BC26-5D8FD3476191}"/>
                </a:ext>
              </a:extLst>
            </p:cNvPr>
            <p:cNvSpPr/>
            <p:nvPr/>
          </p:nvSpPr>
          <p:spPr>
            <a:xfrm>
              <a:off x="6234278" y="3917984"/>
              <a:ext cx="1622456" cy="6489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22460"/>
                <a:gd name="f7" fmla="val 648984"/>
                <a:gd name="f8" fmla="+- 0 0 -90"/>
                <a:gd name="f9" fmla="*/ f3 1 1622460"/>
                <a:gd name="f10" fmla="*/ f4 1 648984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622460"/>
                <a:gd name="f19" fmla="*/ f15 1 648984"/>
                <a:gd name="f20" fmla="*/ 0 f16 1"/>
                <a:gd name="f21" fmla="*/ 0 f15 1"/>
                <a:gd name="f22" fmla="*/ 1622460 f16 1"/>
                <a:gd name="f23" fmla="*/ 648984 f15 1"/>
                <a:gd name="f24" fmla="+- f17 0 f1"/>
                <a:gd name="f25" fmla="*/ f20 1 1622460"/>
                <a:gd name="f26" fmla="*/ f21 1 648984"/>
                <a:gd name="f27" fmla="*/ f22 1 1622460"/>
                <a:gd name="f28" fmla="*/ f23 1 648984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622460" h="648984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7556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700" b="0" i="0" u="none" strike="noStrike" kern="1200" cap="all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PMSMA Portal</a:t>
              </a:r>
              <a:endParaRPr kumimoji="0" lang="en-IN" sz="1700" b="0" i="0" u="none" strike="noStrike" kern="1200" cap="all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41D99B-9D33-654F-259F-C0E965F1B775}"/>
                </a:ext>
              </a:extLst>
            </p:cNvPr>
            <p:cNvSpPr/>
            <p:nvPr/>
          </p:nvSpPr>
          <p:spPr>
            <a:xfrm>
              <a:off x="8457056" y="2620021"/>
              <a:ext cx="989700" cy="9897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4EA72E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 16" descr="Hierarchy">
              <a:extLst>
                <a:ext uri="{FF2B5EF4-FFF2-40B4-BE49-F238E27FC236}">
                  <a16:creationId xmlns:a16="http://schemas.microsoft.com/office/drawing/2014/main" id="{38A92645-0EFD-5483-7FF9-979BF022262E}"/>
                </a:ext>
              </a:extLst>
            </p:cNvPr>
            <p:cNvSpPr/>
            <p:nvPr/>
          </p:nvSpPr>
          <p:spPr>
            <a:xfrm>
              <a:off x="8667972" y="2830936"/>
              <a:ext cx="567860" cy="567860"/>
            </a:xfrm>
            <a:prstGeom prst="rect">
              <a:avLst/>
            </a:prstGeom>
            <a:blipFill>
              <a:blip r:embed="rId10">
                <a:alphaModFix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67F530-8A58-DA30-A1BA-C3071570AFEB}"/>
                </a:ext>
              </a:extLst>
            </p:cNvPr>
            <p:cNvSpPr/>
            <p:nvPr/>
          </p:nvSpPr>
          <p:spPr>
            <a:xfrm>
              <a:off x="8140674" y="3917984"/>
              <a:ext cx="1622456" cy="6489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22460"/>
                <a:gd name="f7" fmla="val 648984"/>
                <a:gd name="f8" fmla="+- 0 0 -90"/>
                <a:gd name="f9" fmla="*/ f3 1 1622460"/>
                <a:gd name="f10" fmla="*/ f4 1 648984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622460"/>
                <a:gd name="f19" fmla="*/ f15 1 648984"/>
                <a:gd name="f20" fmla="*/ 0 f16 1"/>
                <a:gd name="f21" fmla="*/ 0 f15 1"/>
                <a:gd name="f22" fmla="*/ 1622460 f16 1"/>
                <a:gd name="f23" fmla="*/ 648984 f15 1"/>
                <a:gd name="f24" fmla="+- f17 0 f1"/>
                <a:gd name="f25" fmla="*/ f20 1 1622460"/>
                <a:gd name="f26" fmla="*/ f21 1 648984"/>
                <a:gd name="f27" fmla="*/ f22 1 1622460"/>
                <a:gd name="f28" fmla="*/ f23 1 648984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622460" h="648984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7556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700" b="0" i="0" u="none" strike="noStrike" kern="1200" cap="all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Tracking of HRP</a:t>
              </a:r>
              <a:endParaRPr kumimoji="0" lang="en-IN" sz="1700" b="0" i="0" u="none" strike="noStrike" kern="1200" cap="all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05973A3-B33C-13CA-3CBE-7E578D54E777}"/>
                </a:ext>
              </a:extLst>
            </p:cNvPr>
            <p:cNvSpPr/>
            <p:nvPr/>
          </p:nvSpPr>
          <p:spPr>
            <a:xfrm>
              <a:off x="10363443" y="2620021"/>
              <a:ext cx="989700" cy="98970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97132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Rectangle 19" descr="Users">
              <a:extLst>
                <a:ext uri="{FF2B5EF4-FFF2-40B4-BE49-F238E27FC236}">
                  <a16:creationId xmlns:a16="http://schemas.microsoft.com/office/drawing/2014/main" id="{9A5B124B-3F72-63CE-6A50-D0FCFA48F4F2}"/>
                </a:ext>
              </a:extLst>
            </p:cNvPr>
            <p:cNvSpPr/>
            <p:nvPr/>
          </p:nvSpPr>
          <p:spPr>
            <a:xfrm>
              <a:off x="10574368" y="2830936"/>
              <a:ext cx="567860" cy="567860"/>
            </a:xfrm>
            <a:prstGeom prst="rect">
              <a:avLst/>
            </a:prstGeom>
            <a:blipFill>
              <a:blip r:embed="rId12">
                <a:alphaModFix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12A5D4D-F1F7-BB75-EA04-0CBEDDFC41DC}"/>
                </a:ext>
              </a:extLst>
            </p:cNvPr>
            <p:cNvSpPr/>
            <p:nvPr/>
          </p:nvSpPr>
          <p:spPr>
            <a:xfrm>
              <a:off x="10047061" y="3917984"/>
              <a:ext cx="1622456" cy="6489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22460"/>
                <a:gd name="f7" fmla="val 648984"/>
                <a:gd name="f8" fmla="+- 0 0 -90"/>
                <a:gd name="f9" fmla="*/ f3 1 1622460"/>
                <a:gd name="f10" fmla="*/ f4 1 648984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622460"/>
                <a:gd name="f19" fmla="*/ f15 1 648984"/>
                <a:gd name="f20" fmla="*/ 0 f16 1"/>
                <a:gd name="f21" fmla="*/ 0 f15 1"/>
                <a:gd name="f22" fmla="*/ 1622460 f16 1"/>
                <a:gd name="f23" fmla="*/ 648984 f15 1"/>
                <a:gd name="f24" fmla="+- f17 0 f1"/>
                <a:gd name="f25" fmla="*/ f20 1 1622460"/>
                <a:gd name="f26" fmla="*/ f21 1 648984"/>
                <a:gd name="f27" fmla="*/ f22 1 1622460"/>
                <a:gd name="f28" fmla="*/ f23 1 648984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622460" h="648984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7556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700" b="0" i="0" u="none" strike="noStrike" kern="1200" cap="all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Management of HRP</a:t>
              </a:r>
              <a:endParaRPr kumimoji="0" lang="en-IN" sz="1700" b="0" i="0" u="none" strike="noStrike" kern="1200" cap="all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EC7E-8935-C5AA-E569-F91B448C1C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1208" y="978408"/>
            <a:ext cx="3154679" cy="4069080"/>
          </a:xfrm>
        </p:spPr>
        <p:txBody>
          <a:bodyPr>
            <a:normAutofit/>
          </a:bodyPr>
          <a:lstStyle/>
          <a:p>
            <a:pPr lvl="0"/>
            <a:r>
              <a:rPr lang="en-US" sz="4000"/>
              <a:t>Financial Support</a:t>
            </a:r>
            <a:endParaRPr lang="en-IN" sz="4000"/>
          </a:p>
        </p:txBody>
      </p:sp>
      <p:grpSp>
        <p:nvGrpSpPr>
          <p:cNvPr id="3" name="Content Placeholder 2">
            <a:extLst>
              <a:ext uri="{FF2B5EF4-FFF2-40B4-BE49-F238E27FC236}">
                <a16:creationId xmlns:a16="http://schemas.microsoft.com/office/drawing/2014/main" id="{0AA25972-BC87-3BBF-2B34-BD8D9DD950CB}"/>
              </a:ext>
            </a:extLst>
          </p:cNvPr>
          <p:cNvGrpSpPr/>
          <p:nvPr/>
        </p:nvGrpSpPr>
        <p:grpSpPr>
          <a:xfrm>
            <a:off x="4187952" y="996037"/>
            <a:ext cx="7488936" cy="5204252"/>
            <a:chOff x="4187952" y="996037"/>
            <a:chExt cx="7488936" cy="520425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A856BE6-690F-BF6A-72F3-CCA6CBDA59D8}"/>
                </a:ext>
              </a:extLst>
            </p:cNvPr>
            <p:cNvSpPr/>
            <p:nvPr/>
          </p:nvSpPr>
          <p:spPr>
            <a:xfrm>
              <a:off x="4187952" y="1365034"/>
              <a:ext cx="7488936" cy="29137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488936"/>
                <a:gd name="f7" fmla="val 2913750"/>
                <a:gd name="f8" fmla="+- 0 0 -90"/>
                <a:gd name="f9" fmla="*/ f3 1 7488936"/>
                <a:gd name="f10" fmla="*/ f4 1 291375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488936"/>
                <a:gd name="f19" fmla="*/ f15 1 2913750"/>
                <a:gd name="f20" fmla="*/ 0 f16 1"/>
                <a:gd name="f21" fmla="*/ 0 f15 1"/>
                <a:gd name="f22" fmla="*/ 7488936 f16 1"/>
                <a:gd name="f23" fmla="*/ 2913750 f15 1"/>
                <a:gd name="f24" fmla="+- f17 0 f1"/>
                <a:gd name="f25" fmla="*/ f20 1 7488936"/>
                <a:gd name="f26" fmla="*/ f21 1 2913750"/>
                <a:gd name="f27" fmla="*/ f22 1 7488936"/>
                <a:gd name="f28" fmla="*/ f23 1 291375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488936" h="291375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9046" cap="flat">
              <a:solidFill>
                <a:srgbClr val="E97132"/>
              </a:solidFill>
              <a:prstDash val="solid"/>
              <a:miter/>
            </a:ln>
          </p:spPr>
          <p:txBody>
            <a:bodyPr vert="horz" wrap="square" lIns="581229" tIns="520695" rIns="581229" bIns="177795" anchor="t" anchorCtr="0" compatLnSpc="1">
              <a:noAutofit/>
            </a:bodyPr>
            <a:lstStyle/>
            <a:p>
              <a:pPr marL="228600" marR="0" lvl="1" indent="-228600" algn="l" defTabSz="111125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2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Mobilization Support to ASHA on PMSMA Rs. 100/-</a:t>
              </a:r>
            </a:p>
            <a:p>
              <a:pPr marL="228600" marR="0" lvl="1" indent="-228600" algn="l" defTabSz="111125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2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HRP Mobilization support to ASHA  RS.100/- for maximum 3 visit (Rs. 300/-)</a:t>
              </a:r>
            </a:p>
            <a:p>
              <a:pPr marL="228600" marR="0" lvl="1" indent="-228600" algn="l" defTabSz="111125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2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Positive Outcome of Mother and child on 42 days Rs. 500/- Per High Risk pregnancy</a:t>
              </a: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150E585-A0F5-CF27-BC72-5995353693B6}"/>
                </a:ext>
              </a:extLst>
            </p:cNvPr>
            <p:cNvSpPr/>
            <p:nvPr/>
          </p:nvSpPr>
          <p:spPr>
            <a:xfrm>
              <a:off x="4562398" y="996037"/>
              <a:ext cx="5242255" cy="7380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242255"/>
                <a:gd name="f7" fmla="val 738000"/>
                <a:gd name="f8" fmla="val 123002"/>
                <a:gd name="f9" fmla="val 55070"/>
                <a:gd name="f10" fmla="val 5119253"/>
                <a:gd name="f11" fmla="val 5187185"/>
                <a:gd name="f12" fmla="val 614998"/>
                <a:gd name="f13" fmla="val 682930"/>
                <a:gd name="f14" fmla="+- 0 0 -90"/>
                <a:gd name="f15" fmla="*/ f3 1 5242255"/>
                <a:gd name="f16" fmla="*/ f4 1 73800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5242255"/>
                <a:gd name="f25" fmla="*/ f21 1 738000"/>
                <a:gd name="f26" fmla="*/ 0 f22 1"/>
                <a:gd name="f27" fmla="*/ 123002 f21 1"/>
                <a:gd name="f28" fmla="*/ 123002 f22 1"/>
                <a:gd name="f29" fmla="*/ 0 f21 1"/>
                <a:gd name="f30" fmla="*/ 5119253 f22 1"/>
                <a:gd name="f31" fmla="*/ 5242255 f22 1"/>
                <a:gd name="f32" fmla="*/ 614998 f21 1"/>
                <a:gd name="f33" fmla="*/ 738000 f21 1"/>
                <a:gd name="f34" fmla="+- f23 0 f1"/>
                <a:gd name="f35" fmla="*/ f26 1 5242255"/>
                <a:gd name="f36" fmla="*/ f27 1 738000"/>
                <a:gd name="f37" fmla="*/ f28 1 5242255"/>
                <a:gd name="f38" fmla="*/ f29 1 738000"/>
                <a:gd name="f39" fmla="*/ f30 1 5242255"/>
                <a:gd name="f40" fmla="*/ f31 1 5242255"/>
                <a:gd name="f41" fmla="*/ f32 1 738000"/>
                <a:gd name="f42" fmla="*/ f33 1 73800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5242255" h="73800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E97132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34168" tIns="36027" rIns="234168" bIns="36027" anchor="ctr" anchorCtr="0" compatLnSpc="1">
              <a:noAutofit/>
            </a:bodyPr>
            <a:lstStyle/>
            <a:p>
              <a:pPr marL="0" marR="0" lvl="0" indent="0" algn="l" defTabSz="111125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1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25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ASHA :</a:t>
              </a: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8345204-2202-B84C-B2C9-D4959E321F5E}"/>
                </a:ext>
              </a:extLst>
            </p:cNvPr>
            <p:cNvSpPr/>
            <p:nvPr/>
          </p:nvSpPr>
          <p:spPr>
            <a:xfrm>
              <a:off x="4187952" y="4782787"/>
              <a:ext cx="7488936" cy="141750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488936"/>
                <a:gd name="f7" fmla="val 1417500"/>
                <a:gd name="f8" fmla="+- 0 0 -90"/>
                <a:gd name="f9" fmla="*/ f3 1 7488936"/>
                <a:gd name="f10" fmla="*/ f4 1 141750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488936"/>
                <a:gd name="f19" fmla="*/ f15 1 1417500"/>
                <a:gd name="f20" fmla="*/ 0 f16 1"/>
                <a:gd name="f21" fmla="*/ 0 f15 1"/>
                <a:gd name="f22" fmla="*/ 7488936 f16 1"/>
                <a:gd name="f23" fmla="*/ 1417500 f15 1"/>
                <a:gd name="f24" fmla="+- f17 0 f1"/>
                <a:gd name="f25" fmla="*/ f20 1 7488936"/>
                <a:gd name="f26" fmla="*/ f21 1 1417500"/>
                <a:gd name="f27" fmla="*/ f22 1 7488936"/>
                <a:gd name="f28" fmla="*/ f23 1 141750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488936" h="14175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9046" cap="flat">
              <a:solidFill>
                <a:srgbClr val="196B24"/>
              </a:solidFill>
              <a:prstDash val="solid"/>
              <a:miter/>
            </a:ln>
          </p:spPr>
          <p:txBody>
            <a:bodyPr vert="horz" wrap="square" lIns="581229" tIns="520695" rIns="581229" bIns="177795" anchor="t" anchorCtr="0" compatLnSpc="1">
              <a:noAutofit/>
            </a:bodyPr>
            <a:lstStyle/>
            <a:p>
              <a:pPr marL="228600" marR="0" lvl="1" indent="-228600" algn="l" defTabSz="111125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2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HRP transport support to PW   RS.100/- for maximum 3 visit (Rs. 300/-)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D14AEBD-B52A-5B5C-2C1B-B9DA0A26938A}"/>
                </a:ext>
              </a:extLst>
            </p:cNvPr>
            <p:cNvSpPr/>
            <p:nvPr/>
          </p:nvSpPr>
          <p:spPr>
            <a:xfrm>
              <a:off x="4562398" y="4413790"/>
              <a:ext cx="5242255" cy="7380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242255"/>
                <a:gd name="f7" fmla="val 738000"/>
                <a:gd name="f8" fmla="val 123002"/>
                <a:gd name="f9" fmla="val 55070"/>
                <a:gd name="f10" fmla="val 5119253"/>
                <a:gd name="f11" fmla="val 5187185"/>
                <a:gd name="f12" fmla="val 614998"/>
                <a:gd name="f13" fmla="val 682930"/>
                <a:gd name="f14" fmla="+- 0 0 -90"/>
                <a:gd name="f15" fmla="*/ f3 1 5242255"/>
                <a:gd name="f16" fmla="*/ f4 1 73800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5242255"/>
                <a:gd name="f25" fmla="*/ f21 1 738000"/>
                <a:gd name="f26" fmla="*/ 0 f22 1"/>
                <a:gd name="f27" fmla="*/ 123002 f21 1"/>
                <a:gd name="f28" fmla="*/ 123002 f22 1"/>
                <a:gd name="f29" fmla="*/ 0 f21 1"/>
                <a:gd name="f30" fmla="*/ 5119253 f22 1"/>
                <a:gd name="f31" fmla="*/ 5242255 f22 1"/>
                <a:gd name="f32" fmla="*/ 614998 f21 1"/>
                <a:gd name="f33" fmla="*/ 738000 f21 1"/>
                <a:gd name="f34" fmla="+- f23 0 f1"/>
                <a:gd name="f35" fmla="*/ f26 1 5242255"/>
                <a:gd name="f36" fmla="*/ f27 1 738000"/>
                <a:gd name="f37" fmla="*/ f28 1 5242255"/>
                <a:gd name="f38" fmla="*/ f29 1 738000"/>
                <a:gd name="f39" fmla="*/ f30 1 5242255"/>
                <a:gd name="f40" fmla="*/ f31 1 5242255"/>
                <a:gd name="f41" fmla="*/ f32 1 738000"/>
                <a:gd name="f42" fmla="*/ f33 1 73800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5242255" h="73800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196B24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34168" tIns="36027" rIns="234168" bIns="36027" anchor="ctr" anchorCtr="0" compatLnSpc="1">
              <a:noAutofit/>
            </a:bodyPr>
            <a:lstStyle/>
            <a:p>
              <a:pPr marL="0" marR="0" lvl="0" indent="0" algn="l" defTabSz="111125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1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25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Beneficiary:</a:t>
              </a:r>
              <a:endParaRPr kumimoji="0" lang="en-US" sz="2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pic>
        <p:nvPicPr>
          <p:cNvPr id="8" name="Picture 3">
            <a:extLst>
              <a:ext uri="{FF2B5EF4-FFF2-40B4-BE49-F238E27FC236}">
                <a16:creationId xmlns:a16="http://schemas.microsoft.com/office/drawing/2014/main" id="{5994C42F-B2FD-1D6F-782C-A2D4C8B4C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4" t="40813" r="77606" b="28781"/>
          <a:stretch>
            <a:fillRect/>
          </a:stretch>
        </p:blipFill>
        <p:spPr>
          <a:xfrm>
            <a:off x="2215856" y="2341760"/>
            <a:ext cx="1951466" cy="163922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4A505928-0603-17F5-27AD-CB040B67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673" t="40488" r="24273" b="27967"/>
          <a:stretch>
            <a:fillRect/>
          </a:stretch>
        </p:blipFill>
        <p:spPr>
          <a:xfrm>
            <a:off x="1951466" y="4337822"/>
            <a:ext cx="2062977" cy="216333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0BB3-2AE0-0475-7DEF-75012D9DF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1208" y="978408"/>
            <a:ext cx="3154679" cy="4069080"/>
          </a:xfrm>
        </p:spPr>
        <p:txBody>
          <a:bodyPr>
            <a:normAutofit/>
          </a:bodyPr>
          <a:lstStyle/>
          <a:p>
            <a:pPr lvl="0"/>
            <a:r>
              <a:rPr lang="en-US" sz="4000"/>
              <a:t>Non-Negotiable Component</a:t>
            </a:r>
            <a:endParaRPr lang="en-IN" sz="4000"/>
          </a:p>
        </p:txBody>
      </p:sp>
      <p:grpSp>
        <p:nvGrpSpPr>
          <p:cNvPr id="3" name="Content Placeholder 2">
            <a:extLst>
              <a:ext uri="{FF2B5EF4-FFF2-40B4-BE49-F238E27FC236}">
                <a16:creationId xmlns:a16="http://schemas.microsoft.com/office/drawing/2014/main" id="{0A689CC1-6194-FC05-892C-B1515E5BAF1D}"/>
              </a:ext>
            </a:extLst>
          </p:cNvPr>
          <p:cNvGrpSpPr/>
          <p:nvPr/>
        </p:nvGrpSpPr>
        <p:grpSpPr>
          <a:xfrm>
            <a:off x="4389120" y="980849"/>
            <a:ext cx="7306056" cy="5006020"/>
            <a:chOff x="4389120" y="980849"/>
            <a:chExt cx="7306056" cy="500602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63C0280-E11F-D8BF-F61E-34B22F8F8C31}"/>
                </a:ext>
              </a:extLst>
            </p:cNvPr>
            <p:cNvSpPr/>
            <p:nvPr/>
          </p:nvSpPr>
          <p:spPr>
            <a:xfrm>
              <a:off x="4389120" y="980849"/>
              <a:ext cx="730605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9046" cap="flat">
              <a:solidFill>
                <a:srgbClr val="E97132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729EB7D-2586-B3D6-FC94-481F9862B42F}"/>
                </a:ext>
              </a:extLst>
            </p:cNvPr>
            <p:cNvSpPr/>
            <p:nvPr/>
          </p:nvSpPr>
          <p:spPr>
            <a:xfrm>
              <a:off x="4389120" y="980849"/>
              <a:ext cx="7306056" cy="8343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06056"/>
                <a:gd name="f7" fmla="val 834336"/>
                <a:gd name="f8" fmla="+- 0 0 -90"/>
                <a:gd name="f9" fmla="*/ f3 1 7306056"/>
                <a:gd name="f10" fmla="*/ f4 1 834336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306056"/>
                <a:gd name="f19" fmla="*/ f15 1 834336"/>
                <a:gd name="f20" fmla="*/ 0 f16 1"/>
                <a:gd name="f21" fmla="*/ 0 f15 1"/>
                <a:gd name="f22" fmla="*/ 7306056 f16 1"/>
                <a:gd name="f23" fmla="*/ 834336 f15 1"/>
                <a:gd name="f24" fmla="+- f17 0 f1"/>
                <a:gd name="f25" fmla="*/ f20 1 7306056"/>
                <a:gd name="f26" fmla="*/ f21 1 834336"/>
                <a:gd name="f27" fmla="*/ f22 1 7306056"/>
                <a:gd name="f28" fmla="*/ f23 1 834336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306056" h="83433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3823" tIns="83823" rIns="83823" bIns="83823" anchor="t" anchorCtr="0" compatLnSpc="1">
              <a:noAutofit/>
            </a:bodyPr>
            <a:lstStyle/>
            <a:p>
              <a:pPr marL="0" marR="0" lvl="0" indent="0" algn="l" defTabSz="977895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Availbility of Specialist (Obs &amp; Gyn)/ BEmONC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21C466A-0FB5-F2E4-F06F-AE4097DE77C3}"/>
                </a:ext>
              </a:extLst>
            </p:cNvPr>
            <p:cNvSpPr/>
            <p:nvPr/>
          </p:nvSpPr>
          <p:spPr>
            <a:xfrm>
              <a:off x="4389120" y="1815193"/>
              <a:ext cx="730605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9046" cap="flat">
              <a:solidFill>
                <a:srgbClr val="E0A61D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CB24E47-994F-702D-175D-52F028AF71D1}"/>
                </a:ext>
              </a:extLst>
            </p:cNvPr>
            <p:cNvSpPr/>
            <p:nvPr/>
          </p:nvSpPr>
          <p:spPr>
            <a:xfrm>
              <a:off x="4389120" y="1815193"/>
              <a:ext cx="7306056" cy="8343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06056"/>
                <a:gd name="f7" fmla="val 834336"/>
                <a:gd name="f8" fmla="+- 0 0 -90"/>
                <a:gd name="f9" fmla="*/ f3 1 7306056"/>
                <a:gd name="f10" fmla="*/ f4 1 834336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306056"/>
                <a:gd name="f19" fmla="*/ f15 1 834336"/>
                <a:gd name="f20" fmla="*/ 0 f16 1"/>
                <a:gd name="f21" fmla="*/ 0 f15 1"/>
                <a:gd name="f22" fmla="*/ 7306056 f16 1"/>
                <a:gd name="f23" fmla="*/ 834336 f15 1"/>
                <a:gd name="f24" fmla="+- f17 0 f1"/>
                <a:gd name="f25" fmla="*/ f20 1 7306056"/>
                <a:gd name="f26" fmla="*/ f21 1 834336"/>
                <a:gd name="f27" fmla="*/ f22 1 7306056"/>
                <a:gd name="f28" fmla="*/ f23 1 834336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306056" h="83433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3823" tIns="83823" rIns="83823" bIns="83823" anchor="t" anchorCtr="0" compatLnSpc="1">
              <a:noAutofit/>
            </a:bodyPr>
            <a:lstStyle/>
            <a:p>
              <a:pPr marL="0" marR="0" lvl="0" indent="0" algn="l" defTabSz="977895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History Taking (All the History as per MCP card)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DF5C03-2284-9739-E58D-0DDFF7B134AE}"/>
                </a:ext>
              </a:extLst>
            </p:cNvPr>
            <p:cNvSpPr/>
            <p:nvPr/>
          </p:nvSpPr>
          <p:spPr>
            <a:xfrm>
              <a:off x="4389120" y="2649528"/>
              <a:ext cx="730605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9046" cap="flat">
              <a:solidFill>
                <a:srgbClr val="B7C11E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39EBF29-860C-6CF2-6F0D-69989660D195}"/>
                </a:ext>
              </a:extLst>
            </p:cNvPr>
            <p:cNvSpPr/>
            <p:nvPr/>
          </p:nvSpPr>
          <p:spPr>
            <a:xfrm>
              <a:off x="4389120" y="2649528"/>
              <a:ext cx="7306056" cy="8343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06056"/>
                <a:gd name="f7" fmla="val 834336"/>
                <a:gd name="f8" fmla="+- 0 0 -90"/>
                <a:gd name="f9" fmla="*/ f3 1 7306056"/>
                <a:gd name="f10" fmla="*/ f4 1 834336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306056"/>
                <a:gd name="f19" fmla="*/ f15 1 834336"/>
                <a:gd name="f20" fmla="*/ 0 f16 1"/>
                <a:gd name="f21" fmla="*/ 0 f15 1"/>
                <a:gd name="f22" fmla="*/ 7306056 f16 1"/>
                <a:gd name="f23" fmla="*/ 834336 f15 1"/>
                <a:gd name="f24" fmla="+- f17 0 f1"/>
                <a:gd name="f25" fmla="*/ f20 1 7306056"/>
                <a:gd name="f26" fmla="*/ f21 1 834336"/>
                <a:gd name="f27" fmla="*/ f22 1 7306056"/>
                <a:gd name="f28" fmla="*/ f23 1 834336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306056" h="83433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3823" tIns="83823" rIns="83823" bIns="83823" anchor="t" anchorCtr="0" compatLnSpc="1">
              <a:noAutofit/>
            </a:bodyPr>
            <a:lstStyle/>
            <a:p>
              <a:pPr marL="0" marR="0" lvl="0" indent="0" algn="l" defTabSz="977895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Investigations ( Hemoglobin, Urine albumin &amp; Sugar, OGTT, Rapid malaria Test, CBC, Blood grouping, TSH &amp; SCD)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CFE627B-09AB-67E4-E36D-1705A28CBDD1}"/>
                </a:ext>
              </a:extLst>
            </p:cNvPr>
            <p:cNvSpPr/>
            <p:nvPr/>
          </p:nvSpPr>
          <p:spPr>
            <a:xfrm>
              <a:off x="4389120" y="3483863"/>
              <a:ext cx="730605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9046" cap="flat">
              <a:solidFill>
                <a:srgbClr val="6BA31D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AACDEE6-4EF2-3AC4-136A-A2E93C6B9862}"/>
                </a:ext>
              </a:extLst>
            </p:cNvPr>
            <p:cNvSpPr/>
            <p:nvPr/>
          </p:nvSpPr>
          <p:spPr>
            <a:xfrm>
              <a:off x="4389120" y="3483863"/>
              <a:ext cx="7306056" cy="8343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06056"/>
                <a:gd name="f7" fmla="val 834336"/>
                <a:gd name="f8" fmla="+- 0 0 -90"/>
                <a:gd name="f9" fmla="*/ f3 1 7306056"/>
                <a:gd name="f10" fmla="*/ f4 1 834336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306056"/>
                <a:gd name="f19" fmla="*/ f15 1 834336"/>
                <a:gd name="f20" fmla="*/ 0 f16 1"/>
                <a:gd name="f21" fmla="*/ 0 f15 1"/>
                <a:gd name="f22" fmla="*/ 7306056 f16 1"/>
                <a:gd name="f23" fmla="*/ 834336 f15 1"/>
                <a:gd name="f24" fmla="+- f17 0 f1"/>
                <a:gd name="f25" fmla="*/ f20 1 7306056"/>
                <a:gd name="f26" fmla="*/ f21 1 834336"/>
                <a:gd name="f27" fmla="*/ f22 1 7306056"/>
                <a:gd name="f28" fmla="*/ f23 1 834336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306056" h="83433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3823" tIns="83823" rIns="83823" bIns="83823" anchor="t" anchorCtr="0" compatLnSpc="1">
              <a:noAutofit/>
            </a:bodyPr>
            <a:lstStyle/>
            <a:p>
              <a:pPr marL="0" marR="0" lvl="0" indent="0" algn="l" defTabSz="977895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USG Coverage (Mandatory 1 USG for all PW)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5CC1B02-39E7-0CC9-E432-72B75ADBF3B6}"/>
                </a:ext>
              </a:extLst>
            </p:cNvPr>
            <p:cNvSpPr/>
            <p:nvPr/>
          </p:nvSpPr>
          <p:spPr>
            <a:xfrm>
              <a:off x="4389120" y="4318199"/>
              <a:ext cx="730605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9046" cap="flat">
              <a:solidFill>
                <a:srgbClr val="34861C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BB15B6D-AD6D-C191-AE69-959E6DB468FC}"/>
                </a:ext>
              </a:extLst>
            </p:cNvPr>
            <p:cNvSpPr/>
            <p:nvPr/>
          </p:nvSpPr>
          <p:spPr>
            <a:xfrm>
              <a:off x="4389120" y="4318199"/>
              <a:ext cx="7306056" cy="8343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06056"/>
                <a:gd name="f7" fmla="val 834336"/>
                <a:gd name="f8" fmla="+- 0 0 -90"/>
                <a:gd name="f9" fmla="*/ f3 1 7306056"/>
                <a:gd name="f10" fmla="*/ f4 1 834336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306056"/>
                <a:gd name="f19" fmla="*/ f15 1 834336"/>
                <a:gd name="f20" fmla="*/ 0 f16 1"/>
                <a:gd name="f21" fmla="*/ 0 f15 1"/>
                <a:gd name="f22" fmla="*/ 7306056 f16 1"/>
                <a:gd name="f23" fmla="*/ 834336 f15 1"/>
                <a:gd name="f24" fmla="+- f17 0 f1"/>
                <a:gd name="f25" fmla="*/ f20 1 7306056"/>
                <a:gd name="f26" fmla="*/ f21 1 834336"/>
                <a:gd name="f27" fmla="*/ f22 1 7306056"/>
                <a:gd name="f28" fmla="*/ f23 1 834336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306056" h="83433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3823" tIns="83823" rIns="83823" bIns="83823" anchor="t" anchorCtr="0" compatLnSpc="1">
              <a:noAutofit/>
            </a:bodyPr>
            <a:lstStyle/>
            <a:p>
              <a:pPr marL="0" marR="0" lvl="0" indent="0" algn="l" defTabSz="977895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Diet (Hot cooked Meal)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14997DB-1BA6-00F5-2928-E6493330ABC6}"/>
                </a:ext>
              </a:extLst>
            </p:cNvPr>
            <p:cNvSpPr/>
            <p:nvPr/>
          </p:nvSpPr>
          <p:spPr>
            <a:xfrm>
              <a:off x="4389120" y="5152534"/>
              <a:ext cx="7306056" cy="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val f6"/>
                <a:gd name="f13" fmla="*/ f7 f0 1"/>
                <a:gd name="f14" fmla="*/ f8 f0 1"/>
                <a:gd name="f15" fmla="?: f9 f3 1"/>
                <a:gd name="f16" fmla="?: f10 f4 1"/>
                <a:gd name="f17" fmla="?: f11 f5 1"/>
                <a:gd name="f18" fmla="*/ f13 1 f2"/>
                <a:gd name="f19" fmla="*/ f14 1 f2"/>
                <a:gd name="f20" fmla="*/ f15 1 21600"/>
                <a:gd name="f21" fmla="*/ f16 1 21600"/>
                <a:gd name="f22" fmla="*/ 21600 f15 1"/>
                <a:gd name="f23" fmla="*/ 21600 f16 1"/>
                <a:gd name="f24" fmla="+- f18 0 f1"/>
                <a:gd name="f25" fmla="+- f19 0 f1"/>
                <a:gd name="f26" fmla="min f21 f20"/>
                <a:gd name="f27" fmla="*/ f22 1 f17"/>
                <a:gd name="f28" fmla="*/ f23 1 f17"/>
                <a:gd name="f29" fmla="val f27"/>
                <a:gd name="f30" fmla="val f28"/>
                <a:gd name="f31" fmla="*/ f6 f26 1"/>
                <a:gd name="f32" fmla="*/ f27 f26 1"/>
                <a:gd name="f33" fmla="*/ f28 f26 1"/>
                <a:gd name="f34" fmla="*/ f12 f26 1"/>
                <a:gd name="f35" fmla="*/ f29 f26 1"/>
                <a:gd name="f36" fmla="*/ f3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4" y="f34"/>
                </a:cxn>
                <a:cxn ang="f25">
                  <a:pos x="f35" y="f36"/>
                </a:cxn>
              </a:cxnLst>
              <a:rect l="f31" t="f31" r="f32" b="f33"/>
              <a:pathLst>
                <a:path>
                  <a:moveTo>
                    <a:pt x="f34" y="f34"/>
                  </a:moveTo>
                  <a:lnTo>
                    <a:pt x="f35" y="f36"/>
                  </a:lnTo>
                </a:path>
              </a:pathLst>
            </a:custGeom>
            <a:noFill/>
            <a:ln w="19046" cap="flat">
              <a:solidFill>
                <a:srgbClr val="196B24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BB2474-7151-7862-A7BD-317F8A51BC66}"/>
                </a:ext>
              </a:extLst>
            </p:cNvPr>
            <p:cNvSpPr/>
            <p:nvPr/>
          </p:nvSpPr>
          <p:spPr>
            <a:xfrm>
              <a:off x="4389120" y="5152534"/>
              <a:ext cx="7306056" cy="8343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06056"/>
                <a:gd name="f7" fmla="val 834336"/>
                <a:gd name="f8" fmla="+- 0 0 -90"/>
                <a:gd name="f9" fmla="*/ f3 1 7306056"/>
                <a:gd name="f10" fmla="*/ f4 1 834336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7306056"/>
                <a:gd name="f19" fmla="*/ f15 1 834336"/>
                <a:gd name="f20" fmla="*/ 0 f16 1"/>
                <a:gd name="f21" fmla="*/ 0 f15 1"/>
                <a:gd name="f22" fmla="*/ 7306056 f16 1"/>
                <a:gd name="f23" fmla="*/ 834336 f15 1"/>
                <a:gd name="f24" fmla="+- f17 0 f1"/>
                <a:gd name="f25" fmla="*/ f20 1 7306056"/>
                <a:gd name="f26" fmla="*/ f21 1 834336"/>
                <a:gd name="f27" fmla="*/ f22 1 7306056"/>
                <a:gd name="f28" fmla="*/ f23 1 834336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7306056" h="83433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83823" tIns="83823" rIns="83823" bIns="83823" anchor="t" anchorCtr="0" compatLnSpc="1">
              <a:noAutofit/>
            </a:bodyPr>
            <a:lstStyle/>
            <a:p>
              <a:pPr marL="0" marR="0" lvl="0" indent="0" algn="l" defTabSz="977895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Flow of Beneficiary</a:t>
              </a:r>
            </a:p>
          </p:txBody>
        </p:sp>
      </p:grp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3793-F231-9D32-49B0-391D0B565F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pPr lvl="0"/>
            <a:r>
              <a:rPr lang="en-US"/>
              <a:t>Flow of Beneficiary</a:t>
            </a:r>
            <a:endParaRPr lang="en-IN"/>
          </a:p>
        </p:txBody>
      </p:sp>
      <p:grpSp>
        <p:nvGrpSpPr>
          <p:cNvPr id="3" name="Content Placeholder 3">
            <a:extLst>
              <a:ext uri="{FF2B5EF4-FFF2-40B4-BE49-F238E27FC236}">
                <a16:creationId xmlns:a16="http://schemas.microsoft.com/office/drawing/2014/main" id="{982E6217-DB86-CD11-CE87-6AD15EA6C75E}"/>
              </a:ext>
            </a:extLst>
          </p:cNvPr>
          <p:cNvGrpSpPr/>
          <p:nvPr/>
        </p:nvGrpSpPr>
        <p:grpSpPr>
          <a:xfrm>
            <a:off x="132039" y="2560182"/>
            <a:ext cx="11870246" cy="2938708"/>
            <a:chOff x="132039" y="2560182"/>
            <a:chExt cx="11870246" cy="29387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F51AAA5-2A42-932D-56BB-747419F4FBB1}"/>
                </a:ext>
              </a:extLst>
            </p:cNvPr>
            <p:cNvSpPr/>
            <p:nvPr/>
          </p:nvSpPr>
          <p:spPr>
            <a:xfrm>
              <a:off x="982989" y="2886203"/>
              <a:ext cx="680752" cy="73"/>
            </a:xfrm>
            <a:prstGeom prst="rect">
              <a:avLst/>
            </a:prstGeom>
            <a:solidFill>
              <a:srgbClr val="DFCDDC">
                <a:alpha val="90000"/>
              </a:srgbClr>
            </a:solidFill>
            <a:ln w="19046" cap="flat">
              <a:solidFill>
                <a:srgbClr val="DFCDDC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0E8CA2C-E71A-DCC5-AD2F-AC0C57534A8B}"/>
                </a:ext>
              </a:extLst>
            </p:cNvPr>
            <p:cNvSpPr/>
            <p:nvPr/>
          </p:nvSpPr>
          <p:spPr>
            <a:xfrm>
              <a:off x="1704587" y="2828998"/>
              <a:ext cx="78290" cy="147181"/>
            </a:xfrm>
            <a:custGeom>
              <a:avLst>
                <a:gd name="f8" fmla="val 9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90000"/>
                <a:gd name="f9" fmla="+- 0 0 -360"/>
                <a:gd name="f10" fmla="+- 0 0 -270"/>
                <a:gd name="f11" fmla="+- 0 0 -180"/>
                <a:gd name="f12" fmla="abs f4"/>
                <a:gd name="f13" fmla="abs f5"/>
                <a:gd name="f14" fmla="abs f6"/>
                <a:gd name="f15" fmla="val f7"/>
                <a:gd name="f16" fmla="val f8"/>
                <a:gd name="f17" fmla="*/ f9 f1 1"/>
                <a:gd name="f18" fmla="*/ f10 f1 1"/>
                <a:gd name="f19" fmla="*/ f11 f1 1"/>
                <a:gd name="f20" fmla="?: f12 f4 1"/>
                <a:gd name="f21" fmla="?: f13 f5 1"/>
                <a:gd name="f22" fmla="?: f14 f6 1"/>
                <a:gd name="f23" fmla="*/ f17 1 f3"/>
                <a:gd name="f24" fmla="*/ f18 1 f3"/>
                <a:gd name="f25" fmla="*/ f19 1 f3"/>
                <a:gd name="f26" fmla="*/ f20 1 21600"/>
                <a:gd name="f27" fmla="*/ f21 1 21600"/>
                <a:gd name="f28" fmla="*/ 21600 f20 1"/>
                <a:gd name="f29" fmla="*/ 21600 f21 1"/>
                <a:gd name="f30" fmla="+- f23 0 f2"/>
                <a:gd name="f31" fmla="+- f24 0 f2"/>
                <a:gd name="f32" fmla="+- f25 0 f2"/>
                <a:gd name="f33" fmla="min f27 f26"/>
                <a:gd name="f34" fmla="*/ f28 1 f22"/>
                <a:gd name="f35" fmla="*/ f29 1 f22"/>
                <a:gd name="f36" fmla="val f34"/>
                <a:gd name="f37" fmla="val f35"/>
                <a:gd name="f38" fmla="*/ f15 f33 1"/>
                <a:gd name="f39" fmla="+- f37 0 f15"/>
                <a:gd name="f40" fmla="+- f36 0 f15"/>
                <a:gd name="f41" fmla="*/ f37 f33 1"/>
                <a:gd name="f42" fmla="*/ f36 f33 1"/>
                <a:gd name="f43" fmla="*/ f39 1 2"/>
                <a:gd name="f44" fmla="min f40 f39"/>
                <a:gd name="f45" fmla="+- f15 f43 0"/>
                <a:gd name="f46" fmla="*/ f44 f16 1"/>
                <a:gd name="f47" fmla="*/ f46 1 100000"/>
                <a:gd name="f48" fmla="*/ f45 f33 1"/>
                <a:gd name="f49" fmla="+- f36 0 f47"/>
                <a:gd name="f50" fmla="*/ f47 f33 1"/>
                <a:gd name="f51" fmla="*/ f49 1 2"/>
                <a:gd name="f52" fmla="+- f49 0 f47"/>
                <a:gd name="f53" fmla="*/ f49 f33 1"/>
                <a:gd name="f54" fmla="?: f52 f47 f15"/>
                <a:gd name="f55" fmla="?: f52 f49 f36"/>
                <a:gd name="f56" fmla="*/ f51 f33 1"/>
                <a:gd name="f57" fmla="*/ f54 f33 1"/>
                <a:gd name="f58" fmla="*/ f55 f3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6" y="f38"/>
                </a:cxn>
                <a:cxn ang="f31">
                  <a:pos x="f50" y="f48"/>
                </a:cxn>
                <a:cxn ang="f32">
                  <a:pos x="f56" y="f41"/>
                </a:cxn>
              </a:cxnLst>
              <a:rect l="f57" t="f38" r="f58" b="f41"/>
              <a:pathLst>
                <a:path>
                  <a:moveTo>
                    <a:pt x="f38" y="f38"/>
                  </a:moveTo>
                  <a:lnTo>
                    <a:pt x="f53" y="f38"/>
                  </a:lnTo>
                  <a:lnTo>
                    <a:pt x="f42" y="f48"/>
                  </a:lnTo>
                  <a:lnTo>
                    <a:pt x="f53" y="f41"/>
                  </a:lnTo>
                  <a:lnTo>
                    <a:pt x="f38" y="f41"/>
                  </a:lnTo>
                  <a:lnTo>
                    <a:pt x="f50" y="f48"/>
                  </a:lnTo>
                  <a:close/>
                </a:path>
              </a:pathLst>
            </a:custGeom>
            <a:solidFill>
              <a:srgbClr val="DFCDDF">
                <a:alpha val="90000"/>
              </a:srgbClr>
            </a:solidFill>
            <a:ln w="19046" cap="flat">
              <a:solidFill>
                <a:srgbClr val="DFCDDF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039E4F6-7D7B-E9B7-D7FB-025103E26F0F}"/>
                </a:ext>
              </a:extLst>
            </p:cNvPr>
            <p:cNvSpPr/>
            <p:nvPr/>
          </p:nvSpPr>
          <p:spPr>
            <a:xfrm>
              <a:off x="571838" y="2560182"/>
              <a:ext cx="652113" cy="65211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52114"/>
                <a:gd name="f7" fmla="val 326057"/>
                <a:gd name="f8" fmla="val 145981"/>
                <a:gd name="f9" fmla="val 506133"/>
                <a:gd name="f10" fmla="+- 0 0 -90"/>
                <a:gd name="f11" fmla="*/ f3 1 652114"/>
                <a:gd name="f12" fmla="*/ f4 1 652114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652114"/>
                <a:gd name="f19" fmla="*/ 0 f16 1"/>
                <a:gd name="f20" fmla="*/ 326057 f16 1"/>
                <a:gd name="f21" fmla="*/ 652114 f16 1"/>
                <a:gd name="f22" fmla="+- f17 0 f1"/>
                <a:gd name="f23" fmla="*/ f19 1 652114"/>
                <a:gd name="f24" fmla="*/ f20 1 652114"/>
                <a:gd name="f25" fmla="*/ f21 1 652114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652114" h="652114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A02B93"/>
            </a:solidFill>
            <a:ln w="19046" cap="flat">
              <a:solidFill>
                <a:srgbClr val="A02B93"/>
              </a:solidFill>
              <a:prstDash val="solid"/>
              <a:miter/>
            </a:ln>
          </p:spPr>
          <p:txBody>
            <a:bodyPr vert="horz" wrap="square" lIns="120810" tIns="120810" rIns="120810" bIns="120810" anchor="ctr" anchorCtr="1" compatLnSpc="1">
              <a:noAutofit/>
            </a:bodyPr>
            <a:lstStyle/>
            <a:p>
              <a:pPr marL="0" marR="0" lvl="0" indent="0" algn="ctr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EE138EB-F7DC-CD2D-5997-5A6AF6233278}"/>
                </a:ext>
              </a:extLst>
            </p:cNvPr>
            <p:cNvSpPr/>
            <p:nvPr/>
          </p:nvSpPr>
          <p:spPr>
            <a:xfrm>
              <a:off x="132039" y="3377894"/>
              <a:ext cx="1531702" cy="19656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31702"/>
                <a:gd name="f7" fmla="val 1965600"/>
                <a:gd name="f8" fmla="val 306340"/>
                <a:gd name="f9" fmla="val 459511"/>
                <a:gd name="f10" fmla="val 765851"/>
                <a:gd name="f11" fmla="val 1072191"/>
                <a:gd name="f12" fmla="+- 0 0 -90"/>
                <a:gd name="f13" fmla="*/ f3 1 1531702"/>
                <a:gd name="f14" fmla="*/ f4 1 1965600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531702"/>
                <a:gd name="f23" fmla="*/ f19 1 1965600"/>
                <a:gd name="f24" fmla="*/ 0 f20 1"/>
                <a:gd name="f25" fmla="*/ 306340 f19 1"/>
                <a:gd name="f26" fmla="*/ 459511 f20 1"/>
                <a:gd name="f27" fmla="*/ 765851 f20 1"/>
                <a:gd name="f28" fmla="*/ 0 f19 1"/>
                <a:gd name="f29" fmla="*/ 1072191 f20 1"/>
                <a:gd name="f30" fmla="*/ 1531702 f20 1"/>
                <a:gd name="f31" fmla="*/ 1965600 f19 1"/>
                <a:gd name="f32" fmla="+- f21 0 f1"/>
                <a:gd name="f33" fmla="*/ f24 1 1531702"/>
                <a:gd name="f34" fmla="*/ f25 1 1965600"/>
                <a:gd name="f35" fmla="*/ f26 1 1531702"/>
                <a:gd name="f36" fmla="*/ f27 1 1531702"/>
                <a:gd name="f37" fmla="*/ f28 1 1965600"/>
                <a:gd name="f38" fmla="*/ f29 1 1531702"/>
                <a:gd name="f39" fmla="*/ f30 1 1531702"/>
                <a:gd name="f40" fmla="*/ f31 1 1965600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2"/>
                <a:gd name="f49" fmla="*/ f37 1 f23"/>
                <a:gd name="f50" fmla="*/ f38 1 f22"/>
                <a:gd name="f51" fmla="*/ f39 1 f22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3 1"/>
                <a:gd name="f61" fmla="*/ f49 f14 1"/>
                <a:gd name="f62" fmla="*/ f50 f13 1"/>
                <a:gd name="f63" fmla="*/ f51 f13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60" y="f61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3" y="f58"/>
                </a:cxn>
                <a:cxn ang="f32">
                  <a:pos x="f63" y="f64"/>
                </a:cxn>
                <a:cxn ang="f32">
                  <a:pos x="f57" y="f64"/>
                </a:cxn>
                <a:cxn ang="f32">
                  <a:pos x="f57" y="f58"/>
                </a:cxn>
              </a:cxnLst>
              <a:rect l="f53" t="f56" r="f54" b="f55"/>
              <a:pathLst>
                <a:path w="1531702" h="1965600">
                  <a:moveTo>
                    <a:pt x="f5" y="f8"/>
                  </a:moveTo>
                  <a:lnTo>
                    <a:pt x="f9" y="f8"/>
                  </a:lnTo>
                  <a:lnTo>
                    <a:pt x="f9" y="f8"/>
                  </a:lnTo>
                  <a:lnTo>
                    <a:pt x="f9" y="f8"/>
                  </a:lnTo>
                  <a:lnTo>
                    <a:pt x="f10" y="f5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6" y="f8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DDCDE0">
                <a:alpha val="90000"/>
              </a:srgbClr>
            </a:solidFill>
            <a:ln w="19046" cap="flat">
              <a:solidFill>
                <a:srgbClr val="DDCDE0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20819" tIns="471437" rIns="120819" bIns="165104" anchor="t" anchorCtr="0" compatLnSpc="1">
              <a:noAutofit/>
            </a:bodyPr>
            <a:lstStyle/>
            <a:p>
              <a:pPr marL="0" marR="0" lvl="0" indent="0" algn="l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Registration of PW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53C7F2-E832-390F-493D-559691388614}"/>
                </a:ext>
              </a:extLst>
            </p:cNvPr>
            <p:cNvSpPr/>
            <p:nvPr/>
          </p:nvSpPr>
          <p:spPr>
            <a:xfrm>
              <a:off x="1896081" y="2886221"/>
              <a:ext cx="1531702" cy="73"/>
            </a:xfrm>
            <a:prstGeom prst="rect">
              <a:avLst/>
            </a:prstGeom>
            <a:solidFill>
              <a:srgbClr val="DACDE0">
                <a:alpha val="90000"/>
              </a:srgbClr>
            </a:solidFill>
            <a:ln w="19046" cap="flat">
              <a:solidFill>
                <a:srgbClr val="DACDE0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391A3A7-DA53-947A-E8BE-AF11828B7CDA}"/>
                </a:ext>
              </a:extLst>
            </p:cNvPr>
            <p:cNvSpPr/>
            <p:nvPr/>
          </p:nvSpPr>
          <p:spPr>
            <a:xfrm>
              <a:off x="3468630" y="2829016"/>
              <a:ext cx="78290" cy="147190"/>
            </a:xfrm>
            <a:custGeom>
              <a:avLst>
                <a:gd name="f8" fmla="val 9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90000"/>
                <a:gd name="f9" fmla="+- 0 0 -360"/>
                <a:gd name="f10" fmla="+- 0 0 -270"/>
                <a:gd name="f11" fmla="+- 0 0 -180"/>
                <a:gd name="f12" fmla="abs f4"/>
                <a:gd name="f13" fmla="abs f5"/>
                <a:gd name="f14" fmla="abs f6"/>
                <a:gd name="f15" fmla="val f7"/>
                <a:gd name="f16" fmla="val f8"/>
                <a:gd name="f17" fmla="*/ f9 f1 1"/>
                <a:gd name="f18" fmla="*/ f10 f1 1"/>
                <a:gd name="f19" fmla="*/ f11 f1 1"/>
                <a:gd name="f20" fmla="?: f12 f4 1"/>
                <a:gd name="f21" fmla="?: f13 f5 1"/>
                <a:gd name="f22" fmla="?: f14 f6 1"/>
                <a:gd name="f23" fmla="*/ f17 1 f3"/>
                <a:gd name="f24" fmla="*/ f18 1 f3"/>
                <a:gd name="f25" fmla="*/ f19 1 f3"/>
                <a:gd name="f26" fmla="*/ f20 1 21600"/>
                <a:gd name="f27" fmla="*/ f21 1 21600"/>
                <a:gd name="f28" fmla="*/ 21600 f20 1"/>
                <a:gd name="f29" fmla="*/ 21600 f21 1"/>
                <a:gd name="f30" fmla="+- f23 0 f2"/>
                <a:gd name="f31" fmla="+- f24 0 f2"/>
                <a:gd name="f32" fmla="+- f25 0 f2"/>
                <a:gd name="f33" fmla="min f27 f26"/>
                <a:gd name="f34" fmla="*/ f28 1 f22"/>
                <a:gd name="f35" fmla="*/ f29 1 f22"/>
                <a:gd name="f36" fmla="val f34"/>
                <a:gd name="f37" fmla="val f35"/>
                <a:gd name="f38" fmla="*/ f15 f33 1"/>
                <a:gd name="f39" fmla="+- f37 0 f15"/>
                <a:gd name="f40" fmla="+- f36 0 f15"/>
                <a:gd name="f41" fmla="*/ f37 f33 1"/>
                <a:gd name="f42" fmla="*/ f36 f33 1"/>
                <a:gd name="f43" fmla="*/ f39 1 2"/>
                <a:gd name="f44" fmla="min f40 f39"/>
                <a:gd name="f45" fmla="+- f15 f43 0"/>
                <a:gd name="f46" fmla="*/ f44 f16 1"/>
                <a:gd name="f47" fmla="*/ f46 1 100000"/>
                <a:gd name="f48" fmla="*/ f45 f33 1"/>
                <a:gd name="f49" fmla="+- f36 0 f47"/>
                <a:gd name="f50" fmla="*/ f47 f33 1"/>
                <a:gd name="f51" fmla="*/ f49 1 2"/>
                <a:gd name="f52" fmla="+- f49 0 f47"/>
                <a:gd name="f53" fmla="*/ f49 f33 1"/>
                <a:gd name="f54" fmla="?: f52 f47 f15"/>
                <a:gd name="f55" fmla="?: f52 f49 f36"/>
                <a:gd name="f56" fmla="*/ f51 f33 1"/>
                <a:gd name="f57" fmla="*/ f54 f33 1"/>
                <a:gd name="f58" fmla="*/ f55 f3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6" y="f38"/>
                </a:cxn>
                <a:cxn ang="f31">
                  <a:pos x="f50" y="f48"/>
                </a:cxn>
                <a:cxn ang="f32">
                  <a:pos x="f56" y="f41"/>
                </a:cxn>
              </a:cxnLst>
              <a:rect l="f57" t="f38" r="f58" b="f41"/>
              <a:pathLst>
                <a:path>
                  <a:moveTo>
                    <a:pt x="f38" y="f38"/>
                  </a:moveTo>
                  <a:lnTo>
                    <a:pt x="f53" y="f38"/>
                  </a:lnTo>
                  <a:lnTo>
                    <a:pt x="f42" y="f48"/>
                  </a:lnTo>
                  <a:lnTo>
                    <a:pt x="f53" y="f41"/>
                  </a:lnTo>
                  <a:lnTo>
                    <a:pt x="f38" y="f41"/>
                  </a:lnTo>
                  <a:lnTo>
                    <a:pt x="f50" y="f48"/>
                  </a:lnTo>
                  <a:close/>
                </a:path>
              </a:pathLst>
            </a:custGeom>
            <a:solidFill>
              <a:srgbClr val="D7CDE0">
                <a:alpha val="90000"/>
              </a:srgbClr>
            </a:solidFill>
            <a:ln w="19046" cap="flat">
              <a:solidFill>
                <a:srgbClr val="D7CDE0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6B8805C-0B40-7B2A-9953-8AB05FDD5978}"/>
                </a:ext>
              </a:extLst>
            </p:cNvPr>
            <p:cNvSpPr/>
            <p:nvPr/>
          </p:nvSpPr>
          <p:spPr>
            <a:xfrm>
              <a:off x="2335871" y="2560201"/>
              <a:ext cx="652113" cy="65211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52114"/>
                <a:gd name="f7" fmla="val 326057"/>
                <a:gd name="f8" fmla="val 145981"/>
                <a:gd name="f9" fmla="val 506133"/>
                <a:gd name="f10" fmla="+- 0 0 -90"/>
                <a:gd name="f11" fmla="*/ f3 1 652114"/>
                <a:gd name="f12" fmla="*/ f4 1 652114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652114"/>
                <a:gd name="f19" fmla="*/ 0 f16 1"/>
                <a:gd name="f20" fmla="*/ 326057 f16 1"/>
                <a:gd name="f21" fmla="*/ 652114 f16 1"/>
                <a:gd name="f22" fmla="+- f17 0 f1"/>
                <a:gd name="f23" fmla="*/ f19 1 652114"/>
                <a:gd name="f24" fmla="*/ f20 1 652114"/>
                <a:gd name="f25" fmla="*/ f21 1 652114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652114" h="652114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6C2CA1"/>
            </a:solidFill>
            <a:ln w="19046" cap="flat">
              <a:solidFill>
                <a:srgbClr val="6C2CA1"/>
              </a:solidFill>
              <a:prstDash val="solid"/>
              <a:miter/>
            </a:ln>
          </p:spPr>
          <p:txBody>
            <a:bodyPr vert="horz" wrap="square" lIns="120810" tIns="120810" rIns="120810" bIns="120810" anchor="ctr" anchorCtr="1" compatLnSpc="1">
              <a:noAutofit/>
            </a:bodyPr>
            <a:lstStyle/>
            <a:p>
              <a:pPr marL="0" marR="0" lvl="0" indent="0" algn="ctr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6CD484-ED4D-25F1-7E13-E2A2DC06CEE7}"/>
                </a:ext>
              </a:extLst>
            </p:cNvPr>
            <p:cNvSpPr/>
            <p:nvPr/>
          </p:nvSpPr>
          <p:spPr>
            <a:xfrm>
              <a:off x="1812331" y="3419856"/>
              <a:ext cx="1655996" cy="19656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56000"/>
                <a:gd name="f7" fmla="val 1965600"/>
                <a:gd name="f8" fmla="val 331200"/>
                <a:gd name="f9" fmla="val 496800"/>
                <a:gd name="f10" fmla="val 828000"/>
                <a:gd name="f11" fmla="val 1159200"/>
                <a:gd name="f12" fmla="+- 0 0 -90"/>
                <a:gd name="f13" fmla="*/ f3 1 1656000"/>
                <a:gd name="f14" fmla="*/ f4 1 1965600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656000"/>
                <a:gd name="f23" fmla="*/ f19 1 1965600"/>
                <a:gd name="f24" fmla="*/ 0 f20 1"/>
                <a:gd name="f25" fmla="*/ 331200 f19 1"/>
                <a:gd name="f26" fmla="*/ 496800 f20 1"/>
                <a:gd name="f27" fmla="*/ 828000 f20 1"/>
                <a:gd name="f28" fmla="*/ 0 f19 1"/>
                <a:gd name="f29" fmla="*/ 1159200 f20 1"/>
                <a:gd name="f30" fmla="*/ 1656000 f20 1"/>
                <a:gd name="f31" fmla="*/ 1965600 f19 1"/>
                <a:gd name="f32" fmla="+- f21 0 f1"/>
                <a:gd name="f33" fmla="*/ f24 1 1656000"/>
                <a:gd name="f34" fmla="*/ f25 1 1965600"/>
                <a:gd name="f35" fmla="*/ f26 1 1656000"/>
                <a:gd name="f36" fmla="*/ f27 1 1656000"/>
                <a:gd name="f37" fmla="*/ f28 1 1965600"/>
                <a:gd name="f38" fmla="*/ f29 1 1656000"/>
                <a:gd name="f39" fmla="*/ f30 1 1656000"/>
                <a:gd name="f40" fmla="*/ f31 1 1965600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2"/>
                <a:gd name="f49" fmla="*/ f37 1 f23"/>
                <a:gd name="f50" fmla="*/ f38 1 f22"/>
                <a:gd name="f51" fmla="*/ f39 1 f22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3 1"/>
                <a:gd name="f61" fmla="*/ f49 f14 1"/>
                <a:gd name="f62" fmla="*/ f50 f13 1"/>
                <a:gd name="f63" fmla="*/ f51 f13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60" y="f61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3" y="f58"/>
                </a:cxn>
                <a:cxn ang="f32">
                  <a:pos x="f63" y="f64"/>
                </a:cxn>
                <a:cxn ang="f32">
                  <a:pos x="f57" y="f64"/>
                </a:cxn>
                <a:cxn ang="f32">
                  <a:pos x="f57" y="f58"/>
                </a:cxn>
              </a:cxnLst>
              <a:rect l="f53" t="f56" r="f54" b="f55"/>
              <a:pathLst>
                <a:path w="1656000" h="1965600">
                  <a:moveTo>
                    <a:pt x="f5" y="f8"/>
                  </a:moveTo>
                  <a:lnTo>
                    <a:pt x="f9" y="f8"/>
                  </a:lnTo>
                  <a:lnTo>
                    <a:pt x="f9" y="f8"/>
                  </a:lnTo>
                  <a:lnTo>
                    <a:pt x="f9" y="f8"/>
                  </a:lnTo>
                  <a:lnTo>
                    <a:pt x="f10" y="f5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6" y="f8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D3CDE0">
                <a:alpha val="90000"/>
              </a:srgbClr>
            </a:solidFill>
            <a:ln w="19046" cap="flat">
              <a:solidFill>
                <a:srgbClr val="D3CDE0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20819" tIns="496299" rIns="120819" bIns="165104" anchor="t" anchorCtr="0" compatLnSpc="1">
              <a:noAutofit/>
            </a:bodyPr>
            <a:lstStyle/>
            <a:p>
              <a:pPr marL="0" marR="0" lvl="0" indent="0" algn="l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Anthropometric Measurement and Vital sign by Nursing officer/ MPHW (F) –Mention in MCP card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37D2ED-3EF4-2339-B95B-12EB1D713611}"/>
                </a:ext>
              </a:extLst>
            </p:cNvPr>
            <p:cNvSpPr/>
            <p:nvPr/>
          </p:nvSpPr>
          <p:spPr>
            <a:xfrm>
              <a:off x="3597971" y="2886221"/>
              <a:ext cx="1531702" cy="73"/>
            </a:xfrm>
            <a:prstGeom prst="rect">
              <a:avLst/>
            </a:prstGeom>
            <a:solidFill>
              <a:srgbClr val="D0CDE0">
                <a:alpha val="90000"/>
              </a:srgbClr>
            </a:solidFill>
            <a:ln w="19046" cap="flat">
              <a:solidFill>
                <a:srgbClr val="D0CDE0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9EA7693-28BC-65BF-8B2B-8C6421A42B0E}"/>
                </a:ext>
              </a:extLst>
            </p:cNvPr>
            <p:cNvSpPr/>
            <p:nvPr/>
          </p:nvSpPr>
          <p:spPr>
            <a:xfrm>
              <a:off x="5170520" y="2829016"/>
              <a:ext cx="78290" cy="147190"/>
            </a:xfrm>
            <a:custGeom>
              <a:avLst>
                <a:gd name="f8" fmla="val 9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90000"/>
                <a:gd name="f9" fmla="+- 0 0 -360"/>
                <a:gd name="f10" fmla="+- 0 0 -270"/>
                <a:gd name="f11" fmla="+- 0 0 -180"/>
                <a:gd name="f12" fmla="abs f4"/>
                <a:gd name="f13" fmla="abs f5"/>
                <a:gd name="f14" fmla="abs f6"/>
                <a:gd name="f15" fmla="val f7"/>
                <a:gd name="f16" fmla="val f8"/>
                <a:gd name="f17" fmla="*/ f9 f1 1"/>
                <a:gd name="f18" fmla="*/ f10 f1 1"/>
                <a:gd name="f19" fmla="*/ f11 f1 1"/>
                <a:gd name="f20" fmla="?: f12 f4 1"/>
                <a:gd name="f21" fmla="?: f13 f5 1"/>
                <a:gd name="f22" fmla="?: f14 f6 1"/>
                <a:gd name="f23" fmla="*/ f17 1 f3"/>
                <a:gd name="f24" fmla="*/ f18 1 f3"/>
                <a:gd name="f25" fmla="*/ f19 1 f3"/>
                <a:gd name="f26" fmla="*/ f20 1 21600"/>
                <a:gd name="f27" fmla="*/ f21 1 21600"/>
                <a:gd name="f28" fmla="*/ 21600 f20 1"/>
                <a:gd name="f29" fmla="*/ 21600 f21 1"/>
                <a:gd name="f30" fmla="+- f23 0 f2"/>
                <a:gd name="f31" fmla="+- f24 0 f2"/>
                <a:gd name="f32" fmla="+- f25 0 f2"/>
                <a:gd name="f33" fmla="min f27 f26"/>
                <a:gd name="f34" fmla="*/ f28 1 f22"/>
                <a:gd name="f35" fmla="*/ f29 1 f22"/>
                <a:gd name="f36" fmla="val f34"/>
                <a:gd name="f37" fmla="val f35"/>
                <a:gd name="f38" fmla="*/ f15 f33 1"/>
                <a:gd name="f39" fmla="+- f37 0 f15"/>
                <a:gd name="f40" fmla="+- f36 0 f15"/>
                <a:gd name="f41" fmla="*/ f37 f33 1"/>
                <a:gd name="f42" fmla="*/ f36 f33 1"/>
                <a:gd name="f43" fmla="*/ f39 1 2"/>
                <a:gd name="f44" fmla="min f40 f39"/>
                <a:gd name="f45" fmla="+- f15 f43 0"/>
                <a:gd name="f46" fmla="*/ f44 f16 1"/>
                <a:gd name="f47" fmla="*/ f46 1 100000"/>
                <a:gd name="f48" fmla="*/ f45 f33 1"/>
                <a:gd name="f49" fmla="+- f36 0 f47"/>
                <a:gd name="f50" fmla="*/ f47 f33 1"/>
                <a:gd name="f51" fmla="*/ f49 1 2"/>
                <a:gd name="f52" fmla="+- f49 0 f47"/>
                <a:gd name="f53" fmla="*/ f49 f33 1"/>
                <a:gd name="f54" fmla="?: f52 f47 f15"/>
                <a:gd name="f55" fmla="?: f52 f49 f36"/>
                <a:gd name="f56" fmla="*/ f51 f33 1"/>
                <a:gd name="f57" fmla="*/ f54 f33 1"/>
                <a:gd name="f58" fmla="*/ f55 f3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6" y="f38"/>
                </a:cxn>
                <a:cxn ang="f31">
                  <a:pos x="f50" y="f48"/>
                </a:cxn>
                <a:cxn ang="f32">
                  <a:pos x="f56" y="f41"/>
                </a:cxn>
              </a:cxnLst>
              <a:rect l="f57" t="f38" r="f58" b="f41"/>
              <a:pathLst>
                <a:path>
                  <a:moveTo>
                    <a:pt x="f38" y="f38"/>
                  </a:moveTo>
                  <a:lnTo>
                    <a:pt x="f53" y="f38"/>
                  </a:lnTo>
                  <a:lnTo>
                    <a:pt x="f42" y="f48"/>
                  </a:lnTo>
                  <a:lnTo>
                    <a:pt x="f53" y="f41"/>
                  </a:lnTo>
                  <a:lnTo>
                    <a:pt x="f38" y="f41"/>
                  </a:lnTo>
                  <a:lnTo>
                    <a:pt x="f50" y="f48"/>
                  </a:lnTo>
                  <a:close/>
                </a:path>
              </a:pathLst>
            </a:custGeom>
            <a:solidFill>
              <a:srgbClr val="CDCDE0">
                <a:alpha val="90000"/>
              </a:srgbClr>
            </a:solidFill>
            <a:ln w="19046" cap="flat">
              <a:solidFill>
                <a:srgbClr val="CDCDE0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908DDAB-7804-B5EE-FBE4-79FCB80CC6BD}"/>
                </a:ext>
              </a:extLst>
            </p:cNvPr>
            <p:cNvSpPr/>
            <p:nvPr/>
          </p:nvSpPr>
          <p:spPr>
            <a:xfrm>
              <a:off x="4037761" y="2560201"/>
              <a:ext cx="652113" cy="65211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52114"/>
                <a:gd name="f7" fmla="val 326057"/>
                <a:gd name="f8" fmla="val 145981"/>
                <a:gd name="f9" fmla="val 506133"/>
                <a:gd name="f10" fmla="+- 0 0 -90"/>
                <a:gd name="f11" fmla="*/ f3 1 652114"/>
                <a:gd name="f12" fmla="*/ f4 1 652114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652114"/>
                <a:gd name="f19" fmla="*/ 0 f16 1"/>
                <a:gd name="f20" fmla="*/ 326057 f16 1"/>
                <a:gd name="f21" fmla="*/ 652114 f16 1"/>
                <a:gd name="f22" fmla="+- f17 0 f1"/>
                <a:gd name="f23" fmla="*/ f19 1 652114"/>
                <a:gd name="f24" fmla="*/ f20 1 652114"/>
                <a:gd name="f25" fmla="*/ f21 1 652114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652114" h="652114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2C2EA2"/>
            </a:solidFill>
            <a:ln w="19046" cap="flat">
              <a:solidFill>
                <a:srgbClr val="2C2EA2"/>
              </a:solidFill>
              <a:prstDash val="solid"/>
              <a:miter/>
            </a:ln>
          </p:spPr>
          <p:txBody>
            <a:bodyPr vert="horz" wrap="square" lIns="120810" tIns="120810" rIns="120810" bIns="120810" anchor="ctr" anchorCtr="1" compatLnSpc="1">
              <a:noAutofit/>
            </a:bodyPr>
            <a:lstStyle/>
            <a:p>
              <a:pPr marL="0" marR="0" lvl="0" indent="0" algn="ctr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A27E02-78A7-0E8C-7DDB-4CA4F03A6492}"/>
                </a:ext>
              </a:extLst>
            </p:cNvPr>
            <p:cNvSpPr/>
            <p:nvPr/>
          </p:nvSpPr>
          <p:spPr>
            <a:xfrm>
              <a:off x="3563645" y="3533287"/>
              <a:ext cx="1531702" cy="19656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31702"/>
                <a:gd name="f7" fmla="val 1965600"/>
                <a:gd name="f8" fmla="val 306340"/>
                <a:gd name="f9" fmla="val 459511"/>
                <a:gd name="f10" fmla="val 765851"/>
                <a:gd name="f11" fmla="val 1072191"/>
                <a:gd name="f12" fmla="+- 0 0 -90"/>
                <a:gd name="f13" fmla="*/ f3 1 1531702"/>
                <a:gd name="f14" fmla="*/ f4 1 1965600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531702"/>
                <a:gd name="f23" fmla="*/ f19 1 1965600"/>
                <a:gd name="f24" fmla="*/ 0 f20 1"/>
                <a:gd name="f25" fmla="*/ 306340 f19 1"/>
                <a:gd name="f26" fmla="*/ 459511 f20 1"/>
                <a:gd name="f27" fmla="*/ 765851 f20 1"/>
                <a:gd name="f28" fmla="*/ 0 f19 1"/>
                <a:gd name="f29" fmla="*/ 1072191 f20 1"/>
                <a:gd name="f30" fmla="*/ 1531702 f20 1"/>
                <a:gd name="f31" fmla="*/ 1965600 f19 1"/>
                <a:gd name="f32" fmla="+- f21 0 f1"/>
                <a:gd name="f33" fmla="*/ f24 1 1531702"/>
                <a:gd name="f34" fmla="*/ f25 1 1965600"/>
                <a:gd name="f35" fmla="*/ f26 1 1531702"/>
                <a:gd name="f36" fmla="*/ f27 1 1531702"/>
                <a:gd name="f37" fmla="*/ f28 1 1965600"/>
                <a:gd name="f38" fmla="*/ f29 1 1531702"/>
                <a:gd name="f39" fmla="*/ f30 1 1531702"/>
                <a:gd name="f40" fmla="*/ f31 1 1965600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2"/>
                <a:gd name="f49" fmla="*/ f37 1 f23"/>
                <a:gd name="f50" fmla="*/ f38 1 f22"/>
                <a:gd name="f51" fmla="*/ f39 1 f22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3 1"/>
                <a:gd name="f61" fmla="*/ f49 f14 1"/>
                <a:gd name="f62" fmla="*/ f50 f13 1"/>
                <a:gd name="f63" fmla="*/ f51 f13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60" y="f61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3" y="f58"/>
                </a:cxn>
                <a:cxn ang="f32">
                  <a:pos x="f63" y="f64"/>
                </a:cxn>
                <a:cxn ang="f32">
                  <a:pos x="f57" y="f64"/>
                </a:cxn>
                <a:cxn ang="f32">
                  <a:pos x="f57" y="f58"/>
                </a:cxn>
              </a:cxnLst>
              <a:rect l="f53" t="f56" r="f54" b="f55"/>
              <a:pathLst>
                <a:path w="1531702" h="1965600">
                  <a:moveTo>
                    <a:pt x="f5" y="f8"/>
                  </a:moveTo>
                  <a:lnTo>
                    <a:pt x="f9" y="f8"/>
                  </a:lnTo>
                  <a:lnTo>
                    <a:pt x="f9" y="f8"/>
                  </a:lnTo>
                  <a:lnTo>
                    <a:pt x="f9" y="f8"/>
                  </a:lnTo>
                  <a:lnTo>
                    <a:pt x="f10" y="f5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6" y="f8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CDD0E0">
                <a:alpha val="90000"/>
              </a:srgbClr>
            </a:solidFill>
            <a:ln w="19046" cap="flat">
              <a:solidFill>
                <a:srgbClr val="CDD0E0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20819" tIns="471437" rIns="120819" bIns="165104" anchor="t" anchorCtr="0" compatLnSpc="1">
              <a:noAutofit/>
            </a:bodyPr>
            <a:lstStyle/>
            <a:p>
              <a:pPr marL="0" marR="0" lvl="0" indent="0" algn="l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Lab technician collect blood and urine (Predefined Tests)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A4F37D2-6B6E-7309-D818-1C410F71037F}"/>
                </a:ext>
              </a:extLst>
            </p:cNvPr>
            <p:cNvSpPr/>
            <p:nvPr/>
          </p:nvSpPr>
          <p:spPr>
            <a:xfrm>
              <a:off x="5299862" y="2886221"/>
              <a:ext cx="1531702" cy="73"/>
            </a:xfrm>
            <a:prstGeom prst="rect">
              <a:avLst/>
            </a:prstGeom>
            <a:solidFill>
              <a:srgbClr val="CDD3E0">
                <a:alpha val="90000"/>
              </a:srgbClr>
            </a:solidFill>
            <a:ln w="19046" cap="flat">
              <a:solidFill>
                <a:srgbClr val="CDD3E0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1575380-CEA0-ADA7-29D5-B735CD189E06}"/>
                </a:ext>
              </a:extLst>
            </p:cNvPr>
            <p:cNvSpPr/>
            <p:nvPr/>
          </p:nvSpPr>
          <p:spPr>
            <a:xfrm>
              <a:off x="6872410" y="2829016"/>
              <a:ext cx="78290" cy="147190"/>
            </a:xfrm>
            <a:custGeom>
              <a:avLst>
                <a:gd name="f8" fmla="val 9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90000"/>
                <a:gd name="f9" fmla="+- 0 0 -360"/>
                <a:gd name="f10" fmla="+- 0 0 -270"/>
                <a:gd name="f11" fmla="+- 0 0 -180"/>
                <a:gd name="f12" fmla="abs f4"/>
                <a:gd name="f13" fmla="abs f5"/>
                <a:gd name="f14" fmla="abs f6"/>
                <a:gd name="f15" fmla="val f7"/>
                <a:gd name="f16" fmla="val f8"/>
                <a:gd name="f17" fmla="*/ f9 f1 1"/>
                <a:gd name="f18" fmla="*/ f10 f1 1"/>
                <a:gd name="f19" fmla="*/ f11 f1 1"/>
                <a:gd name="f20" fmla="?: f12 f4 1"/>
                <a:gd name="f21" fmla="?: f13 f5 1"/>
                <a:gd name="f22" fmla="?: f14 f6 1"/>
                <a:gd name="f23" fmla="*/ f17 1 f3"/>
                <a:gd name="f24" fmla="*/ f18 1 f3"/>
                <a:gd name="f25" fmla="*/ f19 1 f3"/>
                <a:gd name="f26" fmla="*/ f20 1 21600"/>
                <a:gd name="f27" fmla="*/ f21 1 21600"/>
                <a:gd name="f28" fmla="*/ 21600 f20 1"/>
                <a:gd name="f29" fmla="*/ 21600 f21 1"/>
                <a:gd name="f30" fmla="+- f23 0 f2"/>
                <a:gd name="f31" fmla="+- f24 0 f2"/>
                <a:gd name="f32" fmla="+- f25 0 f2"/>
                <a:gd name="f33" fmla="min f27 f26"/>
                <a:gd name="f34" fmla="*/ f28 1 f22"/>
                <a:gd name="f35" fmla="*/ f29 1 f22"/>
                <a:gd name="f36" fmla="val f34"/>
                <a:gd name="f37" fmla="val f35"/>
                <a:gd name="f38" fmla="*/ f15 f33 1"/>
                <a:gd name="f39" fmla="+- f37 0 f15"/>
                <a:gd name="f40" fmla="+- f36 0 f15"/>
                <a:gd name="f41" fmla="*/ f37 f33 1"/>
                <a:gd name="f42" fmla="*/ f36 f33 1"/>
                <a:gd name="f43" fmla="*/ f39 1 2"/>
                <a:gd name="f44" fmla="min f40 f39"/>
                <a:gd name="f45" fmla="+- f15 f43 0"/>
                <a:gd name="f46" fmla="*/ f44 f16 1"/>
                <a:gd name="f47" fmla="*/ f46 1 100000"/>
                <a:gd name="f48" fmla="*/ f45 f33 1"/>
                <a:gd name="f49" fmla="+- f36 0 f47"/>
                <a:gd name="f50" fmla="*/ f47 f33 1"/>
                <a:gd name="f51" fmla="*/ f49 1 2"/>
                <a:gd name="f52" fmla="+- f49 0 f47"/>
                <a:gd name="f53" fmla="*/ f49 f33 1"/>
                <a:gd name="f54" fmla="?: f52 f47 f15"/>
                <a:gd name="f55" fmla="?: f52 f49 f36"/>
                <a:gd name="f56" fmla="*/ f51 f33 1"/>
                <a:gd name="f57" fmla="*/ f54 f33 1"/>
                <a:gd name="f58" fmla="*/ f55 f3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6" y="f38"/>
                </a:cxn>
                <a:cxn ang="f31">
                  <a:pos x="f50" y="f48"/>
                </a:cxn>
                <a:cxn ang="f32">
                  <a:pos x="f56" y="f41"/>
                </a:cxn>
              </a:cxnLst>
              <a:rect l="f57" t="f38" r="f58" b="f41"/>
              <a:pathLst>
                <a:path>
                  <a:moveTo>
                    <a:pt x="f38" y="f38"/>
                  </a:moveTo>
                  <a:lnTo>
                    <a:pt x="f53" y="f38"/>
                  </a:lnTo>
                  <a:lnTo>
                    <a:pt x="f42" y="f48"/>
                  </a:lnTo>
                  <a:lnTo>
                    <a:pt x="f53" y="f41"/>
                  </a:lnTo>
                  <a:lnTo>
                    <a:pt x="f38" y="f41"/>
                  </a:lnTo>
                  <a:lnTo>
                    <a:pt x="f50" y="f48"/>
                  </a:lnTo>
                  <a:close/>
                </a:path>
              </a:pathLst>
            </a:custGeom>
            <a:solidFill>
              <a:srgbClr val="CDD6E0">
                <a:alpha val="90000"/>
              </a:srgbClr>
            </a:solidFill>
            <a:ln w="19046" cap="flat">
              <a:solidFill>
                <a:srgbClr val="CDD6E0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531B3C-2860-8F4C-54A8-109647B543DD}"/>
                </a:ext>
              </a:extLst>
            </p:cNvPr>
            <p:cNvSpPr/>
            <p:nvPr/>
          </p:nvSpPr>
          <p:spPr>
            <a:xfrm>
              <a:off x="5739661" y="2560201"/>
              <a:ext cx="652113" cy="65211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52114"/>
                <a:gd name="f7" fmla="val 326057"/>
                <a:gd name="f8" fmla="val 145981"/>
                <a:gd name="f9" fmla="val 506133"/>
                <a:gd name="f10" fmla="+- 0 0 -90"/>
                <a:gd name="f11" fmla="*/ f3 1 652114"/>
                <a:gd name="f12" fmla="*/ f4 1 652114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652114"/>
                <a:gd name="f19" fmla="*/ 0 f16 1"/>
                <a:gd name="f20" fmla="*/ 326057 f16 1"/>
                <a:gd name="f21" fmla="*/ 652114 f16 1"/>
                <a:gd name="f22" fmla="+- f17 0 f1"/>
                <a:gd name="f23" fmla="*/ f19 1 652114"/>
                <a:gd name="f24" fmla="*/ f20 1 652114"/>
                <a:gd name="f25" fmla="*/ f21 1 652114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652114" h="652114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2C71A4"/>
            </a:solidFill>
            <a:ln w="19046" cap="flat">
              <a:solidFill>
                <a:srgbClr val="2C71A4"/>
              </a:solidFill>
              <a:prstDash val="solid"/>
              <a:miter/>
            </a:ln>
          </p:spPr>
          <p:txBody>
            <a:bodyPr vert="horz" wrap="square" lIns="120810" tIns="120810" rIns="120810" bIns="120810" anchor="ctr" anchorCtr="1" compatLnSpc="1">
              <a:noAutofit/>
            </a:bodyPr>
            <a:lstStyle/>
            <a:p>
              <a:pPr marL="0" marR="0" lvl="0" indent="0" algn="ctr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8840A80-96AB-E4C7-661A-641617F242D9}"/>
                </a:ext>
              </a:extLst>
            </p:cNvPr>
            <p:cNvSpPr/>
            <p:nvPr/>
          </p:nvSpPr>
          <p:spPr>
            <a:xfrm>
              <a:off x="5299862" y="3377930"/>
              <a:ext cx="1531702" cy="19656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31702"/>
                <a:gd name="f7" fmla="val 1965600"/>
                <a:gd name="f8" fmla="val 306340"/>
                <a:gd name="f9" fmla="val 459511"/>
                <a:gd name="f10" fmla="val 765851"/>
                <a:gd name="f11" fmla="val 1072191"/>
                <a:gd name="f12" fmla="+- 0 0 -90"/>
                <a:gd name="f13" fmla="*/ f3 1 1531702"/>
                <a:gd name="f14" fmla="*/ f4 1 1965600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531702"/>
                <a:gd name="f23" fmla="*/ f19 1 1965600"/>
                <a:gd name="f24" fmla="*/ 0 f20 1"/>
                <a:gd name="f25" fmla="*/ 306340 f19 1"/>
                <a:gd name="f26" fmla="*/ 459511 f20 1"/>
                <a:gd name="f27" fmla="*/ 765851 f20 1"/>
                <a:gd name="f28" fmla="*/ 0 f19 1"/>
                <a:gd name="f29" fmla="*/ 1072191 f20 1"/>
                <a:gd name="f30" fmla="*/ 1531702 f20 1"/>
                <a:gd name="f31" fmla="*/ 1965600 f19 1"/>
                <a:gd name="f32" fmla="+- f21 0 f1"/>
                <a:gd name="f33" fmla="*/ f24 1 1531702"/>
                <a:gd name="f34" fmla="*/ f25 1 1965600"/>
                <a:gd name="f35" fmla="*/ f26 1 1531702"/>
                <a:gd name="f36" fmla="*/ f27 1 1531702"/>
                <a:gd name="f37" fmla="*/ f28 1 1965600"/>
                <a:gd name="f38" fmla="*/ f29 1 1531702"/>
                <a:gd name="f39" fmla="*/ f30 1 1531702"/>
                <a:gd name="f40" fmla="*/ f31 1 1965600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2"/>
                <a:gd name="f49" fmla="*/ f37 1 f23"/>
                <a:gd name="f50" fmla="*/ f38 1 f22"/>
                <a:gd name="f51" fmla="*/ f39 1 f22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3 1"/>
                <a:gd name="f61" fmla="*/ f49 f14 1"/>
                <a:gd name="f62" fmla="*/ f50 f13 1"/>
                <a:gd name="f63" fmla="*/ f51 f13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60" y="f61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3" y="f58"/>
                </a:cxn>
                <a:cxn ang="f32">
                  <a:pos x="f63" y="f64"/>
                </a:cxn>
                <a:cxn ang="f32">
                  <a:pos x="f57" y="f64"/>
                </a:cxn>
                <a:cxn ang="f32">
                  <a:pos x="f57" y="f58"/>
                </a:cxn>
              </a:cxnLst>
              <a:rect l="f53" t="f56" r="f54" b="f55"/>
              <a:pathLst>
                <a:path w="1531702" h="1965600">
                  <a:moveTo>
                    <a:pt x="f5" y="f8"/>
                  </a:moveTo>
                  <a:lnTo>
                    <a:pt x="f9" y="f8"/>
                  </a:lnTo>
                  <a:lnTo>
                    <a:pt x="f9" y="f8"/>
                  </a:lnTo>
                  <a:lnTo>
                    <a:pt x="f9" y="f8"/>
                  </a:lnTo>
                  <a:lnTo>
                    <a:pt x="f10" y="f5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6" y="f8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CDDAE0">
                <a:alpha val="90000"/>
              </a:srgbClr>
            </a:solidFill>
            <a:ln w="19046" cap="flat">
              <a:solidFill>
                <a:srgbClr val="CDDAE0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20819" tIns="471437" rIns="120819" bIns="165104" anchor="t" anchorCtr="0" compatLnSpc="1">
              <a:noAutofit/>
            </a:bodyPr>
            <a:lstStyle/>
            <a:p>
              <a:pPr marL="0" marR="0" lvl="0" indent="0" algn="l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PW visit doctor along with results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9DBB2B1-8397-40E6-0978-569A231E88BD}"/>
                </a:ext>
              </a:extLst>
            </p:cNvPr>
            <p:cNvSpPr/>
            <p:nvPr/>
          </p:nvSpPr>
          <p:spPr>
            <a:xfrm>
              <a:off x="7001752" y="2886221"/>
              <a:ext cx="1531702" cy="73"/>
            </a:xfrm>
            <a:prstGeom prst="rect">
              <a:avLst/>
            </a:prstGeom>
            <a:solidFill>
              <a:srgbClr val="CDDDE0">
                <a:alpha val="90000"/>
              </a:srgbClr>
            </a:solidFill>
            <a:ln w="19046" cap="flat">
              <a:solidFill>
                <a:srgbClr val="CDDDE0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C67D0F3-A9E9-A6C1-D37F-E45CC6A74560}"/>
                </a:ext>
              </a:extLst>
            </p:cNvPr>
            <p:cNvSpPr/>
            <p:nvPr/>
          </p:nvSpPr>
          <p:spPr>
            <a:xfrm>
              <a:off x="8574301" y="2829016"/>
              <a:ext cx="78290" cy="147190"/>
            </a:xfrm>
            <a:custGeom>
              <a:avLst>
                <a:gd name="f8" fmla="val 9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90000"/>
                <a:gd name="f9" fmla="+- 0 0 -360"/>
                <a:gd name="f10" fmla="+- 0 0 -270"/>
                <a:gd name="f11" fmla="+- 0 0 -180"/>
                <a:gd name="f12" fmla="abs f4"/>
                <a:gd name="f13" fmla="abs f5"/>
                <a:gd name="f14" fmla="abs f6"/>
                <a:gd name="f15" fmla="val f7"/>
                <a:gd name="f16" fmla="val f8"/>
                <a:gd name="f17" fmla="*/ f9 f1 1"/>
                <a:gd name="f18" fmla="*/ f10 f1 1"/>
                <a:gd name="f19" fmla="*/ f11 f1 1"/>
                <a:gd name="f20" fmla="?: f12 f4 1"/>
                <a:gd name="f21" fmla="?: f13 f5 1"/>
                <a:gd name="f22" fmla="?: f14 f6 1"/>
                <a:gd name="f23" fmla="*/ f17 1 f3"/>
                <a:gd name="f24" fmla="*/ f18 1 f3"/>
                <a:gd name="f25" fmla="*/ f19 1 f3"/>
                <a:gd name="f26" fmla="*/ f20 1 21600"/>
                <a:gd name="f27" fmla="*/ f21 1 21600"/>
                <a:gd name="f28" fmla="*/ 21600 f20 1"/>
                <a:gd name="f29" fmla="*/ 21600 f21 1"/>
                <a:gd name="f30" fmla="+- f23 0 f2"/>
                <a:gd name="f31" fmla="+- f24 0 f2"/>
                <a:gd name="f32" fmla="+- f25 0 f2"/>
                <a:gd name="f33" fmla="min f27 f26"/>
                <a:gd name="f34" fmla="*/ f28 1 f22"/>
                <a:gd name="f35" fmla="*/ f29 1 f22"/>
                <a:gd name="f36" fmla="val f34"/>
                <a:gd name="f37" fmla="val f35"/>
                <a:gd name="f38" fmla="*/ f15 f33 1"/>
                <a:gd name="f39" fmla="+- f37 0 f15"/>
                <a:gd name="f40" fmla="+- f36 0 f15"/>
                <a:gd name="f41" fmla="*/ f37 f33 1"/>
                <a:gd name="f42" fmla="*/ f36 f33 1"/>
                <a:gd name="f43" fmla="*/ f39 1 2"/>
                <a:gd name="f44" fmla="min f40 f39"/>
                <a:gd name="f45" fmla="+- f15 f43 0"/>
                <a:gd name="f46" fmla="*/ f44 f16 1"/>
                <a:gd name="f47" fmla="*/ f46 1 100000"/>
                <a:gd name="f48" fmla="*/ f45 f33 1"/>
                <a:gd name="f49" fmla="+- f36 0 f47"/>
                <a:gd name="f50" fmla="*/ f47 f33 1"/>
                <a:gd name="f51" fmla="*/ f49 1 2"/>
                <a:gd name="f52" fmla="+- f49 0 f47"/>
                <a:gd name="f53" fmla="*/ f49 f33 1"/>
                <a:gd name="f54" fmla="?: f52 f47 f15"/>
                <a:gd name="f55" fmla="?: f52 f49 f36"/>
                <a:gd name="f56" fmla="*/ f51 f33 1"/>
                <a:gd name="f57" fmla="*/ f54 f33 1"/>
                <a:gd name="f58" fmla="*/ f55 f3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6" y="f38"/>
                </a:cxn>
                <a:cxn ang="f31">
                  <a:pos x="f50" y="f48"/>
                </a:cxn>
                <a:cxn ang="f32">
                  <a:pos x="f56" y="f41"/>
                </a:cxn>
              </a:cxnLst>
              <a:rect l="f57" t="f38" r="f58" b="f41"/>
              <a:pathLst>
                <a:path>
                  <a:moveTo>
                    <a:pt x="f38" y="f38"/>
                  </a:moveTo>
                  <a:lnTo>
                    <a:pt x="f53" y="f38"/>
                  </a:lnTo>
                  <a:lnTo>
                    <a:pt x="f42" y="f48"/>
                  </a:lnTo>
                  <a:lnTo>
                    <a:pt x="f53" y="f41"/>
                  </a:lnTo>
                  <a:lnTo>
                    <a:pt x="f38" y="f41"/>
                  </a:lnTo>
                  <a:lnTo>
                    <a:pt x="f50" y="f48"/>
                  </a:lnTo>
                  <a:close/>
                </a:path>
              </a:pathLst>
            </a:custGeom>
            <a:solidFill>
              <a:srgbClr val="CDE0E1">
                <a:alpha val="90000"/>
              </a:srgbClr>
            </a:solidFill>
            <a:ln w="19046" cap="flat">
              <a:solidFill>
                <a:srgbClr val="CDE0E1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4BDA1CF-6C7A-15EF-47D5-61449E063A00}"/>
                </a:ext>
              </a:extLst>
            </p:cNvPr>
            <p:cNvSpPr/>
            <p:nvPr/>
          </p:nvSpPr>
          <p:spPr>
            <a:xfrm>
              <a:off x="7441551" y="2560201"/>
              <a:ext cx="652113" cy="65211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52114"/>
                <a:gd name="f7" fmla="val 326057"/>
                <a:gd name="f8" fmla="val 145981"/>
                <a:gd name="f9" fmla="val 506133"/>
                <a:gd name="f10" fmla="+- 0 0 -90"/>
                <a:gd name="f11" fmla="*/ f3 1 652114"/>
                <a:gd name="f12" fmla="*/ f4 1 652114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652114"/>
                <a:gd name="f19" fmla="*/ 0 f16 1"/>
                <a:gd name="f20" fmla="*/ 326057 f16 1"/>
                <a:gd name="f21" fmla="*/ 652114 f16 1"/>
                <a:gd name="f22" fmla="+- f17 0 f1"/>
                <a:gd name="f23" fmla="*/ f19 1 652114"/>
                <a:gd name="f24" fmla="*/ f20 1 652114"/>
                <a:gd name="f25" fmla="*/ f21 1 652114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652114" h="652114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2DA594"/>
            </a:solidFill>
            <a:ln w="19046" cap="flat">
              <a:solidFill>
                <a:srgbClr val="2DA594"/>
              </a:solidFill>
              <a:prstDash val="solid"/>
              <a:miter/>
            </a:ln>
          </p:spPr>
          <p:txBody>
            <a:bodyPr vert="horz" wrap="square" lIns="120810" tIns="120810" rIns="120810" bIns="120810" anchor="ctr" anchorCtr="1" compatLnSpc="1">
              <a:noAutofit/>
            </a:bodyPr>
            <a:lstStyle/>
            <a:p>
              <a:pPr marL="0" marR="0" lvl="0" indent="0" algn="ctr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AAA77B8-5688-534B-9F80-24582263FCA8}"/>
                </a:ext>
              </a:extLst>
            </p:cNvPr>
            <p:cNvSpPr/>
            <p:nvPr/>
          </p:nvSpPr>
          <p:spPr>
            <a:xfrm>
              <a:off x="7001752" y="3377930"/>
              <a:ext cx="1531702" cy="19656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31702"/>
                <a:gd name="f7" fmla="val 1965600"/>
                <a:gd name="f8" fmla="val 306340"/>
                <a:gd name="f9" fmla="val 459511"/>
                <a:gd name="f10" fmla="val 765851"/>
                <a:gd name="f11" fmla="val 1072191"/>
                <a:gd name="f12" fmla="+- 0 0 -90"/>
                <a:gd name="f13" fmla="*/ f3 1 1531702"/>
                <a:gd name="f14" fmla="*/ f4 1 1965600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531702"/>
                <a:gd name="f23" fmla="*/ f19 1 1965600"/>
                <a:gd name="f24" fmla="*/ 0 f20 1"/>
                <a:gd name="f25" fmla="*/ 306340 f19 1"/>
                <a:gd name="f26" fmla="*/ 459511 f20 1"/>
                <a:gd name="f27" fmla="*/ 765851 f20 1"/>
                <a:gd name="f28" fmla="*/ 0 f19 1"/>
                <a:gd name="f29" fmla="*/ 1072191 f20 1"/>
                <a:gd name="f30" fmla="*/ 1531702 f20 1"/>
                <a:gd name="f31" fmla="*/ 1965600 f19 1"/>
                <a:gd name="f32" fmla="+- f21 0 f1"/>
                <a:gd name="f33" fmla="*/ f24 1 1531702"/>
                <a:gd name="f34" fmla="*/ f25 1 1965600"/>
                <a:gd name="f35" fmla="*/ f26 1 1531702"/>
                <a:gd name="f36" fmla="*/ f27 1 1531702"/>
                <a:gd name="f37" fmla="*/ f28 1 1965600"/>
                <a:gd name="f38" fmla="*/ f29 1 1531702"/>
                <a:gd name="f39" fmla="*/ f30 1 1531702"/>
                <a:gd name="f40" fmla="*/ f31 1 1965600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2"/>
                <a:gd name="f49" fmla="*/ f37 1 f23"/>
                <a:gd name="f50" fmla="*/ f38 1 f22"/>
                <a:gd name="f51" fmla="*/ f39 1 f22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3 1"/>
                <a:gd name="f61" fmla="*/ f49 f14 1"/>
                <a:gd name="f62" fmla="*/ f50 f13 1"/>
                <a:gd name="f63" fmla="*/ f51 f13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60" y="f61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3" y="f58"/>
                </a:cxn>
                <a:cxn ang="f32">
                  <a:pos x="f63" y="f64"/>
                </a:cxn>
                <a:cxn ang="f32">
                  <a:pos x="f57" y="f64"/>
                </a:cxn>
                <a:cxn ang="f32">
                  <a:pos x="f57" y="f58"/>
                </a:cxn>
              </a:cxnLst>
              <a:rect l="f53" t="f56" r="f54" b="f55"/>
              <a:pathLst>
                <a:path w="1531702" h="1965600">
                  <a:moveTo>
                    <a:pt x="f5" y="f8"/>
                  </a:moveTo>
                  <a:lnTo>
                    <a:pt x="f9" y="f8"/>
                  </a:lnTo>
                  <a:lnTo>
                    <a:pt x="f9" y="f8"/>
                  </a:lnTo>
                  <a:lnTo>
                    <a:pt x="f9" y="f8"/>
                  </a:lnTo>
                  <a:lnTo>
                    <a:pt x="f10" y="f5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6" y="f8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CDE1DE">
                <a:alpha val="90000"/>
              </a:srgbClr>
            </a:solidFill>
            <a:ln w="19046" cap="flat">
              <a:solidFill>
                <a:srgbClr val="CDE1DE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20819" tIns="471437" rIns="120819" bIns="165104" anchor="t" anchorCtr="0" compatLnSpc="1">
              <a:noAutofit/>
            </a:bodyPr>
            <a:lstStyle/>
            <a:p>
              <a:pPr marL="0" marR="0" lvl="0" indent="0" algn="l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Doctor examine the PW and label High risk/ non High Risk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5A56995-F401-2E63-E5F6-C1BA189BFCC1}"/>
                </a:ext>
              </a:extLst>
            </p:cNvPr>
            <p:cNvSpPr/>
            <p:nvPr/>
          </p:nvSpPr>
          <p:spPr>
            <a:xfrm>
              <a:off x="8703652" y="2886221"/>
              <a:ext cx="1531702" cy="73"/>
            </a:xfrm>
            <a:prstGeom prst="rect">
              <a:avLst/>
            </a:prstGeom>
            <a:solidFill>
              <a:srgbClr val="CDE1DB">
                <a:alpha val="90000"/>
              </a:srgbClr>
            </a:solidFill>
            <a:ln w="19046" cap="flat">
              <a:solidFill>
                <a:srgbClr val="CDE1DB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5BE18EF-E8B6-642C-80CC-0C4813AEB0F1}"/>
                </a:ext>
              </a:extLst>
            </p:cNvPr>
            <p:cNvSpPr/>
            <p:nvPr/>
          </p:nvSpPr>
          <p:spPr>
            <a:xfrm>
              <a:off x="10276200" y="2829016"/>
              <a:ext cx="78290" cy="147190"/>
            </a:xfrm>
            <a:custGeom>
              <a:avLst>
                <a:gd name="f8" fmla="val 9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90000"/>
                <a:gd name="f9" fmla="+- 0 0 -360"/>
                <a:gd name="f10" fmla="+- 0 0 -270"/>
                <a:gd name="f11" fmla="+- 0 0 -180"/>
                <a:gd name="f12" fmla="abs f4"/>
                <a:gd name="f13" fmla="abs f5"/>
                <a:gd name="f14" fmla="abs f6"/>
                <a:gd name="f15" fmla="val f7"/>
                <a:gd name="f16" fmla="val f8"/>
                <a:gd name="f17" fmla="*/ f9 f1 1"/>
                <a:gd name="f18" fmla="*/ f10 f1 1"/>
                <a:gd name="f19" fmla="*/ f11 f1 1"/>
                <a:gd name="f20" fmla="?: f12 f4 1"/>
                <a:gd name="f21" fmla="?: f13 f5 1"/>
                <a:gd name="f22" fmla="?: f14 f6 1"/>
                <a:gd name="f23" fmla="*/ f17 1 f3"/>
                <a:gd name="f24" fmla="*/ f18 1 f3"/>
                <a:gd name="f25" fmla="*/ f19 1 f3"/>
                <a:gd name="f26" fmla="*/ f20 1 21600"/>
                <a:gd name="f27" fmla="*/ f21 1 21600"/>
                <a:gd name="f28" fmla="*/ 21600 f20 1"/>
                <a:gd name="f29" fmla="*/ 21600 f21 1"/>
                <a:gd name="f30" fmla="+- f23 0 f2"/>
                <a:gd name="f31" fmla="+- f24 0 f2"/>
                <a:gd name="f32" fmla="+- f25 0 f2"/>
                <a:gd name="f33" fmla="min f27 f26"/>
                <a:gd name="f34" fmla="*/ f28 1 f22"/>
                <a:gd name="f35" fmla="*/ f29 1 f22"/>
                <a:gd name="f36" fmla="val f34"/>
                <a:gd name="f37" fmla="val f35"/>
                <a:gd name="f38" fmla="*/ f15 f33 1"/>
                <a:gd name="f39" fmla="+- f37 0 f15"/>
                <a:gd name="f40" fmla="+- f36 0 f15"/>
                <a:gd name="f41" fmla="*/ f37 f33 1"/>
                <a:gd name="f42" fmla="*/ f36 f33 1"/>
                <a:gd name="f43" fmla="*/ f39 1 2"/>
                <a:gd name="f44" fmla="min f40 f39"/>
                <a:gd name="f45" fmla="+- f15 f43 0"/>
                <a:gd name="f46" fmla="*/ f44 f16 1"/>
                <a:gd name="f47" fmla="*/ f46 1 100000"/>
                <a:gd name="f48" fmla="*/ f45 f33 1"/>
                <a:gd name="f49" fmla="+- f36 0 f47"/>
                <a:gd name="f50" fmla="*/ f47 f33 1"/>
                <a:gd name="f51" fmla="*/ f49 1 2"/>
                <a:gd name="f52" fmla="+- f49 0 f47"/>
                <a:gd name="f53" fmla="*/ f49 f33 1"/>
                <a:gd name="f54" fmla="?: f52 f47 f15"/>
                <a:gd name="f55" fmla="?: f52 f49 f36"/>
                <a:gd name="f56" fmla="*/ f51 f33 1"/>
                <a:gd name="f57" fmla="*/ f54 f33 1"/>
                <a:gd name="f58" fmla="*/ f55 f3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6" y="f38"/>
                </a:cxn>
                <a:cxn ang="f31">
                  <a:pos x="f50" y="f48"/>
                </a:cxn>
                <a:cxn ang="f32">
                  <a:pos x="f56" y="f41"/>
                </a:cxn>
              </a:cxnLst>
              <a:rect l="f57" t="f38" r="f58" b="f41"/>
              <a:pathLst>
                <a:path>
                  <a:moveTo>
                    <a:pt x="f38" y="f38"/>
                  </a:moveTo>
                  <a:lnTo>
                    <a:pt x="f53" y="f38"/>
                  </a:lnTo>
                  <a:lnTo>
                    <a:pt x="f42" y="f48"/>
                  </a:lnTo>
                  <a:lnTo>
                    <a:pt x="f53" y="f41"/>
                  </a:lnTo>
                  <a:lnTo>
                    <a:pt x="f38" y="f41"/>
                  </a:lnTo>
                  <a:lnTo>
                    <a:pt x="f50" y="f48"/>
                  </a:lnTo>
                  <a:close/>
                </a:path>
              </a:pathLst>
            </a:custGeom>
            <a:solidFill>
              <a:srgbClr val="CDE1D7">
                <a:alpha val="90000"/>
              </a:srgbClr>
            </a:solidFill>
            <a:ln w="19046" cap="flat">
              <a:solidFill>
                <a:srgbClr val="CDE1D7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857555-5293-E80B-255D-ED4303B8035F}"/>
                </a:ext>
              </a:extLst>
            </p:cNvPr>
            <p:cNvSpPr/>
            <p:nvPr/>
          </p:nvSpPr>
          <p:spPr>
            <a:xfrm>
              <a:off x="9143442" y="2560201"/>
              <a:ext cx="652113" cy="65211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52114"/>
                <a:gd name="f7" fmla="val 326057"/>
                <a:gd name="f8" fmla="val 145981"/>
                <a:gd name="f9" fmla="val 506133"/>
                <a:gd name="f10" fmla="+- 0 0 -90"/>
                <a:gd name="f11" fmla="*/ f3 1 652114"/>
                <a:gd name="f12" fmla="*/ f4 1 652114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652114"/>
                <a:gd name="f19" fmla="*/ 0 f16 1"/>
                <a:gd name="f20" fmla="*/ 326057 f16 1"/>
                <a:gd name="f21" fmla="*/ 652114 f16 1"/>
                <a:gd name="f22" fmla="+- f17 0 f1"/>
                <a:gd name="f23" fmla="*/ f19 1 652114"/>
                <a:gd name="f24" fmla="*/ f20 1 652114"/>
                <a:gd name="f25" fmla="*/ f21 1 652114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652114" h="652114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2DA651"/>
            </a:solidFill>
            <a:ln w="19046" cap="flat">
              <a:solidFill>
                <a:srgbClr val="2DA651"/>
              </a:solidFill>
              <a:prstDash val="solid"/>
              <a:miter/>
            </a:ln>
          </p:spPr>
          <p:txBody>
            <a:bodyPr vert="horz" wrap="square" lIns="120810" tIns="120810" rIns="120810" bIns="120810" anchor="ctr" anchorCtr="1" compatLnSpc="1">
              <a:noAutofit/>
            </a:bodyPr>
            <a:lstStyle/>
            <a:p>
              <a:pPr marL="0" marR="0" lvl="0" indent="0" algn="ctr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1ACF31-17E8-D22F-9771-C7E568A69475}"/>
                </a:ext>
              </a:extLst>
            </p:cNvPr>
            <p:cNvSpPr/>
            <p:nvPr/>
          </p:nvSpPr>
          <p:spPr>
            <a:xfrm>
              <a:off x="8703652" y="3377930"/>
              <a:ext cx="1531702" cy="19656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31702"/>
                <a:gd name="f7" fmla="val 1965600"/>
                <a:gd name="f8" fmla="val 306340"/>
                <a:gd name="f9" fmla="val 459511"/>
                <a:gd name="f10" fmla="val 765851"/>
                <a:gd name="f11" fmla="val 1072191"/>
                <a:gd name="f12" fmla="+- 0 0 -90"/>
                <a:gd name="f13" fmla="*/ f3 1 1531702"/>
                <a:gd name="f14" fmla="*/ f4 1 1965600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531702"/>
                <a:gd name="f23" fmla="*/ f19 1 1965600"/>
                <a:gd name="f24" fmla="*/ 0 f20 1"/>
                <a:gd name="f25" fmla="*/ 306340 f19 1"/>
                <a:gd name="f26" fmla="*/ 459511 f20 1"/>
                <a:gd name="f27" fmla="*/ 765851 f20 1"/>
                <a:gd name="f28" fmla="*/ 0 f19 1"/>
                <a:gd name="f29" fmla="*/ 1072191 f20 1"/>
                <a:gd name="f30" fmla="*/ 1531702 f20 1"/>
                <a:gd name="f31" fmla="*/ 1965600 f19 1"/>
                <a:gd name="f32" fmla="+- f21 0 f1"/>
                <a:gd name="f33" fmla="*/ f24 1 1531702"/>
                <a:gd name="f34" fmla="*/ f25 1 1965600"/>
                <a:gd name="f35" fmla="*/ f26 1 1531702"/>
                <a:gd name="f36" fmla="*/ f27 1 1531702"/>
                <a:gd name="f37" fmla="*/ f28 1 1965600"/>
                <a:gd name="f38" fmla="*/ f29 1 1531702"/>
                <a:gd name="f39" fmla="*/ f30 1 1531702"/>
                <a:gd name="f40" fmla="*/ f31 1 1965600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2"/>
                <a:gd name="f49" fmla="*/ f37 1 f23"/>
                <a:gd name="f50" fmla="*/ f38 1 f22"/>
                <a:gd name="f51" fmla="*/ f39 1 f22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3 1"/>
                <a:gd name="f61" fmla="*/ f49 f14 1"/>
                <a:gd name="f62" fmla="*/ f50 f13 1"/>
                <a:gd name="f63" fmla="*/ f51 f13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60" y="f61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3" y="f58"/>
                </a:cxn>
                <a:cxn ang="f32">
                  <a:pos x="f63" y="f64"/>
                </a:cxn>
                <a:cxn ang="f32">
                  <a:pos x="f57" y="f64"/>
                </a:cxn>
                <a:cxn ang="f32">
                  <a:pos x="f57" y="f58"/>
                </a:cxn>
              </a:cxnLst>
              <a:rect l="f53" t="f56" r="f54" b="f55"/>
              <a:pathLst>
                <a:path w="1531702" h="1965600">
                  <a:moveTo>
                    <a:pt x="f5" y="f8"/>
                  </a:moveTo>
                  <a:lnTo>
                    <a:pt x="f9" y="f8"/>
                  </a:lnTo>
                  <a:lnTo>
                    <a:pt x="f9" y="f8"/>
                  </a:lnTo>
                  <a:lnTo>
                    <a:pt x="f9" y="f8"/>
                  </a:lnTo>
                  <a:lnTo>
                    <a:pt x="f10" y="f5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6" y="f8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CDE1D4">
                <a:alpha val="90000"/>
              </a:srgbClr>
            </a:solidFill>
            <a:ln w="19046" cap="flat">
              <a:solidFill>
                <a:srgbClr val="CDE1D4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20819" tIns="471437" rIns="120819" bIns="165104" anchor="t" anchorCtr="0" compatLnSpc="1">
              <a:noAutofit/>
            </a:bodyPr>
            <a:lstStyle/>
            <a:p>
              <a:pPr marL="0" marR="0" lvl="0" indent="0" algn="l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Referred for USG and report back to doctor modify HRP based on additional findings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F9C21DB-C847-E3F8-B690-BB505FB8C6F4}"/>
                </a:ext>
              </a:extLst>
            </p:cNvPr>
            <p:cNvSpPr/>
            <p:nvPr/>
          </p:nvSpPr>
          <p:spPr>
            <a:xfrm>
              <a:off x="10405542" y="2886221"/>
              <a:ext cx="766596" cy="73"/>
            </a:xfrm>
            <a:prstGeom prst="rect">
              <a:avLst/>
            </a:prstGeom>
            <a:solidFill>
              <a:srgbClr val="CDE1D1">
                <a:alpha val="90000"/>
              </a:srgbClr>
            </a:solidFill>
            <a:ln w="19046" cap="flat">
              <a:solidFill>
                <a:srgbClr val="CDE1D1">
                  <a:alpha val="90000"/>
                </a:srgbClr>
              </a:solidFill>
              <a:prstDash val="solid"/>
              <a:miter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1FBEF1D-371A-ED4B-9DD4-123DD115A61D}"/>
                </a:ext>
              </a:extLst>
            </p:cNvPr>
            <p:cNvSpPr/>
            <p:nvPr/>
          </p:nvSpPr>
          <p:spPr>
            <a:xfrm>
              <a:off x="10846082" y="2560201"/>
              <a:ext cx="652113" cy="65211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52114"/>
                <a:gd name="f7" fmla="val 326057"/>
                <a:gd name="f8" fmla="val 145981"/>
                <a:gd name="f9" fmla="val 506133"/>
                <a:gd name="f10" fmla="+- 0 0 -90"/>
                <a:gd name="f11" fmla="*/ f3 1 652114"/>
                <a:gd name="f12" fmla="*/ f4 1 652114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652114"/>
                <a:gd name="f19" fmla="*/ 0 f16 1"/>
                <a:gd name="f20" fmla="*/ 326057 f16 1"/>
                <a:gd name="f21" fmla="*/ 652114 f16 1"/>
                <a:gd name="f22" fmla="+- f17 0 f1"/>
                <a:gd name="f23" fmla="*/ f19 1 652114"/>
                <a:gd name="f24" fmla="*/ f20 1 652114"/>
                <a:gd name="f25" fmla="*/ f21 1 652114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652114" h="652114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4EA72E"/>
            </a:solidFill>
            <a:ln w="19046" cap="flat">
              <a:solidFill>
                <a:srgbClr val="4EA72E"/>
              </a:solidFill>
              <a:prstDash val="solid"/>
              <a:miter/>
            </a:ln>
          </p:spPr>
          <p:txBody>
            <a:bodyPr vert="horz" wrap="square" lIns="120810" tIns="120810" rIns="120810" bIns="120810" anchor="ctr" anchorCtr="1" compatLnSpc="1">
              <a:noAutofit/>
            </a:bodyPr>
            <a:lstStyle/>
            <a:p>
              <a:pPr marL="0" marR="0" lvl="0" indent="0" algn="ctr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E483F8A-3B74-7D10-AF8D-07297A9D3651}"/>
                </a:ext>
              </a:extLst>
            </p:cNvPr>
            <p:cNvSpPr/>
            <p:nvPr/>
          </p:nvSpPr>
          <p:spPr>
            <a:xfrm>
              <a:off x="10405542" y="3377930"/>
              <a:ext cx="1596743" cy="19656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96746"/>
                <a:gd name="f7" fmla="val 1965600"/>
                <a:gd name="f8" fmla="val 319349"/>
                <a:gd name="f9" fmla="val 479024"/>
                <a:gd name="f10" fmla="val 798373"/>
                <a:gd name="f11" fmla="val 1117722"/>
                <a:gd name="f12" fmla="+- 0 0 -90"/>
                <a:gd name="f13" fmla="*/ f3 1 1596746"/>
                <a:gd name="f14" fmla="*/ f4 1 1965600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596746"/>
                <a:gd name="f23" fmla="*/ f19 1 1965600"/>
                <a:gd name="f24" fmla="*/ 0 f20 1"/>
                <a:gd name="f25" fmla="*/ 319349 f19 1"/>
                <a:gd name="f26" fmla="*/ 479024 f20 1"/>
                <a:gd name="f27" fmla="*/ 798373 f20 1"/>
                <a:gd name="f28" fmla="*/ 0 f19 1"/>
                <a:gd name="f29" fmla="*/ 1117722 f20 1"/>
                <a:gd name="f30" fmla="*/ 1596746 f20 1"/>
                <a:gd name="f31" fmla="*/ 1965600 f19 1"/>
                <a:gd name="f32" fmla="+- f21 0 f1"/>
                <a:gd name="f33" fmla="*/ f24 1 1596746"/>
                <a:gd name="f34" fmla="*/ f25 1 1965600"/>
                <a:gd name="f35" fmla="*/ f26 1 1596746"/>
                <a:gd name="f36" fmla="*/ f27 1 1596746"/>
                <a:gd name="f37" fmla="*/ f28 1 1965600"/>
                <a:gd name="f38" fmla="*/ f29 1 1596746"/>
                <a:gd name="f39" fmla="*/ f30 1 1596746"/>
                <a:gd name="f40" fmla="*/ f31 1 1965600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2"/>
                <a:gd name="f49" fmla="*/ f37 1 f23"/>
                <a:gd name="f50" fmla="*/ f38 1 f22"/>
                <a:gd name="f51" fmla="*/ f39 1 f22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3 1"/>
                <a:gd name="f61" fmla="*/ f49 f14 1"/>
                <a:gd name="f62" fmla="*/ f50 f13 1"/>
                <a:gd name="f63" fmla="*/ f51 f13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59" y="f58"/>
                </a:cxn>
                <a:cxn ang="f32">
                  <a:pos x="f60" y="f61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2" y="f58"/>
                </a:cxn>
                <a:cxn ang="f32">
                  <a:pos x="f63" y="f58"/>
                </a:cxn>
                <a:cxn ang="f32">
                  <a:pos x="f63" y="f64"/>
                </a:cxn>
                <a:cxn ang="f32">
                  <a:pos x="f57" y="f64"/>
                </a:cxn>
                <a:cxn ang="f32">
                  <a:pos x="f57" y="f58"/>
                </a:cxn>
              </a:cxnLst>
              <a:rect l="f53" t="f56" r="f54" b="f55"/>
              <a:pathLst>
                <a:path w="1596746" h="1965600">
                  <a:moveTo>
                    <a:pt x="f5" y="f8"/>
                  </a:moveTo>
                  <a:lnTo>
                    <a:pt x="f9" y="f8"/>
                  </a:lnTo>
                  <a:lnTo>
                    <a:pt x="f9" y="f8"/>
                  </a:lnTo>
                  <a:lnTo>
                    <a:pt x="f9" y="f8"/>
                  </a:lnTo>
                  <a:lnTo>
                    <a:pt x="f10" y="f5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11" y="f8"/>
                  </a:lnTo>
                  <a:lnTo>
                    <a:pt x="f6" y="f8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D0E1CD">
                <a:alpha val="90000"/>
              </a:srgbClr>
            </a:solidFill>
            <a:ln w="19046" cap="flat">
              <a:solidFill>
                <a:srgbClr val="D0E1CD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125949" tIns="484449" rIns="125949" bIns="165104" anchor="t" anchorCtr="0" compatLnSpc="1">
              <a:noAutofit/>
            </a:bodyPr>
            <a:lstStyle/>
            <a:p>
              <a:pPr marL="0" marR="0" lvl="0" indent="0" algn="l" defTabSz="711202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Drugs/Appropriate treatment or referred along with counselling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5B474-8904-6B17-E252-587DA09BF1A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IN"/>
              <a:t>Roles and responsibility of Health care providers</a:t>
            </a:r>
          </a:p>
        </p:txBody>
      </p:sp>
      <p:grpSp>
        <p:nvGrpSpPr>
          <p:cNvPr id="3" name="Content Placeholder 2">
            <a:extLst>
              <a:ext uri="{FF2B5EF4-FFF2-40B4-BE49-F238E27FC236}">
                <a16:creationId xmlns:a16="http://schemas.microsoft.com/office/drawing/2014/main" id="{F4E19CCB-CAED-A027-46AC-20B61ADE0CB2}"/>
              </a:ext>
            </a:extLst>
          </p:cNvPr>
          <p:cNvGrpSpPr/>
          <p:nvPr/>
        </p:nvGrpSpPr>
        <p:grpSpPr>
          <a:xfrm>
            <a:off x="631594" y="1926878"/>
            <a:ext cx="9115717" cy="4228204"/>
            <a:chOff x="631594" y="1926878"/>
            <a:chExt cx="9115717" cy="4228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D2723CE-D72B-BB8E-0C35-2A8238F7BC8E}"/>
                </a:ext>
              </a:extLst>
            </p:cNvPr>
            <p:cNvSpPr/>
            <p:nvPr/>
          </p:nvSpPr>
          <p:spPr>
            <a:xfrm>
              <a:off x="631594" y="2148282"/>
              <a:ext cx="9115717" cy="113400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115719"/>
                <a:gd name="f7" fmla="val 1134000"/>
                <a:gd name="f8" fmla="+- 0 0 -90"/>
                <a:gd name="f9" fmla="*/ f3 1 9115719"/>
                <a:gd name="f10" fmla="*/ f4 1 113400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115719"/>
                <a:gd name="f19" fmla="*/ f15 1 1134000"/>
                <a:gd name="f20" fmla="*/ 0 f16 1"/>
                <a:gd name="f21" fmla="*/ 0 f15 1"/>
                <a:gd name="f22" fmla="*/ 9115719 f16 1"/>
                <a:gd name="f23" fmla="*/ 1134000 f15 1"/>
                <a:gd name="f24" fmla="+- f17 0 f1"/>
                <a:gd name="f25" fmla="*/ f20 1 9115719"/>
                <a:gd name="f26" fmla="*/ f21 1 1134000"/>
                <a:gd name="f27" fmla="*/ f22 1 9115719"/>
                <a:gd name="f28" fmla="*/ f23 1 113400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115719" h="1134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9046" cap="flat">
              <a:solidFill>
                <a:srgbClr val="156082"/>
              </a:solidFill>
              <a:prstDash val="solid"/>
              <a:miter/>
            </a:ln>
          </p:spPr>
          <p:txBody>
            <a:bodyPr vert="horz" wrap="square" lIns="707480" tIns="312423" rIns="707480" bIns="106683" anchor="t" anchorCtr="0" compatLnSpc="1">
              <a:noAutofit/>
            </a:bodyPr>
            <a:lstStyle/>
            <a:p>
              <a:pPr marL="114300" marR="0" lvl="1" indent="-11430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Conduct thorough ANC check-ups.</a:t>
              </a:r>
            </a:p>
            <a:p>
              <a:pPr marL="114300" marR="0" lvl="1" indent="-11430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Identify and manage high-risk pregnancies.</a:t>
              </a:r>
            </a:p>
            <a:p>
              <a:pPr marL="114300" marR="0" lvl="1" indent="-11430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Ensure accurate documentation and reporting.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7553537-210F-60E2-9585-B031683150C5}"/>
                </a:ext>
              </a:extLst>
            </p:cNvPr>
            <p:cNvSpPr/>
            <p:nvPr/>
          </p:nvSpPr>
          <p:spPr>
            <a:xfrm>
              <a:off x="1087377" y="1926878"/>
              <a:ext cx="6381003" cy="4427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381003"/>
                <a:gd name="f7" fmla="val 442800"/>
                <a:gd name="f8" fmla="val 73801"/>
                <a:gd name="f9" fmla="val 33042"/>
                <a:gd name="f10" fmla="val 6307202"/>
                <a:gd name="f11" fmla="val 6347961"/>
                <a:gd name="f12" fmla="val 368999"/>
                <a:gd name="f13" fmla="val 409758"/>
                <a:gd name="f14" fmla="+- 0 0 -90"/>
                <a:gd name="f15" fmla="*/ f3 1 6381003"/>
                <a:gd name="f16" fmla="*/ f4 1 44280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6381003"/>
                <a:gd name="f25" fmla="*/ f21 1 442800"/>
                <a:gd name="f26" fmla="*/ 0 f22 1"/>
                <a:gd name="f27" fmla="*/ 73801 f21 1"/>
                <a:gd name="f28" fmla="*/ 73801 f22 1"/>
                <a:gd name="f29" fmla="*/ 0 f21 1"/>
                <a:gd name="f30" fmla="*/ 6307202 f22 1"/>
                <a:gd name="f31" fmla="*/ 6381003 f22 1"/>
                <a:gd name="f32" fmla="*/ 368999 f21 1"/>
                <a:gd name="f33" fmla="*/ 442800 f21 1"/>
                <a:gd name="f34" fmla="+- f23 0 f1"/>
                <a:gd name="f35" fmla="*/ f26 1 6381003"/>
                <a:gd name="f36" fmla="*/ f27 1 442800"/>
                <a:gd name="f37" fmla="*/ f28 1 6381003"/>
                <a:gd name="f38" fmla="*/ f29 1 442800"/>
                <a:gd name="f39" fmla="*/ f30 1 6381003"/>
                <a:gd name="f40" fmla="*/ f31 1 6381003"/>
                <a:gd name="f41" fmla="*/ f32 1 442800"/>
                <a:gd name="f42" fmla="*/ f33 1 44280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6381003" h="44280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156082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62798" tIns="21616" rIns="262798" bIns="21616" anchor="ctr" anchorCtr="0" compatLnSpc="1">
              <a:noAutofit/>
            </a:bodyPr>
            <a:lstStyle/>
            <a:p>
              <a:pPr marL="0" marR="0" lvl="0" indent="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Obstetricians/ BEmONC trained MO:</a:t>
              </a: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55F8550-DAB9-2256-F748-968B6052823F}"/>
                </a:ext>
              </a:extLst>
            </p:cNvPr>
            <p:cNvSpPr/>
            <p:nvPr/>
          </p:nvSpPr>
          <p:spPr>
            <a:xfrm>
              <a:off x="631594" y="3584676"/>
              <a:ext cx="9115717" cy="113400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115719"/>
                <a:gd name="f7" fmla="val 1134000"/>
                <a:gd name="f8" fmla="+- 0 0 -90"/>
                <a:gd name="f9" fmla="*/ f3 1 9115719"/>
                <a:gd name="f10" fmla="*/ f4 1 113400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115719"/>
                <a:gd name="f19" fmla="*/ f15 1 1134000"/>
                <a:gd name="f20" fmla="*/ 0 f16 1"/>
                <a:gd name="f21" fmla="*/ 0 f15 1"/>
                <a:gd name="f22" fmla="*/ 9115719 f16 1"/>
                <a:gd name="f23" fmla="*/ 1134000 f15 1"/>
                <a:gd name="f24" fmla="+- f17 0 f1"/>
                <a:gd name="f25" fmla="*/ f20 1 9115719"/>
                <a:gd name="f26" fmla="*/ f21 1 1134000"/>
                <a:gd name="f27" fmla="*/ f22 1 9115719"/>
                <a:gd name="f28" fmla="*/ f23 1 113400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115719" h="1134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9046" cap="flat">
              <a:solidFill>
                <a:srgbClr val="156082"/>
              </a:solidFill>
              <a:prstDash val="solid"/>
              <a:miter/>
            </a:ln>
          </p:spPr>
          <p:txBody>
            <a:bodyPr vert="horz" wrap="square" lIns="707480" tIns="312423" rIns="707480" bIns="106683" anchor="t" anchorCtr="0" compatLnSpc="1">
              <a:noAutofit/>
            </a:bodyPr>
            <a:lstStyle/>
            <a:p>
              <a:pPr marL="114300" marR="0" lvl="1" indent="-11430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Assist in ANC procedures.</a:t>
              </a:r>
            </a:p>
            <a:p>
              <a:pPr marL="114300" marR="0" lvl="1" indent="-11430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Facilitate patient flow and comfort.</a:t>
              </a:r>
            </a:p>
            <a:p>
              <a:pPr marL="114300" marR="0" lvl="1" indent="-11430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Provide health education to pregnant women.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678369-3A9C-62E5-C268-8BB5EA4011E5}"/>
                </a:ext>
              </a:extLst>
            </p:cNvPr>
            <p:cNvSpPr/>
            <p:nvPr/>
          </p:nvSpPr>
          <p:spPr>
            <a:xfrm>
              <a:off x="1087377" y="3363282"/>
              <a:ext cx="6381003" cy="4427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381003"/>
                <a:gd name="f7" fmla="val 442800"/>
                <a:gd name="f8" fmla="val 73801"/>
                <a:gd name="f9" fmla="val 33042"/>
                <a:gd name="f10" fmla="val 6307202"/>
                <a:gd name="f11" fmla="val 6347961"/>
                <a:gd name="f12" fmla="val 368999"/>
                <a:gd name="f13" fmla="val 409758"/>
                <a:gd name="f14" fmla="+- 0 0 -90"/>
                <a:gd name="f15" fmla="*/ f3 1 6381003"/>
                <a:gd name="f16" fmla="*/ f4 1 44280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6381003"/>
                <a:gd name="f25" fmla="*/ f21 1 442800"/>
                <a:gd name="f26" fmla="*/ 0 f22 1"/>
                <a:gd name="f27" fmla="*/ 73801 f21 1"/>
                <a:gd name="f28" fmla="*/ 73801 f22 1"/>
                <a:gd name="f29" fmla="*/ 0 f21 1"/>
                <a:gd name="f30" fmla="*/ 6307202 f22 1"/>
                <a:gd name="f31" fmla="*/ 6381003 f22 1"/>
                <a:gd name="f32" fmla="*/ 368999 f21 1"/>
                <a:gd name="f33" fmla="*/ 442800 f21 1"/>
                <a:gd name="f34" fmla="+- f23 0 f1"/>
                <a:gd name="f35" fmla="*/ f26 1 6381003"/>
                <a:gd name="f36" fmla="*/ f27 1 442800"/>
                <a:gd name="f37" fmla="*/ f28 1 6381003"/>
                <a:gd name="f38" fmla="*/ f29 1 442800"/>
                <a:gd name="f39" fmla="*/ f30 1 6381003"/>
                <a:gd name="f40" fmla="*/ f31 1 6381003"/>
                <a:gd name="f41" fmla="*/ f32 1 442800"/>
                <a:gd name="f42" fmla="*/ f33 1 44280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6381003" h="44280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156082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62798" tIns="21616" rIns="262798" bIns="21616" anchor="ctr" anchorCtr="0" compatLnSpc="1">
              <a:noAutofit/>
            </a:bodyPr>
            <a:lstStyle/>
            <a:p>
              <a:pPr marL="0" marR="0" lvl="0" indent="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Nursing Officer and MPHW (F):</a:t>
              </a: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3298A3D-6E60-9A7A-70BA-61A86E9C1689}"/>
                </a:ext>
              </a:extLst>
            </p:cNvPr>
            <p:cNvSpPr/>
            <p:nvPr/>
          </p:nvSpPr>
          <p:spPr>
            <a:xfrm>
              <a:off x="631594" y="5021080"/>
              <a:ext cx="9115717" cy="113400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115719"/>
                <a:gd name="f7" fmla="val 1134000"/>
                <a:gd name="f8" fmla="+- 0 0 -90"/>
                <a:gd name="f9" fmla="*/ f3 1 9115719"/>
                <a:gd name="f10" fmla="*/ f4 1 113400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115719"/>
                <a:gd name="f19" fmla="*/ f15 1 1134000"/>
                <a:gd name="f20" fmla="*/ 0 f16 1"/>
                <a:gd name="f21" fmla="*/ 0 f15 1"/>
                <a:gd name="f22" fmla="*/ 9115719 f16 1"/>
                <a:gd name="f23" fmla="*/ 1134000 f15 1"/>
                <a:gd name="f24" fmla="+- f17 0 f1"/>
                <a:gd name="f25" fmla="*/ f20 1 9115719"/>
                <a:gd name="f26" fmla="*/ f21 1 1134000"/>
                <a:gd name="f27" fmla="*/ f22 1 9115719"/>
                <a:gd name="f28" fmla="*/ f23 1 113400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115719" h="1134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9046" cap="flat">
              <a:solidFill>
                <a:srgbClr val="156082"/>
              </a:solidFill>
              <a:prstDash val="solid"/>
              <a:miter/>
            </a:ln>
          </p:spPr>
          <p:txBody>
            <a:bodyPr vert="horz" wrap="square" lIns="707480" tIns="312423" rIns="707480" bIns="106683" anchor="t" anchorCtr="0" compatLnSpc="1">
              <a:noAutofit/>
            </a:bodyPr>
            <a:lstStyle/>
            <a:p>
              <a:pPr marL="114300" marR="0" lvl="1" indent="-11430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Mobilize pregnant women to attend PMSMA clinics.</a:t>
              </a:r>
            </a:p>
            <a:p>
              <a:pPr marL="114300" marR="0" lvl="1" indent="-11430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Maintain line lists of pregnant women.</a:t>
              </a:r>
            </a:p>
            <a:p>
              <a:pPr marL="114300" marR="0" lvl="1" indent="-11430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Tx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Follow up with high-risk cases.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59D5EDC-49C0-368B-E565-51AFC202FD9F}"/>
                </a:ext>
              </a:extLst>
            </p:cNvPr>
            <p:cNvSpPr/>
            <p:nvPr/>
          </p:nvSpPr>
          <p:spPr>
            <a:xfrm>
              <a:off x="1087377" y="4799676"/>
              <a:ext cx="6381003" cy="4427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381003"/>
                <a:gd name="f7" fmla="val 442800"/>
                <a:gd name="f8" fmla="val 73801"/>
                <a:gd name="f9" fmla="val 33042"/>
                <a:gd name="f10" fmla="val 6307202"/>
                <a:gd name="f11" fmla="val 6347961"/>
                <a:gd name="f12" fmla="val 368999"/>
                <a:gd name="f13" fmla="val 409758"/>
                <a:gd name="f14" fmla="+- 0 0 -90"/>
                <a:gd name="f15" fmla="*/ f3 1 6381003"/>
                <a:gd name="f16" fmla="*/ f4 1 44280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6381003"/>
                <a:gd name="f25" fmla="*/ f21 1 442800"/>
                <a:gd name="f26" fmla="*/ 0 f22 1"/>
                <a:gd name="f27" fmla="*/ 73801 f21 1"/>
                <a:gd name="f28" fmla="*/ 73801 f22 1"/>
                <a:gd name="f29" fmla="*/ 0 f21 1"/>
                <a:gd name="f30" fmla="*/ 6307202 f22 1"/>
                <a:gd name="f31" fmla="*/ 6381003 f22 1"/>
                <a:gd name="f32" fmla="*/ 368999 f21 1"/>
                <a:gd name="f33" fmla="*/ 442800 f21 1"/>
                <a:gd name="f34" fmla="+- f23 0 f1"/>
                <a:gd name="f35" fmla="*/ f26 1 6381003"/>
                <a:gd name="f36" fmla="*/ f27 1 442800"/>
                <a:gd name="f37" fmla="*/ f28 1 6381003"/>
                <a:gd name="f38" fmla="*/ f29 1 442800"/>
                <a:gd name="f39" fmla="*/ f30 1 6381003"/>
                <a:gd name="f40" fmla="*/ f31 1 6381003"/>
                <a:gd name="f41" fmla="*/ f32 1 442800"/>
                <a:gd name="f42" fmla="*/ f33 1 44280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6381003" h="44280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156082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262798" tIns="21616" rIns="262798" bIns="21616" anchor="ctr" anchorCtr="0" compatLnSpc="1">
              <a:noAutofit/>
            </a:bodyPr>
            <a:lstStyle/>
            <a:p>
              <a:pPr marL="0" marR="0" lvl="0" indent="0" algn="l" defTabSz="666753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5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ASHA Workers:</a:t>
              </a: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10F4-14B7-AEC1-3445-0A5E4BCA38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8793" y="553870"/>
            <a:ext cx="11155680" cy="861273"/>
          </a:xfrm>
        </p:spPr>
        <p:txBody>
          <a:bodyPr/>
          <a:lstStyle/>
          <a:p>
            <a:pPr lvl="0"/>
            <a:r>
              <a:rPr lang="en-US"/>
              <a:t>List of PMSMA HRP Condition (25)</a:t>
            </a:r>
            <a:endParaRPr lang="en-IN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6A8F50A9-3CF1-52AE-6B0F-0D4DFD9FE4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6261" y="1293583"/>
          <a:ext cx="11156940" cy="5191816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937982">
                  <a:extLst>
                    <a:ext uri="{9D8B030D-6E8A-4147-A177-3AD203B41FA5}">
                      <a16:colId xmlns:a16="http://schemas.microsoft.com/office/drawing/2014/main" val="3452747497"/>
                    </a:ext>
                  </a:extLst>
                </a:gridCol>
                <a:gridCol w="4640488">
                  <a:extLst>
                    <a:ext uri="{9D8B030D-6E8A-4147-A177-3AD203B41FA5}">
                      <a16:colId xmlns:a16="http://schemas.microsoft.com/office/drawing/2014/main" val="4147596477"/>
                    </a:ext>
                  </a:extLst>
                </a:gridCol>
                <a:gridCol w="1172480">
                  <a:extLst>
                    <a:ext uri="{9D8B030D-6E8A-4147-A177-3AD203B41FA5}">
                      <a16:colId xmlns:a16="http://schemas.microsoft.com/office/drawing/2014/main" val="3341001717"/>
                    </a:ext>
                  </a:extLst>
                </a:gridCol>
                <a:gridCol w="4405990">
                  <a:extLst>
                    <a:ext uri="{9D8B030D-6E8A-4147-A177-3AD203B41FA5}">
                      <a16:colId xmlns:a16="http://schemas.microsoft.com/office/drawing/2014/main" val="89600895"/>
                    </a:ext>
                  </a:extLst>
                </a:gridCol>
              </a:tblGrid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S.L. No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HRP Condition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S.L. No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HRP Condition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241556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HIV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14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Abnormal FHR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321187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Syphilis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15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Teenage Pregnancy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905250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Severe Anemia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16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High Fever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724524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PIH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17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RTI/STI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815782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GDM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18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H/o Still Birth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995343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Hypothyroidism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19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Congenital Malformation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845905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Tuberculosis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20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Negative Blood Group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225843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8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Malaria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21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Early primi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993931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9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Previous LSCS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22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Elderly Primi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691548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10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CPD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23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Grand multipara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24222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11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BOH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24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Short Stature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643779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12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Twins/Multiple Pregnancy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25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Others Specify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637483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13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Hepatitis 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9835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7C26-F818-590A-0330-76EA578FE0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7" y="125638"/>
            <a:ext cx="11136084" cy="418648"/>
          </a:xfrm>
        </p:spPr>
        <p:txBody>
          <a:bodyPr>
            <a:normAutofit fontScale="90000"/>
          </a:bodyPr>
          <a:lstStyle/>
          <a:p>
            <a:pPr lvl="0"/>
            <a:r>
              <a:rPr lang="en-US" sz="3000"/>
              <a:t>Integration of MCP card and PMSMA HRP condition</a:t>
            </a:r>
            <a:endParaRPr lang="en-IN" sz="300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19054DED-9521-0361-6D76-3C86851EF4A5}"/>
              </a:ext>
            </a:extLst>
          </p:cNvPr>
          <p:cNvGraphicFramePr>
            <a:graphicFrameLocks noGrp="1"/>
          </p:cNvGraphicFramePr>
          <p:nvPr/>
        </p:nvGraphicFramePr>
        <p:xfrm>
          <a:off x="294820" y="544287"/>
          <a:ext cx="11156949" cy="585680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875973">
                  <a:extLst>
                    <a:ext uri="{9D8B030D-6E8A-4147-A177-3AD203B41FA5}">
                      <a16:colId xmlns:a16="http://schemas.microsoft.com/office/drawing/2014/main" val="2990909764"/>
                    </a:ext>
                  </a:extLst>
                </a:gridCol>
                <a:gridCol w="2872697">
                  <a:extLst>
                    <a:ext uri="{9D8B030D-6E8A-4147-A177-3AD203B41FA5}">
                      <a16:colId xmlns:a16="http://schemas.microsoft.com/office/drawing/2014/main" val="965620265"/>
                    </a:ext>
                  </a:extLst>
                </a:gridCol>
                <a:gridCol w="6408279">
                  <a:extLst>
                    <a:ext uri="{9D8B030D-6E8A-4147-A177-3AD203B41FA5}">
                      <a16:colId xmlns:a16="http://schemas.microsoft.com/office/drawing/2014/main" val="2233065202"/>
                    </a:ext>
                  </a:extLst>
                </a:gridCol>
              </a:tblGrid>
              <a:tr h="556275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S.L. No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PMSMA HRP Condition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MCP card HRP  Alignment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13910"/>
                  </a:ext>
                </a:extLst>
              </a:tr>
              <a:tr h="302584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1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HIV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HIV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149181"/>
                  </a:ext>
                </a:extLst>
              </a:tr>
              <a:tr h="302584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2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Syphilis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171196"/>
                  </a:ext>
                </a:extLst>
              </a:tr>
              <a:tr h="503294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3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Severe Anemia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Heamoglobin lessthan 7gm%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591086"/>
                  </a:ext>
                </a:extLst>
              </a:tr>
              <a:tr h="302584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4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PIH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BP &gt;140/90mmhg, Urine albumin 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43032"/>
                  </a:ext>
                </a:extLst>
              </a:tr>
              <a:tr h="302584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5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GDM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Urine sugar, OGTT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878632"/>
                  </a:ext>
                </a:extLst>
              </a:tr>
              <a:tr h="31168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6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Hypothyroidism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Thyroid prblem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919167"/>
                  </a:ext>
                </a:extLst>
              </a:tr>
              <a:tr h="302584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7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Tuberculosis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H/O TB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816655"/>
                  </a:ext>
                </a:extLst>
              </a:tr>
              <a:tr h="302584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8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Malaria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Malaria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592601"/>
                  </a:ext>
                </a:extLst>
              </a:tr>
              <a:tr h="302584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9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Previous LSCS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Previous LSCS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005026"/>
                  </a:ext>
                </a:extLst>
              </a:tr>
              <a:tr h="29138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10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CPD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97972"/>
                  </a:ext>
                </a:extLst>
              </a:tr>
              <a:tr h="92217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11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BOH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Prev. LBW, Preterm, IUGR, newborn deaths, Previous H/O APH , H/O PPH, morethan 3 abortion, H/O PIH or eclampsia, primary / Secondary infertility, IVF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414953"/>
                  </a:ext>
                </a:extLst>
              </a:tr>
              <a:tr h="522268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12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Twins/Multiple Pregnancy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481910"/>
                  </a:ext>
                </a:extLst>
              </a:tr>
              <a:tr h="302584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13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Hepatitis B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Hepatitis B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1362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0E3F-4E52-88E2-BAEB-7373353E9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7" y="125638"/>
            <a:ext cx="11136084" cy="418648"/>
          </a:xfrm>
        </p:spPr>
        <p:txBody>
          <a:bodyPr>
            <a:normAutofit fontScale="90000"/>
          </a:bodyPr>
          <a:lstStyle/>
          <a:p>
            <a:pPr lvl="0"/>
            <a:r>
              <a:rPr lang="en-US" sz="3000"/>
              <a:t>Integration of MCP card and PMSMA HRP condition</a:t>
            </a:r>
            <a:endParaRPr lang="en-IN" sz="300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A6F88285-AF7A-40A2-0C4B-F64F773E355E}"/>
              </a:ext>
            </a:extLst>
          </p:cNvPr>
          <p:cNvGraphicFramePr>
            <a:graphicFrameLocks noGrp="1"/>
          </p:cNvGraphicFramePr>
          <p:nvPr/>
        </p:nvGraphicFramePr>
        <p:xfrm>
          <a:off x="315687" y="589275"/>
          <a:ext cx="11457221" cy="6195391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688915">
                  <a:extLst>
                    <a:ext uri="{9D8B030D-6E8A-4147-A177-3AD203B41FA5}">
                      <a16:colId xmlns:a16="http://schemas.microsoft.com/office/drawing/2014/main" val="2942881871"/>
                    </a:ext>
                  </a:extLst>
                </a:gridCol>
                <a:gridCol w="4851550">
                  <a:extLst>
                    <a:ext uri="{9D8B030D-6E8A-4147-A177-3AD203B41FA5}">
                      <a16:colId xmlns:a16="http://schemas.microsoft.com/office/drawing/2014/main" val="304658519"/>
                    </a:ext>
                  </a:extLst>
                </a:gridCol>
                <a:gridCol w="4916756">
                  <a:extLst>
                    <a:ext uri="{9D8B030D-6E8A-4147-A177-3AD203B41FA5}">
                      <a16:colId xmlns:a16="http://schemas.microsoft.com/office/drawing/2014/main" val="568569254"/>
                    </a:ext>
                  </a:extLst>
                </a:gridCol>
              </a:tblGrid>
              <a:tr h="831217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S.L. No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PMSMA HRP Condition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MCP card HRP  Alignment</a:t>
                      </a:r>
                      <a:endParaRPr lang="en-IN"/>
                    </a:p>
                    <a:p>
                      <a:pPr lvl="0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622345"/>
                  </a:ext>
                </a:extLst>
              </a:tr>
              <a:tr h="33710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14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Abnormal FHR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123855"/>
                  </a:ext>
                </a:extLst>
              </a:tr>
              <a:tr h="33710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15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Teenage Pregnancy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If pregnancy less than 18 years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93533"/>
                  </a:ext>
                </a:extLst>
              </a:tr>
              <a:tr h="33710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16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High Fever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Fever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51702"/>
                  </a:ext>
                </a:extLst>
              </a:tr>
              <a:tr h="33710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17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RTI/STI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RTI/STI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98171"/>
                  </a:ext>
                </a:extLst>
              </a:tr>
              <a:tr h="33710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18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H/o Still Birth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Previous Still birth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027502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19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Congenital Malformation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017613"/>
                  </a:ext>
                </a:extLst>
              </a:tr>
              <a:tr h="33710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20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Negative Blood Group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Rh -ve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685981"/>
                  </a:ext>
                </a:extLst>
              </a:tr>
              <a:tr h="33710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21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Early primi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If pregnancy less than 18 years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544116"/>
                  </a:ext>
                </a:extLst>
              </a:tr>
              <a:tr h="33710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22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Elderly Primi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If 1</a:t>
                      </a:r>
                      <a:r>
                        <a:rPr lang="en-US" sz="1600" baseline="30000"/>
                        <a:t>st</a:t>
                      </a:r>
                      <a:r>
                        <a:rPr lang="en-US" sz="1600"/>
                        <a:t> pregnancy morethan 35 years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972763"/>
                  </a:ext>
                </a:extLst>
              </a:tr>
              <a:tr h="324621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23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Grand multipara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More than 4 pregnancy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059206"/>
                  </a:ext>
                </a:extLst>
              </a:tr>
              <a:tr h="337102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24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Short Stature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Height lessthan 140cms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028891"/>
                  </a:ext>
                </a:extLst>
              </a:tr>
              <a:tr h="1268976"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25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Others Specify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/>
                        <a:t>Geographically Hard to reach area, Prev. sx involving Uterus, H/O Diabetes, Heart disease, Kidney disease, H/O Leprosy. Any Pregnancy morethan 35 years, Thalassemia, SCD, weight lessthan 40kgs,ASB, inappropriate wt gain , MUAC Lesstha 23cm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680380"/>
                  </a:ext>
                </a:extLst>
              </a:tr>
              <a:tr h="337102">
                <a:tc>
                  <a:txBody>
                    <a:bodyPr/>
                    <a:lstStyle/>
                    <a:p>
                      <a:pPr lvl="0"/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0479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