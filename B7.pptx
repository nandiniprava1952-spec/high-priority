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diagrams/colors12.xml" ContentType="application/vnd.openxmlformats-officedocument.drawingml.diagramColors+xml"/>
  <Override PartName="/ppt/diagrams/data12.xml" ContentType="application/vnd.openxmlformats-officedocument.drawingml.diagramData+xml"/>
  <Override PartName="/ppt/diagrams/drawing12.xml" ContentType="application/vnd.ms-office.drawingml.diagramDrawing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192.svg" ContentType="image/svg+xml"/>
  <Override PartName="/ppt/media/image194.svg" ContentType="image/svg+xml"/>
  <Override PartName="/ppt/notesMasters/notesMaster1.xml" ContentType="application/vnd.openxmlformats-officedocument.presentationml.notesMaster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837" r:id="rId223"/>
    <p:sldId id="2147470834" r:id="rId224"/>
    <p:sldId id="2147470830" r:id="rId225"/>
    <p:sldId id="2147470831" r:id="rId226"/>
    <p:sldId id="2147470832" r:id="rId227"/>
    <p:sldId id="2147470833" r:id="rId228"/>
    <p:sldId id="272" r:id="rId229"/>
    <p:sldId id="612" r:id="rId230"/>
    <p:sldId id="273" r:id="rId231"/>
    <p:sldId id="616" r:id="rId232"/>
    <p:sldId id="274" r:id="rId233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223" Type="http://schemas.openxmlformats.org/officeDocument/2006/relationships/slide" Target="slides/slide213.xml"/><Relationship Id="rId224" Type="http://schemas.openxmlformats.org/officeDocument/2006/relationships/slide" Target="slides/slide214.xml"/><Relationship Id="rId225" Type="http://schemas.openxmlformats.org/officeDocument/2006/relationships/slide" Target="slides/slide215.xml"/><Relationship Id="rId226" Type="http://schemas.openxmlformats.org/officeDocument/2006/relationships/slide" Target="slides/slide216.xml"/><Relationship Id="rId227" Type="http://schemas.openxmlformats.org/officeDocument/2006/relationships/slide" Target="slides/slide217.xml"/><Relationship Id="rId228" Type="http://schemas.openxmlformats.org/officeDocument/2006/relationships/slide" Target="slides/slide218.xml"/><Relationship Id="rId229" Type="http://schemas.openxmlformats.org/officeDocument/2006/relationships/slide" Target="slides/slide219.xml"/><Relationship Id="rId230" Type="http://schemas.openxmlformats.org/officeDocument/2006/relationships/slide" Target="slides/slide220.xml"/><Relationship Id="rId231" Type="http://schemas.openxmlformats.org/officeDocument/2006/relationships/slide" Target="slides/slide221.xml"/><Relationship Id="rId232" Type="http://schemas.openxmlformats.org/officeDocument/2006/relationships/slide" Target="slides/slide222.xml"/><Relationship Id="rId233" Type="http://schemas.openxmlformats.org/officeDocument/2006/relationships/slide" Target="slides/slide223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diagrams/_rels/data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91.png"/><Relationship Id="rId2" Type="http://schemas.openxmlformats.org/officeDocument/2006/relationships/image" Target="../media/image192.svg"/><Relationship Id="rId3" Type="http://schemas.openxmlformats.org/officeDocument/2006/relationships/image" Target="../media/image193.png"/><Relationship Id="rId4" Type="http://schemas.openxmlformats.org/officeDocument/2006/relationships/image" Target="../media/image194.svg"/></Relationships>
</file>

<file path=ppt/diagrams/_rels/drawing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91.png"/><Relationship Id="rId2" Type="http://schemas.openxmlformats.org/officeDocument/2006/relationships/image" Target="../media/image192.svg"/><Relationship Id="rId3" Type="http://schemas.openxmlformats.org/officeDocument/2006/relationships/image" Target="../media/image193.png"/><Relationship Id="rId4" Type="http://schemas.openxmlformats.org/officeDocument/2006/relationships/image" Target="../media/image194.svg"/></Relationships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2.xml><?xml version="1.0" encoding="utf-8"?>
<dgm:dataModel xmlns:dgm="http://schemas.openxmlformats.org/drawingml/2006/diagram" xmlns:a="http://schemas.openxmlformats.org/drawingml/2006/main">
  <dgm:ptLst>
    <dgm:pt modelId="{C26FCEC0-4D00-4F9F-B8F6-47A96D73448D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F587FB4-FBA8-4EF1-AAFC-08993C9257A3}">
      <dgm:prSet/>
      <dgm:spPr/>
      <dgm:t>
        <a:bodyPr/>
        <a:lstStyle/>
        <a:p>
          <a:pPr>
            <a:defRPr b="1"/>
          </a:pPr>
          <a:r>
            <a:rPr lang="en-US"/>
            <a:t>If hydration is maintained for 6 hours on ORS after rehydration.</a:t>
          </a:r>
        </a:p>
      </dgm:t>
    </dgm:pt>
    <dgm:pt modelId="{26675DE8-932F-4A33-99F7-A94869BAB4BC}" type="parTrans" cxnId="{8FB7395A-F28C-4960-BE46-125946A96203}">
      <dgm:prSet/>
      <dgm:spPr/>
      <dgm:t>
        <a:bodyPr/>
        <a:lstStyle/>
        <a:p>
          <a:endParaRPr lang="en-US"/>
        </a:p>
      </dgm:t>
    </dgm:pt>
    <dgm:pt modelId="{52C2D823-08C4-4715-8AA8-685D7228D101}" type="sibTrans" cxnId="{8FB7395A-F28C-4960-BE46-125946A96203}">
      <dgm:prSet/>
      <dgm:spPr/>
      <dgm:t>
        <a:bodyPr/>
        <a:lstStyle/>
        <a:p>
          <a:endParaRPr lang="en-US"/>
        </a:p>
      </dgm:t>
    </dgm:pt>
    <dgm:pt modelId="{8B7AE286-9955-466D-AF10-43D2CB34AD3F}">
      <dgm:prSet/>
      <dgm:spPr/>
      <dgm:t>
        <a:bodyPr/>
        <a:lstStyle/>
        <a:p>
          <a:pPr>
            <a:defRPr b="1"/>
          </a:pPr>
          <a:r>
            <a:rPr lang="en-US" b="1"/>
            <a:t>Advice</a:t>
          </a:r>
          <a:endParaRPr lang="en-US"/>
        </a:p>
      </dgm:t>
    </dgm:pt>
    <dgm:pt modelId="{5DAF75BA-01AA-4F0D-ABD6-C465460464B6}" type="parTrans" cxnId="{E9B997E4-78AD-4E01-9E26-A7692B1311C1}">
      <dgm:prSet/>
      <dgm:spPr/>
      <dgm:t>
        <a:bodyPr/>
        <a:lstStyle/>
        <a:p>
          <a:endParaRPr lang="en-US"/>
        </a:p>
      </dgm:t>
    </dgm:pt>
    <dgm:pt modelId="{F1F4D79E-E3D0-49C3-BA79-2AF2CFE9B76C}" type="sibTrans" cxnId="{E9B997E4-78AD-4E01-9E26-A7692B1311C1}">
      <dgm:prSet/>
      <dgm:spPr/>
      <dgm:t>
        <a:bodyPr/>
        <a:lstStyle/>
        <a:p>
          <a:endParaRPr lang="en-US"/>
        </a:p>
      </dgm:t>
    </dgm:pt>
    <dgm:pt modelId="{9AC4416E-FA79-42C7-A100-5ED3C5B9B99A}">
      <dgm:prSet/>
      <dgm:spPr/>
      <dgm:t>
        <a:bodyPr/>
        <a:lstStyle/>
        <a:p>
          <a:r>
            <a:rPr lang="en-US"/>
            <a:t>Teach the mother how to prepare ORS solution &amp; Zinc</a:t>
          </a:r>
        </a:p>
      </dgm:t>
    </dgm:pt>
    <dgm:pt modelId="{32732A9F-4448-4123-B4AE-6187A26D2787}" type="parTrans" cxnId="{FB51D523-8AF5-4521-BF75-34C63F4DF3AE}">
      <dgm:prSet/>
      <dgm:spPr/>
      <dgm:t>
        <a:bodyPr/>
        <a:lstStyle/>
        <a:p>
          <a:endParaRPr lang="en-US"/>
        </a:p>
      </dgm:t>
    </dgm:pt>
    <dgm:pt modelId="{B55F0A21-4594-4625-8A83-AFA03D89F710}" type="sibTrans" cxnId="{FB51D523-8AF5-4521-BF75-34C63F4DF3AE}">
      <dgm:prSet/>
      <dgm:spPr/>
      <dgm:t>
        <a:bodyPr/>
        <a:lstStyle/>
        <a:p>
          <a:endParaRPr lang="en-US"/>
        </a:p>
      </dgm:t>
    </dgm:pt>
    <dgm:pt modelId="{1548F5B6-1890-4BEA-9F0E-056326FA6D55}">
      <dgm:prSet/>
      <dgm:spPr/>
      <dgm:t>
        <a:bodyPr/>
        <a:lstStyle/>
        <a:p>
          <a:r>
            <a:rPr lang="en-US"/>
            <a:t>Provide at least 2 packets of ORS &amp; Zinc tablets for 14 days</a:t>
          </a:r>
        </a:p>
      </dgm:t>
    </dgm:pt>
    <dgm:pt modelId="{065C06E1-22B2-4140-92A3-4544EA808B1F}" type="parTrans" cxnId="{16016869-3DD0-4A48-A1A0-46A37235A709}">
      <dgm:prSet/>
      <dgm:spPr/>
      <dgm:t>
        <a:bodyPr/>
        <a:lstStyle/>
        <a:p>
          <a:endParaRPr lang="en-US"/>
        </a:p>
      </dgm:t>
    </dgm:pt>
    <dgm:pt modelId="{BBBAB520-E561-4C09-A52A-1B7C9203A090}" type="sibTrans" cxnId="{16016869-3DD0-4A48-A1A0-46A37235A709}">
      <dgm:prSet/>
      <dgm:spPr/>
      <dgm:t>
        <a:bodyPr/>
        <a:lstStyle/>
        <a:p>
          <a:endParaRPr lang="en-US"/>
        </a:p>
      </dgm:t>
    </dgm:pt>
    <dgm:pt modelId="{5785EEE9-E722-4797-81EC-2D227ABA0934}">
      <dgm:prSet/>
      <dgm:spPr/>
      <dgm:t>
        <a:bodyPr/>
        <a:lstStyle/>
        <a:p>
          <a:r>
            <a:rPr lang="en-US"/>
            <a:t>Counsel on continued feeding with appropriate complementary food</a:t>
          </a:r>
        </a:p>
      </dgm:t>
    </dgm:pt>
    <dgm:pt modelId="{99F3A0DA-6AE2-4A58-BEB7-8B51DF502494}" type="parTrans" cxnId="{19A6D0F2-6751-4845-9DBD-DD7C37E2AFE6}">
      <dgm:prSet/>
      <dgm:spPr/>
      <dgm:t>
        <a:bodyPr/>
        <a:lstStyle/>
        <a:p>
          <a:endParaRPr lang="en-US"/>
        </a:p>
      </dgm:t>
    </dgm:pt>
    <dgm:pt modelId="{BD077AAA-81D5-477E-A565-C60C344C45B3}" type="sibTrans" cxnId="{19A6D0F2-6751-4845-9DBD-DD7C37E2AFE6}">
      <dgm:prSet/>
      <dgm:spPr/>
      <dgm:t>
        <a:bodyPr/>
        <a:lstStyle/>
        <a:p>
          <a:endParaRPr lang="en-US"/>
        </a:p>
      </dgm:t>
    </dgm:pt>
    <dgm:pt modelId="{15107AA4-EA78-4215-BA63-993A9C0334E9}">
      <dgm:prSet/>
      <dgm:spPr/>
      <dgm:t>
        <a:bodyPr/>
        <a:lstStyle/>
        <a:p>
          <a:r>
            <a:rPr lang="en-US"/>
            <a:t>Advice about handwashing, personal cleanliness and use of toilet</a:t>
          </a:r>
        </a:p>
      </dgm:t>
    </dgm:pt>
    <dgm:pt modelId="{F0A4C7A3-46F2-4289-AD1C-6C9F417DD6E5}" type="parTrans" cxnId="{BA572C4F-00BB-482D-BBC8-99C6ABF19E7A}">
      <dgm:prSet/>
      <dgm:spPr/>
      <dgm:t>
        <a:bodyPr/>
        <a:lstStyle/>
        <a:p>
          <a:endParaRPr lang="en-US"/>
        </a:p>
      </dgm:t>
    </dgm:pt>
    <dgm:pt modelId="{E6497E5D-7DAD-441A-8FE3-A0AA1B2F968D}" type="sibTrans" cxnId="{BA572C4F-00BB-482D-BBC8-99C6ABF19E7A}">
      <dgm:prSet/>
      <dgm:spPr/>
      <dgm:t>
        <a:bodyPr/>
        <a:lstStyle/>
        <a:p>
          <a:endParaRPr lang="en-US"/>
        </a:p>
      </dgm:t>
    </dgm:pt>
    <dgm:pt modelId="{245B25F2-72A0-483E-8F08-69CCFE7F4890}" type="pres">
      <dgm:prSet presAssocID="{C26FCEC0-4D00-4F9F-B8F6-47A96D73448D}" presName="root" presStyleCnt="0">
        <dgm:presLayoutVars>
          <dgm:dir/>
          <dgm:resizeHandles val="exact"/>
        </dgm:presLayoutVars>
      </dgm:prSet>
      <dgm:spPr/>
    </dgm:pt>
    <dgm:pt modelId="{A4B693FE-F06F-47AB-AF1C-365BE6AF91F9}" type="pres">
      <dgm:prSet presAssocID="{8F587FB4-FBA8-4EF1-AAFC-08993C9257A3}" presName="compNode" presStyleCnt="0"/>
      <dgm:spPr/>
    </dgm:pt>
    <dgm:pt modelId="{A55764BB-010B-460B-B83D-0AD2F4ABED68}" type="pres">
      <dgm:prSet presAssocID="{8F587FB4-FBA8-4EF1-AAFC-08993C9257A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lash"/>
        </a:ext>
      </dgm:extLst>
    </dgm:pt>
    <dgm:pt modelId="{A2E0823C-F0D6-4FDD-9D14-D64268B64EDF}" type="pres">
      <dgm:prSet presAssocID="{8F587FB4-FBA8-4EF1-AAFC-08993C9257A3}" presName="iconSpace" presStyleCnt="0"/>
      <dgm:spPr/>
    </dgm:pt>
    <dgm:pt modelId="{D5A6C141-33F2-4300-AB67-72F980C7A864}" type="pres">
      <dgm:prSet presAssocID="{8F587FB4-FBA8-4EF1-AAFC-08993C9257A3}" presName="parTx" presStyleLbl="revTx" presStyleIdx="0" presStyleCnt="4">
        <dgm:presLayoutVars>
          <dgm:chMax val="0"/>
          <dgm:chPref val="0"/>
        </dgm:presLayoutVars>
      </dgm:prSet>
      <dgm:spPr/>
    </dgm:pt>
    <dgm:pt modelId="{47E1993C-8537-4E52-887D-1E7830C0E6E9}" type="pres">
      <dgm:prSet presAssocID="{8F587FB4-FBA8-4EF1-AAFC-08993C9257A3}" presName="txSpace" presStyleCnt="0"/>
      <dgm:spPr/>
    </dgm:pt>
    <dgm:pt modelId="{21633775-FA31-407D-A3E0-B88F0E73993C}" type="pres">
      <dgm:prSet presAssocID="{8F587FB4-FBA8-4EF1-AAFC-08993C9257A3}" presName="desTx" presStyleLbl="revTx" presStyleIdx="1" presStyleCnt="4">
        <dgm:presLayoutVars/>
      </dgm:prSet>
      <dgm:spPr/>
    </dgm:pt>
    <dgm:pt modelId="{2DA2DF08-399A-45A2-A2FA-3BC381B8444F}" type="pres">
      <dgm:prSet presAssocID="{52C2D823-08C4-4715-8AA8-685D7228D101}" presName="sibTrans" presStyleCnt="0"/>
      <dgm:spPr/>
    </dgm:pt>
    <dgm:pt modelId="{1D7826E0-D2E7-4632-8962-EE8BEB39EE39}" type="pres">
      <dgm:prSet presAssocID="{8B7AE286-9955-466D-AF10-43D2CB34AD3F}" presName="compNode" presStyleCnt="0"/>
      <dgm:spPr/>
    </dgm:pt>
    <dgm:pt modelId="{EE89DE66-B7A6-4F0B-96BF-A9794E3085E9}" type="pres">
      <dgm:prSet presAssocID="{8B7AE286-9955-466D-AF10-43D2CB34AD3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by bottle"/>
        </a:ext>
      </dgm:extLst>
    </dgm:pt>
    <dgm:pt modelId="{BD813502-BD96-4194-A5AD-8E081DB2528A}" type="pres">
      <dgm:prSet presAssocID="{8B7AE286-9955-466D-AF10-43D2CB34AD3F}" presName="iconSpace" presStyleCnt="0"/>
      <dgm:spPr/>
    </dgm:pt>
    <dgm:pt modelId="{51D5A207-221F-4E83-967F-04CA190ABFAE}" type="pres">
      <dgm:prSet presAssocID="{8B7AE286-9955-466D-AF10-43D2CB34AD3F}" presName="parTx" presStyleLbl="revTx" presStyleIdx="2" presStyleCnt="4">
        <dgm:presLayoutVars>
          <dgm:chMax val="0"/>
          <dgm:chPref val="0"/>
        </dgm:presLayoutVars>
      </dgm:prSet>
      <dgm:spPr/>
    </dgm:pt>
    <dgm:pt modelId="{33825296-ECC0-478D-85A4-2A6624A060D7}" type="pres">
      <dgm:prSet presAssocID="{8B7AE286-9955-466D-AF10-43D2CB34AD3F}" presName="txSpace" presStyleCnt="0"/>
      <dgm:spPr/>
    </dgm:pt>
    <dgm:pt modelId="{AB7E25F7-8260-4FF2-BEE8-53AF630055EB}" type="pres">
      <dgm:prSet presAssocID="{8B7AE286-9955-466D-AF10-43D2CB34AD3F}" presName="desTx" presStyleLbl="revTx" presStyleIdx="3" presStyleCnt="4">
        <dgm:presLayoutVars/>
      </dgm:prSet>
      <dgm:spPr/>
    </dgm:pt>
  </dgm:ptLst>
  <dgm:cxnLst>
    <dgm:cxn modelId="{FC390217-0BA2-4349-A10A-6231444F0584}" type="presOf" srcId="{9AC4416E-FA79-42C7-A100-5ED3C5B9B99A}" destId="{AB7E25F7-8260-4FF2-BEE8-53AF630055EB}" srcOrd="0" destOrd="0" presId="urn:microsoft.com/office/officeart/2018/2/layout/IconLabelDescriptionList"/>
    <dgm:cxn modelId="{4107D122-6B9F-405F-A6B7-7048C23413A7}" type="presOf" srcId="{C26FCEC0-4D00-4F9F-B8F6-47A96D73448D}" destId="{245B25F2-72A0-483E-8F08-69CCFE7F4890}" srcOrd="0" destOrd="0" presId="urn:microsoft.com/office/officeart/2018/2/layout/IconLabelDescriptionList"/>
    <dgm:cxn modelId="{FB51D523-8AF5-4521-BF75-34C63F4DF3AE}" srcId="{8B7AE286-9955-466D-AF10-43D2CB34AD3F}" destId="{9AC4416E-FA79-42C7-A100-5ED3C5B9B99A}" srcOrd="0" destOrd="0" parTransId="{32732A9F-4448-4123-B4AE-6187A26D2787}" sibTransId="{B55F0A21-4594-4625-8A83-AFA03D89F710}"/>
    <dgm:cxn modelId="{44EA8935-6451-443D-82F5-D1152331698F}" type="presOf" srcId="{8B7AE286-9955-466D-AF10-43D2CB34AD3F}" destId="{51D5A207-221F-4E83-967F-04CA190ABFAE}" srcOrd="0" destOrd="0" presId="urn:microsoft.com/office/officeart/2018/2/layout/IconLabelDescriptionList"/>
    <dgm:cxn modelId="{16016869-3DD0-4A48-A1A0-46A37235A709}" srcId="{8B7AE286-9955-466D-AF10-43D2CB34AD3F}" destId="{1548F5B6-1890-4BEA-9F0E-056326FA6D55}" srcOrd="1" destOrd="0" parTransId="{065C06E1-22B2-4140-92A3-4544EA808B1F}" sibTransId="{BBBAB520-E561-4C09-A52A-1B7C9203A090}"/>
    <dgm:cxn modelId="{BA572C4F-00BB-482D-BBC8-99C6ABF19E7A}" srcId="{8B7AE286-9955-466D-AF10-43D2CB34AD3F}" destId="{15107AA4-EA78-4215-BA63-993A9C0334E9}" srcOrd="3" destOrd="0" parTransId="{F0A4C7A3-46F2-4289-AD1C-6C9F417DD6E5}" sibTransId="{E6497E5D-7DAD-441A-8FE3-A0AA1B2F968D}"/>
    <dgm:cxn modelId="{8FB7395A-F28C-4960-BE46-125946A96203}" srcId="{C26FCEC0-4D00-4F9F-B8F6-47A96D73448D}" destId="{8F587FB4-FBA8-4EF1-AAFC-08993C9257A3}" srcOrd="0" destOrd="0" parTransId="{26675DE8-932F-4A33-99F7-A94869BAB4BC}" sibTransId="{52C2D823-08C4-4715-8AA8-685D7228D101}"/>
    <dgm:cxn modelId="{35BB2C8C-C6B4-4102-BD2A-3463DBEDAFAD}" type="presOf" srcId="{5785EEE9-E722-4797-81EC-2D227ABA0934}" destId="{AB7E25F7-8260-4FF2-BEE8-53AF630055EB}" srcOrd="0" destOrd="2" presId="urn:microsoft.com/office/officeart/2018/2/layout/IconLabelDescriptionList"/>
    <dgm:cxn modelId="{8F8C47A7-1949-4459-BBA6-64010926659D}" type="presOf" srcId="{8F587FB4-FBA8-4EF1-AAFC-08993C9257A3}" destId="{D5A6C141-33F2-4300-AB67-72F980C7A864}" srcOrd="0" destOrd="0" presId="urn:microsoft.com/office/officeart/2018/2/layout/IconLabelDescriptionList"/>
    <dgm:cxn modelId="{155AD0AF-017E-4D62-AFE6-204D37FAE9EA}" type="presOf" srcId="{1548F5B6-1890-4BEA-9F0E-056326FA6D55}" destId="{AB7E25F7-8260-4FF2-BEE8-53AF630055EB}" srcOrd="0" destOrd="1" presId="urn:microsoft.com/office/officeart/2018/2/layout/IconLabelDescriptionList"/>
    <dgm:cxn modelId="{CA0E7CD6-C713-4C23-8747-F46B2F0858A2}" type="presOf" srcId="{15107AA4-EA78-4215-BA63-993A9C0334E9}" destId="{AB7E25F7-8260-4FF2-BEE8-53AF630055EB}" srcOrd="0" destOrd="3" presId="urn:microsoft.com/office/officeart/2018/2/layout/IconLabelDescriptionList"/>
    <dgm:cxn modelId="{E9B997E4-78AD-4E01-9E26-A7692B1311C1}" srcId="{C26FCEC0-4D00-4F9F-B8F6-47A96D73448D}" destId="{8B7AE286-9955-466D-AF10-43D2CB34AD3F}" srcOrd="1" destOrd="0" parTransId="{5DAF75BA-01AA-4F0D-ABD6-C465460464B6}" sibTransId="{F1F4D79E-E3D0-49C3-BA79-2AF2CFE9B76C}"/>
    <dgm:cxn modelId="{19A6D0F2-6751-4845-9DBD-DD7C37E2AFE6}" srcId="{8B7AE286-9955-466D-AF10-43D2CB34AD3F}" destId="{5785EEE9-E722-4797-81EC-2D227ABA0934}" srcOrd="2" destOrd="0" parTransId="{99F3A0DA-6AE2-4A58-BEB7-8B51DF502494}" sibTransId="{BD077AAA-81D5-477E-A565-C60C344C45B3}"/>
    <dgm:cxn modelId="{E60C1D24-BE84-4147-A6A3-F5ED2442F44F}" type="presParOf" srcId="{245B25F2-72A0-483E-8F08-69CCFE7F4890}" destId="{A4B693FE-F06F-47AB-AF1C-365BE6AF91F9}" srcOrd="0" destOrd="0" presId="urn:microsoft.com/office/officeart/2018/2/layout/IconLabelDescriptionList"/>
    <dgm:cxn modelId="{917C9553-EB7A-48F3-92DC-676257209BC7}" type="presParOf" srcId="{A4B693FE-F06F-47AB-AF1C-365BE6AF91F9}" destId="{A55764BB-010B-460B-B83D-0AD2F4ABED68}" srcOrd="0" destOrd="0" presId="urn:microsoft.com/office/officeart/2018/2/layout/IconLabelDescriptionList"/>
    <dgm:cxn modelId="{4F8ACB1D-392A-417D-8D28-06CBE1C63A59}" type="presParOf" srcId="{A4B693FE-F06F-47AB-AF1C-365BE6AF91F9}" destId="{A2E0823C-F0D6-4FDD-9D14-D64268B64EDF}" srcOrd="1" destOrd="0" presId="urn:microsoft.com/office/officeart/2018/2/layout/IconLabelDescriptionList"/>
    <dgm:cxn modelId="{6AABCFF8-AF49-4933-980D-CD747AE521D9}" type="presParOf" srcId="{A4B693FE-F06F-47AB-AF1C-365BE6AF91F9}" destId="{D5A6C141-33F2-4300-AB67-72F980C7A864}" srcOrd="2" destOrd="0" presId="urn:microsoft.com/office/officeart/2018/2/layout/IconLabelDescriptionList"/>
    <dgm:cxn modelId="{E8579554-BD3A-4D67-80A5-58F89B3CE8E8}" type="presParOf" srcId="{A4B693FE-F06F-47AB-AF1C-365BE6AF91F9}" destId="{47E1993C-8537-4E52-887D-1E7830C0E6E9}" srcOrd="3" destOrd="0" presId="urn:microsoft.com/office/officeart/2018/2/layout/IconLabelDescriptionList"/>
    <dgm:cxn modelId="{2B9AAE76-34CD-418D-AA43-249481A04CB7}" type="presParOf" srcId="{A4B693FE-F06F-47AB-AF1C-365BE6AF91F9}" destId="{21633775-FA31-407D-A3E0-B88F0E73993C}" srcOrd="4" destOrd="0" presId="urn:microsoft.com/office/officeart/2018/2/layout/IconLabelDescriptionList"/>
    <dgm:cxn modelId="{9F733B91-994F-45D1-B5C2-D85FA16B050E}" type="presParOf" srcId="{245B25F2-72A0-483E-8F08-69CCFE7F4890}" destId="{2DA2DF08-399A-45A2-A2FA-3BC381B8444F}" srcOrd="1" destOrd="0" presId="urn:microsoft.com/office/officeart/2018/2/layout/IconLabelDescriptionList"/>
    <dgm:cxn modelId="{82ACE896-F799-4EFC-9E86-0416BCA06257}" type="presParOf" srcId="{245B25F2-72A0-483E-8F08-69CCFE7F4890}" destId="{1D7826E0-D2E7-4632-8962-EE8BEB39EE39}" srcOrd="2" destOrd="0" presId="urn:microsoft.com/office/officeart/2018/2/layout/IconLabelDescriptionList"/>
    <dgm:cxn modelId="{A27702B1-6CAA-430F-B78E-EE4DDD63909D}" type="presParOf" srcId="{1D7826E0-D2E7-4632-8962-EE8BEB39EE39}" destId="{EE89DE66-B7A6-4F0B-96BF-A9794E3085E9}" srcOrd="0" destOrd="0" presId="urn:microsoft.com/office/officeart/2018/2/layout/IconLabelDescriptionList"/>
    <dgm:cxn modelId="{F8413562-8E80-4E8F-A2A1-C920AAA21DCF}" type="presParOf" srcId="{1D7826E0-D2E7-4632-8962-EE8BEB39EE39}" destId="{BD813502-BD96-4194-A5AD-8E081DB2528A}" srcOrd="1" destOrd="0" presId="urn:microsoft.com/office/officeart/2018/2/layout/IconLabelDescriptionList"/>
    <dgm:cxn modelId="{DB7BF73E-8AD0-4E71-BC8C-46EB4DA513C0}" type="presParOf" srcId="{1D7826E0-D2E7-4632-8962-EE8BEB39EE39}" destId="{51D5A207-221F-4E83-967F-04CA190ABFAE}" srcOrd="2" destOrd="0" presId="urn:microsoft.com/office/officeart/2018/2/layout/IconLabelDescriptionList"/>
    <dgm:cxn modelId="{60B59BA5-ECC4-4C12-BE0D-224F25194725}" type="presParOf" srcId="{1D7826E0-D2E7-4632-8962-EE8BEB39EE39}" destId="{33825296-ECC0-478D-85A4-2A6624A060D7}" srcOrd="3" destOrd="0" presId="urn:microsoft.com/office/officeart/2018/2/layout/IconLabelDescriptionList"/>
    <dgm:cxn modelId="{9F033801-CF3D-40DD-8E1E-85C258202EE6}" type="presParOf" srcId="{1D7826E0-D2E7-4632-8962-EE8BEB39EE39}" destId="{AB7E25F7-8260-4FF2-BEE8-53AF630055EB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5764BB-010B-460B-B83D-0AD2F4ABED68}">
      <dsp:nvSpPr>
        <dsp:cNvPr id="0" name=""/>
        <dsp:cNvSpPr/>
      </dsp:nvSpPr>
      <dsp:spPr>
        <a:xfrm>
          <a:off x="770502" y="26910"/>
          <a:ext cx="1510523" cy="136626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6C141-33F2-4300-AB67-72F980C7A864}">
      <dsp:nvSpPr>
        <dsp:cNvPr id="0" name=""/>
        <dsp:cNvSpPr/>
      </dsp:nvSpPr>
      <dsp:spPr>
        <a:xfrm>
          <a:off x="770502" y="1556251"/>
          <a:ext cx="4315781" cy="585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If hydration is maintained for 6 hours on ORS after rehydration.</a:t>
          </a:r>
        </a:p>
      </dsp:txBody>
      <dsp:txXfrm>
        <a:off x="770502" y="1556251"/>
        <a:ext cx="4315781" cy="585543"/>
      </dsp:txXfrm>
    </dsp:sp>
    <dsp:sp modelId="{21633775-FA31-407D-A3E0-B88F0E73993C}">
      <dsp:nvSpPr>
        <dsp:cNvPr id="0" name=""/>
        <dsp:cNvSpPr/>
      </dsp:nvSpPr>
      <dsp:spPr>
        <a:xfrm>
          <a:off x="770502" y="2217642"/>
          <a:ext cx="4315781" cy="1948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89DE66-B7A6-4F0B-96BF-A9794E3085E9}">
      <dsp:nvSpPr>
        <dsp:cNvPr id="0" name=""/>
        <dsp:cNvSpPr/>
      </dsp:nvSpPr>
      <dsp:spPr>
        <a:xfrm>
          <a:off x="5841545" y="26910"/>
          <a:ext cx="1510523" cy="136626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D5A207-221F-4E83-967F-04CA190ABFAE}">
      <dsp:nvSpPr>
        <dsp:cNvPr id="0" name=""/>
        <dsp:cNvSpPr/>
      </dsp:nvSpPr>
      <dsp:spPr>
        <a:xfrm>
          <a:off x="5841545" y="1556251"/>
          <a:ext cx="4315781" cy="585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b="1" kern="1200"/>
            <a:t>Advice</a:t>
          </a:r>
          <a:endParaRPr lang="en-US" sz="2000" kern="1200"/>
        </a:p>
      </dsp:txBody>
      <dsp:txXfrm>
        <a:off x="5841545" y="1556251"/>
        <a:ext cx="4315781" cy="585543"/>
      </dsp:txXfrm>
    </dsp:sp>
    <dsp:sp modelId="{AB7E25F7-8260-4FF2-BEE8-53AF630055EB}">
      <dsp:nvSpPr>
        <dsp:cNvPr id="0" name=""/>
        <dsp:cNvSpPr/>
      </dsp:nvSpPr>
      <dsp:spPr>
        <a:xfrm>
          <a:off x="5841545" y="2217642"/>
          <a:ext cx="4315781" cy="1948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Teach the mother how to prepare ORS solution &amp; Zinc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Provide at least 2 packets of ORS &amp; Zinc tablets for 14 days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Counsel on continued feeding with appropriate complementary food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Advice about handwashing, personal cleanliness and use of toilet</a:t>
          </a:r>
        </a:p>
      </dsp:txBody>
      <dsp:txXfrm>
        <a:off x="5841545" y="2217642"/>
        <a:ext cx="4315781" cy="1948251"/>
      </dsp:txXfrm>
    </dsp:sp>
  </dsp:spTree>
</dsp:drawing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98BE5-4D10-DBEB-D9F6-18A420E7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2809D-1750-D252-5776-E06C10303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E58E7-D4D4-3FB1-0DB4-5A44B12F4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7254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4635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7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78.png"/><Relationship Id="rId3" Type="http://schemas.openxmlformats.org/officeDocument/2006/relationships/image" Target="../media/image18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3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4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5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6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88.png"/><Relationship Id="rId4" Type="http://schemas.openxmlformats.org/officeDocument/2006/relationships/image" Target="../media/image189.png"/><Relationship Id="rId5" Type="http://schemas.openxmlformats.org/officeDocument/2006/relationships/image" Target="../media/image190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9.xml"/><Relationship Id="rId3" Type="http://schemas.openxmlformats.org/officeDocument/2006/relationships/diagramData" Target="../diagrams/data12.xml"/><Relationship Id="rId4" Type="http://schemas.openxmlformats.org/officeDocument/2006/relationships/diagramLayout" Target="../diagrams/layout12.xml"/><Relationship Id="rId5" Type="http://schemas.openxmlformats.org/officeDocument/2006/relationships/diagramQuickStyle" Target="../diagrams/quickStyle12.xml"/><Relationship Id="rId6" Type="http://schemas.openxmlformats.org/officeDocument/2006/relationships/diagramColors" Target="../diagrams/colors12.xml"/><Relationship Id="rId7" Type="http://schemas.microsoft.com/office/2007/relationships/diagramDrawing" Target="../diagrams/drawing1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95.png"/><Relationship Id="rId4" Type="http://schemas.openxmlformats.org/officeDocument/2006/relationships/image" Target="../media/image196.png"/><Relationship Id="rId5" Type="http://schemas.openxmlformats.org/officeDocument/2006/relationships/image" Target="../media/image184.png"/><Relationship Id="rId6" Type="http://schemas.openxmlformats.org/officeDocument/2006/relationships/image" Target="../media/image183.png"/><Relationship Id="rId7" Type="http://schemas.openxmlformats.org/officeDocument/2006/relationships/image" Target="../media/image197.png"/></Relationships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3F18E-1D61-DA24-F4A2-DA8544412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B8719D4-5292-6180-E090-CA953FBF2C9C}"/>
              </a:ext>
            </a:extLst>
          </p:cNvPr>
          <p:cNvSpPr/>
          <p:nvPr/>
        </p:nvSpPr>
        <p:spPr>
          <a:xfrm>
            <a:off x="640080" y="594360"/>
            <a:ext cx="777240" cy="77724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/home/claude/pptx_build/icons/child_white.png">
            <a:extLst>
              <a:ext uri="{FF2B5EF4-FFF2-40B4-BE49-F238E27FC236}">
                <a16:creationId xmlns:a16="http://schemas.microsoft.com/office/drawing/2014/main" id="{A4ED5469-16C1-88A1-70C2-11E9EB7EC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" y="796442"/>
            <a:ext cx="373075" cy="37307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E3B86E2-B9D9-5EBD-0137-2DADC59025FB}"/>
              </a:ext>
            </a:extLst>
          </p:cNvPr>
          <p:cNvSpPr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2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TOPIC </a:t>
            </a:r>
            <a:r>
              <a:rPr lang="en-US" sz="4400" b="1" kern="0" spc="200" dirty="0">
                <a:solidFill>
                  <a:prstClr val="white"/>
                </a:solidFill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 Display" panose="020B0004020202020204" pitchFamily="34" charset="0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FF71C1B-BE8E-6CC0-3CEC-975024438D52}"/>
              </a:ext>
            </a:extLst>
          </p:cNvPr>
          <p:cNvSpPr/>
          <p:nvPr/>
        </p:nvSpPr>
        <p:spPr>
          <a:xfrm>
            <a:off x="640080" y="265176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Identification &amp; Management of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Childhood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Diarhoea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9E5A7DF-5E83-DA5F-B8E4-EBC0E4E1ABCE}"/>
              </a:ext>
            </a:extLst>
          </p:cNvPr>
          <p:cNvSpPr/>
          <p:nvPr/>
        </p:nvSpPr>
        <p:spPr>
          <a:xfrm>
            <a:off x="658368" y="4846320"/>
            <a:ext cx="2011680" cy="0"/>
          </a:xfrm>
          <a:prstGeom prst="line">
            <a:avLst/>
          </a:prstGeom>
          <a:noFill/>
          <a:ln w="25400">
            <a:solidFill>
              <a:srgbClr val="14919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9CC7285-F39B-EEFB-560B-048800DD13B2}"/>
              </a:ext>
            </a:extLst>
          </p:cNvPr>
          <p:cNvSpPr/>
          <p:nvPr/>
        </p:nvSpPr>
        <p:spPr>
          <a:xfrm>
            <a:off x="640080" y="5029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Presenter: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Dr. Lingaraj Pradhan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903590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E00F3-9F14-2868-0604-DFC6A8AD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9609DB-1D33-56C8-4216-F70C70DF80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90" t="2718" r="3105"/>
          <a:stretch>
            <a:fillRect/>
          </a:stretch>
        </p:blipFill>
        <p:spPr>
          <a:xfrm>
            <a:off x="5240952" y="-27384"/>
            <a:ext cx="6903721" cy="4223664"/>
          </a:xfrm>
          <a:custGeom>
            <a:avLst/>
            <a:gdLst/>
            <a:ahLst/>
            <a:cxnLst/>
            <a:rect l="l" t="t" r="r" b="b"/>
            <a:pathLst>
              <a:path w="6006950" h="4187672">
                <a:moveTo>
                  <a:pt x="9223" y="0"/>
                </a:moveTo>
                <a:lnTo>
                  <a:pt x="6006950" y="0"/>
                </a:lnTo>
                <a:lnTo>
                  <a:pt x="6006950" y="4169490"/>
                </a:lnTo>
                <a:lnTo>
                  <a:pt x="5787907" y="4174448"/>
                </a:lnTo>
                <a:cubicBezTo>
                  <a:pt x="5713866" y="4173475"/>
                  <a:pt x="5639861" y="4169853"/>
                  <a:pt x="5566029" y="4163587"/>
                </a:cubicBezTo>
                <a:cubicBezTo>
                  <a:pt x="5458843" y="4155595"/>
                  <a:pt x="5350768" y="4144559"/>
                  <a:pt x="5244343" y="4164855"/>
                </a:cubicBezTo>
                <a:cubicBezTo>
                  <a:pt x="5127517" y="4187307"/>
                  <a:pt x="5010817" y="4187434"/>
                  <a:pt x="4892977" y="4181726"/>
                </a:cubicBezTo>
                <a:cubicBezTo>
                  <a:pt x="4792260" y="4176906"/>
                  <a:pt x="4691923" y="4151536"/>
                  <a:pt x="4590445" y="4178301"/>
                </a:cubicBezTo>
                <a:cubicBezTo>
                  <a:pt x="4580348" y="4179772"/>
                  <a:pt x="4570061" y="4179341"/>
                  <a:pt x="4560128" y="4177032"/>
                </a:cubicBezTo>
                <a:cubicBezTo>
                  <a:pt x="4449137" y="4161684"/>
                  <a:pt x="4337384" y="4174242"/>
                  <a:pt x="4226013" y="4169929"/>
                </a:cubicBezTo>
                <a:cubicBezTo>
                  <a:pt x="4174640" y="4167899"/>
                  <a:pt x="4122252" y="4169041"/>
                  <a:pt x="4071513" y="4163587"/>
                </a:cubicBezTo>
                <a:cubicBezTo>
                  <a:pt x="3955067" y="4151156"/>
                  <a:pt x="3838874" y="4144559"/>
                  <a:pt x="3723697" y="4173861"/>
                </a:cubicBezTo>
                <a:cubicBezTo>
                  <a:pt x="3690082" y="4181764"/>
                  <a:pt x="3655732" y="4186013"/>
                  <a:pt x="3621204" y="4186546"/>
                </a:cubicBezTo>
                <a:cubicBezTo>
                  <a:pt x="3508437" y="4190605"/>
                  <a:pt x="3396050" y="4182867"/>
                  <a:pt x="3283664" y="4176525"/>
                </a:cubicBezTo>
                <a:cubicBezTo>
                  <a:pt x="3205652" y="4172085"/>
                  <a:pt x="3127768" y="4162445"/>
                  <a:pt x="3049630" y="4170563"/>
                </a:cubicBezTo>
                <a:cubicBezTo>
                  <a:pt x="3004218" y="4175257"/>
                  <a:pt x="2958427" y="4175257"/>
                  <a:pt x="2913015" y="4170563"/>
                </a:cubicBezTo>
                <a:cubicBezTo>
                  <a:pt x="2829321" y="4160758"/>
                  <a:pt x="2744879" y="4158931"/>
                  <a:pt x="2660842" y="4165109"/>
                </a:cubicBezTo>
                <a:cubicBezTo>
                  <a:pt x="2535390" y="4175891"/>
                  <a:pt x="2410065" y="4184897"/>
                  <a:pt x="2284232" y="4167773"/>
                </a:cubicBezTo>
                <a:cubicBezTo>
                  <a:pt x="2212868" y="4156559"/>
                  <a:pt x="2140312" y="4155240"/>
                  <a:pt x="2068592" y="4163840"/>
                </a:cubicBezTo>
                <a:cubicBezTo>
                  <a:pt x="1897729" y="4187814"/>
                  <a:pt x="1726485" y="4180077"/>
                  <a:pt x="1555241" y="4170183"/>
                </a:cubicBezTo>
                <a:cubicBezTo>
                  <a:pt x="1440824" y="4163460"/>
                  <a:pt x="1325901" y="4151156"/>
                  <a:pt x="1211738" y="4167392"/>
                </a:cubicBezTo>
                <a:cubicBezTo>
                  <a:pt x="1066118" y="4187688"/>
                  <a:pt x="920370" y="4180965"/>
                  <a:pt x="774368" y="4175003"/>
                </a:cubicBezTo>
                <a:cubicBezTo>
                  <a:pt x="667182" y="4170563"/>
                  <a:pt x="559869" y="4157117"/>
                  <a:pt x="452430" y="4173734"/>
                </a:cubicBezTo>
                <a:cubicBezTo>
                  <a:pt x="441369" y="4175244"/>
                  <a:pt x="430117" y="4174115"/>
                  <a:pt x="419576" y="4170436"/>
                </a:cubicBezTo>
                <a:cubicBezTo>
                  <a:pt x="378807" y="4157016"/>
                  <a:pt x="335096" y="4155215"/>
                  <a:pt x="293363" y="4165236"/>
                </a:cubicBezTo>
                <a:cubicBezTo>
                  <a:pt x="216367" y="4182106"/>
                  <a:pt x="139497" y="4189463"/>
                  <a:pt x="61105" y="4174115"/>
                </a:cubicBezTo>
                <a:lnTo>
                  <a:pt x="13323" y="4171265"/>
                </a:lnTo>
                <a:lnTo>
                  <a:pt x="28554" y="3843045"/>
                </a:lnTo>
                <a:cubicBezTo>
                  <a:pt x="30457" y="3722610"/>
                  <a:pt x="27412" y="3602256"/>
                  <a:pt x="15626" y="3482187"/>
                </a:cubicBezTo>
                <a:cubicBezTo>
                  <a:pt x="-847" y="3335690"/>
                  <a:pt x="-4304" y="3188124"/>
                  <a:pt x="5296" y="3041068"/>
                </a:cubicBezTo>
                <a:cubicBezTo>
                  <a:pt x="11786" y="2956911"/>
                  <a:pt x="18539" y="2872754"/>
                  <a:pt x="22776" y="2788472"/>
                </a:cubicBezTo>
                <a:cubicBezTo>
                  <a:pt x="28180" y="2668580"/>
                  <a:pt x="25173" y="2548474"/>
                  <a:pt x="13771" y="2428964"/>
                </a:cubicBezTo>
                <a:cubicBezTo>
                  <a:pt x="4237" y="2337829"/>
                  <a:pt x="3177" y="2246070"/>
                  <a:pt x="10593" y="2154757"/>
                </a:cubicBezTo>
                <a:cubicBezTo>
                  <a:pt x="25690" y="1999286"/>
                  <a:pt x="9931" y="1843813"/>
                  <a:pt x="5032" y="1688466"/>
                </a:cubicBezTo>
                <a:cubicBezTo>
                  <a:pt x="-3577" y="1402691"/>
                  <a:pt x="20393" y="1117045"/>
                  <a:pt x="9666" y="831270"/>
                </a:cubicBezTo>
                <a:cubicBezTo>
                  <a:pt x="3841" y="689908"/>
                  <a:pt x="16420" y="548673"/>
                  <a:pt x="9666" y="407311"/>
                </a:cubicBezTo>
                <a:cubicBezTo>
                  <a:pt x="4105" y="306755"/>
                  <a:pt x="397" y="206200"/>
                  <a:pt x="4105" y="105518"/>
                </a:cubicBezTo>
                <a:cubicBezTo>
                  <a:pt x="5164" y="78059"/>
                  <a:pt x="5826" y="50473"/>
                  <a:pt x="9534" y="23396"/>
                </a:cubicBez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A4D897-B144-A4B3-37EB-771D44211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vert="horz" lIns="109728" tIns="54864" rIns="109728" bIns="54864" rtlCol="0" anchor="ctr">
            <a:normAutofit/>
          </a:bodyPr>
          <a:lstStyle/>
          <a:p>
            <a:pPr defTabSz="1097280"/>
            <a:r>
              <a:rPr lang="en-US" sz="4800" dirty="0">
                <a:latin typeface="Aptos Display" panose="020B0004020202020204" pitchFamily="34" charset="0"/>
              </a:rPr>
              <a:t>Childhood </a:t>
            </a:r>
            <a:r>
              <a:rPr lang="en-US" sz="4800" dirty="0" err="1">
                <a:latin typeface="Aptos Display" panose="020B0004020202020204" pitchFamily="34" charset="0"/>
              </a:rPr>
              <a:t>Diarrhoea</a:t>
            </a:r>
            <a:endParaRPr lang="en-US" sz="4800" dirty="0">
              <a:latin typeface="Aptos Display" panose="020B0004020202020204" pitchFamily="34" charset="0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9D10B5A-FFBD-E664-8070-9AABEF12B3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4294" y="4562856"/>
            <a:ext cx="6903721" cy="1600200"/>
          </a:xfrm>
        </p:spPr>
        <p:txBody>
          <a:bodyPr vert="horz" lIns="109728" tIns="54864" rIns="109728" bIns="54864" rtlCol="0" anchor="ctr">
            <a:normAutofit/>
          </a:bodyPr>
          <a:lstStyle/>
          <a:p>
            <a:pPr algn="just" defTabSz="1097280"/>
            <a:r>
              <a:rPr lang="en-US" sz="2400" dirty="0" err="1">
                <a:latin typeface="Aptos Display" panose="020B0004020202020204" pitchFamily="34" charset="0"/>
              </a:rPr>
              <a:t>Diarrhoea</a:t>
            </a:r>
            <a:r>
              <a:rPr lang="en-US" sz="2400" dirty="0">
                <a:latin typeface="Aptos Display" panose="020B0004020202020204" pitchFamily="34" charset="0"/>
              </a:rPr>
              <a:t> is a </a:t>
            </a:r>
            <a:r>
              <a:rPr lang="en-US" sz="2400" dirty="0">
                <a:solidFill>
                  <a:srgbClr val="FF0000"/>
                </a:solidFill>
                <a:latin typeface="Aptos Display" panose="020B0004020202020204" pitchFamily="34" charset="0"/>
              </a:rPr>
              <a:t>major cause of U5 deaths </a:t>
            </a:r>
            <a:r>
              <a:rPr lang="en-US" sz="2400" dirty="0">
                <a:latin typeface="Aptos Display" panose="020B0004020202020204" pitchFamily="34" charset="0"/>
              </a:rPr>
              <a:t>in the State</a:t>
            </a:r>
          </a:p>
          <a:p>
            <a:pPr algn="just" defTabSz="1097280"/>
            <a:r>
              <a:rPr lang="en-US" sz="2400" dirty="0">
                <a:latin typeface="Aptos Display" panose="020B0004020202020204" pitchFamily="34" charset="0"/>
              </a:rPr>
              <a:t>Odisha has the 2</a:t>
            </a:r>
            <a:r>
              <a:rPr lang="en-US" sz="2400" baseline="30000" dirty="0">
                <a:latin typeface="Aptos Display" panose="020B0004020202020204" pitchFamily="34" charset="0"/>
              </a:rPr>
              <a:t>nd</a:t>
            </a:r>
            <a:r>
              <a:rPr lang="en-US" sz="2400" dirty="0">
                <a:latin typeface="Aptos Display" panose="020B0004020202020204" pitchFamily="34" charset="0"/>
              </a:rPr>
              <a:t> highest prevalence of </a:t>
            </a:r>
            <a:r>
              <a:rPr lang="en-US" sz="2400" dirty="0" err="1">
                <a:latin typeface="Aptos Display" panose="020B0004020202020204" pitchFamily="34" charset="0"/>
              </a:rPr>
              <a:t>diarrhoea</a:t>
            </a:r>
            <a:r>
              <a:rPr lang="en-US" sz="2400" dirty="0">
                <a:latin typeface="Aptos Display" panose="020B0004020202020204" pitchFamily="34" charset="0"/>
              </a:rPr>
              <a:t> in t he country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234F7E-7AF4-7137-2988-373D2DBFFAB4}"/>
              </a:ext>
            </a:extLst>
          </p:cNvPr>
          <p:cNvSpPr/>
          <p:nvPr/>
        </p:nvSpPr>
        <p:spPr>
          <a:xfrm>
            <a:off x="5750362" y="1960037"/>
            <a:ext cx="1468963" cy="6912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5674230-CCA4-2ABA-5B92-76F3D211A6D0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081" y="6091"/>
            <a:ext cx="5223662" cy="419182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1391705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DIARRHOEA · 0–2 MONTHS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Classify Dehydration in Young Infants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39" y="1298448"/>
            <a:ext cx="11276355" cy="401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For young infants, Severe and Some Dehydration share the same urgent pre-referral treatment.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39" y="1783079"/>
            <a:ext cx="3587931" cy="4966063"/>
          </a:xfrm>
          <a:prstGeom prst="roundRect">
            <a:avLst>
              <a:gd name="adj" fmla="val 2078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19" y="1965960"/>
            <a:ext cx="3215159" cy="361168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19" y="1965960"/>
            <a:ext cx="3215159" cy="36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SEVERE DEHYDRATION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19" y="2377440"/>
            <a:ext cx="3215159" cy="300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Two or more of: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19" y="2697480"/>
            <a:ext cx="3215159" cy="160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Movement only when stimulated, or none at all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Sunken eyes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Skin pinch goes back very slowly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19" y="4297680"/>
            <a:ext cx="3215159" cy="0"/>
          </a:xfrm>
          <a:prstGeom prst="line">
            <a:avLst/>
          </a:prstGeom>
          <a:noFill/>
          <a:ln w="9525">
            <a:solidFill>
              <a:srgbClr val="C1440E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19" y="4434840"/>
            <a:ext cx="3215159" cy="231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first dose of </a:t>
            </a:r>
            <a:r>
              <a:rPr lang="en-US" dirty="0">
                <a:solidFill>
                  <a:srgbClr val="C1440E"/>
                </a:solidFill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IM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Ampicillin AND IM gentamicin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Refer URGENTLY to hospital; mother gives frequent ORS sips on the way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Continue breastfeeding; keep the infant warm en route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33671" y="1783079"/>
            <a:ext cx="3587931" cy="4966063"/>
          </a:xfrm>
          <a:prstGeom prst="roundRect">
            <a:avLst>
              <a:gd name="adj" fmla="val 2078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16551" y="1965960"/>
            <a:ext cx="3215159" cy="361168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16551" y="1965960"/>
            <a:ext cx="3215159" cy="36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SOME DEHYDRATION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416551" y="2377440"/>
            <a:ext cx="3215159" cy="300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Two or more of: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16551" y="2697480"/>
            <a:ext cx="3215159" cy="160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Restless or irritable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Sunken eyes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Skin pinch goes back slowly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16551" y="4297680"/>
            <a:ext cx="3215159" cy="0"/>
          </a:xfrm>
          <a:prstGeom prst="line">
            <a:avLst/>
          </a:prstGeom>
          <a:noFill/>
          <a:ln w="9525">
            <a:solidFill>
              <a:srgbClr val="E0A458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16551" y="4434840"/>
            <a:ext cx="3215159" cy="200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B8772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Same as Severe Dehydration: urgent referral with first antibiotic doses</a:t>
            </a: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●"/>
              <a:tabLst/>
              <a:defRPr/>
            </a:pPr>
            <a:r>
              <a:rPr lang="en-US" dirty="0">
                <a:solidFill>
                  <a:srgbClr val="B8772E"/>
                </a:solidFill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Follow Plan B</a:t>
            </a: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●"/>
              <a:tabLst/>
              <a:defRPr/>
            </a:pPr>
            <a:r>
              <a:rPr lang="en-US" dirty="0">
                <a:solidFill>
                  <a:srgbClr val="B8772E"/>
                </a:solidFill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Follow up in 2 days</a:t>
            </a: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●"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B8772E"/>
              </a:solidFill>
              <a:effectLst/>
              <a:uLnTx/>
              <a:uFillTx/>
              <a:latin typeface="Aptos Display" panose="020B0004020202020204" pitchFamily="34" charset="0"/>
              <a:ea typeface="Calibri" pitchFamily="34" charset="-122"/>
              <a:cs typeface="Calibri" pitchFamily="34" charset="-120"/>
            </a:endParaRPr>
          </a:p>
          <a:p>
            <a:pPr marR="0" lvl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18703" y="1783079"/>
            <a:ext cx="3587931" cy="4966063"/>
          </a:xfrm>
          <a:prstGeom prst="roundRect">
            <a:avLst>
              <a:gd name="adj" fmla="val 2078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101583" y="1965960"/>
            <a:ext cx="3215159" cy="36116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101583" y="1965960"/>
            <a:ext cx="3215159" cy="36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 DEHYDRATION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101583" y="2468879"/>
            <a:ext cx="3215159" cy="1003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 enough signs to classify as Some or Severe Dehydration.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01583" y="4297680"/>
            <a:ext cx="3215159" cy="0"/>
          </a:xfrm>
          <a:prstGeom prst="line">
            <a:avLst/>
          </a:prstGeom>
          <a:noFill/>
          <a:ln w="9525">
            <a:solidFill>
              <a:srgbClr val="2E7D5B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101583" y="4434840"/>
            <a:ext cx="3215159" cy="200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Give fluids and breastfeeds to treat diarrhoea at home (Plan A)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Advise mother when to return immediately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Follow-up after 2 days if no improvement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2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DIARRHOEA · 2 MONTHS – 5 YEARS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Classify Dehydration in Children 2 Months–5 Years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83079"/>
            <a:ext cx="3391989" cy="4900749"/>
          </a:xfrm>
          <a:prstGeom prst="roundRect">
            <a:avLst>
              <a:gd name="adj" fmla="val 2078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31520" y="1965959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965959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SEVERE DEHYDRATION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039575" cy="300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Two or more of: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039575" cy="1900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Lethargic or unconscious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Sunken eyes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 able to drink, or drinking poorly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Skin pinch goes back very slowly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4924020"/>
            <a:ext cx="3039575" cy="0"/>
          </a:xfrm>
          <a:prstGeom prst="line">
            <a:avLst/>
          </a:prstGeom>
          <a:noFill/>
          <a:ln w="9525">
            <a:solidFill>
              <a:srgbClr val="C1440E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24845" y="5105714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24844" y="5079945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MANAGEMENT: PLAN C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24846" y="5457186"/>
            <a:ext cx="3039575" cy="110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Refer urgently to hospital with ORS sips on the way; continue breastfeeding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33672" y="1783079"/>
            <a:ext cx="3391989" cy="4900749"/>
          </a:xfrm>
          <a:prstGeom prst="roundRect">
            <a:avLst>
              <a:gd name="adj" fmla="val 2078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416552" y="1965959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416552" y="1965959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SOME DEHYDRATION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16552" y="2377440"/>
            <a:ext cx="3039575" cy="300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Two or more of: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416552" y="2697480"/>
            <a:ext cx="3039575" cy="1900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Restless or irritable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Sunken eyes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Drinks eagerly, thirsty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Skin pinch goes back slowly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16552" y="4572000"/>
            <a:ext cx="3039575" cy="0"/>
          </a:xfrm>
          <a:prstGeom prst="line">
            <a:avLst/>
          </a:prstGeom>
          <a:noFill/>
          <a:ln w="9525">
            <a:solidFill>
              <a:srgbClr val="E0A458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416552" y="4754879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416552" y="4754879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MANAGEMENT: PLAN B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16552" y="5166360"/>
            <a:ext cx="3039575" cy="110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Fluid, zinc, and food for some dehydration. Follow up after 2 days if not improving.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918704" y="1783079"/>
            <a:ext cx="3391989" cy="4900749"/>
          </a:xfrm>
          <a:prstGeom prst="roundRect">
            <a:avLst>
              <a:gd name="adj" fmla="val 2078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01584" y="1965959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101584" y="1965959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 DEHYDRATION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101584" y="2377439"/>
            <a:ext cx="3039575" cy="1500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 enough signs to classify as Some or Severe Dehydration.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101584" y="4572000"/>
            <a:ext cx="3039575" cy="0"/>
          </a:xfrm>
          <a:prstGeom prst="line">
            <a:avLst/>
          </a:prstGeom>
          <a:noFill/>
          <a:ln w="9525">
            <a:solidFill>
              <a:srgbClr val="2E7D5B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101584" y="4754879"/>
            <a:ext cx="3039575" cy="360055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101584" y="4754879"/>
            <a:ext cx="3039575" cy="36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MANAGEMENT: PLAN A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101584" y="5166360"/>
            <a:ext cx="3039575" cy="110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Fluid, zinc, and food to treat diarrhoea at home. Follow up after 5 days if not improving.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2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DIARRHOEA · PLAN A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Plan A: Home Management for No Dehydration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41248"/>
          </a:xfrm>
          <a:prstGeom prst="roundRect">
            <a:avLst>
              <a:gd name="adj" fmla="val 8696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5 steps to prevent dehydration at home:  1. Extra fluids &amp; ORS   2. Zinc for 14 days   3. Continue feeding &amp; hygiene   4. Inform when to return   5. If SAM — refer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ORS + TYPE OF FLUID BY AGE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466430"/>
              </p:ext>
            </p:extLst>
          </p:nvPr>
        </p:nvGraphicFramePr>
        <p:xfrm>
          <a:off x="548640" y="2788920"/>
          <a:ext cx="5394960" cy="132588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&lt; 6 months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&gt; 6 months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Breastfeed frequently (if decreased urination) + ORS + Clean water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Home available fluids + ORS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3891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Home-available fluids: yoghurt, lemon water, rice/dal water, vegetable soup, plain water, tender coconut water.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5423262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77240" y="556042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the child vomits, wait 10 minutes, then start again slowly — continue giving extra fluids.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263640" y="24688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AMOUNT OF ORS AFTER EACH LOOSE STOOL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651189"/>
              </p:ext>
            </p:extLst>
          </p:nvPr>
        </p:nvGraphicFramePr>
        <p:xfrm>
          <a:off x="6359652" y="2952206"/>
          <a:ext cx="5394960" cy="254203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Age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Amount of ORS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&lt; 2 months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5 teaspoons full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2 months – 2 years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50–100 ml (¼–½ glass)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2 – 10 years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100–200 ml (½–1 glass)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&gt; 10 years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As much as wanted, up to 2 L/day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2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DIARRHOEA · PLAN A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Plan A: Zinc, Feeding &amp; When to Return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ZINC SUPPLEMENTATION — 14 DAYS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1354589"/>
              </p:ext>
            </p:extLst>
          </p:nvPr>
        </p:nvGraphicFramePr>
        <p:xfrm>
          <a:off x="548640" y="1801368"/>
          <a:ext cx="5577840" cy="184708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Age</a:t>
                      </a:r>
                      <a:endParaRPr lang="en-US" sz="18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Dose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</a:rPr>
                        <a:t>2–6 months</a:t>
                      </a:r>
                      <a:endParaRPr lang="en-US" sz="18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</a:rPr>
                        <a:t>10 mg (½ tab)/day, dissolved with breast milk in a spoon</a:t>
                      </a:r>
                      <a:endParaRPr lang="en-US" sz="18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</a:rPr>
                        <a:t>&gt; 6 months</a:t>
                      </a:r>
                      <a:endParaRPr lang="en-US" sz="18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</a:rPr>
                        <a:t>20 mg (1 tab)/day, dissolved with clean water in a spoon</a:t>
                      </a:r>
                      <a:endParaRPr lang="en-US" sz="1800" dirty="0"/>
                    </a:p>
                  </a:txBody>
                  <a:tcPr anchor="ctr">
                    <a:lnL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03835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Demonstrate to the mother how to prepare the zinc tablet and supervise the first dose.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8640" y="466213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CONTINUE FEEDING &amp; HYGIENE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33400" y="507361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Continue appropriate complementary feeding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Promote toilet use and handwashing practice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0" y="146304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WHEN TO RETURN IMMEDIATELY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400800" y="1801368"/>
            <a:ext cx="5257800" cy="2834640"/>
          </a:xfrm>
          <a:prstGeom prst="roundRect">
            <a:avLst>
              <a:gd name="adj" fmla="val 2581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629400" y="2011680"/>
            <a:ext cx="4800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Child becomes sicker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 able to drink or breastfeed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Develops fever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Blood in stool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Not able to feed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400800" y="484632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629400" y="4983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B8772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If malnutrition is present: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Special care must be taken during fluid administration or refer.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2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DIARRHOEA · PLAN B &amp; PLAN C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Plan B: Some Dehydration &amp; Plan C: Severe Dehydration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PLAN B — MANAGED AT PHC/CHC BY HW, CHO, OR MO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00646"/>
            <a:ext cx="5394960" cy="4937760"/>
          </a:xfrm>
          <a:prstGeom prst="roundRect">
            <a:avLst>
              <a:gd name="adj" fmla="val 1667"/>
            </a:avLst>
          </a:prstGeom>
          <a:solidFill>
            <a:srgbClr val="FBF0D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2101814"/>
            <a:ext cx="4941602" cy="462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Give ORS 75 ml/kg body weight within 4 hours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If child vomits, wait 10 minutes, then give in small sips; continue breastfeeding if child wants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Reassess after 4 hours: if no dehydration, shift to Plan A; if severe dehydration, refer for Plan C — continue ORS en route, give pre-referral antibiotics if under 2 months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If SAM: give ORS 5 ml/kg/hr every 30 min for 2 hours, then alternate 5 ml/kg/hr ORS with starter diet hourly for next 10 hours; reassess after 4 hours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263640" y="14173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10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PLAN C — SEVERE DEHYDRATION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696712" cy="2723768"/>
          </a:xfrm>
          <a:prstGeom prst="roundRect">
            <a:avLst>
              <a:gd name="adj" fmla="val 2667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275321"/>
              </p:ext>
            </p:extLst>
          </p:nvPr>
        </p:nvGraphicFramePr>
        <p:xfrm>
          <a:off x="6492240" y="1938528"/>
          <a:ext cx="4937760" cy="151790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Age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First give 30 ml/kg in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anose="020B0004020202020204" pitchFamily="34" charset="0"/>
                        </a:rPr>
                        <a:t>Then give 70 ml/kg in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&lt; 1 year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1 hour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5 hours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2E2C"/>
                          </a:solidFill>
                          <a:latin typeface="Aptos Display" panose="020B0004020202020204" pitchFamily="34" charset="0"/>
                        </a:rPr>
                        <a:t>&gt; 1 year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30 minutes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ptos Display" panose="020B0004020202020204" pitchFamily="34" charset="0"/>
                        </a:rPr>
                        <a:t>2.5 hours</a:t>
                      </a:r>
                      <a:endParaRPr lang="en-US" sz="1800" dirty="0"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C9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368142" y="3657600"/>
            <a:ext cx="506185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Start IV immediately (Ringer Lactate; if Normal Saline unavailable). ORS can be given until IV is set up.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4663440"/>
            <a:ext cx="5394960" cy="1810512"/>
          </a:xfrm>
          <a:prstGeom prst="roundRect">
            <a:avLst>
              <a:gd name="adj" fmla="val 5000"/>
            </a:avLst>
          </a:prstGeom>
          <a:solidFill>
            <a:srgbClr val="EAF6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92240" y="4800599"/>
            <a:ext cx="4937760" cy="1471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B4F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pulse, respiration, liver span (to diagnose over-hydration). Repeat dose if radial pulse weak. Reassess every 15–20 min; give fluids more rapidly if not improving.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59AB4C8-9178-4F7A-8404-6890510B5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881" y="457201"/>
            <a:ext cx="10909640" cy="183265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Dose of ORS in 4 hours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4CFDFB37-4BC7-42C6-915D-A6609139B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2343912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3187682"/>
          <a:ext cx="11548875" cy="2975902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402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6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06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8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99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655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387">
                <a:tc gridSpan="7">
                  <a:txBody>
                    <a:bodyPr/>
                    <a:lstStyle/>
                    <a:p>
                      <a:pPr algn="ctr"/>
                      <a:r>
                        <a:rPr lang="en-US" sz="1700"/>
                        <a:t>Amount of ORS as per different age to be given within 4 hours</a:t>
                      </a:r>
                    </a:p>
                  </a:txBody>
                  <a:tcPr marL="95997" marR="95997" marT="47998" marB="47998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379"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Age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Upto 4 months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4 months -1 year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1-2 year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2-5</a:t>
                      </a:r>
                      <a:r>
                        <a:rPr lang="en-US" sz="1700" b="0" baseline="0"/>
                        <a:t> year</a:t>
                      </a:r>
                      <a:endParaRPr lang="en-US" sz="1700" b="0"/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5-14 year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/>
                        <a:t>&gt;15 year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387"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Weight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&lt;5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5-8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8-11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11-16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16-30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/>
                        <a:t>&gt;30 kg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379">
                <a:tc>
                  <a:txBody>
                    <a:bodyPr/>
                    <a:lstStyle/>
                    <a:p>
                      <a:pPr algn="ctr"/>
                      <a:r>
                        <a:rPr lang="en-US" sz="1700"/>
                        <a:t>Quantity of ORS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/>
                        <a:t>200-400 ml (1-2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/>
                        <a:t>400-600 ml (2-3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/>
                        <a:t>600-800 ml (3-4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/>
                        <a:t>800-1200 ml (4-6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/>
                        <a:t>1200-2200 ml (6-11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/>
                        <a:t>2200-4000 ml (11-20 glasses)</a:t>
                      </a:r>
                    </a:p>
                  </a:txBody>
                  <a:tcPr marL="95997" marR="95997" marT="47998" marB="47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2370">
                <a:tc gridSpan="7"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700" b="1"/>
                        <a:t>Use age, if you do not know the weight</a:t>
                      </a: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700" b="1"/>
                        <a:t>If the child wants more ORS, then it can be given</a:t>
                      </a: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700" b="1"/>
                        <a:t>&lt;6 months infants who are not breastfed, give 100ml-200ml clean water during this period along with ORS</a:t>
                      </a:r>
                      <a:endParaRPr lang="en-US" sz="1700"/>
                    </a:p>
                  </a:txBody>
                  <a:tcPr marL="95997" marR="95997" marT="47998" marB="47998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640302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200" normalizeH="0" baseline="0" noProof="0" dirty="0">
                <a:ln>
                  <a:noFill/>
                </a:ln>
                <a:solidFill>
                  <a:srgbClr val="0D7377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DIARRHOEA · PREVENTION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Prevention &amp; Control of Under-5 Diarrhoea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6431" cy="3866605"/>
          </a:xfrm>
          <a:prstGeom prst="roundRect">
            <a:avLst>
              <a:gd name="adj" fmla="val 2162"/>
            </a:avLst>
          </a:prstGeom>
          <a:solidFill>
            <a:srgbClr val="E3F1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E7D5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6" name="Image 0" descr="/home/claude/pptx_build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21543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2E7D5B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PROTECT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77240" y="28346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Exclusive breastfeeding for 6 months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Adequate complementary feeding and supplementary nutrition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Vitamin A supplementation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233671" y="1783080"/>
            <a:ext cx="4100867" cy="4019006"/>
          </a:xfrm>
          <a:prstGeom prst="roundRect">
            <a:avLst>
              <a:gd name="adj" fmla="val 2162"/>
            </a:avLst>
          </a:prstGeom>
          <a:solidFill>
            <a:srgbClr val="EAF6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462272" y="2011680"/>
            <a:ext cx="548640" cy="548640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11" name="Image 1" descr="/home/claude/pptx_build/icons/wat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918" y="215432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48072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4919B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462271" y="2586444"/>
            <a:ext cx="3658472" cy="306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Handwashing and hand hygiene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Safe drinking water and sanitation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Waste disposal and management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Vaccines: Rotavirus &amp; Measles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●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Information, education &amp; communication (IEC) awareness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7E06C1A-67A5-565B-E838-A4CA5646FBE2}"/>
              </a:ext>
            </a:extLst>
          </p:cNvPr>
          <p:cNvGrpSpPr/>
          <p:nvPr/>
        </p:nvGrpSpPr>
        <p:grpSpPr>
          <a:xfrm>
            <a:off x="8517418" y="1737360"/>
            <a:ext cx="3520440" cy="3383280"/>
            <a:chOff x="7918704" y="1783080"/>
            <a:chExt cx="3520440" cy="3383280"/>
          </a:xfrm>
        </p:grpSpPr>
        <p:sp>
          <p:nvSpPr>
            <p:cNvPr id="14" name="Shape 10"/>
            <p:cNvSpPr/>
            <p:nvPr/>
          </p:nvSpPr>
          <p:spPr>
            <a:xfrm>
              <a:off x="7918704" y="1783080"/>
              <a:ext cx="3520440" cy="3383280"/>
            </a:xfrm>
            <a:prstGeom prst="roundRect">
              <a:avLst>
                <a:gd name="adj" fmla="val 2162"/>
              </a:avLst>
            </a:prstGeom>
            <a:solidFill>
              <a:srgbClr val="E0F2F1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5" name="Shape 11"/>
            <p:cNvSpPr/>
            <p:nvPr/>
          </p:nvSpPr>
          <p:spPr>
            <a:xfrm>
              <a:off x="8147304" y="2011680"/>
              <a:ext cx="548640" cy="548640"/>
            </a:xfrm>
            <a:prstGeom prst="ellipse">
              <a:avLst/>
            </a:prstGeom>
            <a:solidFill>
              <a:srgbClr val="0D7377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pic>
          <p:nvPicPr>
            <p:cNvPr id="16" name="Image 2" descr="/home/claude/pptx_build/icons/medservices_whit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89950" y="2154326"/>
              <a:ext cx="263347" cy="263347"/>
            </a:xfrm>
            <a:prstGeom prst="rect">
              <a:avLst/>
            </a:prstGeom>
          </p:spPr>
        </p:pic>
        <p:sp>
          <p:nvSpPr>
            <p:cNvPr id="17" name="Text 12"/>
            <p:cNvSpPr/>
            <p:nvPr/>
          </p:nvSpPr>
          <p:spPr>
            <a:xfrm>
              <a:off x="8833104" y="2084832"/>
              <a:ext cx="24231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B4F4A"/>
                  </a:solidFill>
                  <a:effectLst/>
                  <a:uLnTx/>
                  <a:uFillTx/>
                  <a:latin typeface="Aptos Display" panose="020B0004020202020204" pitchFamily="34" charset="0"/>
                  <a:ea typeface="Cambria" pitchFamily="34" charset="-122"/>
                  <a:cs typeface="Cambria" pitchFamily="34" charset="-120"/>
                </a:rPr>
                <a:t>TREAT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  <p:sp>
          <p:nvSpPr>
            <p:cNvPr id="18" name="Text 13"/>
            <p:cNvSpPr/>
            <p:nvPr/>
          </p:nvSpPr>
          <p:spPr>
            <a:xfrm>
              <a:off x="8147304" y="2834640"/>
              <a:ext cx="306324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16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Improved care-seeking and referral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16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Case management at health facility &amp; community level (Plan A, B, C)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  <a:p>
              <a:pPr marL="203200" marR="0" lvl="0" indent="-20320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1600"/>
                </a:spcAft>
                <a:buClrTx/>
                <a:buSzPct val="100000"/>
                <a:buFontTx/>
                <a:buChar char="●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1A2E2C"/>
                  </a:solidFill>
                  <a:effectLst/>
                  <a:uLnTx/>
                  <a:uFillTx/>
                  <a:latin typeface="Aptos Display" panose="020B0004020202020204" pitchFamily="34" charset="0"/>
                  <a:ea typeface="Calibri" pitchFamily="34" charset="-122"/>
                  <a:cs typeface="Calibri" pitchFamily="34" charset="-120"/>
                </a:rPr>
                <a:t>ORS and Zinc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0B0004020202020204" pitchFamily="34" charset="0"/>
              </a:endParaRPr>
            </a:p>
          </p:txBody>
        </p:sp>
      </p:grpSp>
      <p:sp>
        <p:nvSpPr>
          <p:cNvPr id="19" name="Shape 14"/>
          <p:cNvSpPr/>
          <p:nvPr/>
        </p:nvSpPr>
        <p:spPr>
          <a:xfrm>
            <a:off x="-12954" y="5878285"/>
            <a:ext cx="12013692" cy="777240"/>
          </a:xfrm>
          <a:prstGeom prst="roundRect">
            <a:avLst>
              <a:gd name="adj" fmla="val 9412"/>
            </a:avLst>
          </a:prstGeom>
          <a:solidFill>
            <a:srgbClr val="FBE9E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77240" y="5878285"/>
            <a:ext cx="10433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1440E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Goal: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A2E2C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reduce Under-5 diarrhoeal deaths through integrated protection, prevention, and prompt treatment at community level.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>
            <a:defPPr>
              <a:defRPr lang="en-US"/>
            </a:defPPr>
            <a:lvl1pPr marL="0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6130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72261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58391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44522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30652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16782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02913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89043" algn="l" defTabSz="1172261" rtl="0" eaLnBrk="1" latinLnBrk="0" hangingPunct="1">
              <a:defRPr sz="230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b="1">
                <a:solidFill>
                  <a:srgbClr val="FFFFFF"/>
                </a:solidFill>
              </a:rPr>
              <a:t>When to send child home &amp; Advice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F71122A-3F8D-737B-3467-C44B5C5BBCD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1826071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594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CLOSING SUMMARY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Key Takeaways for Field Practice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6" name="Image 0" descr="/home/claude/pptx_build/icons/clipboa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1133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4767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Classify before treating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440680" y="194767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Always use standard danger-sign checklists for pneumonia and dehydration before starting treatment.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10" name="Image 1" descr="/home/claude/pptx_build/icons/tablet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009473"/>
            <a:ext cx="272125" cy="27212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84378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Know correct dosing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440680" y="284378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Be precise with weight- or age-based dosing for Amoxicillin, Gentamicin, and ORS.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640080" y="3758184"/>
            <a:ext cx="566928" cy="566928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14" name="Image 2" descr="/home/claude/pptx_build/icons/warnin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3905585"/>
            <a:ext cx="272125" cy="2721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73989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Never delay antibiotics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5440680" y="373989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In severe pneumonia, antibiotics must not be delayed — even while giving bronchodilators.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4654296"/>
            <a:ext cx="566928" cy="566928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18" name="Image 3" descr="/home/claude/pptx_build/icons/hospita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81" y="4801697"/>
            <a:ext cx="272125" cy="2721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63600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Refer early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440680" y="463600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Refer severe pneumonia and severe dehydration early, with pre-referral treatment and continued ORS en route.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640080" y="5550408"/>
            <a:ext cx="566928" cy="566928"/>
          </a:xfrm>
          <a:prstGeom prst="ellipse">
            <a:avLst/>
          </a:prstGeom>
          <a:solidFill>
            <a:srgbClr val="14919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pic>
        <p:nvPicPr>
          <p:cNvPr id="22" name="Image 4" descr="/home/claude/pptx_build/icons/hom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81" y="5697809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553212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Educate caregivers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5440680" y="55321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FE3E1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Counsel families on home care, danger signs, and exactly when to return immediately.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11548872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B7370"/>
                </a:solidFill>
                <a:effectLst/>
                <a:uLnTx/>
                <a:uFillTx/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19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