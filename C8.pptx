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29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17" r:id="rId2"/>
    <p:sldMasterId id="2147483729" r:id="rId3"/>
    <p:sldMasterId id="2147483745" r:id="rId4"/>
    <p:sldMasterId id="2147483748" r:id="rId5"/>
    <p:sldMasterId id="2147483766" r:id="rId6"/>
    <p:sldMasterId id="2147483790" r:id="rId7"/>
    <p:sldMasterId id="2147483808" r:id="rId8"/>
    <p:sldMasterId id="2147483821" r:id="rId9"/>
    <p:sldMasterId id="2147483833" r:id="rId10"/>
  </p:sldMasterIdLst>
  <p:notesMasterIdLst>
    <p:notesMasterId r:id="rId391"/>
  </p:notesMasterIdLst>
  <p:handoutMasterIdLst>
    <p:handoutMasterId r:id="rId392"/>
  </p:handoutMasterIdLst>
  <p:sldIdLst>
    <p:sldId id="581" r:id="rId338"/>
    <p:sldId id="2147470874" r:id="rId339"/>
    <p:sldId id="590" r:id="rId340"/>
    <p:sldId id="589" r:id="rId341"/>
    <p:sldId id="591" r:id="rId342"/>
    <p:sldId id="586" r:id="rId343"/>
  </p:sldIdLst>
  <p:sldSz cx="12192000" cy="6858000"/>
  <p:notesSz cx="7104063" cy="10234613"/>
  <p:custDataLst>
    <p:tags r:id="rId3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07B35-6682-E863-7CDC-BAFFABE6384C}" name="Dande Venkata Sireesha" initials="DS" userId="S::dsireesha@jhpiego.org::38427968-4704-4b19-87c8-b85b3f9240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EA2E52"/>
    <a:srgbClr val="EC848E"/>
    <a:srgbClr val="F3F3F3"/>
    <a:srgbClr val="EA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/>
    <p:restoredTop sz="94656"/>
  </p:normalViewPr>
  <p:slideViewPr>
    <p:cSldViewPr snapToGrid="0">
      <p:cViewPr varScale="1">
        <p:scale>
          <a:sx n="59" d="100"/>
          <a:sy n="59" d="100"/>
        </p:scale>
        <p:origin x="9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338" Type="http://schemas.openxmlformats.org/officeDocument/2006/relationships/slide" Target="slides/slide328.xml"/><Relationship Id="rId339" Type="http://schemas.openxmlformats.org/officeDocument/2006/relationships/slide" Target="slides/slide329.xml"/><Relationship Id="rId340" Type="http://schemas.openxmlformats.org/officeDocument/2006/relationships/slide" Target="slides/slide330.xml"/><Relationship Id="rId341" Type="http://schemas.openxmlformats.org/officeDocument/2006/relationships/slide" Target="slides/slide331.xml"/><Relationship Id="rId342" Type="http://schemas.openxmlformats.org/officeDocument/2006/relationships/slide" Target="slides/slide332.xml"/><Relationship Id="rId343" Type="http://schemas.openxmlformats.org/officeDocument/2006/relationships/slide" Target="slides/slide333.xml"/><Relationship Id="rId391" Type="http://schemas.openxmlformats.org/officeDocument/2006/relationships/notesMaster" Target="notesMasters/notesMaster1.xml"/><Relationship Id="rId392" Type="http://schemas.openxmlformats.org/officeDocument/2006/relationships/handoutMaster" Target="handoutMasters/handoutMaster1.xml"/><Relationship Id="rId393" Type="http://schemas.openxmlformats.org/officeDocument/2006/relationships/tags" Target="tags/tag1.xml"/><Relationship Id="rId394" Type="http://schemas.openxmlformats.org/officeDocument/2006/relationships/presProps" Target="presProps.xml"/><Relationship Id="rId395" Type="http://schemas.openxmlformats.org/officeDocument/2006/relationships/viewProps" Target="viewProps.xml"/><Relationship Id="rId396" Type="http://schemas.openxmlformats.org/officeDocument/2006/relationships/theme" Target="theme/theme1.xml"/><Relationship Id="rId397" Type="http://schemas.openxmlformats.org/officeDocument/2006/relationships/tableStyles" Target="tableStyles.xml"/><Relationship Id="rId39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B46732-557D-8FCF-2968-C78E8D821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EABF-2835-8D70-EFD7-D1352C400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2733-6E4E-5DA1-F079-5AD52436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399E-D04A-9279-C9B6-F8A6209EEA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61D89-608A-42D6-B691-97ED446F6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0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B1AF16-7E74-AB49-8480-890ED0DDD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emf"/><Relationship Id="rId3" Type="http://schemas.openxmlformats.org/officeDocument/2006/relationships/image" Target="../media/image1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Relationship Id="rId3" Type="http://schemas.openxmlformats.org/officeDocument/2006/relationships/image" Target="../media/image14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ADFBB3-0010-AB5C-E186-10C2783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4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2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62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77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589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solidFill>
                <a:srgbClr val="A9432B"/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b="1" dirty="0">
                <a:solidFill>
                  <a:srgbClr val="A9432B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36830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15442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951"/>
          <a:stretch/>
        </p:blipFill>
        <p:spPr bwMode="auto">
          <a:xfrm>
            <a:off x="5486400" y="1282700"/>
            <a:ext cx="914400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53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241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55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0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79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017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04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878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60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56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130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011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12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57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63E1-6C3C-60C3-2789-C3E7E63F6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4D3A4-B23F-3B2E-408D-8DF1D8B0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80F2-B751-F031-B6FE-69EDC0E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BBD-9BBB-25A7-41D5-DCCA4205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8240-920C-58B3-614A-1F302EDC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28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C77-9BC2-B192-4B16-4E9B70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5D8-2228-37F5-E92F-100658DC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4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42B-386B-1737-E9C6-FAEC38A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A76D0-7FA6-0F67-38CC-9AE4009E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03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9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D0-D992-87FA-F121-40EF7F1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9A1E-8425-AAAC-A4EF-5C14EDE7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3098-65DF-716A-4270-8B037B24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AF85E-7457-56FC-7CCA-E5FA3279B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51DF-B01D-B7B2-73C0-3B32809E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ECCF-340C-CD3E-C2D5-8749FDE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64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9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76A-4A60-1EF6-18EF-0CC70C4B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987A-C2F5-3E87-0B70-97263EDE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AEAAC-A628-9B86-3D98-554470387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73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FB26-0933-6834-6FB9-FFB7D9C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292AD-78E9-3F9E-1AF3-9880D1B9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03C5-C56C-38EC-872B-1FD90EA6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5332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CEA1-ED6E-34C2-B846-352AD62A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26751-8CD1-BB97-ECE4-857D87C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F36A2-1BA2-312B-1F1B-B56756E6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123B-8F1C-5AF7-49CC-E82E7B50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Shape 70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7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70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DD0829-95D3-46D8-B093-1413418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C835F-8A38-40CA-AD16-1AC58DCCF624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412C6-39F5-496E-BCF2-BBC24EBFE035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64A70-1DD2-468E-A83F-96EFAC819EF3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3495B4-D984-4156-B4D8-0E6BDBEBDF5A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EF7DE1-51DA-4A3C-9EA8-305BF43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818502-EE7D-47C5-BAC6-32E7714A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30680"/>
            <a:ext cx="11414754" cy="4546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2BCD-4510-4937-9C1E-F95F6544E965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22E42A-9523-4852-99DB-67E76B0D404D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DDE1E1-2256-42EE-8EA5-A7A3D716556A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E4FA80-BAA4-4EE2-BE37-23B240E6BBE0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41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5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20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8394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263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9F88-86E9-5CC4-3D6C-657D402BE1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29D42-6E05-6030-F80E-A6FABF9DC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1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64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725-11C7-8AC7-11E5-AAC81764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3E4-BD1E-2992-E55E-6E622068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0839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615A-0748-F8E8-2B93-7AC67AD50D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9835-CA8A-4EF0-5B61-52276E32F0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D794-E860-6C81-5A60-35231154E1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83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5897-1ECD-873E-84D3-41BFF8AF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CF8A-8FFE-B9BF-52CE-5454D38E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978-03DA-B019-265D-0BAE535461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5E9-54B5-1CB7-85AA-72865A708F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8F26A-AB96-0F7E-6D39-692237F77A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17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DE27-564F-909C-2474-F9B9D491AB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36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20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1298-7628-BFDD-D448-3ED5060C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A0D2-6B79-78A9-264D-4051A8817D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D71C3-71E0-D242-A6AD-90036E7E37A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A37B5-D886-E370-2885-12BA7BE9B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2DA2-D24D-6A82-7B14-AE6FABFF3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9A08-69FE-3525-F234-68C458DA82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1850F8-7832-4952-B4BD-14C3E99DE1D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08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82B1-7FB7-0AD0-C6A5-0AB70BAF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0B88E-3309-371B-8826-D39EB1724CD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53A5-672B-38C1-1923-B1F2ACB1B6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569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396-7FE9-DBA8-015B-F373BB56C7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8F8A-332B-1E08-CA2B-8890CB0E4C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3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EEB9-6A47-2E58-EC44-0FA558BC00E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7C5A-CAC2-FCA2-7F34-F582BBEE02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D53AEF42-15E7-649A-BE0F-3BDA462B102A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129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451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CC45D23-C112-4CD7-62D5-4A6E79A1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898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6CA3EB-8B7D-F2D9-5F80-59E1BB963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5064349" cy="2482852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1AB2C8-8615-D21C-243F-5F34F55C76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57550"/>
            <a:ext cx="5064349" cy="385767"/>
          </a:xfrm>
        </p:spPr>
        <p:txBody>
          <a:bodyPr>
            <a:noAutofit/>
          </a:bodyPr>
          <a:lstStyle>
            <a:lvl1pPr marL="0" indent="0">
              <a:buNone/>
              <a:defRPr b="1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EDFD50-C74E-C5A3-69E8-3B0FAC2823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3657600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A1A0F650-68B9-562D-8D12-B3A86786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78012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A1F6C06-3DAF-30D4-CED4-9CD4BC33DD7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21FE4-21AC-7C61-C60B-9B41566BD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107EA4-A580-208A-18B3-1347912116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6B1D2C4-9FDE-0681-35D2-67C0F95881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161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3006703-B28E-F11B-D929-1081890B8289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34227F-2ACD-4335-5633-346161E3F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332E11-87B4-67B6-3231-AF88218A36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9DD7D8-489B-89CE-AE41-0F432FA4A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93571DC0-72B7-89C4-3E34-22F617D1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453733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A45FBA7-6C8A-BCA8-BC2D-72EADDA9C099}"/>
              </a:ext>
            </a:extLst>
          </p:cNvPr>
          <p:cNvSpPr/>
          <p:nvPr/>
        </p:nvSpPr>
        <p:spPr>
          <a:xfrm>
            <a:off x="0" y="0"/>
            <a:ext cx="7029449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28"/>
              <a:gd name="f7" fmla="val 4320"/>
              <a:gd name="f8" fmla="val 4150"/>
              <a:gd name="f9" fmla="val 4333"/>
              <a:gd name="f10" fmla="val 3814"/>
              <a:gd name="f11" fmla="val 3278"/>
              <a:gd name="f12" fmla="val 2715"/>
              <a:gd name="f13" fmla="val 1447"/>
              <a:gd name="f14" fmla="val 3970"/>
              <a:gd name="f15" fmla="val 524"/>
              <a:gd name="f16" fmla="val 3271"/>
              <a:gd name="f17" fmla="+- 0 0 -90"/>
              <a:gd name="f18" fmla="*/ f3 1 4428"/>
              <a:gd name="f19" fmla="*/ f4 1 4320"/>
              <a:gd name="f20" fmla="+- f7 0 f5"/>
              <a:gd name="f21" fmla="+- f6 0 f5"/>
              <a:gd name="f22" fmla="*/ f17 f0 1"/>
              <a:gd name="f23" fmla="*/ f21 1 4428"/>
              <a:gd name="f24" fmla="*/ f20 1 4320"/>
              <a:gd name="f25" fmla="*/ 0 f21 1"/>
              <a:gd name="f26" fmla="*/ 4320 f20 1"/>
              <a:gd name="f27" fmla="*/ 4150 f21 1"/>
              <a:gd name="f28" fmla="*/ 4428 f21 1"/>
              <a:gd name="f29" fmla="*/ 2715 f20 1"/>
              <a:gd name="f30" fmla="*/ 3271 f21 1"/>
              <a:gd name="f31" fmla="*/ 0 f20 1"/>
              <a:gd name="f32" fmla="*/ f22 1 f2"/>
              <a:gd name="f33" fmla="*/ f25 1 4428"/>
              <a:gd name="f34" fmla="*/ f26 1 4320"/>
              <a:gd name="f35" fmla="*/ f27 1 4428"/>
              <a:gd name="f36" fmla="*/ f28 1 4428"/>
              <a:gd name="f37" fmla="*/ f29 1 4320"/>
              <a:gd name="f38" fmla="*/ f30 1 4428"/>
              <a:gd name="f39" fmla="*/ f31 1 4320"/>
              <a:gd name="f40" fmla="*/ 0 1 f23"/>
              <a:gd name="f41" fmla="*/ f6 1 f23"/>
              <a:gd name="f42" fmla="*/ 0 1 f24"/>
              <a:gd name="f43" fmla="*/ f7 1 f24"/>
              <a:gd name="f44" fmla="+- f32 0 f1"/>
              <a:gd name="f45" fmla="*/ f33 1 f23"/>
              <a:gd name="f46" fmla="*/ f34 1 f24"/>
              <a:gd name="f47" fmla="*/ f35 1 f23"/>
              <a:gd name="f48" fmla="*/ f36 1 f23"/>
              <a:gd name="f49" fmla="*/ f37 1 f24"/>
              <a:gd name="f50" fmla="*/ f38 1 f23"/>
              <a:gd name="f51" fmla="*/ f39 1 f24"/>
              <a:gd name="f52" fmla="*/ f40 f18 1"/>
              <a:gd name="f53" fmla="*/ f41 f18 1"/>
              <a:gd name="f54" fmla="*/ f43 f19 1"/>
              <a:gd name="f55" fmla="*/ f42 f19 1"/>
              <a:gd name="f56" fmla="*/ f45 f18 1"/>
              <a:gd name="f57" fmla="*/ f46 f19 1"/>
              <a:gd name="f58" fmla="*/ f47 f18 1"/>
              <a:gd name="f59" fmla="*/ f48 f18 1"/>
              <a:gd name="f60" fmla="*/ f49 f19 1"/>
              <a:gd name="f61" fmla="*/ f50 f18 1"/>
              <a:gd name="f62" fmla="*/ f51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6" y="f57"/>
              </a:cxn>
              <a:cxn ang="f44">
                <a:pos x="f58" y="f57"/>
              </a:cxn>
              <a:cxn ang="f44">
                <a:pos x="f59" y="f60"/>
              </a:cxn>
              <a:cxn ang="f44">
                <a:pos x="f61" y="f62"/>
              </a:cxn>
              <a:cxn ang="f44">
                <a:pos x="f56" y="f62"/>
              </a:cxn>
              <a:cxn ang="f44">
                <a:pos x="f56" y="f57"/>
              </a:cxn>
            </a:cxnLst>
            <a:rect l="f52" t="f55" r="f53" b="f54"/>
            <a:pathLst>
              <a:path w="4428" h="4320">
                <a:moveTo>
                  <a:pt x="f5" y="f7"/>
                </a:move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6" y="f11"/>
                  <a:pt x="f6" y="f12"/>
                </a:cubicBezTo>
                <a:cubicBezTo>
                  <a:pt x="f6" y="f13"/>
                  <a:pt x="f14" y="f15"/>
                  <a:pt x="f16" y="f5"/>
                </a:cubicBezTo>
                <a:cubicBezTo>
                  <a:pt x="f5" y="f5"/>
                  <a:pt x="f5" y="f5"/>
                  <a:pt x="f5" y="f5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F3618-DAA6-10EB-423C-97C038864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1972854"/>
            <a:ext cx="5441539" cy="1401628"/>
          </a:xfrm>
        </p:spPr>
        <p:txBody>
          <a:bodyPr anchor="b"/>
          <a:lstStyle>
            <a:lvl1pPr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C92BA2-A637-A4A9-3337-346AF85654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81955"/>
            <a:ext cx="5441539" cy="145417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3400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22D4199-90D5-18E8-BD7B-13DA11943A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5032372"/>
            <a:ext cx="3803017" cy="901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0493544F-A4AD-6882-0901-8CF58EC5EF5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AE8B770A-4B49-FE64-C2F6-C2E7ED80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16809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259E-702F-ED73-90BE-A6345F828F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2A64-D988-C1C4-C8A2-8CC0BD6DDED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9406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614C-625B-05B0-3B53-76601251CE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6167-0D7E-D130-B4D9-B71C887CE1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9115717" cy="4271967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08021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5B143AE-91AF-3B47-44FE-63325EE1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204F10-954C-B383-07B0-27B2459E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505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4489-A629-32AD-A625-EE2CF20E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3505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B1766-6724-1A5E-0B3D-8BA201C10FF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17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9B41E-A7F3-FFDA-7BE6-5CF5A0F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4370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89F9FF-30CD-C651-42AB-BCE11C8AE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6799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2B0095-F0FC-5CB7-D504-4804E5595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86799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6655-6894-869A-86BC-2260156BB1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95478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C86076B-2C5A-8EAC-83E2-36529320FE2B}"/>
              </a:ext>
            </a:extLst>
          </p:cNvPr>
          <p:cNvSpPr/>
          <p:nvPr/>
        </p:nvSpPr>
        <p:spPr>
          <a:xfrm flipV="1">
            <a:off x="0" y="1693861"/>
            <a:ext cx="6199183" cy="51625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0"/>
              <a:gd name="f7" fmla="val 2856"/>
              <a:gd name="f8" fmla="val 2730"/>
              <a:gd name="f9" fmla="val 2244"/>
              <a:gd name="f10" fmla="val 3196"/>
              <a:gd name="f11" fmla="val 1836"/>
              <a:gd name="f12" fmla="val 1281"/>
              <a:gd name="f13" fmla="val 578"/>
              <a:gd name="f14" fmla="val 373"/>
              <a:gd name="f15" fmla="val 3410"/>
              <a:gd name="f16" fmla="val 181"/>
              <a:gd name="f17" fmla="val 3370"/>
              <a:gd name="f18" fmla="val 2664"/>
              <a:gd name="f19" fmla="val 311"/>
              <a:gd name="f20" fmla="val 2792"/>
              <a:gd name="f21" fmla="val 654"/>
              <a:gd name="f22" fmla="val 1029"/>
              <a:gd name="f23" fmla="val 1699"/>
              <a:gd name="f24" fmla="val 2266"/>
              <a:gd name="f25" fmla="val 2652"/>
              <a:gd name="f26" fmla="+- 0 0 -90"/>
              <a:gd name="f27" fmla="*/ f3 1 3430"/>
              <a:gd name="f28" fmla="*/ f4 1 2856"/>
              <a:gd name="f29" fmla="+- f7 0 f5"/>
              <a:gd name="f30" fmla="+- f6 0 f5"/>
              <a:gd name="f31" fmla="*/ f26 f0 1"/>
              <a:gd name="f32" fmla="*/ f30 1 3430"/>
              <a:gd name="f33" fmla="*/ f29 1 2856"/>
              <a:gd name="f34" fmla="*/ 2730 f30 1"/>
              <a:gd name="f35" fmla="*/ 2244 f29 1"/>
              <a:gd name="f36" fmla="*/ 3430 f30 1"/>
              <a:gd name="f37" fmla="*/ 578 f29 1"/>
              <a:gd name="f38" fmla="*/ 3370 f30 1"/>
              <a:gd name="f39" fmla="*/ 0 f29 1"/>
              <a:gd name="f40" fmla="*/ 0 f30 1"/>
              <a:gd name="f41" fmla="*/ 2664 f29 1"/>
              <a:gd name="f42" fmla="*/ 1029 f30 1"/>
              <a:gd name="f43" fmla="*/ 2856 f29 1"/>
              <a:gd name="f44" fmla="*/ f31 1 f2"/>
              <a:gd name="f45" fmla="*/ f34 1 3430"/>
              <a:gd name="f46" fmla="*/ f35 1 2856"/>
              <a:gd name="f47" fmla="*/ f36 1 3430"/>
              <a:gd name="f48" fmla="*/ f37 1 2856"/>
              <a:gd name="f49" fmla="*/ f38 1 3430"/>
              <a:gd name="f50" fmla="*/ f39 1 2856"/>
              <a:gd name="f51" fmla="*/ f40 1 3430"/>
              <a:gd name="f52" fmla="*/ f41 1 2856"/>
              <a:gd name="f53" fmla="*/ f42 1 3430"/>
              <a:gd name="f54" fmla="*/ f43 1 2856"/>
              <a:gd name="f55" fmla="*/ 0 1 f32"/>
              <a:gd name="f56" fmla="*/ f6 1 f32"/>
              <a:gd name="f57" fmla="*/ 0 1 f33"/>
              <a:gd name="f58" fmla="*/ f7 1 f33"/>
              <a:gd name="f59" fmla="+- f44 0 f1"/>
              <a:gd name="f60" fmla="*/ f45 1 f32"/>
              <a:gd name="f61" fmla="*/ f46 1 f33"/>
              <a:gd name="f62" fmla="*/ f47 1 f32"/>
              <a:gd name="f63" fmla="*/ f48 1 f33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f27 1"/>
              <a:gd name="f71" fmla="*/ f56 f27 1"/>
              <a:gd name="f72" fmla="*/ f58 f28 1"/>
              <a:gd name="f73" fmla="*/ f57 f28 1"/>
              <a:gd name="f74" fmla="*/ f60 f27 1"/>
              <a:gd name="f75" fmla="*/ f61 f28 1"/>
              <a:gd name="f76" fmla="*/ f62 f27 1"/>
              <a:gd name="f77" fmla="*/ f63 f28 1"/>
              <a:gd name="f78" fmla="*/ f64 f27 1"/>
              <a:gd name="f79" fmla="*/ f65 f28 1"/>
              <a:gd name="f80" fmla="*/ f66 f27 1"/>
              <a:gd name="f81" fmla="*/ f67 f28 1"/>
              <a:gd name="f82" fmla="*/ f68 f27 1"/>
              <a:gd name="f83" fmla="*/ f69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4" y="f75"/>
              </a:cxn>
              <a:cxn ang="f59">
                <a:pos x="f76" y="f77"/>
              </a:cxn>
              <a:cxn ang="f59">
                <a:pos x="f78" y="f79"/>
              </a:cxn>
              <a:cxn ang="f59">
                <a:pos x="f80" y="f79"/>
              </a:cxn>
              <a:cxn ang="f59">
                <a:pos x="f80" y="f81"/>
              </a:cxn>
              <a:cxn ang="f59">
                <a:pos x="f82" y="f83"/>
              </a:cxn>
              <a:cxn ang="f59">
                <a:pos x="f74" y="f75"/>
              </a:cxn>
            </a:cxnLst>
            <a:rect l="f70" t="f73" r="f71" b="f72"/>
            <a:pathLst>
              <a:path w="3430" h="2856">
                <a:moveTo>
                  <a:pt x="f8" y="f9"/>
                </a:moveTo>
                <a:cubicBezTo>
                  <a:pt x="f10" y="f11"/>
                  <a:pt x="f6" y="f12"/>
                  <a:pt x="f6" y="f13"/>
                </a:cubicBezTo>
                <a:cubicBezTo>
                  <a:pt x="f6" y="f14"/>
                  <a:pt x="f15" y="f16"/>
                  <a:pt x="f17" y="f5"/>
                </a:cubicBezTo>
                <a:cubicBezTo>
                  <a:pt x="f5" y="f5"/>
                  <a:pt x="f5" y="f5"/>
                  <a:pt x="f5" y="f5"/>
                </a:cubicBezTo>
                <a:cubicBezTo>
                  <a:pt x="f5" y="f18"/>
                  <a:pt x="f5" y="f18"/>
                  <a:pt x="f5" y="f18"/>
                </a:cubicBezTo>
                <a:cubicBezTo>
                  <a:pt x="f19" y="f20"/>
                  <a:pt x="f21" y="f7"/>
                  <a:pt x="f22" y="f7"/>
                </a:cubicBezTo>
                <a:cubicBezTo>
                  <a:pt x="f23" y="f7"/>
                  <a:pt x="f24" y="f25"/>
                  <a:pt x="f8" y="f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EE4A8-6D71-8D3F-99C4-30E678509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3285786"/>
            <a:ext cx="3940405" cy="1765935"/>
          </a:xfrm>
        </p:spPr>
        <p:txBody>
          <a:bodyPr anchor="ctr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5EB8B96-1EC1-0D30-1AEA-B67C189C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0" y="667292"/>
            <a:ext cx="5029200" cy="158741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1381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FFE6A9D-9DFA-163F-0B05-B1A10BDCB0FE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68D608F-2C77-EBC3-000F-3688DEDE20BA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204BF0E-86B3-0AC7-86A5-76076993F1E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10875CF-F839-010B-6AA8-5B9A35A4E728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118CDCD-19D6-E720-96EB-8DF1FF08EBFD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0BDEC53-67BB-37A8-A028-AF5FF912F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5045302" cy="3155868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3547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2FC-FFBC-C1E3-18D6-E053688A93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7037-7D5F-565C-C0EB-ADFC82C5C4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5277-586F-A06E-F63F-C11DA97944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72403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4149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9D256-C4E1-049F-70F6-F0FFC9F4BC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2189649"/>
            <a:ext cx="4790971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6E9E0F-EFC3-2CA5-17F0-3361F00BF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2717797"/>
            <a:ext cx="4790971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38F-7C3A-7342-A52D-D768DEE352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49588" y="2189649"/>
            <a:ext cx="4810813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45CC02-1B8D-B157-5C55-252A9971901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49588" y="2717797"/>
            <a:ext cx="4810813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65BB44-34F7-92F9-2ECE-83A2931589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62085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C828-298E-6489-860F-5E7F62816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5225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7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454-F38F-ECD4-E78B-69E3A61C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4911361" cy="11128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4DE0-7EEA-BB26-4322-A2231BF93FE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1913638"/>
            <a:ext cx="4911361" cy="4062953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  <a:lvl4pPr marL="1600200" lvl="3">
              <a:spcBef>
                <a:spcPts val="500"/>
              </a:spcBef>
              <a:defRPr sz="1400"/>
            </a:lvl4pPr>
            <a:lvl5pPr marL="2057400" lvl="4"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84ECFE9-D713-73CD-3593-4C160BCBEAC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651400" y="577855"/>
            <a:ext cx="4908782" cy="539874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EE31EF4-70D1-765D-A02D-2B79972146C0}"/>
              </a:ext>
            </a:extLst>
          </p:cNvPr>
          <p:cNvCxnSpPr/>
          <p:nvPr/>
        </p:nvCxnSpPr>
        <p:spPr>
          <a:xfrm>
            <a:off x="631594" y="466728"/>
            <a:ext cx="4911370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3914998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A9289DC-0B5A-281E-F94C-3355F5FEA32D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D29F10A4-3003-6A8E-DD2F-1AC50675CF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B1E31-AAEB-FCC2-1024-CFCA573A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1793238"/>
            <a:ext cx="5003797" cy="3032763"/>
          </a:xfrm>
        </p:spPr>
        <p:txBody>
          <a:bodyPr/>
          <a:lstStyle>
            <a:lvl1pPr marL="227008" indent="-227008"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80EE6758-3401-5374-CC7F-8A973E9B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76124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E8B6C1FA-66B6-92FE-5021-22E90DEBBD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EA8223-8919-EF0F-97FB-5DC948C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D63489-052E-D675-230C-DFDDA3660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574042"/>
            <a:ext cx="4053206" cy="2219962"/>
          </a:xfrm>
        </p:spPr>
        <p:txBody>
          <a:bodyPr/>
          <a:lstStyle>
            <a:lvl1pPr marL="177795" indent="-177795">
              <a:lnSpc>
                <a:spcPct val="85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0F25E0D5-B7A9-79AF-63C3-DA97BEE6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02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With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E1BE3A0-6E9C-FAE2-4937-F29181B7DF1B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14FC6A02-07D4-7F1D-8CAB-077859045B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7DC527-6DCA-2DAC-BE3B-B0952A84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D799A8-5F08-E0C5-B3F8-448FE50907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1593131"/>
            <a:ext cx="4505550" cy="3723409"/>
          </a:xfrm>
        </p:spPr>
        <p:txBody>
          <a:bodyPr>
            <a:noAutofit/>
          </a:bodyPr>
          <a:lstStyle>
            <a:lvl1pPr marL="0" indent="0">
              <a:spcBef>
                <a:spcPts val="3600"/>
              </a:spcBef>
              <a:buNone/>
              <a:defRPr sz="2600" b="1">
                <a:solidFill>
                  <a:srgbClr val="26CAD3"/>
                </a:solidFill>
              </a:defRPr>
            </a:lvl1pPr>
            <a:lvl2pPr marL="0" lvl="1" indent="0">
              <a:spcBef>
                <a:spcPts val="500"/>
              </a:spcBef>
              <a:buNone/>
              <a:defRPr sz="26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4431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E90E54-69EA-62F1-6B19-0B1D7DC4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C1175AAB-B76C-9555-1B1F-6FE700AB7398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F5BEFEE-49C1-6470-3BEC-ED28DBDD5962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CEC27E2-C79F-C54B-E6E1-51961365F8D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9F138A5-2143-004F-52E2-51EAB00A116C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711B4FB-BD90-EB99-4785-7E15FF910D7A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C705C6F-1E94-3D54-BA75-6A38868350CE}"/>
              </a:ext>
            </a:extLst>
          </p:cNvPr>
          <p:cNvSpPr txBox="1"/>
          <p:nvPr/>
        </p:nvSpPr>
        <p:spPr>
          <a:xfrm>
            <a:off x="12191996" y="3410556"/>
            <a:ext cx="24808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Use Format Background 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 change the image fill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6650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623-D522-4E76-FEA3-00B921A81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939" y="2435678"/>
            <a:ext cx="5036460" cy="4240895"/>
          </a:xfrm>
        </p:spPr>
        <p:txBody>
          <a:bodyPr anchor="b"/>
          <a:lstStyle>
            <a:lvl1pPr>
              <a:lnSpc>
                <a:spcPct val="70000"/>
              </a:lnSpc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29681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oing Fo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69A3222-84FF-96B0-E72C-804C528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9" y="4492127"/>
            <a:ext cx="3398157" cy="18745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70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3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6C6A-F3B0-333C-0042-2D427A3AE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3E4A1-B078-DC24-5252-0722F585E2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88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615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02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663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8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308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3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432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238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44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293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236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63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439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58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699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181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B273-FA87-7A3F-8C65-8D399BFA2E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A9A9B-6743-C0A9-B8D4-45ECC3738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7284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4DB2-AEF5-FA68-AD5D-DC416CEA43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DD38-7548-CB47-0457-718913B028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5359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D2C6-324D-E87D-F770-C0A370B8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7232-1988-7A6A-FF97-767830DD6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9695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AA4-EB8A-3861-65E8-BF5305451C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38D-76A6-D3DB-5612-4089D86A7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D446-9109-6665-3EC0-E3A9E4D5654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8596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9AD-071B-1607-48F6-6463F68FFB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351-E1A6-9C65-E50E-D7B6E6AA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91B4C-7C3D-872D-FD33-890988AFC5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2F5C-9483-95D4-D9B6-93E41141E1E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1FBE-8B77-B88A-0989-D0220916707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905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4CD3-F78C-5C0E-5F9D-DE90B2840D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0272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2468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E841-3D85-E398-AC91-63A45AFD2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1C70-843B-E9CF-0B74-9824E4CA97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7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528C-1978-18AC-ECD6-E6EDF8409A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7695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E22-186E-04EB-DC96-C7F137F5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461D-F8D9-F0F4-31FF-D616AE1332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458D-0CBF-9501-DA6E-EB4E576876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32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A22C-8BF9-576D-C7CB-D2909D55EED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4C73B-7C24-F600-9C21-B4F1AF72096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5334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E81D-45BD-1469-2436-CE0B6C554B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2D4A7-4F02-CD87-649F-A6E810AAA1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16413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5E47FBA-8F3D-E2D7-86B5-096785FDB1E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val f5"/>
              <a:gd name="f29" fmla="val f6"/>
              <a:gd name="f30" fmla="val f7"/>
              <a:gd name="f31" fmla="*/ f25 f0 1"/>
              <a:gd name="f32" fmla="+- f30 0 f28"/>
              <a:gd name="f33" fmla="+- f29 0 f28"/>
              <a:gd name="f34" fmla="*/ f31 1 f2"/>
              <a:gd name="f35" fmla="*/ f33 1 5867"/>
              <a:gd name="f36" fmla="*/ f32 1 4320"/>
              <a:gd name="f37" fmla="*/ 0 f33 1"/>
              <a:gd name="f38" fmla="*/ 0 f32 1"/>
              <a:gd name="f39" fmla="*/ 4320 f32 1"/>
              <a:gd name="f40" fmla="*/ 3187 f33 1"/>
              <a:gd name="f41" fmla="*/ 4630 f33 1"/>
              <a:gd name="f42" fmla="*/ 3063 f32 1"/>
              <a:gd name="f43" fmla="*/ 5669 f33 1"/>
              <a:gd name="f44" fmla="*/ 1003 f32 1"/>
              <a:gd name="f45" fmla="*/ 5867 f33 1"/>
              <a:gd name="f46" fmla="+- f34 0 f1"/>
              <a:gd name="f47" fmla="*/ f37 1 5867"/>
              <a:gd name="f48" fmla="*/ f38 1 4320"/>
              <a:gd name="f49" fmla="*/ f39 1 4320"/>
              <a:gd name="f50" fmla="*/ f40 1 5867"/>
              <a:gd name="f51" fmla="*/ f41 1 5867"/>
              <a:gd name="f52" fmla="*/ f42 1 4320"/>
              <a:gd name="f53" fmla="*/ f43 1 5867"/>
              <a:gd name="f54" fmla="*/ f44 1 4320"/>
              <a:gd name="f55" fmla="*/ f45 1 5867"/>
              <a:gd name="f56" fmla="*/ 0 1 f35"/>
              <a:gd name="f57" fmla="*/ f29 1 f35"/>
              <a:gd name="f58" fmla="*/ 0 1 f36"/>
              <a:gd name="f59" fmla="*/ f30 1 f36"/>
              <a:gd name="f60" fmla="*/ f47 1 f35"/>
              <a:gd name="f61" fmla="*/ f48 1 f36"/>
              <a:gd name="f62" fmla="*/ f49 1 f36"/>
              <a:gd name="f63" fmla="*/ f50 1 f35"/>
              <a:gd name="f64" fmla="*/ f51 1 f35"/>
              <a:gd name="f65" fmla="*/ f52 1 f36"/>
              <a:gd name="f66" fmla="*/ f53 1 f35"/>
              <a:gd name="f67" fmla="*/ f54 1 f36"/>
              <a:gd name="f68" fmla="*/ f55 1 f35"/>
              <a:gd name="f69" fmla="*/ f56 f26 1"/>
              <a:gd name="f70" fmla="*/ f57 f26 1"/>
              <a:gd name="f71" fmla="*/ f59 f27 1"/>
              <a:gd name="f72" fmla="*/ f58 f27 1"/>
              <a:gd name="f73" fmla="*/ f60 f26 1"/>
              <a:gd name="f74" fmla="*/ f61 f27 1"/>
              <a:gd name="f75" fmla="*/ f62 f27 1"/>
              <a:gd name="f76" fmla="*/ f63 f26 1"/>
              <a:gd name="f77" fmla="*/ f64 f26 1"/>
              <a:gd name="f78" fmla="*/ f65 f27 1"/>
              <a:gd name="f79" fmla="*/ f66 f26 1"/>
              <a:gd name="f80" fmla="*/ f67 f27 1"/>
              <a:gd name="f81" fmla="*/ f68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3" y="f74"/>
              </a:cxn>
              <a:cxn ang="f46">
                <a:pos x="f73" y="f75"/>
              </a:cxn>
              <a:cxn ang="f46">
                <a:pos x="f76" y="f75"/>
              </a:cxn>
              <a:cxn ang="f46">
                <a:pos x="f77" y="f78"/>
              </a:cxn>
              <a:cxn ang="f46">
                <a:pos x="f79" y="f80"/>
              </a:cxn>
              <a:cxn ang="f46">
                <a:pos x="f81" y="f74"/>
              </a:cxn>
              <a:cxn ang="f46">
                <a:pos x="f73" y="f74"/>
              </a:cxn>
            </a:cxnLst>
            <a:rect l="f69" t="f72" r="f70" b="f71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85587" tIns="42793" rIns="85587" bIns="42793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1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8591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10DACD-8814-0719-1B69-9449D528892C}"/>
              </a:ext>
            </a:extLst>
          </p:cNvPr>
          <p:cNvSpPr txBox="1"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GB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05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3DB-352F-706E-8396-0711973F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EE-9788-9CFC-0336-41C2CB07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05C-8BFE-C23C-2BE8-8711C16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A3FC-B7B5-E571-025A-6EDC9BF2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3495-7196-BF3A-8E94-4A35AF0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3546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883E-B324-7614-E832-C8FA2D5A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83D1-CFEB-F699-FF61-2316C10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53EF-1B82-5CE0-D770-2336D957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C29-FB7A-BB28-E384-E661FFB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A9A7-1A6F-0DEF-01C0-8B7B83A4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3332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047-70A9-2D03-B647-5755581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1D4-1C56-BDF8-CE04-C033D2CD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F20ED-6B10-8F9B-AE53-52CD7841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7184-18A0-6EC7-844C-686E3026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1A2-4C74-9DA0-018F-0C795015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FAE-C6F5-C793-AD81-1CA00D35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8798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29F0-653F-18E0-7165-5BA5CBD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31B5-C7D5-3028-F0DE-22D69F8F4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AE1F-7338-7490-95D4-33B43B8D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247F-082A-4DFF-738D-532D8974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DC79B-5F2E-88CD-B76C-26C869E5A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74FD9-C453-092D-9379-790EB54B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4956-089C-EEE1-ED87-881BAC04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1FA7B-C31E-8DD6-BE30-38EFB4E9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722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EC7-FF5F-613C-8EB4-03C7D28F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07DA-2C83-3C92-FD27-8C2CBFC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E1B4-7E6D-3D72-9F28-4F589DB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D5769-5FED-8793-7595-C4E0663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19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5C7F6-48E4-6E5F-449C-B03F87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1A2DD-00B4-3FB2-E6AF-B353E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DF081-2407-6DEE-130A-E934151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97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CFD-9EDB-36E2-FCBA-EE29ACA3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2714-CC7D-A7DB-195D-7D2A345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C133-6122-3853-524C-1458A27ED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CC213-218B-DDB2-F22F-BDE4BC5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4279-F92D-0D8A-0360-CE20484C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32DB-71CF-DB6A-F8B6-9852B35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614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EE78-AB8B-956C-3C03-ADF39349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CD64F-E49D-6173-6DE6-ABF43C4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FFCF-DFE5-7E94-53DF-C626B0B8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89CA-698D-AC35-07C6-A26CF27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3135-74F2-4FFE-96BB-ED357421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BCDAC-B253-7FC6-1E11-7C77EB4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74613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9922-FA9D-383D-A19C-1670E0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FFC-07BA-368E-8BEF-5F9AD455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D48-A5EE-EB7B-2461-575DDF3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48C6-ED81-B3B2-92AE-AF25ECB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B257-1A5B-C712-6D80-E569B05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2344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7DC50-9430-8F55-3F8C-07968042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D0E4-FF02-5A2E-BCCE-E5DEEEB2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451A-2FD6-F62A-87A7-402F00CB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8B-CA21-3CC7-B4DE-2D294CBA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A002-EF22-9AD8-50CB-BDE5AB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8157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60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1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6192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0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00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52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3243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12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5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8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1.xml"/><Relationship Id="rId18" Type="http://schemas.openxmlformats.org/officeDocument/2006/relationships/theme" Target="../theme/theme7.xml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3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DC453-280C-4DD0-B691-565117E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EDA-7F8E-5DD1-5615-9122A76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4B92-0338-8496-2BC9-D78BC35A9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C1FB-97D8-32C1-4E03-B90A99350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0401-86B8-B0E1-5F2E-8EFCFE71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7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845" r:id="rId3"/>
    <p:sldLayoutId id="2147483846" r:id="rId4"/>
    <p:sldLayoutId id="2147483847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8B0F-09FD-DDC6-3B63-8AF09C35E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AB06-2AFE-2C12-1BB4-384FC38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2E60-03D8-275F-2BA8-6EFAE3CF26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21A0-E937-50F8-C798-8EB0BC6D85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C06C-A904-8DD7-8829-D1021B6DFD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B930FF2-ADD6-48BA-B740-C81F3D772E1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3E944-12FC-1DA6-1A82-9D447DBA0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r>
              <a:rPr lang="en-US"/>
              <a:t>Project objectives 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FB-3438-9D79-D6FF-4410846F7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1594" y="1904996"/>
            <a:ext cx="7521799" cy="42719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052D5BE6-22DB-72DF-3E35-DA9381B8BD4C}"/>
              </a:ext>
            </a:extLst>
          </p:cNvPr>
          <p:cNvCxnSpPr/>
          <p:nvPr/>
        </p:nvCxnSpPr>
        <p:spPr>
          <a:xfrm>
            <a:off x="631594" y="540465"/>
            <a:ext cx="10928808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205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1" i="0" u="none" strike="noStrike" kern="1200" cap="none" spc="0" baseline="0">
          <a:solidFill>
            <a:srgbClr val="00667D"/>
          </a:solidFill>
          <a:uFillTx/>
          <a:latin typeface="Calibr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1pPr>
      <a:lvl2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2pPr>
      <a:lvl3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3pPr>
      <a:lvl4pPr marL="228600" marR="0" lvl="1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4pPr>
      <a:lvl5pPr marL="228600" marR="0" lvl="2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1F9C-7792-BD09-4C73-B4A1A4E7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1CB9-F3C8-E76B-9B8A-09616928C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8D3E-1A37-301F-3BC2-E33102DFC5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8C35-9AE9-964C-69AE-27F457B2CA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B10F-C4BA-27CE-B2D2-A397B9B92D2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C0417AA-12A0-48A3-8BAE-748AB9373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sldNum="0" hdr="0" ftr="0" dt="0"/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7F74F-2C97-CAAE-BFFE-4AB59C9B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F5D8-44DC-3827-A81A-50B2DBA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394A-11AC-CA11-C367-46C0A3EB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DFE8-6F24-013F-2D13-36B268B2D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7F-37C6-3D08-364F-3CB3C3C6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2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image" Target="../media/image292.jpg"/><Relationship Id="rId3" Type="http://schemas.openxmlformats.org/officeDocument/2006/relationships/image" Target="../media/image293.jpg"/><Relationship Id="rId4" Type="http://schemas.openxmlformats.org/officeDocument/2006/relationships/image" Target="../media/image294.png"/><Relationship Id="rId5" Type="http://schemas.openxmlformats.org/officeDocument/2006/relationships/image" Target="../media/image295.svg"/></Relationships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89633-4202-C543-126F-53433872A971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br>
              <a:rPr lang="en-US"/>
            </a:br>
            <a:r>
              <a:rPr lang="en-US"/>
              <a:t>Home Based Newborn &amp; Young Child Care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C39FFE-723C-BFBC-0129-B91EBE1DBF95}"/>
              </a:ext>
            </a:extLst>
          </p:cNvPr>
          <p:cNvSpPr txBox="1"/>
          <p:nvPr/>
        </p:nvSpPr>
        <p:spPr>
          <a:xfrm>
            <a:off x="7913914" y="5922417"/>
            <a:ext cx="1752600" cy="34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Topic: 8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719480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8343-D492-8736-1B35-8D57BC4B8C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</p:spPr>
        <p:txBody>
          <a:bodyPr wrap="square" anchor="t">
            <a:normAutofit/>
          </a:bodyPr>
          <a:lstStyle/>
          <a:p>
            <a:pPr lvl="0"/>
            <a:r>
              <a:rPr lang="en-US"/>
              <a:t>HBNC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2FC0A-CFB2-5629-F9D9-E4A20A3F61D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134261"/>
            <a:ext cx="9115717" cy="4271967"/>
          </a:xfrm>
        </p:spPr>
        <p:txBody>
          <a:bodyPr wrap="square" anchor="t">
            <a:noAutofit/>
          </a:bodyPr>
          <a:lstStyle/>
          <a:p>
            <a:pPr marL="1271" lvl="0" indent="0">
              <a:spcBef>
                <a:spcPts val="400"/>
              </a:spcBef>
              <a:spcAft>
                <a:spcPts val="20"/>
              </a:spcAft>
              <a:buNone/>
            </a:pPr>
            <a:r>
              <a:rPr lang="en-US" sz="2400" b="1" dirty="0"/>
              <a:t>Home Based Newborn Care:</a:t>
            </a:r>
            <a:endParaRPr lang="en-IN" sz="2400" dirty="0"/>
          </a:p>
          <a:p>
            <a:pPr marL="7616" lvl="0" indent="-6345">
              <a:spcBef>
                <a:spcPts val="400"/>
              </a:spcBef>
              <a:spcAft>
                <a:spcPts val="20"/>
              </a:spcAft>
            </a:pPr>
            <a:r>
              <a:rPr lang="en-US" sz="2400" dirty="0"/>
              <a:t>Care for every newborn through series of home visits by ASHA/AWW/ANM in the 1st 6 weeks of life.</a:t>
            </a:r>
          </a:p>
          <a:p>
            <a:pPr marL="7616" lvl="0" indent="-6345">
              <a:spcBef>
                <a:spcPts val="400"/>
              </a:spcBef>
              <a:spcAft>
                <a:spcPts val="20"/>
              </a:spcAft>
            </a:pPr>
            <a:r>
              <a:rPr lang="en-US" sz="2400" dirty="0"/>
              <a:t>Also assess the mother during the visit </a:t>
            </a:r>
          </a:p>
          <a:p>
            <a:pPr marL="1271" lvl="0" indent="0">
              <a:spcBef>
                <a:spcPts val="400"/>
              </a:spcBef>
              <a:spcAft>
                <a:spcPts val="20"/>
              </a:spcAft>
              <a:buNone/>
            </a:pPr>
            <a:endParaRPr lang="en-US" sz="2400" b="1" dirty="0"/>
          </a:p>
          <a:p>
            <a:pPr marL="1271" lvl="0" indent="0">
              <a:spcBef>
                <a:spcPts val="400"/>
              </a:spcBef>
              <a:spcAft>
                <a:spcPts val="20"/>
              </a:spcAft>
              <a:buNone/>
            </a:pPr>
            <a:endParaRPr lang="en-US" sz="2400" b="1" dirty="0"/>
          </a:p>
          <a:p>
            <a:pPr marL="1271" lvl="0" indent="0">
              <a:spcBef>
                <a:spcPts val="400"/>
              </a:spcBef>
              <a:spcAft>
                <a:spcPts val="20"/>
              </a:spcAft>
              <a:buNone/>
            </a:pPr>
            <a:r>
              <a:rPr lang="en-US" sz="2400" b="1" dirty="0"/>
              <a:t>COMPONENTS HBNC: -</a:t>
            </a:r>
            <a:endParaRPr lang="en-IN" sz="2400" dirty="0"/>
          </a:p>
          <a:p>
            <a:pPr lvl="0">
              <a:spcBef>
                <a:spcPts val="400"/>
              </a:spcBef>
              <a:buFont typeface="Wingdings" pitchFamily="2"/>
              <a:buChar char=""/>
            </a:pPr>
            <a:r>
              <a:rPr lang="en-US" sz="2400" dirty="0"/>
              <a:t>Exclusive Breast Feeding </a:t>
            </a:r>
            <a:endParaRPr lang="en-IN" sz="2400" dirty="0"/>
          </a:p>
          <a:p>
            <a:pPr lvl="0">
              <a:spcBef>
                <a:spcPts val="400"/>
              </a:spcBef>
              <a:buFont typeface="Wingdings" pitchFamily="2"/>
              <a:buChar char=""/>
            </a:pPr>
            <a:r>
              <a:rPr lang="en-US" sz="2400" dirty="0"/>
              <a:t>Care of </a:t>
            </a:r>
            <a:r>
              <a:rPr lang="en-US" sz="2400" dirty="0" err="1"/>
              <a:t>Ubmilicus</a:t>
            </a:r>
            <a:endParaRPr lang="en-IN" sz="2400" dirty="0"/>
          </a:p>
          <a:p>
            <a:pPr lvl="0">
              <a:spcBef>
                <a:spcPts val="400"/>
              </a:spcBef>
              <a:buFont typeface="Wingdings" pitchFamily="2"/>
              <a:buChar char=""/>
            </a:pPr>
            <a:r>
              <a:rPr lang="en-US" sz="2400" dirty="0"/>
              <a:t>Maintenance of temperature </a:t>
            </a:r>
            <a:endParaRPr lang="en-IN" sz="2400" dirty="0"/>
          </a:p>
          <a:p>
            <a:pPr lvl="0">
              <a:spcBef>
                <a:spcPts val="400"/>
              </a:spcBef>
              <a:buFont typeface="Wingdings" pitchFamily="2"/>
              <a:buChar char=""/>
            </a:pPr>
            <a:r>
              <a:rPr lang="en-US" sz="2400" dirty="0"/>
              <a:t>Promoting hygienic practices</a:t>
            </a:r>
            <a:endParaRPr lang="en-IN" sz="2400" dirty="0"/>
          </a:p>
          <a:p>
            <a:pPr lvl="0">
              <a:spcBef>
                <a:spcPts val="400"/>
              </a:spcBef>
              <a:buFont typeface="Wingdings" pitchFamily="2"/>
              <a:buChar char=""/>
            </a:pPr>
            <a:r>
              <a:rPr lang="en-US" sz="2400" dirty="0"/>
              <a:t>Early detection of danger signs</a:t>
            </a:r>
            <a:endParaRPr lang="en-IN" sz="2400" dirty="0"/>
          </a:p>
          <a:p>
            <a:pPr lvl="0">
              <a:spcBef>
                <a:spcPts val="400"/>
              </a:spcBef>
              <a:buFont typeface="Wingdings" pitchFamily="2"/>
              <a:buChar char=""/>
            </a:pPr>
            <a:r>
              <a:rPr lang="en-US" sz="2400" dirty="0"/>
              <a:t>Greater care &amp; support of high risk baby</a:t>
            </a:r>
            <a:endParaRPr lang="en-IN" sz="2400" dirty="0"/>
          </a:p>
          <a:p>
            <a:pPr marL="1271" lvl="0" indent="0">
              <a:spcBef>
                <a:spcPts val="400"/>
              </a:spcBef>
              <a:spcAft>
                <a:spcPts val="20"/>
              </a:spcAft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64371939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F2FA9-A72D-CF38-75CC-59CBC2BD7C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</p:spPr>
        <p:txBody>
          <a:bodyPr wrap="square" anchor="t">
            <a:normAutofit/>
          </a:bodyPr>
          <a:lstStyle/>
          <a:p>
            <a:pPr lvl="0"/>
            <a:r>
              <a:rPr lang="en-US"/>
              <a:t>HBYC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5B8C2-FB14-C2FE-4697-F7CB52EE836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293016"/>
            <a:ext cx="9115717" cy="4271967"/>
          </a:xfrm>
        </p:spPr>
        <p:txBody>
          <a:bodyPr wrap="square" anchor="t">
            <a:noAutofit/>
          </a:bodyPr>
          <a:lstStyle/>
          <a:p>
            <a:pPr marL="1271" lvl="0" indent="0">
              <a:spcBef>
                <a:spcPts val="500"/>
              </a:spcBef>
              <a:spcAft>
                <a:spcPts val="20"/>
              </a:spcAft>
              <a:buNone/>
            </a:pPr>
            <a:r>
              <a:rPr lang="en-US" sz="2400" b="1" dirty="0"/>
              <a:t>Home Based Young child  Care:</a:t>
            </a:r>
            <a:endParaRPr lang="en-IN" sz="2400" dirty="0"/>
          </a:p>
          <a:p>
            <a:pPr marL="7616" lvl="0" indent="-6345">
              <a:spcBef>
                <a:spcPts val="400"/>
              </a:spcBef>
              <a:spcAft>
                <a:spcPts val="20"/>
              </a:spcAft>
            </a:pPr>
            <a:r>
              <a:rPr lang="en-US" sz="2400" dirty="0"/>
              <a:t>Care for every young child through series of home visits by ASHA/AWW during 3 months to 15 months</a:t>
            </a:r>
          </a:p>
          <a:p>
            <a:pPr marL="1271" lvl="0" indent="0">
              <a:spcBef>
                <a:spcPts val="400"/>
              </a:spcBef>
              <a:spcAft>
                <a:spcPts val="20"/>
              </a:spcAft>
              <a:buNone/>
            </a:pPr>
            <a:endParaRPr lang="en-US" sz="2400" b="1" dirty="0"/>
          </a:p>
          <a:p>
            <a:pPr marL="1271" lvl="0" indent="0">
              <a:spcBef>
                <a:spcPts val="400"/>
              </a:spcBef>
              <a:spcAft>
                <a:spcPts val="20"/>
              </a:spcAft>
              <a:buNone/>
            </a:pPr>
            <a:endParaRPr lang="en-US" sz="2400" b="1" dirty="0"/>
          </a:p>
          <a:p>
            <a:pPr marL="1271" lvl="0" indent="0">
              <a:spcBef>
                <a:spcPts val="400"/>
              </a:spcBef>
              <a:spcAft>
                <a:spcPts val="20"/>
              </a:spcAft>
              <a:buNone/>
            </a:pPr>
            <a:r>
              <a:rPr lang="en-US" sz="2400" b="1" dirty="0"/>
              <a:t>COMPONENTS HBYC: -</a:t>
            </a:r>
            <a:endParaRPr lang="en-IN" sz="2400" dirty="0"/>
          </a:p>
          <a:p>
            <a:pPr lvl="0">
              <a:spcBef>
                <a:spcPts val="400"/>
              </a:spcBef>
              <a:buFont typeface="Wingdings" pitchFamily="2"/>
              <a:buChar char=""/>
            </a:pPr>
            <a:r>
              <a:rPr lang="en-US" sz="2400" dirty="0"/>
              <a:t>Exclusive Breast Feeding </a:t>
            </a:r>
            <a:endParaRPr lang="en-IN" sz="2400" dirty="0"/>
          </a:p>
          <a:p>
            <a:pPr lvl="0">
              <a:spcBef>
                <a:spcPts val="400"/>
              </a:spcBef>
              <a:buFont typeface="Wingdings" pitchFamily="2"/>
              <a:buChar char=""/>
            </a:pPr>
            <a:r>
              <a:rPr lang="en-US" sz="2400" dirty="0"/>
              <a:t>Complementary Feeding</a:t>
            </a:r>
            <a:endParaRPr lang="en-IN" sz="2400" dirty="0"/>
          </a:p>
          <a:p>
            <a:pPr lvl="0">
              <a:spcBef>
                <a:spcPts val="400"/>
              </a:spcBef>
              <a:buFont typeface="Wingdings" pitchFamily="2"/>
              <a:buChar char=""/>
            </a:pPr>
            <a:r>
              <a:rPr lang="en-US" sz="2400" dirty="0"/>
              <a:t>Early detection of danger signs </a:t>
            </a:r>
            <a:endParaRPr lang="en-IN" sz="2400" dirty="0"/>
          </a:p>
          <a:p>
            <a:pPr lvl="0">
              <a:spcBef>
                <a:spcPts val="400"/>
              </a:spcBef>
              <a:buFont typeface="Wingdings" pitchFamily="2"/>
              <a:buChar char=""/>
            </a:pPr>
            <a:r>
              <a:rPr lang="en-US" sz="2400" dirty="0"/>
              <a:t>Early Childhood Development &amp; identification of development delay</a:t>
            </a:r>
          </a:p>
          <a:p>
            <a:pPr lvl="0">
              <a:spcBef>
                <a:spcPts val="400"/>
              </a:spcBef>
              <a:buFont typeface="Wingdings" pitchFamily="2"/>
              <a:buChar char=""/>
            </a:pPr>
            <a:r>
              <a:rPr lang="en-US" sz="2400" dirty="0"/>
              <a:t>IFA Supplementation</a:t>
            </a:r>
          </a:p>
          <a:p>
            <a:pPr lvl="0">
              <a:spcBef>
                <a:spcPts val="400"/>
              </a:spcBef>
              <a:buFont typeface="Wingdings" pitchFamily="2"/>
              <a:buChar char=""/>
            </a:pPr>
            <a:r>
              <a:rPr lang="en-US" sz="2400" dirty="0"/>
              <a:t>ORS &amp; Zinc Supplementation during </a:t>
            </a:r>
            <a:r>
              <a:rPr lang="en-US" sz="2400" dirty="0" err="1"/>
              <a:t>Diarrhoea</a:t>
            </a:r>
            <a:endParaRPr lang="en-US" sz="2400" dirty="0"/>
          </a:p>
          <a:p>
            <a:pPr lvl="0">
              <a:spcBef>
                <a:spcPts val="400"/>
              </a:spcBef>
              <a:buFont typeface="Wingdings" pitchFamily="2"/>
              <a:buChar char=""/>
            </a:pPr>
            <a:r>
              <a:rPr lang="en-US" sz="2400" dirty="0"/>
              <a:t>Promoting hygienic practices</a:t>
            </a:r>
            <a:endParaRPr lang="en-IN" sz="2400" dirty="0"/>
          </a:p>
          <a:p>
            <a:pPr lvl="0">
              <a:spcBef>
                <a:spcPts val="400"/>
              </a:spcBef>
              <a:spcAft>
                <a:spcPts val="800"/>
              </a:spcAft>
              <a:buFont typeface="Wingdings" pitchFamily="2"/>
              <a:buChar char=""/>
            </a:pPr>
            <a:r>
              <a:rPr lang="en-US" sz="2400" dirty="0"/>
              <a:t>Counselling on family planning</a:t>
            </a:r>
            <a:endParaRPr lang="en-IN" sz="2400" dirty="0"/>
          </a:p>
          <a:p>
            <a:pPr marL="1271" lvl="0" indent="0">
              <a:spcBef>
                <a:spcPts val="400"/>
              </a:spcBef>
              <a:spcAft>
                <a:spcPts val="20"/>
              </a:spcAft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26653369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B2667-01DA-98A3-CD4A-87922EE4D0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</p:spPr>
        <p:txBody>
          <a:bodyPr wrap="square" anchor="t">
            <a:normAutofit/>
          </a:bodyPr>
          <a:lstStyle/>
          <a:p>
            <a:pPr lvl="0"/>
            <a:r>
              <a:rPr lang="en-US"/>
              <a:t>Skill Needed for HBNC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5CE15-4199-C7BE-4B86-EA576E6CE90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458686"/>
            <a:ext cx="10602463" cy="4718277"/>
          </a:xfrm>
        </p:spPr>
        <p:txBody>
          <a:bodyPr wrap="square" anchor="t">
            <a:normAutofit/>
          </a:bodyPr>
          <a:lstStyle/>
          <a:p>
            <a:pPr marL="0" lvl="0" indent="0">
              <a:spcBef>
                <a:spcPts val="400"/>
              </a:spcBef>
              <a:buNone/>
            </a:pPr>
            <a:r>
              <a:rPr lang="en-US" dirty="0"/>
              <a:t>1. </a:t>
            </a:r>
            <a:r>
              <a:rPr lang="en-US" sz="2000" dirty="0"/>
              <a:t>Provide newborn care through series of home visits</a:t>
            </a:r>
            <a:endParaRPr lang="en-IN" sz="2000" dirty="0"/>
          </a:p>
          <a:p>
            <a:pPr lvl="1" indent="-342900">
              <a:spcBef>
                <a:spcPts val="400"/>
              </a:spcBef>
              <a:buFont typeface="Wingdings" pitchFamily="2"/>
              <a:buChar char=""/>
            </a:pPr>
            <a:r>
              <a:rPr lang="en-US" sz="2000" dirty="0"/>
              <a:t>Weighing newborn, ensure warmth, demonstrate KMC, support EBF</a:t>
            </a:r>
            <a:endParaRPr lang="en-IN" sz="2000" dirty="0"/>
          </a:p>
          <a:p>
            <a:pPr lvl="1" indent="-342900">
              <a:spcBef>
                <a:spcPts val="400"/>
              </a:spcBef>
              <a:buFont typeface="Wingdings" pitchFamily="2"/>
              <a:buChar char=""/>
            </a:pPr>
            <a:r>
              <a:rPr lang="en-US" sz="2000" dirty="0"/>
              <a:t>Diagnosing &amp; counselling problems with breast feeding, promoting handwashing, providing skin, cord &amp; eye care</a:t>
            </a:r>
            <a:endParaRPr lang="en-IN" sz="2000" dirty="0"/>
          </a:p>
          <a:p>
            <a:pPr lvl="1" indent="-342900">
              <a:spcBef>
                <a:spcPts val="400"/>
              </a:spcBef>
              <a:buFont typeface="Wingdings" pitchFamily="2"/>
              <a:buChar char=""/>
            </a:pPr>
            <a:r>
              <a:rPr lang="en-US" sz="2000" dirty="0"/>
              <a:t>Health promotion &amp; counselling on key messages on newborn care (bathing, bottle feeding, danger signs) &amp; ensuring prompt identification of sepsis or other illnesses</a:t>
            </a:r>
          </a:p>
          <a:p>
            <a:pPr marL="0" lvl="0" indent="0">
              <a:spcBef>
                <a:spcPts val="400"/>
              </a:spcBef>
              <a:buNone/>
            </a:pPr>
            <a:r>
              <a:rPr lang="en-US" sz="2000" dirty="0"/>
              <a:t>2. Assessing if the baby is high risk (Preterm, LBW) using protocols, managing such babies through:</a:t>
            </a:r>
            <a:endParaRPr lang="en-IN" sz="2000" dirty="0"/>
          </a:p>
          <a:p>
            <a:pPr lvl="1" indent="-342900">
              <a:spcBef>
                <a:spcPts val="400"/>
              </a:spcBef>
              <a:buFont typeface="Wingdings" pitchFamily="2"/>
              <a:buChar char=""/>
            </a:pPr>
            <a:r>
              <a:rPr lang="en-US" sz="2000" dirty="0"/>
              <a:t>Increasing number of health visit, monitoring weight gain </a:t>
            </a:r>
            <a:endParaRPr lang="en-IN" sz="2000" dirty="0"/>
          </a:p>
          <a:p>
            <a:pPr lvl="1" indent="-342900">
              <a:spcBef>
                <a:spcPts val="400"/>
              </a:spcBef>
              <a:buFont typeface="Wingdings" pitchFamily="2"/>
              <a:buChar char=""/>
            </a:pPr>
            <a:r>
              <a:rPr lang="en-US" sz="2000" dirty="0"/>
              <a:t>Teaching &amp; counselling to keep baby warm &amp; enabling frequent &amp; EBF</a:t>
            </a:r>
            <a:endParaRPr lang="en-IN" sz="2000" dirty="0"/>
          </a:p>
          <a:p>
            <a:pPr lvl="1" indent="-342900">
              <a:spcBef>
                <a:spcPts val="400"/>
              </a:spcBef>
              <a:buFont typeface="Wingdings" pitchFamily="2"/>
              <a:buChar char=""/>
            </a:pPr>
            <a:r>
              <a:rPr lang="en-US" sz="2000" dirty="0"/>
              <a:t>Teaching mother to express milk &amp; feed baby using cup or spoon / </a:t>
            </a:r>
            <a:r>
              <a:rPr lang="en-US" sz="2000" dirty="0" err="1"/>
              <a:t>paladai</a:t>
            </a:r>
            <a:r>
              <a:rPr lang="en-US" sz="2000" dirty="0"/>
              <a:t> if needed</a:t>
            </a:r>
            <a:endParaRPr lang="en-IN" sz="2000" dirty="0"/>
          </a:p>
          <a:p>
            <a:pPr marL="0" lvl="0" indent="0">
              <a:spcBef>
                <a:spcPts val="400"/>
              </a:spcBef>
              <a:buNone/>
            </a:pPr>
            <a:r>
              <a:rPr lang="en-US" sz="2000" dirty="0"/>
              <a:t>3. Detect s/s of sepsis &amp; provide 1</a:t>
            </a:r>
            <a:r>
              <a:rPr lang="en-US" sz="2000" baseline="30000" dirty="0"/>
              <a:t>st</a:t>
            </a:r>
            <a:r>
              <a:rPr lang="en-US" sz="2000" dirty="0"/>
              <a:t> level care, recognize post partum complications</a:t>
            </a:r>
            <a:endParaRPr lang="en-IN" sz="2000" dirty="0"/>
          </a:p>
          <a:p>
            <a:pPr marL="0" lvl="0" indent="0">
              <a:spcBef>
                <a:spcPts val="400"/>
              </a:spcBef>
              <a:buNone/>
            </a:pPr>
            <a:r>
              <a:rPr lang="en-US" sz="2000" dirty="0"/>
              <a:t>4. Counsel the couple to choose appropriate family planning method</a:t>
            </a:r>
            <a:endParaRPr lang="en-IN" sz="2000" dirty="0"/>
          </a:p>
          <a:p>
            <a:pPr marL="0" lvl="0" indent="0">
              <a:spcBef>
                <a:spcPts val="3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397117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637E-C05F-5443-D8A9-6BCD11C55A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</p:spPr>
        <p:txBody>
          <a:bodyPr wrap="square" anchor="t">
            <a:normAutofit/>
          </a:bodyPr>
          <a:lstStyle/>
          <a:p>
            <a:pPr lvl="0"/>
            <a:r>
              <a:rPr lang="en-US"/>
              <a:t>Skill Needed for HBYC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B088D-BFCE-88A4-CAE8-4C1B87C962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10928808" cy="4271967"/>
          </a:xfrm>
        </p:spPr>
        <p:txBody>
          <a:bodyPr wrap="square" anchor="t">
            <a:noAutofit/>
          </a:bodyPr>
          <a:lstStyle/>
          <a:p>
            <a:pPr marL="0" lvl="0" indent="0">
              <a:spcBef>
                <a:spcPts val="500"/>
              </a:spcBef>
              <a:buNone/>
            </a:pPr>
            <a:r>
              <a:rPr lang="en-US" sz="2800" dirty="0"/>
              <a:t>1. Provide young child care through series of home visits</a:t>
            </a:r>
            <a:endParaRPr lang="en-IN" sz="2800" dirty="0"/>
          </a:p>
          <a:p>
            <a:pPr lvl="1" indent="-342900">
              <a:spcBef>
                <a:spcPts val="500"/>
              </a:spcBef>
              <a:buFont typeface="Wingdings" pitchFamily="2"/>
              <a:buChar char=""/>
            </a:pPr>
            <a:r>
              <a:rPr lang="en-US" sz="2800" dirty="0"/>
              <a:t>Ensure growth plotting and appropriate complementary feeding</a:t>
            </a:r>
            <a:endParaRPr lang="en-IN" sz="2800" dirty="0"/>
          </a:p>
          <a:p>
            <a:pPr lvl="1" indent="-342900">
              <a:spcBef>
                <a:spcPts val="500"/>
              </a:spcBef>
              <a:buFont typeface="Wingdings" pitchFamily="2"/>
              <a:buChar char=""/>
            </a:pPr>
            <a:r>
              <a:rPr lang="en-US" sz="2800" dirty="0"/>
              <a:t>Promoting handwashing, hygiene &amp; sanitation practices</a:t>
            </a:r>
            <a:endParaRPr lang="en-IN" sz="2800" dirty="0"/>
          </a:p>
          <a:p>
            <a:pPr lvl="1" indent="-342900">
              <a:spcBef>
                <a:spcPts val="500"/>
              </a:spcBef>
              <a:buFont typeface="Wingdings" pitchFamily="2"/>
              <a:buChar char=""/>
            </a:pPr>
            <a:r>
              <a:rPr lang="en-US" sz="2800" dirty="0"/>
              <a:t>Ensuring IFA supplementation in children &gt;6 months</a:t>
            </a:r>
          </a:p>
          <a:p>
            <a:pPr lvl="1" indent="-342900">
              <a:spcBef>
                <a:spcPts val="500"/>
              </a:spcBef>
              <a:buFont typeface="Wingdings" pitchFamily="2"/>
              <a:buChar char=""/>
            </a:pPr>
            <a:r>
              <a:rPr lang="en-US" sz="2800" dirty="0"/>
              <a:t>Assess development milestones </a:t>
            </a:r>
          </a:p>
          <a:p>
            <a:pPr marL="0" lvl="0" indent="0">
              <a:spcBef>
                <a:spcPts val="500"/>
              </a:spcBef>
              <a:buNone/>
            </a:pPr>
            <a:r>
              <a:rPr lang="en-US" sz="2800" dirty="0"/>
              <a:t>2. Assessing if the baby has any danger signs or developmental delays</a:t>
            </a:r>
            <a:endParaRPr lang="en-IN" sz="2800" dirty="0"/>
          </a:p>
          <a:p>
            <a:pPr marL="0" lvl="0" indent="0">
              <a:spcBef>
                <a:spcPts val="500"/>
              </a:spcBef>
              <a:buNone/>
            </a:pPr>
            <a:r>
              <a:rPr lang="en-US" sz="2800" dirty="0"/>
              <a:t>3. Detect s/s of Pneumonia &amp; refer</a:t>
            </a:r>
          </a:p>
          <a:p>
            <a:pPr marL="0" lvl="0" indent="0">
              <a:spcBef>
                <a:spcPts val="500"/>
              </a:spcBef>
              <a:buNone/>
            </a:pPr>
            <a:r>
              <a:rPr lang="en-US" sz="2800" dirty="0"/>
              <a:t>4. Counsel the couple to choose appropriate family planning method</a:t>
            </a:r>
            <a:endParaRPr lang="en-IN" sz="2800" dirty="0"/>
          </a:p>
          <a:p>
            <a:pPr marL="0" lvl="0" indent="0">
              <a:spcBef>
                <a:spcPts val="400"/>
              </a:spcBef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94135448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31EB8-BC04-4054-01B7-25F59A95158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Recording</a:t>
            </a:r>
            <a:endParaRPr lang="en-IN"/>
          </a:p>
        </p:txBody>
      </p:sp>
      <p:pic>
        <p:nvPicPr>
          <p:cNvPr id="3" name="Content Placeholder 5" descr="A close-up of a form&#10;&#10;Description automatically generated">
            <a:extLst>
              <a:ext uri="{FF2B5EF4-FFF2-40B4-BE49-F238E27FC236}">
                <a16:creationId xmlns:a16="http://schemas.microsoft.com/office/drawing/2014/main" id="{D1712584-6634-54BF-9267-56092FBA7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037" y="1157209"/>
            <a:ext cx="3383280" cy="5411940"/>
          </a:xfrm>
        </p:spPr>
      </p:pic>
      <p:pic>
        <p:nvPicPr>
          <p:cNvPr id="4" name="Content Placeholder 7" descr="A close-up of a document&#10;&#10;Description automatically generated">
            <a:extLst>
              <a:ext uri="{FF2B5EF4-FFF2-40B4-BE49-F238E27FC236}">
                <a16:creationId xmlns:a16="http://schemas.microsoft.com/office/drawing/2014/main" id="{52DE225D-04CC-D1BC-C0F8-1EB3544C0FA4}"/>
              </a:ext>
            </a:extLst>
          </p:cNvPr>
          <p:cNvPicPr>
            <a:picLocks noGrp="1" noChangeAspect="1"/>
          </p:cNvPicPr>
          <p:nvPr>
            <p:ph idx="2"/>
          </p:nvPr>
        </p:nvPicPr>
        <p:blipFill>
          <a:blip r:embed="rId3"/>
          <a:stretch>
            <a:fillRect/>
          </a:stretch>
        </p:blipFill>
        <p:spPr>
          <a:xfrm>
            <a:off x="6865690" y="1157209"/>
            <a:ext cx="3304467" cy="5285862"/>
          </a:xfrm>
        </p:spPr>
      </p:pic>
      <p:pic>
        <p:nvPicPr>
          <p:cNvPr id="5" name="Graphic 9" descr="Woman changing Baby outline">
            <a:extLst>
              <a:ext uri="{FF2B5EF4-FFF2-40B4-BE49-F238E27FC236}">
                <a16:creationId xmlns:a16="http://schemas.microsoft.com/office/drawing/2014/main" id="{A92E637B-0996-1B7C-771B-AF3FBF3BEA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1076" y="2781303"/>
            <a:ext cx="1904996" cy="1904996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6" name="Straight Arrow Connector 11">
            <a:extLst>
              <a:ext uri="{FF2B5EF4-FFF2-40B4-BE49-F238E27FC236}">
                <a16:creationId xmlns:a16="http://schemas.microsoft.com/office/drawing/2014/main" id="{1AEE0457-2E42-EFCC-8AF5-B752D48D3CA1}"/>
              </a:ext>
            </a:extLst>
          </p:cNvPr>
          <p:cNvCxnSpPr/>
          <p:nvPr/>
        </p:nvCxnSpPr>
        <p:spPr>
          <a:xfrm flipH="1">
            <a:off x="4592317" y="3208867"/>
            <a:ext cx="817886" cy="0"/>
          </a:xfrm>
          <a:prstGeom prst="straightConnector1">
            <a:avLst/>
          </a:prstGeom>
          <a:noFill/>
          <a:ln w="28575" cap="flat">
            <a:solidFill>
              <a:srgbClr val="4A7EBB"/>
            </a:solidFill>
            <a:prstDash val="solid"/>
            <a:tailEnd type="arrow"/>
          </a:ln>
        </p:spPr>
      </p:cxnSp>
      <p:cxnSp>
        <p:nvCxnSpPr>
          <p:cNvPr id="7" name="Straight Arrow Connector 12">
            <a:extLst>
              <a:ext uri="{FF2B5EF4-FFF2-40B4-BE49-F238E27FC236}">
                <a16:creationId xmlns:a16="http://schemas.microsoft.com/office/drawing/2014/main" id="{C01967DD-9E8A-12D5-F3EB-082615901BA5}"/>
              </a:ext>
            </a:extLst>
          </p:cNvPr>
          <p:cNvCxnSpPr/>
          <p:nvPr/>
        </p:nvCxnSpPr>
        <p:spPr>
          <a:xfrm>
            <a:off x="6257714" y="4114800"/>
            <a:ext cx="607976" cy="0"/>
          </a:xfrm>
          <a:prstGeom prst="straightConnector1">
            <a:avLst/>
          </a:prstGeom>
          <a:noFill/>
          <a:ln w="28575" cap="flat">
            <a:solidFill>
              <a:srgbClr val="4A7EBB"/>
            </a:solidFill>
            <a:prstDash val="solid"/>
            <a:tailEnd type="arrow"/>
          </a:ln>
        </p:spPr>
      </p:cxnSp>
    </p:spTree>
    <p:extLst>
      <p:ext uri="{BB962C8B-B14F-4D97-AF65-F5344CB8AC3E}">
        <p14:creationId xmlns:p14="http://schemas.microsoft.com/office/powerpoint/2010/main" val="42129084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3.7802"/>
  <p:tag name="SLIDO_PRESENTATION_ID" val="cea41368-b299-453a-86ac-367c32b5efe9"/>
  <p:tag name="SLIDO_EVENT_UUID" val="fcad33ae-25be-4cda-ad67-3ccd05ff2cd6"/>
  <p:tag name="SLIDO_EVENT_SECTION_UUID" val="e20e75c6-e565-4309-bef2-b02a4dc93b90"/>
</p:tagLst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Jhpiego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84FDF-ECB5-4D95-AD9B-F7E3763E2B16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2370</TotalTime>
  <Words>23516</Words>
  <Application>Microsoft Office PowerPoint</Application>
  <PresentationFormat>Widescreen</PresentationFormat>
  <Paragraphs>4491</Paragraphs>
  <Slides>380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380</vt:i4>
      </vt:variant>
    </vt:vector>
  </HeadingPairs>
  <TitlesOfParts>
    <vt:vector size="390" baseType="lpstr">
      <vt:lpstr>Office 2013 - 2022 Theme</vt:lpstr>
      <vt:lpstr>Office Theme</vt:lpstr>
      <vt:lpstr>1_Office Theme</vt:lpstr>
      <vt:lpstr>2_Office Theme</vt:lpstr>
      <vt:lpstr>3_Office Theme</vt:lpstr>
      <vt:lpstr>Jhpiego Theme</vt:lpstr>
      <vt:lpstr>Organic</vt:lpstr>
      <vt:lpstr>5_Office Theme</vt:lpstr>
      <vt:lpstr>6_Office Theme</vt:lpstr>
      <vt:lpstr>7_Office Theme</vt:lpstr>
      <vt:lpstr>DAY : 1 </vt:lpstr>
      <vt:lpstr>Maternal Health</vt:lpstr>
      <vt:lpstr>PowerPoint Presentation</vt:lpstr>
      <vt:lpstr>Importance of diagnosing hypertensive disorders of pregnancy</vt:lpstr>
      <vt:lpstr>Effects of high BP on mother  and child during pregnancy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Iron deficiency Anemia in Pregnancy </vt:lpstr>
      <vt:lpstr> What is Anaemia ?</vt:lpstr>
      <vt:lpstr>Grades of anaemia in pregnancy </vt:lpstr>
      <vt:lpstr>PowerPoint Presentation</vt:lpstr>
      <vt:lpstr>Symptoms of Severe Anaemia</vt:lpstr>
      <vt:lpstr>Signs of severe Anaemia</vt:lpstr>
      <vt:lpstr>Diagnostic equipment for Anemia</vt:lpstr>
      <vt:lpstr>Methods of diagnosis</vt:lpstr>
      <vt:lpstr>What is FCM </vt:lpstr>
      <vt:lpstr>Indications for FCM </vt:lpstr>
      <vt:lpstr>Contraindications for FCM </vt:lpstr>
      <vt:lpstr>Comparison between Iron Sucrose and FCM …1</vt:lpstr>
      <vt:lpstr>Comparison between Iron Sucrose and FCM …2</vt:lpstr>
      <vt:lpstr>Dose Calculation of FCM </vt:lpstr>
      <vt:lpstr>Administration of FCM </vt:lpstr>
      <vt:lpstr>Precautions for FCM administration </vt:lpstr>
      <vt:lpstr>Management of adverse events following FCM administration</vt:lpstr>
      <vt:lpstr>FOLLOW UP ACTIONS AFTER ADMINISTRATION</vt:lpstr>
      <vt:lpstr>PowerPoint Presentation</vt:lpstr>
      <vt:lpstr>PowerPoint Presentation</vt:lpstr>
      <vt:lpstr>PowerPoint Presentation</vt:lpstr>
      <vt:lpstr>    Effects of GDM on Pregnant Woman and Newborn</vt:lpstr>
      <vt:lpstr>PowerPoint Presentation</vt:lpstr>
      <vt:lpstr>Consideration for GDM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Medical Nutrition Therapy</vt:lpstr>
      <vt:lpstr>Management of GDM – Physical Exercise (contd.)</vt:lpstr>
      <vt:lpstr>PowerPoint Presentation</vt:lpstr>
      <vt:lpstr>PowerPoint Presentation</vt:lpstr>
      <vt:lpstr>Hypothyroidism and its significance during pregnancy</vt:lpstr>
      <vt:lpstr>Diagnostic equipment for Hypothyroidism</vt:lpstr>
      <vt:lpstr>Adverse effects of untreated hypothyroidism in mother and fetus/newborn</vt:lpstr>
      <vt:lpstr>Magnitude of the problem and target population</vt:lpstr>
      <vt:lpstr>PowerPoint Presentation</vt:lpstr>
      <vt:lpstr>Diagnostic criteria in pregnancy</vt:lpstr>
      <vt:lpstr>PowerPoint Presentation</vt:lpstr>
      <vt:lpstr>PowerPoint Presentation</vt:lpstr>
      <vt:lpstr>PowerPoint Presentation</vt:lpstr>
      <vt:lpstr>Effect of SCD  on Mother and Baby</vt:lpstr>
      <vt:lpstr>High Performance Liquid Chromatography</vt:lpstr>
      <vt:lpstr>PowerPoint Presentation</vt:lpstr>
      <vt:lpstr>Prevention and Management of SCD</vt:lpstr>
      <vt:lpstr>Assessment prior to conception/First visit post conception:</vt:lpstr>
      <vt:lpstr>Management of Sickle cell disease during Antenatal period</vt:lpstr>
      <vt:lpstr>Medications and Monitoring</vt:lpstr>
      <vt:lpstr>Management of Sickle cell disease during Antenatal period</vt:lpstr>
      <vt:lpstr>Management of Sickle cell disease during Antenatal period</vt:lpstr>
      <vt:lpstr>Diagnostic Test of Sickle Cell</vt:lpstr>
      <vt:lpstr>Modalities of screening, treatment and management</vt:lpstr>
      <vt:lpstr>Modalities of screening, treatment and management</vt:lpstr>
      <vt:lpstr>Modalities of screening, treatment and management</vt:lpstr>
      <vt:lpstr>Management of Sickle cell disease in 2nd &amp; 3rd trimester </vt:lpstr>
      <vt:lpstr>PowerPoint Presentation</vt:lpstr>
      <vt:lpstr>Acute Pain Crisis Management</vt:lpstr>
      <vt:lpstr>Mode and timing of delivery</vt:lpstr>
      <vt:lpstr>Roles &amp; Responsibilities of MO/OG</vt:lpstr>
      <vt:lpstr>PowerPoint Presentation</vt:lpstr>
      <vt:lpstr>Preterm birth - A leading cause of neonatal deaths in India</vt:lpstr>
      <vt:lpstr>PowerPoint Presentation</vt:lpstr>
      <vt:lpstr>Recognizing true labor </vt:lpstr>
      <vt:lpstr>Interventions done in mother to prevent neonatal complications:</vt:lpstr>
      <vt:lpstr>Antenatal corticosteroids</vt:lpstr>
      <vt:lpstr>When to give and when not to give ANCS</vt:lpstr>
      <vt:lpstr>PowerPoint Presentation</vt:lpstr>
      <vt:lpstr>Post partum Hemorrhage</vt:lpstr>
      <vt:lpstr>Identification of PPH</vt:lpstr>
      <vt:lpstr>PowerPoint Presentation</vt:lpstr>
      <vt:lpstr>PowerPoint Presentation</vt:lpstr>
      <vt:lpstr>PowerPoint Presentation</vt:lpstr>
      <vt:lpstr>PowerPoint Presentation</vt:lpstr>
      <vt:lpstr>Classification of hypovolemic shock</vt:lpstr>
      <vt:lpstr> Assessment of Blood Loss </vt:lpstr>
      <vt:lpstr>PowerPoint Presentation</vt:lpstr>
      <vt:lpstr>PowerPoint Presentation</vt:lpstr>
      <vt:lpstr>PowerPoint Presentation</vt:lpstr>
      <vt:lpstr>Cause Specific Management: Atonic PPH</vt:lpstr>
      <vt:lpstr>PowerPoint Presentation</vt:lpstr>
      <vt:lpstr>Bimanual Uterine Compression</vt:lpstr>
      <vt:lpstr>Compression of Abdominal Aorta</vt:lpstr>
      <vt:lpstr>Condom Tamponade</vt:lpstr>
      <vt:lpstr>PowerPoint Presentation</vt:lpstr>
      <vt:lpstr>Cause Specific Management: Tears or Trauma</vt:lpstr>
      <vt:lpstr>Key Messages</vt:lpstr>
      <vt:lpstr>PowerPoint Presentation</vt:lpstr>
      <vt:lpstr>PARTOGRAPH – CASE STUDY 1</vt:lpstr>
      <vt:lpstr>PowerPoint Presentation</vt:lpstr>
      <vt:lpstr>PARTOGRAPH – CASE STUDY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Care for Newborn at Birth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of Baby (Delivery Case-sheet)</vt:lpstr>
      <vt:lpstr>PowerPoint Presentation</vt:lpstr>
      <vt:lpstr>PowerPoint Presentation</vt:lpstr>
      <vt:lpstr>PowerPoint Presentation</vt:lpstr>
      <vt:lpstr>RoP IEC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Message</vt:lpstr>
      <vt:lpstr>Thermal Control (KMC)</vt:lpstr>
      <vt:lpstr>PowerPoint Presentation</vt:lpstr>
      <vt:lpstr>PowerPoint Presentation</vt:lpstr>
      <vt:lpstr>ASSESSMENT OF TEMPERATURE BY TOUCH</vt:lpstr>
      <vt:lpstr>PowerPoint Presentation</vt:lpstr>
      <vt:lpstr>PowerPoint Presentation</vt:lpstr>
      <vt:lpstr>PowerPoint Presentation</vt:lpstr>
      <vt:lpstr>Wrapping and covering a baby</vt:lpstr>
      <vt:lpstr>PowerPoint Presentation</vt:lpstr>
      <vt:lpstr>PowerPoint Presentation</vt:lpstr>
      <vt:lpstr>PowerPoint Presentation</vt:lpstr>
      <vt:lpstr>Kangaroo positioning</vt:lpstr>
      <vt:lpstr>PowerPoint Presentation</vt:lpstr>
      <vt:lpstr>Monitoring </vt:lpstr>
      <vt:lpstr> Duration of KMC </vt:lpstr>
      <vt:lpstr>PowerPoint Presentation</vt:lpstr>
      <vt:lpstr>PowerPoint Presentation</vt:lpstr>
      <vt:lpstr>PowerPoint Presentation</vt:lpstr>
      <vt:lpstr>PowerPoint Presentation</vt:lpstr>
      <vt:lpstr>Breast Anatomy - Structure</vt:lpstr>
      <vt:lpstr>Oxytocin Reflex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Stabilize prior to transport</vt:lpstr>
      <vt:lpstr>Communication</vt:lpstr>
      <vt:lpstr>TemperatureMaintenance as per warm chain</vt:lpstr>
      <vt:lpstr>PowerPoint Presentation</vt:lpstr>
      <vt:lpstr>PowerPoint Presentation</vt:lpstr>
      <vt:lpstr>Prevention &amp; Management of Hypoxia</vt:lpstr>
      <vt:lpstr>Danger signs of newborn</vt:lpstr>
      <vt:lpstr>PowerPoint Presentation</vt:lpstr>
      <vt:lpstr>Childhood Pneumonia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Childhood Diarrhoea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Dose of ORS in 4 hours</vt:lpstr>
      <vt:lpstr>PowerPoint Presentation</vt:lpstr>
      <vt:lpstr>When to send child home &amp; Advice</vt:lpstr>
      <vt:lpstr>PowerPoint Presentation</vt:lpstr>
      <vt:lpstr>An Over View Immunization Programme  </vt:lpstr>
      <vt:lpstr>Introduction</vt:lpstr>
      <vt:lpstr>India’s Universal Immunization Programme (UIP)</vt:lpstr>
      <vt:lpstr>Roadmap of Introduction &amp; Expansion of New Vaccines</vt:lpstr>
      <vt:lpstr>Universal Immunization Programme (Scope and Scale in Odisha)</vt:lpstr>
      <vt:lpstr>Aim and objectives of UIP </vt:lpstr>
      <vt:lpstr>Full Immunization trend ( NFHS)</vt:lpstr>
      <vt:lpstr>Concept of Full Immunization Coverage (FIC) Plus</vt:lpstr>
      <vt:lpstr>Immunization programme Component </vt:lpstr>
      <vt:lpstr>VPDs </vt:lpstr>
      <vt:lpstr>PowerPoint Presentation</vt:lpstr>
      <vt:lpstr>Sequence , Site and Route of Vaccination at birth</vt:lpstr>
      <vt:lpstr>Sequence , Site and Route of Vaccination at 6th  Week</vt:lpstr>
      <vt:lpstr>Sequence , Site and Route of Vaccination at 10th  Week</vt:lpstr>
      <vt:lpstr>Sequence , Site and Route of Vaccination at 14th  Week</vt:lpstr>
      <vt:lpstr>Sequence , Site and Route of Vaccination at 9-11th month</vt:lpstr>
      <vt:lpstr>Sequence , Site and Route of Vaccination at 16-23 months</vt:lpstr>
      <vt:lpstr>PowerPoint Presentation</vt:lpstr>
      <vt:lpstr>Syringe and needle position for Vaccination </vt:lpstr>
      <vt:lpstr>PowerPoint Presentation</vt:lpstr>
      <vt:lpstr>Sensitivity of Vaccine to heat, light and freezing  </vt:lpstr>
      <vt:lpstr>PowerPoint Presentation</vt:lpstr>
      <vt:lpstr>PowerPoint Presentation</vt:lpstr>
      <vt:lpstr>Conditioning of Ice Packs</vt:lpstr>
      <vt:lpstr>Vaccine Arrangement at RI session sites </vt:lpstr>
      <vt:lpstr>Adverse event following immunization (AEFI)</vt:lpstr>
      <vt:lpstr>WHO cause specific definition of AEFIs</vt:lpstr>
      <vt:lpstr>Recognition of Anaphylaxis</vt:lpstr>
      <vt:lpstr>Steps for Initial Management of AEFI</vt:lpstr>
      <vt:lpstr>Managing AEFI </vt:lpstr>
      <vt:lpstr>Contents of the Anaphylaxis Kit </vt:lpstr>
      <vt:lpstr>Dose of Adrenaline </vt:lpstr>
      <vt:lpstr>Difference between AEFI Kit and Anaphylaxis kit </vt:lpstr>
      <vt:lpstr> Reporting of AEFIs  </vt:lpstr>
      <vt:lpstr> Immunization Wastes Segregation </vt:lpstr>
      <vt:lpstr>Monitoring and Supervision of RI Programme </vt:lpstr>
      <vt:lpstr>Reporting and recording of RI Programme </vt:lpstr>
      <vt:lpstr>DAY 2 Programs</vt:lpstr>
      <vt:lpstr>PowerPoint Presentation</vt:lpstr>
      <vt:lpstr>PowerPoint Presentation</vt:lpstr>
      <vt:lpstr>PowerPoint Presentation</vt:lpstr>
      <vt:lpstr>Requirements at VHSND/ UHSND site</vt:lpstr>
      <vt:lpstr>PowerPoint Presentation</vt:lpstr>
      <vt:lpstr>MCP card</vt:lpstr>
      <vt:lpstr>“Guidance Note on Optimizing Post-Natal Care”</vt:lpstr>
      <vt:lpstr>Framework to identify the high-risk post-natal mother</vt:lpstr>
      <vt:lpstr>PowerPoint Presentation</vt:lpstr>
      <vt:lpstr>Reporting, Monitoring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HRP condition in MCP card</vt:lpstr>
      <vt:lpstr>PowerPoint Presentation</vt:lpstr>
      <vt:lpstr>HRP Condition to be evaluate in 1st visit</vt:lpstr>
      <vt:lpstr>HRP Condition to be evaluate in every visit/Subsequent visit</vt:lpstr>
      <vt:lpstr>PowerPoint Presentation</vt:lpstr>
      <vt:lpstr>PowerPoint Presentation</vt:lpstr>
      <vt:lpstr>The expert committee unanimously recommended the following investigation for all ANC cases at the facility level:</vt:lpstr>
      <vt:lpstr>Following investigations are recommended for every delivery cases at the time of admission for delivery at facility:</vt:lpstr>
      <vt:lpstr>Follow up Tracking for HRP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BPCR – Complication Readiness</vt:lpstr>
      <vt:lpstr>PMSMA &amp; EPMSMA</vt:lpstr>
      <vt:lpstr>Pradhan Mantri Surakshit Matritva Abhiyan (PMSMA)/Extended PMSMA</vt:lpstr>
      <vt:lpstr>PowerPoint Presentation</vt:lpstr>
      <vt:lpstr>Features</vt:lpstr>
      <vt:lpstr>Financial Support</vt:lpstr>
      <vt:lpstr>Non-Negotiable Component</vt:lpstr>
      <vt:lpstr>Flow of Beneficiary</vt:lpstr>
      <vt:lpstr>Roles and responsibility of Health care providers</vt:lpstr>
      <vt:lpstr>List of PMSMA HRP Condition (25)</vt:lpstr>
      <vt:lpstr>Integration of MCP card and PMSMA HRP condition</vt:lpstr>
      <vt:lpstr>Integration of MCP card and PMSMA HRP condition</vt:lpstr>
      <vt:lpstr>AMLAN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Modalities for Oral IFA consumptions for all age groups</vt:lpstr>
      <vt:lpstr>PowerPoint Presentation</vt:lpstr>
      <vt:lpstr>PowerPoint Presentation</vt:lpstr>
      <vt:lpstr>PowerPoint Presentation</vt:lpstr>
      <vt:lpstr>PowerPoint Presentation</vt:lpstr>
      <vt:lpstr>Way Forward</vt:lpstr>
      <vt:lpstr> Home Based Newborn &amp; Young Child Care</vt:lpstr>
      <vt:lpstr>HBNC</vt:lpstr>
      <vt:lpstr>HBYC</vt:lpstr>
      <vt:lpstr>Skill Needed for HBNC</vt:lpstr>
      <vt:lpstr>Skill Needed for HBYC</vt:lpstr>
      <vt:lpstr>Recording</vt:lpstr>
      <vt:lpstr>SUPPLY CHAIN MANGEMENT</vt:lpstr>
      <vt:lpstr>FLOW OF INDENT</vt:lpstr>
      <vt:lpstr>ISSUE OF DRUGS</vt:lpstr>
      <vt:lpstr>INVENTORY MANAGEMENT</vt:lpstr>
      <vt:lpstr>INVENTORY MANAGEMENT</vt:lpstr>
      <vt:lpstr>BASIC PRINCIPLE </vt:lpstr>
      <vt:lpstr>Monthly Indent Calendar</vt:lpstr>
      <vt:lpstr>INVENTORY MANAGEMENT</vt:lpstr>
      <vt:lpstr>INVENTORY MANAGEMENT</vt:lpstr>
      <vt:lpstr>MONTHLY AVERAGE CONSUMPTION Ex- Tab. Pantoprazole 40 mg</vt:lpstr>
      <vt:lpstr>PowerPoint Presentation</vt:lpstr>
      <vt:lpstr>FORECASTING</vt:lpstr>
      <vt:lpstr>FORECASTING</vt:lpstr>
      <vt:lpstr>FORECASTING</vt:lpstr>
      <vt:lpstr>SMART MOVES</vt:lpstr>
      <vt:lpstr>Block Drug &amp; Therapeutics Committee (BDTC)</vt:lpstr>
      <vt:lpstr>ANNUAL PROCUREMENT PLAN</vt:lpstr>
      <vt:lpstr>STEPS INVOLVED IN PREPARATION OF AAP</vt:lpstr>
      <vt:lpstr>PowerPoint Presentation</vt:lpstr>
      <vt:lpstr>How to Rationalise Indents</vt:lpstr>
      <vt:lpstr>Role &amp; Responsibilities of  MO I/C</vt:lpstr>
      <vt:lpstr>Role &amp; Responsibilities of  Pharmacy Officer</vt:lpstr>
      <vt:lpstr> Instrument Processing </vt:lpstr>
      <vt:lpstr>PowerPoint Presentation</vt:lpstr>
      <vt:lpstr>PowerPoint Presentation</vt:lpstr>
      <vt:lpstr>Hypochlorite solution available concentration and dilution</vt:lpstr>
      <vt:lpstr>High Level disinfection/ Chemical sterilization</vt:lpstr>
      <vt:lpstr>PowerPoint Presentation</vt:lpstr>
      <vt:lpstr>PowerPoint Presentation</vt:lpstr>
      <vt:lpstr>Test Details As per Notification</vt:lpstr>
      <vt:lpstr>List of tests as per Type facility including</vt:lpstr>
      <vt:lpstr>List of tests as per Type facility including</vt:lpstr>
      <vt:lpstr>List of tests as per Type facility including</vt:lpstr>
      <vt:lpstr>List of tests as per Type facility including</vt:lpstr>
      <vt:lpstr>PowerPoint Presentation</vt:lpstr>
      <vt:lpstr>PowerPoint Presentation</vt:lpstr>
      <vt:lpstr>PowerPoint Presentation</vt:lpstr>
      <vt:lpstr>PowerPoint Presentation</vt:lpstr>
      <vt:lpstr>MDR Process</vt:lpstr>
      <vt:lpstr>CDR Process</vt:lpstr>
      <vt:lpstr>PowerPoint Presentation</vt:lpstr>
      <vt:lpstr>PowerPoint Presentation</vt:lpstr>
      <vt:lpstr>PowerPoint Presentation</vt:lpstr>
      <vt:lpstr>Dummy Data for group work </vt:lpstr>
      <vt:lpstr>Answer key </vt:lpstr>
      <vt:lpstr>Reporting &amp;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</dc:title>
  <dc:creator>Nilophor; Rudra Das</dc:creator>
  <cp:lastModifiedBy>sibasish swain</cp:lastModifiedBy>
  <cp:revision>77</cp:revision>
  <cp:lastPrinted>2026-06-06T05:30:39Z</cp:lastPrinted>
  <dcterms:created xsi:type="dcterms:W3CDTF">2026-06-03T10:15:04Z</dcterms:created>
  <dcterms:modified xsi:type="dcterms:W3CDTF">2026-08-22T11:46:46Z</dcterms:modified>
</cp:coreProperties>
</file>