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620" r:id="rId143"/>
    <p:sldId id="2147470809" r:id="rId144"/>
    <p:sldId id="619" r:id="rId145"/>
    <p:sldId id="625" r:id="rId146"/>
    <p:sldId id="618" r:id="rId147"/>
    <p:sldId id="621" r:id="rId148"/>
    <p:sldId id="622" r:id="rId149"/>
    <p:sldId id="626" r:id="rId150"/>
    <p:sldId id="633" r:id="rId151"/>
    <p:sldId id="623" r:id="rId152"/>
    <p:sldId id="3360" r:id="rId153"/>
    <p:sldId id="3359" r:id="rId154"/>
    <p:sldId id="634" r:id="rId155"/>
    <p:sldId id="635" r:id="rId156"/>
    <p:sldId id="346" r:id="rId157"/>
    <p:sldId id="487" r:id="rId158"/>
    <p:sldId id="627" r:id="rId159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1" Type="http://schemas.openxmlformats.org/officeDocument/2006/relationships/slide" Target="slides/slide141.xml"/><Relationship Id="rId152" Type="http://schemas.openxmlformats.org/officeDocument/2006/relationships/slide" Target="slides/slide142.xml"/><Relationship Id="rId153" Type="http://schemas.openxmlformats.org/officeDocument/2006/relationships/slide" Target="slides/slide143.xml"/><Relationship Id="rId154" Type="http://schemas.openxmlformats.org/officeDocument/2006/relationships/slide" Target="slides/slide144.xml"/><Relationship Id="rId155" Type="http://schemas.openxmlformats.org/officeDocument/2006/relationships/slide" Target="slides/slide145.xml"/><Relationship Id="rId156" Type="http://schemas.openxmlformats.org/officeDocument/2006/relationships/slide" Target="slides/slide146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Neonatal mortality and stillbirths</a:t>
            </a:r>
            <a:r>
              <a:rPr lang="en-US" baseline="0" dirty="0"/>
              <a:t> </a:t>
            </a:r>
          </a:p>
          <a:p>
            <a:pPr>
              <a:defRPr/>
            </a:pPr>
            <a:r>
              <a:rPr lang="en-US" dirty="0"/>
              <a:t> (5.5 million)</a:t>
            </a:r>
          </a:p>
        </c:rich>
      </c:tx>
      <c:layout>
        <c:manualLayout>
          <c:xMode val="edge"/>
          <c:yMode val="edge"/>
          <c:x val="0.11560386473429951"/>
          <c:y val="3.4696968903663743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Neonatal  mortality and stillbirths (5.5 million)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552A-44A5-BA64-4BEF36FCC750}"/>
              </c:ext>
            </c:extLst>
          </c:dPt>
          <c:dPt>
            <c:idx val="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2-552A-44A5-BA64-4BEF36FCC750}"/>
              </c:ext>
            </c:extLst>
          </c:dPt>
          <c:dPt>
            <c:idx val="2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552A-44A5-BA64-4BEF36FCC750}"/>
              </c:ext>
            </c:extLst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0-552A-44A5-BA64-4BEF36FCC7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Intra partum</c:v>
                </c:pt>
                <c:pt idx="1">
                  <c:v>Birth Day</c:v>
                </c:pt>
                <c:pt idx="2">
                  <c:v>Rest of first month after birth</c:v>
                </c:pt>
                <c:pt idx="3">
                  <c:v>Antepartum 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0.214</c:v>
                </c:pt>
                <c:pt idx="1">
                  <c:v>0.185</c:v>
                </c:pt>
                <c:pt idx="2">
                  <c:v>0.33300000000000002</c:v>
                </c:pt>
                <c:pt idx="3">
                  <c:v>0.26800000000000002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3-499F-A746-0CC1C85FF17A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6908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7409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7856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7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chart" Target="../charts/chart3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3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4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5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6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0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2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23.emf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4.png"/></Relationships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CE4F77-C7E1-BD1B-6318-77018A4FCE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10063E-6C3C-78FA-4D5C-09F907719786}"/>
              </a:ext>
            </a:extLst>
          </p:cNvPr>
          <p:cNvSpPr txBox="1"/>
          <p:nvPr/>
        </p:nvSpPr>
        <p:spPr>
          <a:xfrm>
            <a:off x="6444344" y="5562600"/>
            <a:ext cx="5741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Topic: 1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22537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8371" cy="84318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IN" b="1" dirty="0"/>
              <a:t>Importance of Care for </a:t>
            </a:r>
            <a:r>
              <a:rPr lang="en-IN" b="1" dirty="0" err="1"/>
              <a:t>Newborn</a:t>
            </a:r>
            <a:r>
              <a:rPr lang="en-IN" b="1" dirty="0"/>
              <a:t> at Birth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A4BA2-DCCE-F407-23FF-B20A6EEBE07B}"/>
              </a:ext>
            </a:extLst>
          </p:cNvPr>
          <p:cNvSpPr/>
          <p:nvPr/>
        </p:nvSpPr>
        <p:spPr>
          <a:xfrm>
            <a:off x="6240015" y="1412775"/>
            <a:ext cx="5607855" cy="50800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Most of the neonatal deaths occur during delivery or on the day of birth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Even for the deaths occurring in the rest of neonatal period, care given at the time of birth is an important influencer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lot of deaths of newborns due to hypothermia, asphyxia and infection can be prevented by providing essential newborn care to all newborns immediately after birth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2243D45-EC2A-869A-6B1C-8D93D4E6E2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12776"/>
          <a:ext cx="5257800" cy="4965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4112419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9E098D-3230-31BE-B311-284C955CD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8057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7B742-630C-3579-C43D-1D0F4B33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806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E7061-21BB-02ED-E141-419AEB52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7636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2CB7CA-5B07-7112-6D57-10F841CFE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6260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08138-C411-5100-488D-7A5AE699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3323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3CD825-DA38-5CC3-6C37-8170C078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2028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9F7BF3-04D2-0035-C44F-5156CE6FF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1997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BA55AD-6B60-98CC-216F-4155B2E3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4603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710B9-337E-BE30-B520-8EA6BDD61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9872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AE473BD-9A2A-420F-B844-12BCFA3D4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F4DDC1-0C95-6E83-2BB9-6D024350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41" y="227903"/>
            <a:ext cx="11120209" cy="726224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  <a:t>Monitoring of Baby (Delivery Case-sheet)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D582D-8937-94E4-B293-74B70243C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33" y="1184257"/>
            <a:ext cx="3926409" cy="508272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72CC1-4EB0-F19C-8674-A8C1A9BAF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251" y="1182030"/>
            <a:ext cx="3963019" cy="508272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DF8458-E8AD-6F3A-BEF0-7BC8CF51A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842" y="1184257"/>
            <a:ext cx="3926409" cy="508272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977075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6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DC239-9BC5-1D9D-1F1B-571408FA3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917" y="643467"/>
            <a:ext cx="83461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9689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AB7EB-2123-3DDA-CEB9-7C0251332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9389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08153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6E-BCC8-2DAC-4E1E-A8FD522F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3031"/>
          </a:xfrm>
        </p:spPr>
        <p:txBody>
          <a:bodyPr/>
          <a:lstStyle/>
          <a:p>
            <a:r>
              <a:rPr lang="en-US" dirty="0" err="1"/>
              <a:t>RoP</a:t>
            </a:r>
            <a:r>
              <a:rPr lang="en-US" dirty="0"/>
              <a:t> IEC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E8EB8B-F30D-3430-E614-1CB1512D9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6" y="1031396"/>
            <a:ext cx="8187047" cy="5461479"/>
          </a:xfrm>
        </p:spPr>
      </p:pic>
    </p:spTree>
    <p:extLst>
      <p:ext uri="{BB962C8B-B14F-4D97-AF65-F5344CB8AC3E}">
        <p14:creationId xmlns:p14="http://schemas.microsoft.com/office/powerpoint/2010/main" val="230869251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CC01BE-485E-28EA-9770-9449A472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92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